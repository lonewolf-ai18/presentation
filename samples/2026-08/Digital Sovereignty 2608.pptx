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F65DBC-C61B-4F39-897D-3F6A2D092E22}" v="19" dt="2026-08-08T05:32:32.5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7892"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08T05:33:14.038" v="68" actId="166"/>
      <pc:docMkLst>
        <pc:docMk/>
      </pc:docMkLst>
      <pc:sldChg chg="addSp delSp modSp mod modAnim modNotesTx">
        <pc:chgData name="Lai, Wilson" userId="2840974a-0d84-4886-90a9-9a3ed79f3a48" providerId="ADAL" clId="{9F23B798-9E84-4552-BA63-E776E805C424}" dt="2026-08-08T05:33:14.038" v="68" actId="166"/>
        <pc:sldMkLst>
          <pc:docMk/>
          <pc:sldMk cId="0" sldId="257"/>
        </pc:sldMkLst>
        <pc:spChg chg="add del">
          <ac:chgData name="Lai, Wilson" userId="2840974a-0d84-4886-90a9-9a3ed79f3a48" providerId="ADAL" clId="{9F23B798-9E84-4552-BA63-E776E805C424}" dt="2026-08-08T05:14:20.781" v="50" actId="22"/>
          <ac:spMkLst>
            <pc:docMk/>
            <pc:sldMk cId="0" sldId="257"/>
            <ac:spMk id="4" creationId="{82B9F540-90A3-DC33-12CD-85274C972A3B}"/>
          </ac:spMkLst>
        </pc:spChg>
        <pc:spChg chg="add mod">
          <ac:chgData name="Lai, Wilson" userId="2840974a-0d84-4886-90a9-9a3ed79f3a48" providerId="ADAL" clId="{9F23B798-9E84-4552-BA63-E776E805C424}" dt="2026-08-08T02:33:12.847" v="16" actId="164"/>
          <ac:spMkLst>
            <pc:docMk/>
            <pc:sldMk cId="0" sldId="257"/>
            <ac:spMk id="5" creationId="{01CD43C6-73F5-5131-8894-5C33C22E31D3}"/>
          </ac:spMkLst>
        </pc:spChg>
        <pc:grpChg chg="add mod">
          <ac:chgData name="Lai, Wilson" userId="2840974a-0d84-4886-90a9-9a3ed79f3a48" providerId="ADAL" clId="{9F23B798-9E84-4552-BA63-E776E805C424}" dt="2026-08-08T02:33:12.847" v="16" actId="164"/>
          <ac:grpSpMkLst>
            <pc:docMk/>
            <pc:sldMk cId="0" sldId="257"/>
            <ac:grpSpMk id="6" creationId="{EC640992-2541-C124-9749-B0CE0C6377FC}"/>
          </ac:grpSpMkLst>
        </pc:grpChg>
        <pc:picChg chg="del">
          <ac:chgData name="Lai, Wilson" userId="2840974a-0d84-4886-90a9-9a3ed79f3a48" providerId="ADAL" clId="{9F23B798-9E84-4552-BA63-E776E805C424}" dt="2026-08-08T04:42:04.539" v="17" actId="21"/>
          <ac:picMkLst>
            <pc:docMk/>
            <pc:sldMk cId="0" sldId="257"/>
            <ac:picMk id="2" creationId="{00000000-0000-0000-0000-000000000000}"/>
          </ac:picMkLst>
        </pc:picChg>
        <pc:picChg chg="add mod">
          <ac:chgData name="Lai, Wilson" userId="2840974a-0d84-4886-90a9-9a3ed79f3a48" providerId="ADAL" clId="{9F23B798-9E84-4552-BA63-E776E805C424}" dt="2026-08-08T02:33:12.847" v="16" actId="164"/>
          <ac:picMkLst>
            <pc:docMk/>
            <pc:sldMk cId="0" sldId="257"/>
            <ac:picMk id="3" creationId="{E489B25A-3EBF-3F24-4D9B-3C122E25D0A1}"/>
          </ac:picMkLst>
        </pc:picChg>
        <pc:picChg chg="add ord">
          <ac:chgData name="Lai, Wilson" userId="2840974a-0d84-4886-90a9-9a3ed79f3a48" providerId="ADAL" clId="{9F23B798-9E84-4552-BA63-E776E805C424}" dt="2026-08-08T05:33:14.038" v="68" actId="166"/>
          <ac:picMkLst>
            <pc:docMk/>
            <pc:sldMk cId="0" sldId="257"/>
            <ac:picMk id="7" creationId="{9B96239E-03D9-AE36-7A27-F3A72ED66BC4}"/>
          </ac:picMkLst>
        </pc:picChg>
      </pc:sldChg>
      <pc:sldChg chg="addSp delSp mod">
        <pc:chgData name="Lai, Wilson" userId="2840974a-0d84-4886-90a9-9a3ed79f3a48" providerId="ADAL" clId="{9F23B798-9E84-4552-BA63-E776E805C424}" dt="2026-08-08T04:43:40.122" v="21" actId="22"/>
        <pc:sldMkLst>
          <pc:docMk/>
          <pc:sldMk cId="0" sldId="258"/>
        </pc:sldMkLst>
        <pc:picChg chg="del">
          <ac:chgData name="Lai, Wilson" userId="2840974a-0d84-4886-90a9-9a3ed79f3a48" providerId="ADAL" clId="{9F23B798-9E84-4552-BA63-E776E805C424}" dt="2026-08-08T04:43:28.801" v="20" actId="21"/>
          <ac:picMkLst>
            <pc:docMk/>
            <pc:sldMk cId="0" sldId="258"/>
            <ac:picMk id="2" creationId="{00000000-0000-0000-0000-000000000000}"/>
          </ac:picMkLst>
        </pc:picChg>
        <pc:picChg chg="add">
          <ac:chgData name="Lai, Wilson" userId="2840974a-0d84-4886-90a9-9a3ed79f3a48" providerId="ADAL" clId="{9F23B798-9E84-4552-BA63-E776E805C424}" dt="2026-08-08T04:43:40.122" v="21" actId="22"/>
          <ac:picMkLst>
            <pc:docMk/>
            <pc:sldMk cId="0" sldId="258"/>
            <ac:picMk id="4" creationId="{62188DEF-8F10-8CB7-4EF2-8C11D5F1703C}"/>
          </ac:picMkLst>
        </pc:picChg>
      </pc:sldChg>
      <pc:sldChg chg="addSp delSp mod modNotesTx">
        <pc:chgData name="Lai, Wilson" userId="2840974a-0d84-4886-90a9-9a3ed79f3a48" providerId="ADAL" clId="{9F23B798-9E84-4552-BA63-E776E805C424}" dt="2026-08-08T05:29:29.318" v="54" actId="12"/>
        <pc:sldMkLst>
          <pc:docMk/>
          <pc:sldMk cId="0" sldId="259"/>
        </pc:sldMkLst>
        <pc:picChg chg="del">
          <ac:chgData name="Lai, Wilson" userId="2840974a-0d84-4886-90a9-9a3ed79f3a48" providerId="ADAL" clId="{9F23B798-9E84-4552-BA63-E776E805C424}" dt="2026-08-08T04:43:44.884" v="22" actId="21"/>
          <ac:picMkLst>
            <pc:docMk/>
            <pc:sldMk cId="0" sldId="259"/>
            <ac:picMk id="2" creationId="{00000000-0000-0000-0000-000000000000}"/>
          </ac:picMkLst>
        </pc:picChg>
        <pc:picChg chg="add">
          <ac:chgData name="Lai, Wilson" userId="2840974a-0d84-4886-90a9-9a3ed79f3a48" providerId="ADAL" clId="{9F23B798-9E84-4552-BA63-E776E805C424}" dt="2026-08-08T04:43:54.496" v="23" actId="22"/>
          <ac:picMkLst>
            <pc:docMk/>
            <pc:sldMk cId="0" sldId="259"/>
            <ac:picMk id="4" creationId="{2B3DBB68-31BA-98D2-5A87-D7F2E3140624}"/>
          </ac:picMkLst>
        </pc:picChg>
      </pc:sldChg>
      <pc:sldChg chg="addSp delSp mod modNotesTx">
        <pc:chgData name="Lai, Wilson" userId="2840974a-0d84-4886-90a9-9a3ed79f3a48" providerId="ADAL" clId="{9F23B798-9E84-4552-BA63-E776E805C424}" dt="2026-08-08T05:29:45.381" v="55" actId="12"/>
        <pc:sldMkLst>
          <pc:docMk/>
          <pc:sldMk cId="0" sldId="260"/>
        </pc:sldMkLst>
        <pc:picChg chg="del">
          <ac:chgData name="Lai, Wilson" userId="2840974a-0d84-4886-90a9-9a3ed79f3a48" providerId="ADAL" clId="{9F23B798-9E84-4552-BA63-E776E805C424}" dt="2026-08-08T04:43:56.589" v="24" actId="21"/>
          <ac:picMkLst>
            <pc:docMk/>
            <pc:sldMk cId="0" sldId="260"/>
            <ac:picMk id="2" creationId="{00000000-0000-0000-0000-000000000000}"/>
          </ac:picMkLst>
        </pc:picChg>
        <pc:picChg chg="add">
          <ac:chgData name="Lai, Wilson" userId="2840974a-0d84-4886-90a9-9a3ed79f3a48" providerId="ADAL" clId="{9F23B798-9E84-4552-BA63-E776E805C424}" dt="2026-08-08T04:44:05.228" v="25" actId="22"/>
          <ac:picMkLst>
            <pc:docMk/>
            <pc:sldMk cId="0" sldId="260"/>
            <ac:picMk id="4" creationId="{70BAFD8A-3C21-87C1-49BB-4DC816CF69B9}"/>
          </ac:picMkLst>
        </pc:picChg>
      </pc:sldChg>
      <pc:sldChg chg="addSp delSp mod">
        <pc:chgData name="Lai, Wilson" userId="2840974a-0d84-4886-90a9-9a3ed79f3a48" providerId="ADAL" clId="{9F23B798-9E84-4552-BA63-E776E805C424}" dt="2026-08-08T04:44:15.022" v="27" actId="22"/>
        <pc:sldMkLst>
          <pc:docMk/>
          <pc:sldMk cId="0" sldId="261"/>
        </pc:sldMkLst>
        <pc:picChg chg="del">
          <ac:chgData name="Lai, Wilson" userId="2840974a-0d84-4886-90a9-9a3ed79f3a48" providerId="ADAL" clId="{9F23B798-9E84-4552-BA63-E776E805C424}" dt="2026-08-08T04:44:07.326" v="26" actId="21"/>
          <ac:picMkLst>
            <pc:docMk/>
            <pc:sldMk cId="0" sldId="261"/>
            <ac:picMk id="2" creationId="{00000000-0000-0000-0000-000000000000}"/>
          </ac:picMkLst>
        </pc:picChg>
        <pc:picChg chg="add">
          <ac:chgData name="Lai, Wilson" userId="2840974a-0d84-4886-90a9-9a3ed79f3a48" providerId="ADAL" clId="{9F23B798-9E84-4552-BA63-E776E805C424}" dt="2026-08-08T04:44:15.022" v="27" actId="22"/>
          <ac:picMkLst>
            <pc:docMk/>
            <pc:sldMk cId="0" sldId="261"/>
            <ac:picMk id="4" creationId="{0366571F-921D-4E26-DEBD-E9953EE63CFD}"/>
          </ac:picMkLst>
        </pc:picChg>
      </pc:sldChg>
      <pc:sldChg chg="addSp delSp mod">
        <pc:chgData name="Lai, Wilson" userId="2840974a-0d84-4886-90a9-9a3ed79f3a48" providerId="ADAL" clId="{9F23B798-9E84-4552-BA63-E776E805C424}" dt="2026-08-08T04:44:25.037" v="29" actId="22"/>
        <pc:sldMkLst>
          <pc:docMk/>
          <pc:sldMk cId="0" sldId="262"/>
        </pc:sldMkLst>
        <pc:picChg chg="del">
          <ac:chgData name="Lai, Wilson" userId="2840974a-0d84-4886-90a9-9a3ed79f3a48" providerId="ADAL" clId="{9F23B798-9E84-4552-BA63-E776E805C424}" dt="2026-08-08T04:44:17.642" v="28" actId="21"/>
          <ac:picMkLst>
            <pc:docMk/>
            <pc:sldMk cId="0" sldId="262"/>
            <ac:picMk id="2" creationId="{00000000-0000-0000-0000-000000000000}"/>
          </ac:picMkLst>
        </pc:picChg>
        <pc:picChg chg="add">
          <ac:chgData name="Lai, Wilson" userId="2840974a-0d84-4886-90a9-9a3ed79f3a48" providerId="ADAL" clId="{9F23B798-9E84-4552-BA63-E776E805C424}" dt="2026-08-08T04:44:25.037" v="29" actId="22"/>
          <ac:picMkLst>
            <pc:docMk/>
            <pc:sldMk cId="0" sldId="262"/>
            <ac:picMk id="4" creationId="{6740B95A-B80E-C544-D477-BEB503423E5A}"/>
          </ac:picMkLst>
        </pc:picChg>
      </pc:sldChg>
      <pc:sldChg chg="addSp delSp mod modNotesTx">
        <pc:chgData name="Lai, Wilson" userId="2840974a-0d84-4886-90a9-9a3ed79f3a48" providerId="ADAL" clId="{9F23B798-9E84-4552-BA63-E776E805C424}" dt="2026-08-08T05:30:23.653" v="56" actId="12"/>
        <pc:sldMkLst>
          <pc:docMk/>
          <pc:sldMk cId="0" sldId="263"/>
        </pc:sldMkLst>
        <pc:picChg chg="del">
          <ac:chgData name="Lai, Wilson" userId="2840974a-0d84-4886-90a9-9a3ed79f3a48" providerId="ADAL" clId="{9F23B798-9E84-4552-BA63-E776E805C424}" dt="2026-08-08T04:44:27.246" v="30" actId="21"/>
          <ac:picMkLst>
            <pc:docMk/>
            <pc:sldMk cId="0" sldId="263"/>
            <ac:picMk id="2" creationId="{00000000-0000-0000-0000-000000000000}"/>
          </ac:picMkLst>
        </pc:picChg>
        <pc:picChg chg="add">
          <ac:chgData name="Lai, Wilson" userId="2840974a-0d84-4886-90a9-9a3ed79f3a48" providerId="ADAL" clId="{9F23B798-9E84-4552-BA63-E776E805C424}" dt="2026-08-08T04:44:36.641" v="31" actId="22"/>
          <ac:picMkLst>
            <pc:docMk/>
            <pc:sldMk cId="0" sldId="263"/>
            <ac:picMk id="4" creationId="{84C2350F-4490-35F1-91D1-485F37B77361}"/>
          </ac:picMkLst>
        </pc:picChg>
      </pc:sldChg>
      <pc:sldChg chg="addSp delSp mod modNotesTx">
        <pc:chgData name="Lai, Wilson" userId="2840974a-0d84-4886-90a9-9a3ed79f3a48" providerId="ADAL" clId="{9F23B798-9E84-4552-BA63-E776E805C424}" dt="2026-08-08T05:30:38.677" v="57" actId="12"/>
        <pc:sldMkLst>
          <pc:docMk/>
          <pc:sldMk cId="0" sldId="264"/>
        </pc:sldMkLst>
        <pc:picChg chg="del">
          <ac:chgData name="Lai, Wilson" userId="2840974a-0d84-4886-90a9-9a3ed79f3a48" providerId="ADAL" clId="{9F23B798-9E84-4552-BA63-E776E805C424}" dt="2026-08-08T04:44:38.866" v="32" actId="21"/>
          <ac:picMkLst>
            <pc:docMk/>
            <pc:sldMk cId="0" sldId="264"/>
            <ac:picMk id="2" creationId="{00000000-0000-0000-0000-000000000000}"/>
          </ac:picMkLst>
        </pc:picChg>
        <pc:picChg chg="add">
          <ac:chgData name="Lai, Wilson" userId="2840974a-0d84-4886-90a9-9a3ed79f3a48" providerId="ADAL" clId="{9F23B798-9E84-4552-BA63-E776E805C424}" dt="2026-08-08T04:44:46.859" v="33" actId="22"/>
          <ac:picMkLst>
            <pc:docMk/>
            <pc:sldMk cId="0" sldId="264"/>
            <ac:picMk id="4" creationId="{C917B85B-B92C-C6A6-57A7-19A2E31996AE}"/>
          </ac:picMkLst>
        </pc:picChg>
      </pc:sldChg>
      <pc:sldChg chg="addSp delSp mod modNotesTx">
        <pc:chgData name="Lai, Wilson" userId="2840974a-0d84-4886-90a9-9a3ed79f3a48" providerId="ADAL" clId="{9F23B798-9E84-4552-BA63-E776E805C424}" dt="2026-08-08T05:30:58.992" v="58" actId="12"/>
        <pc:sldMkLst>
          <pc:docMk/>
          <pc:sldMk cId="0" sldId="265"/>
        </pc:sldMkLst>
        <pc:picChg chg="del">
          <ac:chgData name="Lai, Wilson" userId="2840974a-0d84-4886-90a9-9a3ed79f3a48" providerId="ADAL" clId="{9F23B798-9E84-4552-BA63-E776E805C424}" dt="2026-08-08T04:44:49.794" v="34" actId="21"/>
          <ac:picMkLst>
            <pc:docMk/>
            <pc:sldMk cId="0" sldId="265"/>
            <ac:picMk id="2" creationId="{00000000-0000-0000-0000-000000000000}"/>
          </ac:picMkLst>
        </pc:picChg>
        <pc:picChg chg="add">
          <ac:chgData name="Lai, Wilson" userId="2840974a-0d84-4886-90a9-9a3ed79f3a48" providerId="ADAL" clId="{9F23B798-9E84-4552-BA63-E776E805C424}" dt="2026-08-08T04:44:58.773" v="35" actId="22"/>
          <ac:picMkLst>
            <pc:docMk/>
            <pc:sldMk cId="0" sldId="265"/>
            <ac:picMk id="4" creationId="{1A8BFCE2-3ED8-4A0F-166B-A654EE4DE016}"/>
          </ac:picMkLst>
        </pc:picChg>
      </pc:sldChg>
      <pc:sldChg chg="addSp delSp mod modNotesTx">
        <pc:chgData name="Lai, Wilson" userId="2840974a-0d84-4886-90a9-9a3ed79f3a48" providerId="ADAL" clId="{9F23B798-9E84-4552-BA63-E776E805C424}" dt="2026-08-08T05:31:16.166" v="59" actId="12"/>
        <pc:sldMkLst>
          <pc:docMk/>
          <pc:sldMk cId="0" sldId="266"/>
        </pc:sldMkLst>
        <pc:picChg chg="del">
          <ac:chgData name="Lai, Wilson" userId="2840974a-0d84-4886-90a9-9a3ed79f3a48" providerId="ADAL" clId="{9F23B798-9E84-4552-BA63-E776E805C424}" dt="2026-08-08T04:45:00.636" v="36" actId="21"/>
          <ac:picMkLst>
            <pc:docMk/>
            <pc:sldMk cId="0" sldId="266"/>
            <ac:picMk id="2" creationId="{00000000-0000-0000-0000-000000000000}"/>
          </ac:picMkLst>
        </pc:picChg>
        <pc:picChg chg="add">
          <ac:chgData name="Lai, Wilson" userId="2840974a-0d84-4886-90a9-9a3ed79f3a48" providerId="ADAL" clId="{9F23B798-9E84-4552-BA63-E776E805C424}" dt="2026-08-08T04:45:08.253" v="37" actId="22"/>
          <ac:picMkLst>
            <pc:docMk/>
            <pc:sldMk cId="0" sldId="266"/>
            <ac:picMk id="4" creationId="{88429C89-5DEE-4B41-8AAC-A630C5EFAE1B}"/>
          </ac:picMkLst>
        </pc:picChg>
      </pc:sldChg>
      <pc:sldChg chg="addSp delSp mod modNotesTx">
        <pc:chgData name="Lai, Wilson" userId="2840974a-0d84-4886-90a9-9a3ed79f3a48" providerId="ADAL" clId="{9F23B798-9E84-4552-BA63-E776E805C424}" dt="2026-08-08T05:31:28.408" v="60" actId="12"/>
        <pc:sldMkLst>
          <pc:docMk/>
          <pc:sldMk cId="0" sldId="267"/>
        </pc:sldMkLst>
        <pc:picChg chg="del">
          <ac:chgData name="Lai, Wilson" userId="2840974a-0d84-4886-90a9-9a3ed79f3a48" providerId="ADAL" clId="{9F23B798-9E84-4552-BA63-E776E805C424}" dt="2026-08-08T04:45:10.400" v="38" actId="21"/>
          <ac:picMkLst>
            <pc:docMk/>
            <pc:sldMk cId="0" sldId="267"/>
            <ac:picMk id="2" creationId="{00000000-0000-0000-0000-000000000000}"/>
          </ac:picMkLst>
        </pc:picChg>
        <pc:picChg chg="add">
          <ac:chgData name="Lai, Wilson" userId="2840974a-0d84-4886-90a9-9a3ed79f3a48" providerId="ADAL" clId="{9F23B798-9E84-4552-BA63-E776E805C424}" dt="2026-08-08T04:45:24.587" v="39" actId="22"/>
          <ac:picMkLst>
            <pc:docMk/>
            <pc:sldMk cId="0" sldId="267"/>
            <ac:picMk id="4" creationId="{44909680-84DD-2408-15B6-23205AB09F35}"/>
          </ac:picMkLst>
        </pc:picChg>
      </pc:sldChg>
      <pc:sldChg chg="addSp delSp mod modNotesTx">
        <pc:chgData name="Lai, Wilson" userId="2840974a-0d84-4886-90a9-9a3ed79f3a48" providerId="ADAL" clId="{9F23B798-9E84-4552-BA63-E776E805C424}" dt="2026-08-08T05:31:44.694" v="62" actId="12"/>
        <pc:sldMkLst>
          <pc:docMk/>
          <pc:sldMk cId="0" sldId="268"/>
        </pc:sldMkLst>
        <pc:picChg chg="del">
          <ac:chgData name="Lai, Wilson" userId="2840974a-0d84-4886-90a9-9a3ed79f3a48" providerId="ADAL" clId="{9F23B798-9E84-4552-BA63-E776E805C424}" dt="2026-08-08T04:45:27.862" v="40" actId="21"/>
          <ac:picMkLst>
            <pc:docMk/>
            <pc:sldMk cId="0" sldId="268"/>
            <ac:picMk id="2" creationId="{00000000-0000-0000-0000-000000000000}"/>
          </ac:picMkLst>
        </pc:picChg>
        <pc:picChg chg="add">
          <ac:chgData name="Lai, Wilson" userId="2840974a-0d84-4886-90a9-9a3ed79f3a48" providerId="ADAL" clId="{9F23B798-9E84-4552-BA63-E776E805C424}" dt="2026-08-08T04:45:37.194" v="41" actId="22"/>
          <ac:picMkLst>
            <pc:docMk/>
            <pc:sldMk cId="0" sldId="268"/>
            <ac:picMk id="4" creationId="{4F7014AC-33A2-8C26-6741-4AA39B13784D}"/>
          </ac:picMkLst>
        </pc:picChg>
      </pc:sldChg>
      <pc:sldChg chg="addSp delSp mod modNotesTx">
        <pc:chgData name="Lai, Wilson" userId="2840974a-0d84-4886-90a9-9a3ed79f3a48" providerId="ADAL" clId="{9F23B798-9E84-4552-BA63-E776E805C424}" dt="2026-08-08T05:31:58.094" v="63" actId="12"/>
        <pc:sldMkLst>
          <pc:docMk/>
          <pc:sldMk cId="0" sldId="269"/>
        </pc:sldMkLst>
        <pc:picChg chg="del">
          <ac:chgData name="Lai, Wilson" userId="2840974a-0d84-4886-90a9-9a3ed79f3a48" providerId="ADAL" clId="{9F23B798-9E84-4552-BA63-E776E805C424}" dt="2026-08-08T04:45:39.422" v="42" actId="21"/>
          <ac:picMkLst>
            <pc:docMk/>
            <pc:sldMk cId="0" sldId="269"/>
            <ac:picMk id="2" creationId="{00000000-0000-0000-0000-000000000000}"/>
          </ac:picMkLst>
        </pc:picChg>
        <pc:picChg chg="add">
          <ac:chgData name="Lai, Wilson" userId="2840974a-0d84-4886-90a9-9a3ed79f3a48" providerId="ADAL" clId="{9F23B798-9E84-4552-BA63-E776E805C424}" dt="2026-08-08T04:45:48.943" v="43" actId="22"/>
          <ac:picMkLst>
            <pc:docMk/>
            <pc:sldMk cId="0" sldId="269"/>
            <ac:picMk id="4" creationId="{213BFA01-E60A-B5FC-8632-DD725B3BA29C}"/>
          </ac:picMkLst>
        </pc:picChg>
      </pc:sldChg>
      <pc:sldChg chg="addSp delSp mod modNotesTx">
        <pc:chgData name="Lai, Wilson" userId="2840974a-0d84-4886-90a9-9a3ed79f3a48" providerId="ADAL" clId="{9F23B798-9E84-4552-BA63-E776E805C424}" dt="2026-08-08T05:32:11.542" v="64" actId="12"/>
        <pc:sldMkLst>
          <pc:docMk/>
          <pc:sldMk cId="0" sldId="270"/>
        </pc:sldMkLst>
        <pc:picChg chg="del">
          <ac:chgData name="Lai, Wilson" userId="2840974a-0d84-4886-90a9-9a3ed79f3a48" providerId="ADAL" clId="{9F23B798-9E84-4552-BA63-E776E805C424}" dt="2026-08-08T04:45:51.958" v="44" actId="21"/>
          <ac:picMkLst>
            <pc:docMk/>
            <pc:sldMk cId="0" sldId="270"/>
            <ac:picMk id="2" creationId="{00000000-0000-0000-0000-000000000000}"/>
          </ac:picMkLst>
        </pc:picChg>
        <pc:picChg chg="add">
          <ac:chgData name="Lai, Wilson" userId="2840974a-0d84-4886-90a9-9a3ed79f3a48" providerId="ADAL" clId="{9F23B798-9E84-4552-BA63-E776E805C424}" dt="2026-08-08T04:46:00.488" v="45" actId="22"/>
          <ac:picMkLst>
            <pc:docMk/>
            <pc:sldMk cId="0" sldId="270"/>
            <ac:picMk id="4" creationId="{B261AE24-8284-B462-5FB7-18B3AB137CD6}"/>
          </ac:picMkLst>
        </pc:picChg>
      </pc:sldChg>
      <pc:sldChg chg="addSp delSp mod modNotesTx">
        <pc:chgData name="Lai, Wilson" userId="2840974a-0d84-4886-90a9-9a3ed79f3a48" providerId="ADAL" clId="{9F23B798-9E84-4552-BA63-E776E805C424}" dt="2026-08-08T05:32:23.337" v="65" actId="12"/>
        <pc:sldMkLst>
          <pc:docMk/>
          <pc:sldMk cId="0" sldId="271"/>
        </pc:sldMkLst>
        <pc:picChg chg="del">
          <ac:chgData name="Lai, Wilson" userId="2840974a-0d84-4886-90a9-9a3ed79f3a48" providerId="ADAL" clId="{9F23B798-9E84-4552-BA63-E776E805C424}" dt="2026-08-08T04:46:02.825" v="46" actId="21"/>
          <ac:picMkLst>
            <pc:docMk/>
            <pc:sldMk cId="0" sldId="271"/>
            <ac:picMk id="2" creationId="{00000000-0000-0000-0000-000000000000}"/>
          </ac:picMkLst>
        </pc:picChg>
        <pc:picChg chg="add">
          <ac:chgData name="Lai, Wilson" userId="2840974a-0d84-4886-90a9-9a3ed79f3a48" providerId="ADAL" clId="{9F23B798-9E84-4552-BA63-E776E805C424}" dt="2026-08-08T04:46:10.529" v="47" actId="22"/>
          <ac:picMkLst>
            <pc:docMk/>
            <pc:sldMk cId="0" sldId="271"/>
            <ac:picMk id="4" creationId="{74EDE4C4-9A60-5871-129E-BECEE80C2344}"/>
          </ac:picMkLst>
        </pc:picChg>
      </pc:sldChg>
      <pc:sldChg chg="modNotesTx">
        <pc:chgData name="Lai, Wilson" userId="2840974a-0d84-4886-90a9-9a3ed79f3a48" providerId="ADAL" clId="{9F23B798-9E84-4552-BA63-E776E805C424}" dt="2026-08-08T05:32:39.065" v="66" actId="12"/>
        <pc:sldMkLst>
          <pc:docMk/>
          <pc:sldMk cId="1691320112"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F3A38A-9DE4-46FD-80EC-74A4B7809836}"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5325AD-FF62-4CDE-81ED-AFF0346EE6CC}" type="slidenum">
              <a:rPr lang="en-US" smtClean="0"/>
              <a:t>‹#›</a:t>
            </a:fld>
            <a:endParaRPr lang="en-US"/>
          </a:p>
        </p:txBody>
      </p:sp>
    </p:spTree>
    <p:extLst>
      <p:ext uri="{BB962C8B-B14F-4D97-AF65-F5344CB8AC3E}">
        <p14:creationId xmlns:p14="http://schemas.microsoft.com/office/powerpoint/2010/main" val="2791225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exploring a paradigm shift—a grand unification of three powerful forces shaping our decade: </a:t>
            </a:r>
            <a:r>
              <a:rPr lang="en-US" sz="1200" b="1" kern="1200" dirty="0">
                <a:solidFill>
                  <a:schemeClr val="tx1"/>
                </a:solidFill>
                <a:effectLst/>
                <a:latin typeface="+mn-lt"/>
                <a:ea typeface="+mn-ea"/>
                <a:cs typeface="+mn-cs"/>
              </a:rPr>
              <a:t>Artificial Intelligence, Digital Capital, and Human Sovereignty.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stand at a unique crossroads in history. On one hand, artificial intelligence is transforming how we produce work, generate content, and process information at near-zero marginal cost. On the other hand, the financial architectures of the past century are rapidly melting beneath our feet. To navigate this intersection, we need more than just tactical adjustments; we need a complete framework for personal and institutional empowerment.</a:t>
            </a:r>
          </a:p>
          <a:p>
            <a:r>
              <a:rPr lang="en-US" sz="1200" kern="1200" dirty="0">
                <a:solidFill>
                  <a:schemeClr val="tx1"/>
                </a:solidFill>
                <a:effectLst/>
                <a:latin typeface="+mn-lt"/>
                <a:ea typeface="+mn-ea"/>
                <a:cs typeface="+mn-cs"/>
              </a:rPr>
              <a:t>In this presentation, we will dismantle legacy financial assumptions, evaluate the true nature of digital scarcity, explore how to leverage AI without being commoditized by it, and lay out an internal and external operational system for individual sovereignty in an automated age.</a:t>
            </a:r>
          </a:p>
          <a:p>
            <a:endParaRPr lang="en-US" dirty="0"/>
          </a:p>
          <a:p>
            <a:r>
              <a:rPr lang="en-US" dirty="0"/>
              <a:t>https://www.youtube.com/watch?v=1aGpJQ8BMLI</a:t>
            </a:r>
          </a:p>
        </p:txBody>
      </p:sp>
      <p:sp>
        <p:nvSpPr>
          <p:cNvPr id="4" name="Slide Number Placeholder 3"/>
          <p:cNvSpPr>
            <a:spLocks noGrp="1"/>
          </p:cNvSpPr>
          <p:nvPr>
            <p:ph type="sldNum" sz="quarter" idx="5"/>
          </p:nvPr>
        </p:nvSpPr>
        <p:spPr/>
        <p:txBody>
          <a:bodyPr/>
          <a:lstStyle/>
          <a:p>
            <a:fld id="{695325AD-FF62-4CDE-81ED-AFF0346EE6CC}" type="slidenum">
              <a:rPr lang="en-US" smtClean="0"/>
              <a:t>1</a:t>
            </a:fld>
            <a:endParaRPr lang="en-US"/>
          </a:p>
        </p:txBody>
      </p:sp>
    </p:spTree>
    <p:extLst>
      <p:ext uri="{BB962C8B-B14F-4D97-AF65-F5344CB8AC3E}">
        <p14:creationId xmlns:p14="http://schemas.microsoft.com/office/powerpoint/2010/main" val="674516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start by diagnosing the foundational flaw of traditional money. </a:t>
            </a:r>
          </a:p>
          <a:p>
            <a:r>
              <a:rPr lang="en-US" sz="1200" kern="1200" dirty="0">
                <a:solidFill>
                  <a:schemeClr val="tx1"/>
                </a:solidFill>
                <a:effectLst/>
                <a:latin typeface="+mn-lt"/>
                <a:ea typeface="+mn-ea"/>
                <a:cs typeface="+mn-cs"/>
              </a:rPr>
              <a:t>Look at the </a:t>
            </a:r>
            <a:r>
              <a:rPr lang="en-US" sz="1200" b="1" kern="1200" dirty="0">
                <a:solidFill>
                  <a:schemeClr val="tx1"/>
                </a:solidFill>
                <a:effectLst/>
                <a:latin typeface="+mn-lt"/>
                <a:ea typeface="+mn-ea"/>
                <a:cs typeface="+mn-cs"/>
              </a:rPr>
              <a:t>Miami Beach Equation</a:t>
            </a:r>
            <a:r>
              <a:rPr lang="en-US" sz="1200" kern="1200" dirty="0">
                <a:solidFill>
                  <a:schemeClr val="tx1"/>
                </a:solidFill>
                <a:effectLst/>
                <a:latin typeface="+mn-lt"/>
                <a:ea typeface="+mn-ea"/>
                <a:cs typeface="+mn-cs"/>
              </a:rPr>
              <a:t> on the right side of this slide. A hundred years ago, a single acre of pristine Miami Beach real estate cost around $10,000. Today, that same acre costs upward of $10,000,000. Did the land become 1,000 times more valuable, or did the purchasing power of the fiat currency collapse by 99.9%? </a:t>
            </a:r>
          </a:p>
          <a:p>
            <a:r>
              <a:rPr lang="en-US" sz="1200" kern="1200" dirty="0">
                <a:solidFill>
                  <a:schemeClr val="tx1"/>
                </a:solidFill>
                <a:effectLst/>
                <a:latin typeface="+mn-lt"/>
                <a:ea typeface="+mn-ea"/>
                <a:cs typeface="+mn-cs"/>
              </a:rPr>
              <a:t>When you analyze fiat currency—even the absolute best reserve currency on earth, the U.S. Dollar—it suffers from a constant, compounding decay rate of roughly </a:t>
            </a:r>
            <a:r>
              <a:rPr lang="en-US" sz="1200" b="1" kern="1200" dirty="0">
                <a:solidFill>
                  <a:schemeClr val="tx1"/>
                </a:solidFill>
                <a:effectLst/>
                <a:latin typeface="+mn-lt"/>
                <a:ea typeface="+mn-ea"/>
                <a:cs typeface="+mn-cs"/>
              </a:rPr>
              <a:t>-7% per year</a:t>
            </a:r>
            <a:r>
              <a:rPr lang="en-US" sz="1200" kern="1200" dirty="0">
                <a:solidFill>
                  <a:schemeClr val="tx1"/>
                </a:solidFill>
                <a:effectLst/>
                <a:latin typeface="+mn-lt"/>
                <a:ea typeface="+mn-ea"/>
                <a:cs typeface="+mn-cs"/>
              </a:rPr>
              <a:t> in terms of scarce, desirable assets. Most people think inflation is 2% or 3% because they track consumer price indexes filled with mass-produced, commoditized goods. But when you measure fiat against scarce, desirable human capital and prime real estate, you realize that cash loses half its purchasing power every decade. </a:t>
            </a:r>
          </a:p>
          <a:p>
            <a:r>
              <a:rPr lang="en-US" sz="1200" kern="1200" dirty="0">
                <a:solidFill>
                  <a:schemeClr val="tx1"/>
                </a:solidFill>
                <a:effectLst/>
                <a:latin typeface="+mn-lt"/>
                <a:ea typeface="+mn-ea"/>
                <a:cs typeface="+mn-cs"/>
              </a:rPr>
              <a:t>Holding cash or long-term fiat-denominated bonds isn't a conservative strategy—it is a guaranteed, slow-motion liquidation of your economic life's work.</a:t>
            </a:r>
          </a:p>
          <a:p>
            <a:endParaRPr lang="en-US" dirty="0"/>
          </a:p>
        </p:txBody>
      </p:sp>
      <p:sp>
        <p:nvSpPr>
          <p:cNvPr id="4" name="Slide Number Placeholder 3"/>
          <p:cNvSpPr>
            <a:spLocks noGrp="1"/>
          </p:cNvSpPr>
          <p:nvPr>
            <p:ph type="sldNum" sz="quarter" idx="5"/>
          </p:nvPr>
        </p:nvSpPr>
        <p:spPr/>
        <p:txBody>
          <a:bodyPr/>
          <a:lstStyle/>
          <a:p>
            <a:fld id="{695325AD-FF62-4CDE-81ED-AFF0346EE6CC}" type="slidenum">
              <a:rPr lang="en-US" smtClean="0"/>
              <a:t>2</a:t>
            </a:fld>
            <a:endParaRPr lang="en-US"/>
          </a:p>
        </p:txBody>
      </p:sp>
    </p:spTree>
    <p:extLst>
      <p:ext uri="{BB962C8B-B14F-4D97-AF65-F5344CB8AC3E}">
        <p14:creationId xmlns:p14="http://schemas.microsoft.com/office/powerpoint/2010/main" val="722856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survive this loss of purchasing power, humanity has spent centuries moving capital into various asset classes. But when you evaluate them side-by-side, every traditional asset reveals fatal structural flaws: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Cash:</a:t>
            </a:r>
            <a:r>
              <a:rPr lang="en-US" sz="1200" kern="1200" dirty="0">
                <a:solidFill>
                  <a:schemeClr val="tx1"/>
                </a:solidFill>
                <a:effectLst/>
                <a:latin typeface="+mn-lt"/>
                <a:ea typeface="+mn-ea"/>
                <a:cs typeface="+mn-cs"/>
              </a:rPr>
              <a:t> Zero maintenance load, perfect global liquidity, but suffers a </a:t>
            </a:r>
            <a:r>
              <a:rPr lang="en-US" sz="1200" b="1" kern="1200" dirty="0">
                <a:solidFill>
                  <a:schemeClr val="tx1"/>
                </a:solidFill>
                <a:effectLst/>
                <a:latin typeface="+mn-lt"/>
                <a:ea typeface="+mn-ea"/>
                <a:cs typeface="+mn-cs"/>
              </a:rPr>
              <a:t>-7% annual real return</a:t>
            </a:r>
            <a:r>
              <a:rPr lang="en-US" sz="1200" kern="1200" dirty="0">
                <a:solidFill>
                  <a:schemeClr val="tx1"/>
                </a:solidFill>
                <a:effectLst/>
                <a:latin typeface="+mn-lt"/>
                <a:ea typeface="+mn-ea"/>
                <a:cs typeface="+mn-cs"/>
              </a:rPr>
              <a:t> due to systemic debasement.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Residential &amp; Commercial Real Estate:</a:t>
            </a:r>
            <a:r>
              <a:rPr lang="en-US" sz="1200" kern="1200" dirty="0">
                <a:solidFill>
                  <a:schemeClr val="tx1"/>
                </a:solidFill>
                <a:effectLst/>
                <a:latin typeface="+mn-lt"/>
                <a:ea typeface="+mn-ea"/>
                <a:cs typeface="+mn-cs"/>
              </a:rPr>
              <a:t> Real estate gives you decent returns (around 7% to 12%), but it comes with </a:t>
            </a:r>
            <a:r>
              <a:rPr lang="en-US" sz="1200" b="1" kern="1200" dirty="0">
                <a:solidFill>
                  <a:schemeClr val="tx1"/>
                </a:solidFill>
                <a:effectLst/>
                <a:latin typeface="+mn-lt"/>
                <a:ea typeface="+mn-ea"/>
                <a:cs typeface="+mn-cs"/>
              </a:rPr>
              <a:t>high maintenance loads, high property taxes, and complete illiquidity</a:t>
            </a:r>
            <a:r>
              <a:rPr lang="en-US" sz="1200" kern="1200" dirty="0">
                <a:solidFill>
                  <a:schemeClr val="tx1"/>
                </a:solidFill>
                <a:effectLst/>
                <a:latin typeface="+mn-lt"/>
                <a:ea typeface="+mn-ea"/>
                <a:cs typeface="+mn-cs"/>
              </a:rPr>
              <a:t>. In fact, with a 2% property tax, you effectively re-buy your own home from the state every 36 years. Furthermore, real estate is tethered to a physical jurisdiction subject to municipal risk.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Stocks (S&amp;P 500):</a:t>
            </a:r>
            <a:r>
              <a:rPr lang="en-US" sz="1200" kern="1200" dirty="0">
                <a:solidFill>
                  <a:schemeClr val="tx1"/>
                </a:solidFill>
                <a:effectLst/>
                <a:latin typeface="+mn-lt"/>
                <a:ea typeface="+mn-ea"/>
                <a:cs typeface="+mn-cs"/>
              </a:rPr>
              <a:t> Equities generate around 15% annualized, but they carry </a:t>
            </a:r>
            <a:r>
              <a:rPr lang="en-US" sz="1200" b="1" kern="1200" dirty="0">
                <a:solidFill>
                  <a:schemeClr val="tx1"/>
                </a:solidFill>
                <a:effectLst/>
                <a:latin typeface="+mn-lt"/>
                <a:ea typeface="+mn-ea"/>
                <a:cs typeface="+mn-cs"/>
              </a:rPr>
              <a:t>counterparty risk, CEO execution risk, competition, and corporate tax burdens</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Gold:</a:t>
            </a:r>
            <a:r>
              <a:rPr lang="en-US" sz="1200" kern="1200" dirty="0">
                <a:solidFill>
                  <a:schemeClr val="tx1"/>
                </a:solidFill>
                <a:effectLst/>
                <a:latin typeface="+mn-lt"/>
                <a:ea typeface="+mn-ea"/>
                <a:cs typeface="+mn-cs"/>
              </a:rPr>
              <a:t> Gold has low maintenance, but it is heavy, hard to transport, difficult to audit, and susceptible to supply expansion whenever the price rises.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Bitcoin:</a:t>
            </a:r>
            <a:r>
              <a:rPr lang="en-US" sz="1200" kern="1200" dirty="0">
                <a:solidFill>
                  <a:schemeClr val="tx1"/>
                </a:solidFill>
                <a:effectLst/>
                <a:latin typeface="+mn-lt"/>
                <a:ea typeface="+mn-ea"/>
                <a:cs typeface="+mn-cs"/>
              </a:rPr>
              <a:t> Bitcoin is the only asset with </a:t>
            </a:r>
            <a:r>
              <a:rPr lang="en-US" sz="1200" b="1" kern="1200" dirty="0">
                <a:solidFill>
                  <a:schemeClr val="tx1"/>
                </a:solidFill>
                <a:effectLst/>
                <a:latin typeface="+mn-lt"/>
                <a:ea typeface="+mn-ea"/>
                <a:cs typeface="+mn-cs"/>
              </a:rPr>
              <a:t>zero maintenance load, perfect global liquidity, capital gains tax efficiency, zero counterparty risk, and a 33% 6-year annualized yield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rule for the modern era is simple: </a:t>
            </a:r>
            <a:r>
              <a:rPr lang="en-US" sz="1200" b="1" kern="1200" dirty="0">
                <a:solidFill>
                  <a:schemeClr val="tx1"/>
                </a:solidFill>
                <a:effectLst/>
                <a:latin typeface="+mn-lt"/>
                <a:ea typeface="+mn-ea"/>
                <a:cs typeface="+mn-cs"/>
              </a:rPr>
              <a:t>Do not invest in things that a factory, a robot, or an AI can generate in infinite quantities.</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695325AD-FF62-4CDE-81ED-AFF0346EE6CC}" type="slidenum">
              <a:rPr lang="en-US" smtClean="0"/>
              <a:t>3</a:t>
            </a:fld>
            <a:endParaRPr lang="en-US"/>
          </a:p>
        </p:txBody>
      </p:sp>
    </p:spTree>
    <p:extLst>
      <p:ext uri="{BB962C8B-B14F-4D97-AF65-F5344CB8AC3E}">
        <p14:creationId xmlns:p14="http://schemas.microsoft.com/office/powerpoint/2010/main" val="1553781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What makes Bitcoin fundamentally superior to everything else on that table? It is the </a:t>
            </a:r>
            <a:r>
              <a:rPr lang="en-US" sz="1200" b="1" kern="1200" dirty="0">
                <a:solidFill>
                  <a:schemeClr val="tx1"/>
                </a:solidFill>
                <a:effectLst/>
                <a:latin typeface="+mn-lt"/>
                <a:ea typeface="+mn-ea"/>
                <a:cs typeface="+mn-cs"/>
              </a:rPr>
              <a:t>digital transformation of economic energy</a:t>
            </a:r>
            <a:r>
              <a:rPr lang="en-US" sz="1200" kern="1200" dirty="0">
                <a:solidFill>
                  <a:schemeClr val="tx1"/>
                </a:solidFill>
                <a:effectLst/>
                <a:latin typeface="+mn-lt"/>
                <a:ea typeface="+mn-ea"/>
                <a:cs typeface="+mn-cs"/>
              </a:rPr>
              <a:t>. It takes kinetic economic output and converts it into pure, encrypted, digital capital. </a:t>
            </a:r>
          </a:p>
          <a:p>
            <a:r>
              <a:rPr lang="en-US" sz="1200" kern="1200" dirty="0">
                <a:solidFill>
                  <a:schemeClr val="tx1"/>
                </a:solidFill>
                <a:effectLst/>
                <a:latin typeface="+mn-lt"/>
                <a:ea typeface="+mn-ea"/>
                <a:cs typeface="+mn-cs"/>
              </a:rPr>
              <a:t>Let's look at its four defining pillars: </a:t>
            </a:r>
          </a:p>
          <a:p>
            <a:pPr marL="228600" indent="-228600">
              <a:buFont typeface="+mj-lt"/>
              <a:buAutoNum type="arabicPeriod"/>
            </a:pPr>
            <a:r>
              <a:rPr lang="en-US" sz="1200" b="1" kern="1200" dirty="0">
                <a:solidFill>
                  <a:schemeClr val="tx1"/>
                </a:solidFill>
                <a:effectLst/>
                <a:latin typeface="+mn-lt"/>
                <a:ea typeface="+mn-ea"/>
                <a:cs typeface="+mn-cs"/>
              </a:rPr>
              <a:t>No Counterparty Risk:</a:t>
            </a:r>
            <a:r>
              <a:rPr lang="en-US" sz="1200" kern="1200" dirty="0">
                <a:solidFill>
                  <a:schemeClr val="tx1"/>
                </a:solidFill>
                <a:effectLst/>
                <a:latin typeface="+mn-lt"/>
                <a:ea typeface="+mn-ea"/>
                <a:cs typeface="+mn-cs"/>
              </a:rPr>
              <a:t> You can hold your economic energy without needing permission from 7 banks and 16 governments. It exists independently of the legacy financial system. </a:t>
            </a:r>
          </a:p>
          <a:p>
            <a:pPr marL="228600" indent="-228600">
              <a:buFont typeface="+mj-lt"/>
              <a:buAutoNum type="arabicPeriod"/>
            </a:pPr>
            <a:r>
              <a:rPr lang="en-US" sz="1200" b="1" kern="1200" dirty="0">
                <a:solidFill>
                  <a:schemeClr val="tx1"/>
                </a:solidFill>
                <a:effectLst/>
                <a:latin typeface="+mn-lt"/>
                <a:ea typeface="+mn-ea"/>
                <a:cs typeface="+mn-cs"/>
              </a:rPr>
              <a:t>Instantly Transportable:</a:t>
            </a:r>
            <a:r>
              <a:rPr lang="en-US" sz="1200" kern="1200" dirty="0">
                <a:solidFill>
                  <a:schemeClr val="tx1"/>
                </a:solidFill>
                <a:effectLst/>
                <a:latin typeface="+mn-lt"/>
                <a:ea typeface="+mn-ea"/>
                <a:cs typeface="+mn-cs"/>
              </a:rPr>
              <a:t> Try moving $10 million in physical gold across a international border in ten minutes. It’s impossible. With Bitcoin, you can transport $100 million or $1 billion across the globe in seconds for a fraction of a dollar. </a:t>
            </a:r>
          </a:p>
          <a:p>
            <a:pPr marL="228600" indent="-228600">
              <a:buFont typeface="+mj-lt"/>
              <a:buAutoNum type="arabicPeriod"/>
            </a:pPr>
            <a:r>
              <a:rPr lang="en-US" sz="1200" b="1" kern="1200" dirty="0">
                <a:solidFill>
                  <a:schemeClr val="tx1"/>
                </a:solidFill>
                <a:effectLst/>
                <a:latin typeface="+mn-lt"/>
                <a:ea typeface="+mn-ea"/>
                <a:cs typeface="+mn-cs"/>
              </a:rPr>
              <a:t>Non-Sovereign:</a:t>
            </a:r>
            <a:r>
              <a:rPr lang="en-US" sz="1200" kern="1200" dirty="0">
                <a:solidFill>
                  <a:schemeClr val="tx1"/>
                </a:solidFill>
                <a:effectLst/>
                <a:latin typeface="+mn-lt"/>
                <a:ea typeface="+mn-ea"/>
                <a:cs typeface="+mn-cs"/>
              </a:rPr>
              <a:t> It is immune to local currency meltdowns and the hyperinflationary spirals that routinely destroy emerging-market fiat. </a:t>
            </a:r>
          </a:p>
          <a:p>
            <a:pPr marL="228600" indent="-228600">
              <a:buFont typeface="+mj-lt"/>
              <a:buAutoNum type="arabicPeriod"/>
            </a:pPr>
            <a:r>
              <a:rPr lang="en-US" sz="1200" b="1" kern="1200" dirty="0">
                <a:solidFill>
                  <a:schemeClr val="tx1"/>
                </a:solidFill>
                <a:effectLst/>
                <a:latin typeface="+mn-lt"/>
                <a:ea typeface="+mn-ea"/>
                <a:cs typeface="+mn-cs"/>
              </a:rPr>
              <a:t>Immutable Scarcity:</a:t>
            </a:r>
            <a:r>
              <a:rPr lang="en-US" sz="1200" kern="1200" dirty="0">
                <a:solidFill>
                  <a:schemeClr val="tx1"/>
                </a:solidFill>
                <a:effectLst/>
                <a:latin typeface="+mn-lt"/>
                <a:ea typeface="+mn-ea"/>
                <a:cs typeface="+mn-cs"/>
              </a:rPr>
              <a:t> Gold's supply increases whenever miners dig deeper. Real estate supply increases when developers build skyscraper condos. But Bitcoin is strictly hard-capped at </a:t>
            </a:r>
            <a:r>
              <a:rPr lang="en-US" sz="1200" b="1" kern="1200" dirty="0">
                <a:solidFill>
                  <a:schemeClr val="tx1"/>
                </a:solidFill>
                <a:effectLst/>
                <a:latin typeface="+mn-lt"/>
                <a:ea typeface="+mn-ea"/>
                <a:cs typeface="+mn-cs"/>
              </a:rPr>
              <a:t>21 million units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It is monetary policy written in code and enforced by thermodynamics—completely impervious to state seizure when properly secured. </a:t>
            </a:r>
          </a:p>
          <a:p>
            <a:endParaRPr lang="en-US" dirty="0"/>
          </a:p>
        </p:txBody>
      </p:sp>
      <p:sp>
        <p:nvSpPr>
          <p:cNvPr id="4" name="Slide Number Placeholder 3"/>
          <p:cNvSpPr>
            <a:spLocks noGrp="1"/>
          </p:cNvSpPr>
          <p:nvPr>
            <p:ph type="sldNum" sz="quarter" idx="5"/>
          </p:nvPr>
        </p:nvSpPr>
        <p:spPr/>
        <p:txBody>
          <a:bodyPr/>
          <a:lstStyle/>
          <a:p>
            <a:fld id="{695325AD-FF62-4CDE-81ED-AFF0346EE6CC}" type="slidenum">
              <a:rPr lang="en-US" smtClean="0"/>
              <a:t>4</a:t>
            </a:fld>
            <a:endParaRPr lang="en-US"/>
          </a:p>
        </p:txBody>
      </p:sp>
    </p:spTree>
    <p:extLst>
      <p:ext uri="{BB962C8B-B14F-4D97-AF65-F5344CB8AC3E}">
        <p14:creationId xmlns:p14="http://schemas.microsoft.com/office/powerpoint/2010/main" val="145604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bring Artificial Intelligence into the narrative. We are moving toward a world bifurcated into two realms: </a:t>
            </a:r>
            <a:r>
              <a:rPr lang="en-US" sz="1200" b="1" kern="1200" dirty="0">
                <a:solidFill>
                  <a:schemeClr val="tx1"/>
                </a:solidFill>
                <a:effectLst/>
                <a:latin typeface="+mn-lt"/>
                <a:ea typeface="+mn-ea"/>
                <a:cs typeface="+mn-cs"/>
              </a:rPr>
              <a:t>The Age of Abundance</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The Hierarchy of Affluence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AI and robotics will hyper-commoditize everything that can be reproduced: basic labor, utilitarian goods, software code, standard medical diagnostics, and digital content. The cost of producing a line of code or a custom video is trending toward zero. This creates an </a:t>
            </a:r>
            <a:r>
              <a:rPr lang="en-US" sz="1200" b="1" kern="1200" dirty="0">
                <a:solidFill>
                  <a:schemeClr val="tx1"/>
                </a:solidFill>
                <a:effectLst/>
                <a:latin typeface="+mn-lt"/>
                <a:ea typeface="+mn-ea"/>
                <a:cs typeface="+mn-cs"/>
              </a:rPr>
              <a:t>infinite supply</a:t>
            </a:r>
            <a:r>
              <a:rPr lang="en-US" sz="1200" kern="1200" dirty="0">
                <a:solidFill>
                  <a:schemeClr val="tx1"/>
                </a:solidFill>
                <a:effectLst/>
                <a:latin typeface="+mn-lt"/>
                <a:ea typeface="+mn-ea"/>
                <a:cs typeface="+mn-cs"/>
              </a:rPr>
              <a:t> of general goods and services. </a:t>
            </a:r>
          </a:p>
          <a:p>
            <a:r>
              <a:rPr lang="en-US" sz="1200" kern="1200" dirty="0">
                <a:solidFill>
                  <a:schemeClr val="tx1"/>
                </a:solidFill>
                <a:effectLst/>
                <a:latin typeface="+mn-lt"/>
                <a:ea typeface="+mn-ea"/>
                <a:cs typeface="+mn-cs"/>
              </a:rPr>
              <a:t>However, human beings are fundamentally status-oriented, positional creatures. As basic survival goods become nearly free, human demand will concentrate entirely on </a:t>
            </a:r>
            <a:r>
              <a:rPr lang="en-US" sz="1200" b="1" kern="1200" dirty="0">
                <a:solidFill>
                  <a:schemeClr val="tx1"/>
                </a:solidFill>
                <a:effectLst/>
                <a:latin typeface="+mn-lt"/>
                <a:ea typeface="+mn-ea"/>
                <a:cs typeface="+mn-cs"/>
              </a:rPr>
              <a:t>finite, scarce, and non-replicable trophy assets</a:t>
            </a:r>
            <a:r>
              <a:rPr lang="en-US" sz="1200" kern="1200" dirty="0">
                <a:solidFill>
                  <a:schemeClr val="tx1"/>
                </a:solidFill>
                <a:effectLst/>
                <a:latin typeface="+mn-lt"/>
                <a:ea typeface="+mn-ea"/>
                <a:cs typeface="+mn-cs"/>
              </a:rPr>
              <a:t>: pristine real estate, unique historical artifacts, prestige experiences, and </a:t>
            </a:r>
            <a:r>
              <a:rPr lang="en-US" sz="1200" b="1" kern="1200" dirty="0">
                <a:solidFill>
                  <a:schemeClr val="tx1"/>
                </a:solidFill>
                <a:effectLst/>
                <a:latin typeface="+mn-lt"/>
                <a:ea typeface="+mn-ea"/>
                <a:cs typeface="+mn-cs"/>
              </a:rPr>
              <a:t>digital capital</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AI guarantees the </a:t>
            </a:r>
            <a:r>
              <a:rPr lang="en-US" sz="1200" b="1" kern="1200" dirty="0">
                <a:solidFill>
                  <a:schemeClr val="tx1"/>
                </a:solidFill>
                <a:effectLst/>
                <a:latin typeface="+mn-lt"/>
                <a:ea typeface="+mn-ea"/>
                <a:cs typeface="+mn-cs"/>
              </a:rPr>
              <a:t>abundance</a:t>
            </a:r>
            <a:r>
              <a:rPr lang="en-US" sz="1200" kern="1200" dirty="0">
                <a:solidFill>
                  <a:schemeClr val="tx1"/>
                </a:solidFill>
                <a:effectLst/>
                <a:latin typeface="+mn-lt"/>
                <a:ea typeface="+mn-ea"/>
                <a:cs typeface="+mn-cs"/>
              </a:rPr>
              <a:t> of consumer goods, while Bitcoin guarantees the </a:t>
            </a:r>
            <a:r>
              <a:rPr lang="en-US" sz="1200" b="1" kern="1200" dirty="0">
                <a:solidFill>
                  <a:schemeClr val="tx1"/>
                </a:solidFill>
                <a:effectLst/>
                <a:latin typeface="+mn-lt"/>
                <a:ea typeface="+mn-ea"/>
                <a:cs typeface="+mn-cs"/>
              </a:rPr>
              <a:t>absolute scarcity</a:t>
            </a:r>
            <a:r>
              <a:rPr lang="en-US" sz="1200" kern="1200" dirty="0">
                <a:solidFill>
                  <a:schemeClr val="tx1"/>
                </a:solidFill>
                <a:effectLst/>
                <a:latin typeface="+mn-lt"/>
                <a:ea typeface="+mn-ea"/>
                <a:cs typeface="+mn-cs"/>
              </a:rPr>
              <a:t> of stored wealth. If you want to build enduring wealth, you must store your value in the finite realm, not the abundant one. </a:t>
            </a:r>
          </a:p>
          <a:p>
            <a:endParaRPr lang="en-US" dirty="0"/>
          </a:p>
        </p:txBody>
      </p:sp>
      <p:sp>
        <p:nvSpPr>
          <p:cNvPr id="4" name="Slide Number Placeholder 3"/>
          <p:cNvSpPr>
            <a:spLocks noGrp="1"/>
          </p:cNvSpPr>
          <p:nvPr>
            <p:ph type="sldNum" sz="quarter" idx="5"/>
          </p:nvPr>
        </p:nvSpPr>
        <p:spPr/>
        <p:txBody>
          <a:bodyPr/>
          <a:lstStyle/>
          <a:p>
            <a:fld id="{695325AD-FF62-4CDE-81ED-AFF0346EE6CC}" type="slidenum">
              <a:rPr lang="en-US" smtClean="0"/>
              <a:t>5</a:t>
            </a:fld>
            <a:endParaRPr lang="en-US"/>
          </a:p>
        </p:txBody>
      </p:sp>
    </p:spTree>
    <p:extLst>
      <p:ext uri="{BB962C8B-B14F-4D97-AF65-F5344CB8AC3E}">
        <p14:creationId xmlns:p14="http://schemas.microsoft.com/office/powerpoint/2010/main" val="2106284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Understanding structural shifts requires understanding how technological adoption moves along an </a:t>
            </a:r>
            <a:r>
              <a:rPr lang="en-US" sz="1200" b="1" kern="1200" dirty="0">
                <a:solidFill>
                  <a:schemeClr val="tx1"/>
                </a:solidFill>
                <a:effectLst/>
                <a:latin typeface="+mn-lt"/>
                <a:ea typeface="+mn-ea"/>
                <a:cs typeface="+mn-cs"/>
              </a:rPr>
              <a:t>S-Curve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1903, aviation went from </a:t>
            </a:r>
            <a:r>
              <a:rPr lang="en-US" sz="1200" b="1" kern="1200" dirty="0">
                <a:solidFill>
                  <a:schemeClr val="tx1"/>
                </a:solidFill>
                <a:effectLst/>
                <a:latin typeface="+mn-lt"/>
                <a:ea typeface="+mn-ea"/>
                <a:cs typeface="+mn-cs"/>
              </a:rPr>
              <a:t>Zero to One</a:t>
            </a:r>
            <a:r>
              <a:rPr lang="en-US" sz="1200" kern="1200" dirty="0">
                <a:solidFill>
                  <a:schemeClr val="tx1"/>
                </a:solidFill>
                <a:effectLst/>
                <a:latin typeface="+mn-lt"/>
                <a:ea typeface="+mn-ea"/>
                <a:cs typeface="+mn-cs"/>
              </a:rPr>
              <a:t>. Between 1903 and 1970, aviation experienced exponential performance gains. But look at aviation from 1975 to today: aircraft are only about 15% more fuel-efficient over 50 years. The technology hit the plateau of diminishing returns. We see the exact same plateau today in late-stage smartphones and traditional computing hardware. </a:t>
            </a:r>
          </a:p>
          <a:p>
            <a:r>
              <a:rPr lang="en-US" sz="1200" kern="1200" dirty="0">
                <a:solidFill>
                  <a:schemeClr val="tx1"/>
                </a:solidFill>
                <a:effectLst/>
                <a:latin typeface="+mn-lt"/>
                <a:ea typeface="+mn-ea"/>
                <a:cs typeface="+mn-cs"/>
              </a:rPr>
              <a:t>Where is the exponential growth today? It is in </a:t>
            </a:r>
            <a:r>
              <a:rPr lang="en-US" sz="1200" b="1" kern="1200" dirty="0">
                <a:solidFill>
                  <a:schemeClr val="tx1"/>
                </a:solidFill>
                <a:effectLst/>
                <a:latin typeface="+mn-lt"/>
                <a:ea typeface="+mn-ea"/>
                <a:cs typeface="+mn-cs"/>
              </a:rPr>
              <a:t>Semiconductors and AI</a:t>
            </a:r>
            <a:r>
              <a:rPr lang="en-US" sz="1200" kern="1200" dirty="0">
                <a:solidFill>
                  <a:schemeClr val="tx1"/>
                </a:solidFill>
                <a:effectLst/>
                <a:latin typeface="+mn-lt"/>
                <a:ea typeface="+mn-ea"/>
                <a:cs typeface="+mn-cs"/>
              </a:rPr>
              <a:t>, where capabilities are doubling rapidly. </a:t>
            </a:r>
          </a:p>
          <a:p>
            <a:r>
              <a:rPr lang="en-US" sz="1200" kern="1200" dirty="0">
                <a:solidFill>
                  <a:schemeClr val="tx1"/>
                </a:solidFill>
                <a:effectLst/>
                <a:latin typeface="+mn-lt"/>
                <a:ea typeface="+mn-ea"/>
                <a:cs typeface="+mn-cs"/>
              </a:rPr>
              <a:t>The single greatest mistake you can make in education, career planning, or corporate management is dedicating your life or capital to an S-Curve that has already hit its plateau. Stop optimizing legacy industries that have flatlined. Align your efforts with technologies that are currently at the bottom of their vertical S-Curve velocity. </a:t>
            </a:r>
          </a:p>
          <a:p>
            <a:endParaRPr lang="en-US" dirty="0"/>
          </a:p>
        </p:txBody>
      </p:sp>
      <p:sp>
        <p:nvSpPr>
          <p:cNvPr id="4" name="Slide Number Placeholder 3"/>
          <p:cNvSpPr>
            <a:spLocks noGrp="1"/>
          </p:cNvSpPr>
          <p:nvPr>
            <p:ph type="sldNum" sz="quarter" idx="5"/>
          </p:nvPr>
        </p:nvSpPr>
        <p:spPr/>
        <p:txBody>
          <a:bodyPr/>
          <a:lstStyle/>
          <a:p>
            <a:fld id="{695325AD-FF62-4CDE-81ED-AFF0346EE6CC}" type="slidenum">
              <a:rPr lang="en-US" smtClean="0"/>
              <a:t>6</a:t>
            </a:fld>
            <a:endParaRPr lang="en-US"/>
          </a:p>
        </p:txBody>
      </p:sp>
    </p:spTree>
    <p:extLst>
      <p:ext uri="{BB962C8B-B14F-4D97-AF65-F5344CB8AC3E}">
        <p14:creationId xmlns:p14="http://schemas.microsoft.com/office/powerpoint/2010/main" val="1587794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a revolutionary technology transitions from theoretical to commercially viable, a </a:t>
            </a:r>
            <a:r>
              <a:rPr lang="en-US" sz="1200" b="1" kern="1200" dirty="0">
                <a:solidFill>
                  <a:schemeClr val="tx1"/>
                </a:solidFill>
                <a:effectLst/>
                <a:latin typeface="+mn-lt"/>
                <a:ea typeface="+mn-ea"/>
                <a:cs typeface="+mn-cs"/>
              </a:rPr>
              <a:t>12-to-24 month window</a:t>
            </a:r>
            <a:r>
              <a:rPr lang="en-US" sz="1200" kern="1200" dirty="0">
                <a:solidFill>
                  <a:schemeClr val="tx1"/>
                </a:solidFill>
                <a:effectLst/>
                <a:latin typeface="+mn-lt"/>
                <a:ea typeface="+mn-ea"/>
                <a:cs typeface="+mn-cs"/>
              </a:rPr>
              <a:t> opens where generational fortunes and industry dominance are decided. </a:t>
            </a:r>
          </a:p>
          <a:p>
            <a:r>
              <a:rPr lang="en-US" sz="1200" kern="1200" dirty="0">
                <a:solidFill>
                  <a:schemeClr val="tx1"/>
                </a:solidFill>
                <a:effectLst/>
                <a:latin typeface="+mn-lt"/>
                <a:ea typeface="+mn-ea"/>
                <a:cs typeface="+mn-cs"/>
              </a:rPr>
              <a:t>Look at history: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Artistic Example:</a:t>
            </a:r>
            <a:r>
              <a:rPr lang="en-US" sz="1200" kern="1200" dirty="0">
                <a:solidFill>
                  <a:schemeClr val="tx1"/>
                </a:solidFill>
                <a:effectLst/>
                <a:latin typeface="+mn-lt"/>
                <a:ea typeface="+mn-ea"/>
                <a:cs typeface="+mn-cs"/>
              </a:rPr>
              <a:t> In 1971, Led Zeppelin combined electric amplification, recording tech, and distribution to redefine global rock music. They recognized the inflection point of electric music tech and pushed it to its absolute limits within a decade.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Corporate Example:</a:t>
            </a:r>
            <a:r>
              <a:rPr lang="en-US" sz="1200" kern="1200" dirty="0">
                <a:solidFill>
                  <a:schemeClr val="tx1"/>
                </a:solidFill>
                <a:effectLst/>
                <a:latin typeface="+mn-lt"/>
                <a:ea typeface="+mn-ea"/>
                <a:cs typeface="+mn-cs"/>
              </a:rPr>
              <a:t> In the 2020s, MicroStrategy became the first public enterprise to systematically combine </a:t>
            </a:r>
            <a:r>
              <a:rPr lang="en-US" sz="1200" b="1" kern="1200" dirty="0">
                <a:solidFill>
                  <a:schemeClr val="tx1"/>
                </a:solidFill>
                <a:effectLst/>
                <a:latin typeface="+mn-lt"/>
                <a:ea typeface="+mn-ea"/>
                <a:cs typeface="+mn-cs"/>
              </a:rPr>
              <a:t>Digital Capital (Bitcoin) with Digital Credit and equity markets</a:t>
            </a:r>
            <a:r>
              <a:rPr lang="en-US" sz="1200" kern="1200" dirty="0">
                <a:solidFill>
                  <a:schemeClr val="tx1"/>
                </a:solidFill>
                <a:effectLst/>
                <a:latin typeface="+mn-lt"/>
                <a:ea typeface="+mn-ea"/>
                <a:cs typeface="+mn-cs"/>
              </a:rPr>
              <a:t> to transform a software company into a high-performance Digital Treasury model. </a:t>
            </a:r>
          </a:p>
          <a:p>
            <a:r>
              <a:rPr lang="en-US" sz="1200" kern="1200" dirty="0">
                <a:solidFill>
                  <a:schemeClr val="tx1"/>
                </a:solidFill>
                <a:effectLst/>
                <a:latin typeface="+mn-lt"/>
                <a:ea typeface="+mn-ea"/>
                <a:cs typeface="+mn-cs"/>
              </a:rPr>
              <a:t>The goal is to spot the exact moment a new technology moves from academic curiosity to commercial leverage, and then </a:t>
            </a:r>
            <a:r>
              <a:rPr lang="en-US" sz="1200" b="1" kern="1200" dirty="0">
                <a:solidFill>
                  <a:schemeClr val="tx1"/>
                </a:solidFill>
                <a:effectLst/>
                <a:latin typeface="+mn-lt"/>
                <a:ea typeface="+mn-ea"/>
                <a:cs typeface="+mn-cs"/>
              </a:rPr>
              <a:t>commit completely before the window closes</a:t>
            </a:r>
            <a:r>
              <a:rPr lang="en-US" sz="1200" kern="1200" dirty="0">
                <a:solidFill>
                  <a:schemeClr val="tx1"/>
                </a:solidFill>
                <a:effectLst/>
                <a:latin typeface="+mn-lt"/>
                <a:ea typeface="+mn-ea"/>
                <a:cs typeface="+mn-cs"/>
              </a:rPr>
              <a:t> and the mainstream consensus catches up. </a:t>
            </a:r>
          </a:p>
          <a:p>
            <a:endParaRPr lang="en-US" dirty="0"/>
          </a:p>
        </p:txBody>
      </p:sp>
      <p:sp>
        <p:nvSpPr>
          <p:cNvPr id="4" name="Slide Number Placeholder 3"/>
          <p:cNvSpPr>
            <a:spLocks noGrp="1"/>
          </p:cNvSpPr>
          <p:nvPr>
            <p:ph type="sldNum" sz="quarter" idx="5"/>
          </p:nvPr>
        </p:nvSpPr>
        <p:spPr/>
        <p:txBody>
          <a:bodyPr/>
          <a:lstStyle/>
          <a:p>
            <a:fld id="{695325AD-FF62-4CDE-81ED-AFF0346EE6CC}" type="slidenum">
              <a:rPr lang="en-US" smtClean="0"/>
              <a:t>7</a:t>
            </a:fld>
            <a:endParaRPr lang="en-US"/>
          </a:p>
        </p:txBody>
      </p:sp>
    </p:spTree>
    <p:extLst>
      <p:ext uri="{BB962C8B-B14F-4D97-AF65-F5344CB8AC3E}">
        <p14:creationId xmlns:p14="http://schemas.microsoft.com/office/powerpoint/2010/main" val="31516939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analyze how this mindset plays out in corporate strategy using MicroStrategy as a live blueprint: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Step 1 (Hit the Ceiling):</a:t>
            </a:r>
            <a:r>
              <a:rPr lang="en-US" sz="1200" kern="1200" dirty="0">
                <a:solidFill>
                  <a:schemeClr val="tx1"/>
                </a:solidFill>
                <a:effectLst/>
                <a:latin typeface="+mn-lt"/>
                <a:ea typeface="+mn-ea"/>
                <a:cs typeface="+mn-cs"/>
              </a:rPr>
              <a:t> Traditional capital markets presented flat yields, low growth, and standard corporate finance tools reached their logical limit.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Step 2 (The AI Prompt):</a:t>
            </a:r>
            <a:r>
              <a:rPr lang="en-US" sz="1200" kern="1200" dirty="0">
                <a:solidFill>
                  <a:schemeClr val="tx1"/>
                </a:solidFill>
                <a:effectLst/>
                <a:latin typeface="+mn-lt"/>
                <a:ea typeface="+mn-ea"/>
                <a:cs typeface="+mn-cs"/>
              </a:rPr>
              <a:t> Instead of asking standard questions, the question posed was radical: </a:t>
            </a:r>
            <a:r>
              <a:rPr lang="en-US" sz="1200" i="1" kern="1200" dirty="0">
                <a:solidFill>
                  <a:schemeClr val="tx1"/>
                </a:solidFill>
                <a:effectLst/>
                <a:latin typeface="+mn-lt"/>
                <a:ea typeface="+mn-ea"/>
                <a:cs typeface="+mn-cs"/>
              </a:rPr>
              <a:t>"How do we design a hybrid security backed by Bitcoin that trades stably around par while giving us access to low-cost capital?"</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Step 3 (Novel Engineering):</a:t>
            </a:r>
            <a:r>
              <a:rPr lang="en-US" sz="1200" kern="1200" dirty="0">
                <a:solidFill>
                  <a:schemeClr val="tx1"/>
                </a:solidFill>
                <a:effectLst/>
                <a:latin typeface="+mn-lt"/>
                <a:ea typeface="+mn-ea"/>
                <a:cs typeface="+mn-cs"/>
              </a:rPr>
              <a:t> The team engineered novel financial products—like variable dividend rate preferred stock and customized convertible notes—creating entirely new instruments tied to digital capital.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Step 4 (Market Execution):</a:t>
            </a:r>
            <a:r>
              <a:rPr lang="en-US" sz="1200" kern="1200" dirty="0">
                <a:solidFill>
                  <a:schemeClr val="tx1"/>
                </a:solidFill>
                <a:effectLst/>
                <a:latin typeface="+mn-lt"/>
                <a:ea typeface="+mn-ea"/>
                <a:cs typeface="+mn-cs"/>
              </a:rPr>
              <a:t> By executing this design, billions in institutional capital were raised and converted directly into long-term Bitcoin reserves. </a:t>
            </a:r>
          </a:p>
          <a:p>
            <a:r>
              <a:rPr lang="en-US" sz="1200" b="1" kern="1200" dirty="0">
                <a:solidFill>
                  <a:schemeClr val="tx1"/>
                </a:solidFill>
                <a:effectLst/>
                <a:latin typeface="+mn-lt"/>
                <a:ea typeface="+mn-ea"/>
                <a:cs typeface="+mn-cs"/>
              </a:rPr>
              <a:t>The lesson here goes beyond finance:</a:t>
            </a:r>
            <a:r>
              <a:rPr lang="en-US" sz="1200" kern="1200" dirty="0">
                <a:solidFill>
                  <a:schemeClr val="tx1"/>
                </a:solidFill>
                <a:effectLst/>
                <a:latin typeface="+mn-lt"/>
                <a:ea typeface="+mn-ea"/>
                <a:cs typeface="+mn-cs"/>
              </a:rPr>
              <a:t> Do not use AI or modern tools just to perform your existing job 5% faster. Use AI to engineer novel solutions to structural problems that no one in your industry has ever tackled.</a:t>
            </a:r>
          </a:p>
          <a:p>
            <a:endParaRPr lang="en-US" dirty="0"/>
          </a:p>
        </p:txBody>
      </p:sp>
      <p:sp>
        <p:nvSpPr>
          <p:cNvPr id="4" name="Slide Number Placeholder 3"/>
          <p:cNvSpPr>
            <a:spLocks noGrp="1"/>
          </p:cNvSpPr>
          <p:nvPr>
            <p:ph type="sldNum" sz="quarter" idx="5"/>
          </p:nvPr>
        </p:nvSpPr>
        <p:spPr/>
        <p:txBody>
          <a:bodyPr/>
          <a:lstStyle/>
          <a:p>
            <a:fld id="{695325AD-FF62-4CDE-81ED-AFF0346EE6CC}" type="slidenum">
              <a:rPr lang="en-US" smtClean="0"/>
              <a:t>8</a:t>
            </a:fld>
            <a:endParaRPr lang="en-US"/>
          </a:p>
        </p:txBody>
      </p:sp>
    </p:spTree>
    <p:extLst>
      <p:ext uri="{BB962C8B-B14F-4D97-AF65-F5344CB8AC3E}">
        <p14:creationId xmlns:p14="http://schemas.microsoft.com/office/powerpoint/2010/main" val="16922279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adapt to this environment, we must completely discard the </a:t>
            </a:r>
            <a:r>
              <a:rPr lang="en-US" sz="1200" b="1" kern="1200" dirty="0">
                <a:solidFill>
                  <a:schemeClr val="tx1"/>
                </a:solidFill>
                <a:effectLst/>
                <a:latin typeface="+mn-lt"/>
                <a:ea typeface="+mn-ea"/>
                <a:cs typeface="+mn-cs"/>
              </a:rPr>
              <a:t>Legacy Approach</a:t>
            </a:r>
            <a:r>
              <a:rPr lang="en-US" sz="1200" kern="1200" dirty="0">
                <a:solidFill>
                  <a:schemeClr val="tx1"/>
                </a:solidFill>
                <a:effectLst/>
                <a:latin typeface="+mn-lt"/>
                <a:ea typeface="+mn-ea"/>
                <a:cs typeface="+mn-cs"/>
              </a:rPr>
              <a:t> to productivity. </a:t>
            </a:r>
          </a:p>
          <a:p>
            <a:r>
              <a:rPr lang="en-US" sz="1200" kern="1200" dirty="0">
                <a:solidFill>
                  <a:schemeClr val="tx1"/>
                </a:solidFill>
                <a:effectLst/>
                <a:latin typeface="+mn-lt"/>
                <a:ea typeface="+mn-ea"/>
                <a:cs typeface="+mn-cs"/>
              </a:rPr>
              <a:t>The legacy model tells you to work harder, fight automation, teach 200 students in a physical lecture hall, or try to be 5% better than the person sitting at the desk next to you. That strategy is obsolete. You cannot outwork an AI that operates 24 hours a day, 7 days a week, at zero incremental cost. </a:t>
            </a:r>
          </a:p>
          <a:p>
            <a:r>
              <a:rPr lang="en-US" sz="1200" b="1" kern="1200" dirty="0">
                <a:solidFill>
                  <a:schemeClr val="tx1"/>
                </a:solidFill>
                <a:effectLst/>
                <a:latin typeface="+mn-lt"/>
                <a:ea typeface="+mn-ea"/>
                <a:cs typeface="+mn-cs"/>
              </a:rPr>
              <a:t>The Digital Strategy demands a fundamentally different posture:</a:t>
            </a:r>
            <a:endParaRPr lang="en-US" sz="1200" kern="1200" dirty="0">
              <a:solidFill>
                <a:schemeClr val="tx1"/>
              </a:solidFill>
              <a:effectLst/>
              <a:latin typeface="+mn-lt"/>
              <a:ea typeface="+mn-ea"/>
              <a:cs typeface="+mn-cs"/>
            </a:endParaRPr>
          </a:p>
          <a:p>
            <a:pPr marL="228600" indent="-228600">
              <a:buFont typeface="+mj-lt"/>
              <a:buAutoNum type="arabicPeriod"/>
            </a:pPr>
            <a:r>
              <a:rPr lang="en-US" sz="1200" b="1" kern="1200" dirty="0">
                <a:solidFill>
                  <a:schemeClr val="tx1"/>
                </a:solidFill>
                <a:effectLst/>
                <a:latin typeface="+mn-lt"/>
                <a:ea typeface="+mn-ea"/>
                <a:cs typeface="+mn-cs"/>
              </a:rPr>
              <a:t>Don't outwork the robots.</a:t>
            </a:r>
            <a:r>
              <a:rPr lang="en-US" sz="1200" kern="1200" dirty="0">
                <a:solidFill>
                  <a:schemeClr val="tx1"/>
                </a:solidFill>
                <a:effectLst/>
                <a:latin typeface="+mn-lt"/>
                <a:ea typeface="+mn-ea"/>
                <a:cs typeface="+mn-cs"/>
              </a:rPr>
              <a:t> Out-think them. </a:t>
            </a:r>
          </a:p>
          <a:p>
            <a:pPr marL="228600" indent="-228600">
              <a:buFont typeface="+mj-lt"/>
              <a:buAutoNum type="arabicPeriod"/>
            </a:pPr>
            <a:r>
              <a:rPr lang="en-US" sz="1200" b="1" kern="1200" dirty="0">
                <a:solidFill>
                  <a:schemeClr val="tx1"/>
                </a:solidFill>
                <a:effectLst/>
                <a:latin typeface="+mn-lt"/>
                <a:ea typeface="+mn-ea"/>
                <a:cs typeface="+mn-cs"/>
              </a:rPr>
              <a:t>Amplify your intellect and creativity using digital distribution.</a:t>
            </a:r>
            <a:r>
              <a:rPr lang="en-US" sz="1200" kern="1200" dirty="0">
                <a:solidFill>
                  <a:schemeClr val="tx1"/>
                </a:solidFill>
                <a:effectLst/>
                <a:latin typeface="+mn-lt"/>
                <a:ea typeface="+mn-ea"/>
                <a:cs typeface="+mn-cs"/>
              </a:rPr>
              <a:t> Aim to broadcast your ideas to thousands of minds per second globally rather than locally. </a:t>
            </a:r>
          </a:p>
          <a:p>
            <a:pPr marL="228600" indent="-228600">
              <a:buFont typeface="+mj-lt"/>
              <a:buAutoNum type="arabicPeriod"/>
            </a:pPr>
            <a:r>
              <a:rPr lang="en-US" sz="1200" b="1" kern="1200" dirty="0">
                <a:solidFill>
                  <a:schemeClr val="tx1"/>
                </a:solidFill>
                <a:effectLst/>
                <a:latin typeface="+mn-lt"/>
                <a:ea typeface="+mn-ea"/>
                <a:cs typeface="+mn-cs"/>
              </a:rPr>
              <a:t>Embrace technology as a leverage multiplier.</a:t>
            </a:r>
            <a:r>
              <a:rPr lang="en-US" sz="1200" kern="1200" dirty="0">
                <a:solidFill>
                  <a:schemeClr val="tx1"/>
                </a:solidFill>
                <a:effectLst/>
                <a:latin typeface="+mn-lt"/>
                <a:ea typeface="+mn-ea"/>
                <a:cs typeface="+mn-cs"/>
              </a:rPr>
              <a:t> Transform yourself into a hyper-efficient, 1,000x operator. </a:t>
            </a:r>
          </a:p>
          <a:p>
            <a:r>
              <a:rPr lang="en-US" sz="1200" kern="1200" dirty="0">
                <a:solidFill>
                  <a:schemeClr val="tx1"/>
                </a:solidFill>
                <a:effectLst/>
                <a:latin typeface="+mn-lt"/>
                <a:ea typeface="+mn-ea"/>
                <a:cs typeface="+mn-cs"/>
              </a:rPr>
              <a:t>Lack of execution speed is no longer acceptable. AI can synthesize research, write boilerplate code, and organize information flawlessly. Your true value lies in asking the precise, critical questions that civilization has not yet solved. </a:t>
            </a:r>
          </a:p>
          <a:p>
            <a:endParaRPr lang="en-US" dirty="0"/>
          </a:p>
        </p:txBody>
      </p:sp>
      <p:sp>
        <p:nvSpPr>
          <p:cNvPr id="4" name="Slide Number Placeholder 3"/>
          <p:cNvSpPr>
            <a:spLocks noGrp="1"/>
          </p:cNvSpPr>
          <p:nvPr>
            <p:ph type="sldNum" sz="quarter" idx="5"/>
          </p:nvPr>
        </p:nvSpPr>
        <p:spPr/>
        <p:txBody>
          <a:bodyPr/>
          <a:lstStyle/>
          <a:p>
            <a:fld id="{695325AD-FF62-4CDE-81ED-AFF0346EE6CC}" type="slidenum">
              <a:rPr lang="en-US" smtClean="0"/>
              <a:t>9</a:t>
            </a:fld>
            <a:endParaRPr lang="en-US"/>
          </a:p>
        </p:txBody>
      </p:sp>
    </p:spTree>
    <p:extLst>
      <p:ext uri="{BB962C8B-B14F-4D97-AF65-F5344CB8AC3E}">
        <p14:creationId xmlns:p14="http://schemas.microsoft.com/office/powerpoint/2010/main" val="4574216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AI adoption accelerates, the market is being flooded by what can be called </a:t>
            </a:r>
            <a:r>
              <a:rPr lang="en-US" sz="1200" b="1" kern="1200" dirty="0">
                <a:solidFill>
                  <a:schemeClr val="tx1"/>
                </a:solidFill>
                <a:effectLst/>
                <a:latin typeface="+mn-lt"/>
                <a:ea typeface="+mn-ea"/>
                <a:cs typeface="+mn-cs"/>
              </a:rPr>
              <a:t>"The Slop Tsunami"</a:t>
            </a:r>
            <a:r>
              <a:rPr lang="en-US" sz="1200" kern="1200" dirty="0">
                <a:solidFill>
                  <a:schemeClr val="tx1"/>
                </a:solidFill>
                <a:effectLst/>
                <a:latin typeface="+mn-lt"/>
                <a:ea typeface="+mn-ea"/>
                <a:cs typeface="+mn-cs"/>
              </a:rPr>
              <a:t>—an infinite, low-cost supply of generic automated text, voice, and media. </a:t>
            </a:r>
          </a:p>
          <a:p>
            <a:r>
              <a:rPr lang="en-US" sz="1200" kern="1200" dirty="0">
                <a:solidFill>
                  <a:schemeClr val="tx1"/>
                </a:solidFill>
                <a:effectLst/>
                <a:latin typeface="+mn-lt"/>
                <a:ea typeface="+mn-ea"/>
                <a:cs typeface="+mn-cs"/>
              </a:rPr>
              <a:t>If you produce average work, you will be drowned by this noise. To build an unassailable moat, you must move inward toward </a:t>
            </a:r>
            <a:r>
              <a:rPr lang="en-US" sz="1200" b="1" kern="1200" dirty="0">
                <a:solidFill>
                  <a:schemeClr val="tx1"/>
                </a:solidFill>
                <a:effectLst/>
                <a:latin typeface="+mn-lt"/>
                <a:ea typeface="+mn-ea"/>
                <a:cs typeface="+mn-cs"/>
              </a:rPr>
              <a:t>The Hard, Scarce, &amp; Authentic core</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Outer Layer (The Slop Tsunami):</a:t>
            </a:r>
            <a:r>
              <a:rPr lang="en-US" sz="1200" kern="1200" dirty="0">
                <a:solidFill>
                  <a:schemeClr val="tx1"/>
                </a:solidFill>
                <a:effectLst/>
                <a:latin typeface="+mn-lt"/>
                <a:ea typeface="+mn-ea"/>
                <a:cs typeface="+mn-cs"/>
              </a:rPr>
              <a:t> Automated, low-value commodity content that AI generates effortlessly.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Middle Layer (High-Quality Utility):</a:t>
            </a:r>
            <a:r>
              <a:rPr lang="en-US" sz="1200" kern="1200" dirty="0">
                <a:solidFill>
                  <a:schemeClr val="tx1"/>
                </a:solidFill>
                <a:effectLst/>
                <a:latin typeface="+mn-lt"/>
                <a:ea typeface="+mn-ea"/>
                <a:cs typeface="+mn-cs"/>
              </a:rPr>
              <a:t> Useful tools like flawless translation, speed-optimized code, and rapid data extraction.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Inner Core (Hard, Scarce, &amp; Authentic):</a:t>
            </a:r>
            <a:r>
              <a:rPr lang="en-US" sz="1200" kern="1200" dirty="0">
                <a:solidFill>
                  <a:schemeClr val="tx1"/>
                </a:solidFill>
                <a:effectLst/>
                <a:latin typeface="+mn-lt"/>
                <a:ea typeface="+mn-ea"/>
                <a:cs typeface="+mn-cs"/>
              </a:rPr>
              <a:t> Deep, highly specialized work that requires extraordinary human intent, domain expertise, and painstaking effort. </a:t>
            </a:r>
          </a:p>
          <a:p>
            <a:r>
              <a:rPr lang="en-US" sz="1200" kern="1200" dirty="0">
                <a:solidFill>
                  <a:schemeClr val="tx1"/>
                </a:solidFill>
                <a:effectLst/>
                <a:latin typeface="+mn-lt"/>
                <a:ea typeface="+mn-ea"/>
                <a:cs typeface="+mn-cs"/>
              </a:rPr>
              <a:t>For example, producing a meticulously researched, 3D-animated historical analysis or conducting a deeply nuanced 2-hour interview translated perfectly across languages to capture underserved global audiences. </a:t>
            </a:r>
            <a:r>
              <a:rPr lang="en-US" sz="1200" b="1" kern="1200" dirty="0">
                <a:solidFill>
                  <a:schemeClr val="tx1"/>
                </a:solidFill>
                <a:effectLst/>
                <a:latin typeface="+mn-lt"/>
                <a:ea typeface="+mn-ea"/>
                <a:cs typeface="+mn-cs"/>
              </a:rPr>
              <a:t>If it is difficult and scarce, it is a moat.</a:t>
            </a:r>
            <a:r>
              <a:rPr lang="en-US" sz="1200" kern="1200" dirty="0">
                <a:solidFill>
                  <a:schemeClr val="tx1"/>
                </a:solidFill>
                <a:effectLst/>
                <a:latin typeface="+mn-lt"/>
                <a:ea typeface="+mn-ea"/>
                <a:cs typeface="+mn-cs"/>
              </a:rPr>
              <a:t> Focus your energy on things that require obsessive human authenticity. </a:t>
            </a:r>
          </a:p>
          <a:p>
            <a:endParaRPr lang="en-US" dirty="0"/>
          </a:p>
        </p:txBody>
      </p:sp>
      <p:sp>
        <p:nvSpPr>
          <p:cNvPr id="4" name="Slide Number Placeholder 3"/>
          <p:cNvSpPr>
            <a:spLocks noGrp="1"/>
          </p:cNvSpPr>
          <p:nvPr>
            <p:ph type="sldNum" sz="quarter" idx="5"/>
          </p:nvPr>
        </p:nvSpPr>
        <p:spPr/>
        <p:txBody>
          <a:bodyPr/>
          <a:lstStyle/>
          <a:p>
            <a:fld id="{695325AD-FF62-4CDE-81ED-AFF0346EE6CC}" type="slidenum">
              <a:rPr lang="en-US" smtClean="0"/>
              <a:t>10</a:t>
            </a:fld>
            <a:endParaRPr lang="en-US"/>
          </a:p>
        </p:txBody>
      </p:sp>
    </p:spTree>
    <p:extLst>
      <p:ext uri="{BB962C8B-B14F-4D97-AF65-F5344CB8AC3E}">
        <p14:creationId xmlns:p14="http://schemas.microsoft.com/office/powerpoint/2010/main" val="320926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expanding an enterprise or career, avoid the trap of constantly pivoting laterally into random fields. Look at nature: the nautilus shell expands organically by extending outwards while preserving its core structure. </a:t>
            </a:r>
          </a:p>
          <a:p>
            <a:r>
              <a:rPr lang="en-US" sz="1200" kern="1200" dirty="0">
                <a:solidFill>
                  <a:schemeClr val="tx1"/>
                </a:solidFill>
                <a:effectLst/>
                <a:latin typeface="+mn-lt"/>
                <a:ea typeface="+mn-ea"/>
                <a:cs typeface="+mn-cs"/>
              </a:rPr>
              <a:t>This spiral strategy represents </a:t>
            </a:r>
            <a:r>
              <a:rPr lang="en-US" sz="1200" b="1" kern="1200" dirty="0">
                <a:solidFill>
                  <a:schemeClr val="tx1"/>
                </a:solidFill>
                <a:effectLst/>
                <a:latin typeface="+mn-lt"/>
                <a:ea typeface="+mn-ea"/>
                <a:cs typeface="+mn-cs"/>
              </a:rPr>
              <a:t>compounding stability</a:t>
            </a:r>
            <a:r>
              <a:rPr lang="en-US" sz="1200" kern="1200" dirty="0">
                <a:solidFill>
                  <a:schemeClr val="tx1"/>
                </a:solidFill>
                <a:effectLst/>
                <a:latin typeface="+mn-lt"/>
                <a:ea typeface="+mn-ea"/>
                <a:cs typeface="+mn-cs"/>
              </a:rPr>
              <a:t>:</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Node 1:</a:t>
            </a:r>
            <a:r>
              <a:rPr lang="en-US" sz="1200" kern="1200" dirty="0">
                <a:solidFill>
                  <a:schemeClr val="tx1"/>
                </a:solidFill>
                <a:effectLst/>
                <a:latin typeface="+mn-lt"/>
                <a:ea typeface="+mn-ea"/>
                <a:cs typeface="+mn-cs"/>
              </a:rPr>
              <a:t> Focus until you dominate a single core capability or market (e.g., Amazon establishing its distribution moat with free shipping).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Node 2:</a:t>
            </a:r>
            <a:r>
              <a:rPr lang="en-US" sz="1200" kern="1200" dirty="0">
                <a:solidFill>
                  <a:schemeClr val="tx1"/>
                </a:solidFill>
                <a:effectLst/>
                <a:latin typeface="+mn-lt"/>
                <a:ea typeface="+mn-ea"/>
                <a:cs typeface="+mn-cs"/>
              </a:rPr>
              <a:t> Extend functionality naturally directly from that core (e.g., Amazon introducing Prime subscriptions on top of that existing logistics engine).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Node 3:</a:t>
            </a:r>
            <a:r>
              <a:rPr lang="en-US" sz="1200" kern="1200" dirty="0">
                <a:solidFill>
                  <a:schemeClr val="tx1"/>
                </a:solidFill>
                <a:effectLst/>
                <a:latin typeface="+mn-lt"/>
                <a:ea typeface="+mn-ea"/>
                <a:cs typeface="+mn-cs"/>
              </a:rPr>
              <a:t> Build an unassailable cash-flow moat where each layer reinforces the structural stability of the entire ecosystem. </a:t>
            </a:r>
          </a:p>
          <a:p>
            <a:r>
              <a:rPr lang="en-US" sz="1200" kern="1200" dirty="0">
                <a:solidFill>
                  <a:schemeClr val="tx1"/>
                </a:solidFill>
                <a:effectLst/>
                <a:latin typeface="+mn-lt"/>
                <a:ea typeface="+mn-ea"/>
                <a:cs typeface="+mn-cs"/>
              </a:rPr>
              <a:t>Stop chasing unrelated trends. Build your next innovation directly on top of the concrete foundation of your past success. </a:t>
            </a:r>
          </a:p>
          <a:p>
            <a:endParaRPr lang="en-US" dirty="0"/>
          </a:p>
        </p:txBody>
      </p:sp>
      <p:sp>
        <p:nvSpPr>
          <p:cNvPr id="4" name="Slide Number Placeholder 3"/>
          <p:cNvSpPr>
            <a:spLocks noGrp="1"/>
          </p:cNvSpPr>
          <p:nvPr>
            <p:ph type="sldNum" sz="quarter" idx="5"/>
          </p:nvPr>
        </p:nvSpPr>
        <p:spPr/>
        <p:txBody>
          <a:bodyPr/>
          <a:lstStyle/>
          <a:p>
            <a:fld id="{695325AD-FF62-4CDE-81ED-AFF0346EE6CC}" type="slidenum">
              <a:rPr lang="en-US" smtClean="0"/>
              <a:t>11</a:t>
            </a:fld>
            <a:endParaRPr lang="en-US"/>
          </a:p>
        </p:txBody>
      </p:sp>
    </p:spTree>
    <p:extLst>
      <p:ext uri="{BB962C8B-B14F-4D97-AF65-F5344CB8AC3E}">
        <p14:creationId xmlns:p14="http://schemas.microsoft.com/office/powerpoint/2010/main" val="17031454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execute at a high level without breaking under pressure, you need an </a:t>
            </a:r>
            <a:r>
              <a:rPr lang="en-US" sz="1200" b="1" kern="1200" dirty="0">
                <a:solidFill>
                  <a:schemeClr val="tx1"/>
                </a:solidFill>
                <a:effectLst/>
                <a:latin typeface="+mn-lt"/>
                <a:ea typeface="+mn-ea"/>
                <a:cs typeface="+mn-cs"/>
              </a:rPr>
              <a:t>Internal Operating System</a:t>
            </a:r>
            <a:r>
              <a:rPr lang="en-US" sz="1200" kern="1200" dirty="0">
                <a:solidFill>
                  <a:schemeClr val="tx1"/>
                </a:solidFill>
                <a:effectLst/>
                <a:latin typeface="+mn-lt"/>
                <a:ea typeface="+mn-ea"/>
                <a:cs typeface="+mn-cs"/>
              </a:rPr>
              <a:t> built for resilience: </a:t>
            </a:r>
          </a:p>
          <a:p>
            <a:pPr marL="228600" indent="-228600">
              <a:buFont typeface="+mj-lt"/>
              <a:buAutoNum type="arabicPeriod"/>
            </a:pPr>
            <a:r>
              <a:rPr lang="en-US" sz="1200" b="1" kern="1200" dirty="0">
                <a:solidFill>
                  <a:schemeClr val="tx1"/>
                </a:solidFill>
                <a:effectLst/>
                <a:latin typeface="+mn-lt"/>
                <a:ea typeface="+mn-ea"/>
                <a:cs typeface="+mn-cs"/>
              </a:rPr>
              <a:t>Level 1: Train Your Body (Survival Base):</a:t>
            </a:r>
            <a:r>
              <a:rPr lang="en-US" sz="1200" kern="1200" dirty="0">
                <a:solidFill>
                  <a:schemeClr val="tx1"/>
                </a:solidFill>
                <a:effectLst/>
                <a:latin typeface="+mn-lt"/>
                <a:ea typeface="+mn-ea"/>
                <a:cs typeface="+mn-cs"/>
              </a:rPr>
              <a:t> Physical health is your foundational asset. Without energy, stamina, and physical vigor, intellectual capacity quickly degrades. </a:t>
            </a:r>
          </a:p>
          <a:p>
            <a:pPr marL="228600" indent="-228600">
              <a:buFont typeface="+mj-lt"/>
              <a:buAutoNum type="arabicPeriod"/>
            </a:pPr>
            <a:r>
              <a:rPr lang="en-US" sz="1200" b="1" kern="1200" dirty="0">
                <a:solidFill>
                  <a:schemeClr val="tx1"/>
                </a:solidFill>
                <a:effectLst/>
                <a:latin typeface="+mn-lt"/>
                <a:ea typeface="+mn-ea"/>
                <a:cs typeface="+mn-cs"/>
              </a:rPr>
              <a:t>Level 2: Train Your Mind (Cultural Base):</a:t>
            </a:r>
            <a:r>
              <a:rPr lang="en-US" sz="1200" kern="1200" dirty="0">
                <a:solidFill>
                  <a:schemeClr val="tx1"/>
                </a:solidFill>
                <a:effectLst/>
                <a:latin typeface="+mn-lt"/>
                <a:ea typeface="+mn-ea"/>
                <a:cs typeface="+mn-cs"/>
              </a:rPr>
              <a:t> Master fundamental skills—reading, writing, and logic. Clear thinking stems directly from clear expression. </a:t>
            </a:r>
          </a:p>
          <a:p>
            <a:pPr marL="228600" indent="-228600">
              <a:buFont typeface="+mj-lt"/>
              <a:buAutoNum type="arabicPeriod"/>
            </a:pPr>
            <a:r>
              <a:rPr lang="en-US" sz="1200" b="1" kern="1200" dirty="0">
                <a:solidFill>
                  <a:schemeClr val="tx1"/>
                </a:solidFill>
                <a:effectLst/>
                <a:latin typeface="+mn-lt"/>
                <a:ea typeface="+mn-ea"/>
                <a:cs typeface="+mn-cs"/>
              </a:rPr>
              <a:t>Level 3 &amp; 4: Focus Your Energy &amp; Guard Your Time:</a:t>
            </a:r>
            <a:r>
              <a:rPr lang="en-US" sz="1200" kern="1200" dirty="0">
                <a:solidFill>
                  <a:schemeClr val="tx1"/>
                </a:solidFill>
                <a:effectLst/>
                <a:latin typeface="+mn-lt"/>
                <a:ea typeface="+mn-ea"/>
                <a:cs typeface="+mn-cs"/>
              </a:rPr>
              <a:t> Eliminate low-value distractions. Time is your non-renewable resource; treat every hour with deliberate discipline. </a:t>
            </a:r>
          </a:p>
          <a:p>
            <a:pPr marL="228600" indent="-228600">
              <a:buFont typeface="+mj-lt"/>
              <a:buAutoNum type="arabicPeriod"/>
            </a:pPr>
            <a:r>
              <a:rPr lang="en-US" sz="1200" b="1" kern="1200" dirty="0">
                <a:solidFill>
                  <a:schemeClr val="tx1"/>
                </a:solidFill>
                <a:effectLst/>
                <a:latin typeface="+mn-lt"/>
                <a:ea typeface="+mn-ea"/>
                <a:cs typeface="+mn-cs"/>
              </a:rPr>
              <a:t>Level 5: Think For Yourself (Sovereignty):</a:t>
            </a:r>
            <a:r>
              <a:rPr lang="en-US" sz="1200" kern="1200" dirty="0">
                <a:solidFill>
                  <a:schemeClr val="tx1"/>
                </a:solidFill>
                <a:effectLst/>
                <a:latin typeface="+mn-lt"/>
                <a:ea typeface="+mn-ea"/>
                <a:cs typeface="+mn-cs"/>
              </a:rPr>
              <a:t> Resist the mental programming of social media, institutional narratives, and popular consensus. </a:t>
            </a:r>
          </a:p>
          <a:p>
            <a:r>
              <a:rPr lang="en-US" sz="1200" kern="1200" dirty="0">
                <a:solidFill>
                  <a:schemeClr val="tx1"/>
                </a:solidFill>
                <a:effectLst/>
                <a:latin typeface="+mn-lt"/>
                <a:ea typeface="+mn-ea"/>
                <a:cs typeface="+mn-cs"/>
              </a:rPr>
              <a:t>In a world full of algorithmic noise, independent thinking is the ultimate competitive advantage.</a:t>
            </a:r>
          </a:p>
          <a:p>
            <a:endParaRPr lang="en-US" dirty="0"/>
          </a:p>
        </p:txBody>
      </p:sp>
      <p:sp>
        <p:nvSpPr>
          <p:cNvPr id="4" name="Slide Number Placeholder 3"/>
          <p:cNvSpPr>
            <a:spLocks noGrp="1"/>
          </p:cNvSpPr>
          <p:nvPr>
            <p:ph type="sldNum" sz="quarter" idx="5"/>
          </p:nvPr>
        </p:nvSpPr>
        <p:spPr/>
        <p:txBody>
          <a:bodyPr/>
          <a:lstStyle/>
          <a:p>
            <a:fld id="{695325AD-FF62-4CDE-81ED-AFF0346EE6CC}" type="slidenum">
              <a:rPr lang="en-US" smtClean="0"/>
              <a:t>12</a:t>
            </a:fld>
            <a:endParaRPr lang="en-US"/>
          </a:p>
        </p:txBody>
      </p:sp>
    </p:spTree>
    <p:extLst>
      <p:ext uri="{BB962C8B-B14F-4D97-AF65-F5344CB8AC3E}">
        <p14:creationId xmlns:p14="http://schemas.microsoft.com/office/powerpoint/2010/main" val="1146909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Your internal mindset must be complemented by an </a:t>
            </a:r>
            <a:r>
              <a:rPr lang="en-US" sz="1200" b="1" kern="1200" dirty="0">
                <a:solidFill>
                  <a:schemeClr val="tx1"/>
                </a:solidFill>
                <a:effectLst/>
                <a:latin typeface="+mn-lt"/>
                <a:ea typeface="+mn-ea"/>
                <a:cs typeface="+mn-cs"/>
              </a:rPr>
              <a:t>External Operating System</a:t>
            </a:r>
            <a:r>
              <a:rPr lang="en-US" sz="1200" kern="1200" dirty="0">
                <a:solidFill>
                  <a:schemeClr val="tx1"/>
                </a:solidFill>
                <a:effectLst/>
                <a:latin typeface="+mn-lt"/>
                <a:ea typeface="+mn-ea"/>
                <a:cs typeface="+mn-cs"/>
              </a:rPr>
              <a:t> for interacting with society: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Node A (Curate Your Friends):</a:t>
            </a:r>
            <a:r>
              <a:rPr lang="en-US" sz="1200" kern="1200" dirty="0">
                <a:solidFill>
                  <a:schemeClr val="tx1"/>
                </a:solidFill>
                <a:effectLst/>
                <a:latin typeface="+mn-lt"/>
                <a:ea typeface="+mn-ea"/>
                <a:cs typeface="+mn-cs"/>
              </a:rPr>
              <a:t> You are the average of the people you spending time with. Surround yourself with high-agency, principled builders.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Node B (Curate Your Environment):</a:t>
            </a:r>
            <a:r>
              <a:rPr lang="en-US" sz="1200" kern="1200" dirty="0">
                <a:solidFill>
                  <a:schemeClr val="tx1"/>
                </a:solidFill>
                <a:effectLst/>
                <a:latin typeface="+mn-lt"/>
                <a:ea typeface="+mn-ea"/>
                <a:cs typeface="+mn-cs"/>
              </a:rPr>
              <a:t> Intentionally eliminate toxic, degrading inputs from your daily surroundings.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Node C (Keep Your Promises):</a:t>
            </a:r>
            <a:r>
              <a:rPr lang="en-US" sz="1200" kern="1200" dirty="0">
                <a:solidFill>
                  <a:schemeClr val="tx1"/>
                </a:solidFill>
                <a:effectLst/>
                <a:latin typeface="+mn-lt"/>
                <a:ea typeface="+mn-ea"/>
                <a:cs typeface="+mn-cs"/>
              </a:rPr>
              <a:t> Trust is the ultimate currency. Reliability is the primary metric institutional partners and investors look for when allocating capital.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Node D (Stay Cheerful &amp; Constructive):</a:t>
            </a:r>
            <a:r>
              <a:rPr lang="en-US" sz="1200" kern="1200" dirty="0">
                <a:solidFill>
                  <a:schemeClr val="tx1"/>
                </a:solidFill>
                <a:effectLst/>
                <a:latin typeface="+mn-lt"/>
                <a:ea typeface="+mn-ea"/>
                <a:cs typeface="+mn-cs"/>
              </a:rPr>
              <a:t> Pessimists sound smart, but optimists build the future. Be the energetic, solution-oriented partner others want to build with.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Center Node (Upgrade the World):</a:t>
            </a:r>
            <a:r>
              <a:rPr lang="en-US" sz="1200" kern="1200" dirty="0">
                <a:solidFill>
                  <a:schemeClr val="tx1"/>
                </a:solidFill>
                <a:effectLst/>
                <a:latin typeface="+mn-lt"/>
                <a:ea typeface="+mn-ea"/>
                <a:cs typeface="+mn-cs"/>
              </a:rPr>
              <a:t> Channel your personal agency into uplifting your community and building lasting value. </a:t>
            </a:r>
          </a:p>
          <a:p>
            <a:endParaRPr lang="en-US" dirty="0"/>
          </a:p>
        </p:txBody>
      </p:sp>
      <p:sp>
        <p:nvSpPr>
          <p:cNvPr id="4" name="Slide Number Placeholder 3"/>
          <p:cNvSpPr>
            <a:spLocks noGrp="1"/>
          </p:cNvSpPr>
          <p:nvPr>
            <p:ph type="sldNum" sz="quarter" idx="5"/>
          </p:nvPr>
        </p:nvSpPr>
        <p:spPr/>
        <p:txBody>
          <a:bodyPr/>
          <a:lstStyle/>
          <a:p>
            <a:fld id="{695325AD-FF62-4CDE-81ED-AFF0346EE6CC}" type="slidenum">
              <a:rPr lang="en-US" smtClean="0"/>
              <a:t>13</a:t>
            </a:fld>
            <a:endParaRPr lang="en-US"/>
          </a:p>
        </p:txBody>
      </p:sp>
    </p:spTree>
    <p:extLst>
      <p:ext uri="{BB962C8B-B14F-4D97-AF65-F5344CB8AC3E}">
        <p14:creationId xmlns:p14="http://schemas.microsoft.com/office/powerpoint/2010/main" val="19223178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Standard formal education is often wasted on youth because it focuses on rote memorization rather than actionable decision-making frameworks. To navigate the digital frontier, we must revisit two critical subjects: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Applied Statistics:</a:t>
            </a:r>
            <a:r>
              <a:rPr lang="en-US" sz="1200" kern="1200" dirty="0">
                <a:solidFill>
                  <a:schemeClr val="tx1"/>
                </a:solidFill>
                <a:effectLst/>
                <a:latin typeface="+mn-lt"/>
                <a:ea typeface="+mn-ea"/>
                <a:cs typeface="+mn-cs"/>
              </a:rPr>
              <a:t> You must master the math of probability, variance, black swan events, and skin-in-the-game. Statistical literacy provides real-time risk management for your capital and career.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Synthetic History:</a:t>
            </a:r>
            <a:r>
              <a:rPr lang="en-US" sz="1200" kern="1200" dirty="0">
                <a:solidFill>
                  <a:schemeClr val="tx1"/>
                </a:solidFill>
                <a:effectLst/>
                <a:latin typeface="+mn-lt"/>
                <a:ea typeface="+mn-ea"/>
                <a:cs typeface="+mn-cs"/>
              </a:rPr>
              <a:t> Study the recurring cycles of civilizations, economies, and monetary collapses. History frees you from the arrogance of the present, showing that human nature remains constant across technological shifts. </a:t>
            </a:r>
          </a:p>
          <a:p>
            <a:r>
              <a:rPr lang="en-US" sz="1200" kern="1200" dirty="0">
                <a:solidFill>
                  <a:schemeClr val="tx1"/>
                </a:solidFill>
                <a:effectLst/>
                <a:latin typeface="+mn-lt"/>
                <a:ea typeface="+mn-ea"/>
                <a:cs typeface="+mn-cs"/>
              </a:rPr>
              <a:t>When you understand statistics, you can accurately price risk. When you understand history, you realize that every modern crisis has a historical precedent you can learn from.</a:t>
            </a:r>
          </a:p>
          <a:p>
            <a:endParaRPr lang="en-US" dirty="0"/>
          </a:p>
        </p:txBody>
      </p:sp>
      <p:sp>
        <p:nvSpPr>
          <p:cNvPr id="4" name="Slide Number Placeholder 3"/>
          <p:cNvSpPr>
            <a:spLocks noGrp="1"/>
          </p:cNvSpPr>
          <p:nvPr>
            <p:ph type="sldNum" sz="quarter" idx="5"/>
          </p:nvPr>
        </p:nvSpPr>
        <p:spPr/>
        <p:txBody>
          <a:bodyPr/>
          <a:lstStyle/>
          <a:p>
            <a:fld id="{695325AD-FF62-4CDE-81ED-AFF0346EE6CC}" type="slidenum">
              <a:rPr lang="en-US" smtClean="0"/>
              <a:t>14</a:t>
            </a:fld>
            <a:endParaRPr lang="en-US"/>
          </a:p>
        </p:txBody>
      </p:sp>
    </p:spTree>
    <p:extLst>
      <p:ext uri="{BB962C8B-B14F-4D97-AF65-F5344CB8AC3E}">
        <p14:creationId xmlns:p14="http://schemas.microsoft.com/office/powerpoint/2010/main" val="15045848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brings us to the core synthesis of our framework: </a:t>
            </a:r>
            <a:r>
              <a:rPr lang="en-US" sz="1200" b="1" kern="1200" dirty="0">
                <a:solidFill>
                  <a:schemeClr val="tx1"/>
                </a:solidFill>
                <a:effectLst/>
                <a:latin typeface="+mn-lt"/>
                <a:ea typeface="+mn-ea"/>
                <a:cs typeface="+mn-cs"/>
              </a:rPr>
              <a:t>The Digital Empowerment Model</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True modern power relies on balancing three distinct vertices: </a:t>
            </a:r>
          </a:p>
          <a:p>
            <a:pPr marL="228600" indent="-228600">
              <a:buFont typeface="+mj-lt"/>
              <a:buAutoNum type="arabicPeriod"/>
            </a:pPr>
            <a:r>
              <a:rPr lang="en-US" sz="1200" b="1" kern="1200" dirty="0">
                <a:solidFill>
                  <a:schemeClr val="tx1"/>
                </a:solidFill>
                <a:effectLst/>
                <a:latin typeface="+mn-lt"/>
                <a:ea typeface="+mn-ea"/>
                <a:cs typeface="+mn-cs"/>
              </a:rPr>
              <a:t>Digital Capital:</a:t>
            </a:r>
            <a:r>
              <a:rPr lang="en-US" sz="1200" kern="1200" dirty="0">
                <a:solidFill>
                  <a:schemeClr val="tx1"/>
                </a:solidFill>
                <a:effectLst/>
                <a:latin typeface="+mn-lt"/>
                <a:ea typeface="+mn-ea"/>
                <a:cs typeface="+mn-cs"/>
              </a:rPr>
              <a:t> Anchored by immutable, scarce monetary energy (Bitcoin) to store your wealth across time and space without counterparty risk. </a:t>
            </a:r>
          </a:p>
          <a:p>
            <a:pPr marL="228600" indent="-228600">
              <a:buFont typeface="+mj-lt"/>
              <a:buAutoNum type="arabicPeriod"/>
            </a:pPr>
            <a:r>
              <a:rPr lang="en-US" sz="1200" b="1" kern="1200" dirty="0">
                <a:solidFill>
                  <a:schemeClr val="tx1"/>
                </a:solidFill>
                <a:effectLst/>
                <a:latin typeface="+mn-lt"/>
                <a:ea typeface="+mn-ea"/>
                <a:cs typeface="+mn-cs"/>
              </a:rPr>
              <a:t>Digital Intelligence:</a:t>
            </a:r>
            <a:r>
              <a:rPr lang="en-US" sz="1200" kern="1200" dirty="0">
                <a:solidFill>
                  <a:schemeClr val="tx1"/>
                </a:solidFill>
                <a:effectLst/>
                <a:latin typeface="+mn-lt"/>
                <a:ea typeface="+mn-ea"/>
                <a:cs typeface="+mn-cs"/>
              </a:rPr>
              <a:t> Driven by artificial intelligence to give you exponential leverage over production, research, and technical execution. </a:t>
            </a:r>
          </a:p>
          <a:p>
            <a:pPr marL="228600" indent="-228600">
              <a:buFont typeface="+mj-lt"/>
              <a:buAutoNum type="arabicPeriod"/>
            </a:pPr>
            <a:r>
              <a:rPr lang="en-US" sz="1200" b="1" kern="1200" dirty="0">
                <a:solidFill>
                  <a:schemeClr val="tx1"/>
                </a:solidFill>
                <a:effectLst/>
                <a:latin typeface="+mn-lt"/>
                <a:ea typeface="+mn-ea"/>
                <a:cs typeface="+mn-cs"/>
              </a:rPr>
              <a:t>Human Sovereignty:</a:t>
            </a:r>
            <a:r>
              <a:rPr lang="en-US" sz="1200" kern="1200" dirty="0">
                <a:solidFill>
                  <a:schemeClr val="tx1"/>
                </a:solidFill>
                <a:effectLst/>
                <a:latin typeface="+mn-lt"/>
                <a:ea typeface="+mn-ea"/>
                <a:cs typeface="+mn-cs"/>
              </a:rPr>
              <a:t> Governed by an unshakeable internal OS, deep authenticity, personal integrity, and long-term discipline. </a:t>
            </a:r>
          </a:p>
          <a:p>
            <a:r>
              <a:rPr lang="en-US" sz="1200" kern="1200" dirty="0">
                <a:solidFill>
                  <a:schemeClr val="tx1"/>
                </a:solidFill>
                <a:effectLst/>
                <a:latin typeface="+mn-lt"/>
                <a:ea typeface="+mn-ea"/>
                <a:cs typeface="+mn-cs"/>
              </a:rPr>
              <a:t>If you lack digital capital, your wealth decays. If you lack digital intelligence, your productivity gets outpaced. If you lack human sovereignty, you lose direction. Master all three to secure complete autonomy. </a:t>
            </a:r>
          </a:p>
          <a:p>
            <a:endParaRPr lang="en-US" dirty="0"/>
          </a:p>
        </p:txBody>
      </p:sp>
      <p:sp>
        <p:nvSpPr>
          <p:cNvPr id="4" name="Slide Number Placeholder 3"/>
          <p:cNvSpPr>
            <a:spLocks noGrp="1"/>
          </p:cNvSpPr>
          <p:nvPr>
            <p:ph type="sldNum" sz="quarter" idx="5"/>
          </p:nvPr>
        </p:nvSpPr>
        <p:spPr/>
        <p:txBody>
          <a:bodyPr/>
          <a:lstStyle/>
          <a:p>
            <a:fld id="{695325AD-FF62-4CDE-81ED-AFF0346EE6CC}" type="slidenum">
              <a:rPr lang="en-US" smtClean="0"/>
              <a:t>15</a:t>
            </a:fld>
            <a:endParaRPr lang="en-US"/>
          </a:p>
        </p:txBody>
      </p:sp>
    </p:spTree>
    <p:extLst>
      <p:ext uri="{BB962C8B-B14F-4D97-AF65-F5344CB8AC3E}">
        <p14:creationId xmlns:p14="http://schemas.microsoft.com/office/powerpoint/2010/main" val="30323506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close, let's look at the stark contrast between the traditional trap and the digital alternative: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Erosion of Traditional Wealth:</a:t>
            </a:r>
            <a:r>
              <a:rPr lang="en-US" sz="1200" kern="1200" dirty="0">
                <a:solidFill>
                  <a:schemeClr val="tx1"/>
                </a:solidFill>
                <a:effectLst/>
                <a:latin typeface="+mn-lt"/>
                <a:ea typeface="+mn-ea"/>
                <a:cs typeface="+mn-cs"/>
              </a:rPr>
              <a:t> Cash loses 7% of its value every year. Real estate traps you with 2% annual property taxes and regulatory drag. Traditional fiat assets leave your wealth exposed to institutional control.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Superiority of Digital Capital:</a:t>
            </a:r>
            <a:r>
              <a:rPr lang="en-US" sz="1200" kern="1200" dirty="0">
                <a:solidFill>
                  <a:schemeClr val="tx1"/>
                </a:solidFill>
                <a:effectLst/>
                <a:latin typeface="+mn-lt"/>
                <a:ea typeface="+mn-ea"/>
                <a:cs typeface="+mn-cs"/>
              </a:rPr>
              <a:t> Over a 6-year average, Bitcoin has delivered </a:t>
            </a:r>
            <a:r>
              <a:rPr lang="en-US" sz="1200" b="1" kern="1200" dirty="0">
                <a:solidFill>
                  <a:schemeClr val="tx1"/>
                </a:solidFill>
                <a:effectLst/>
                <a:latin typeface="+mn-lt"/>
                <a:ea typeface="+mn-ea"/>
                <a:cs typeface="+mn-cs"/>
              </a:rPr>
              <a:t>33% annualized returns</a:t>
            </a:r>
            <a:r>
              <a:rPr lang="en-US" sz="1200" kern="1200" dirty="0">
                <a:solidFill>
                  <a:schemeClr val="tx1"/>
                </a:solidFill>
                <a:effectLst/>
                <a:latin typeface="+mn-lt"/>
                <a:ea typeface="+mn-ea"/>
                <a:cs typeface="+mn-cs"/>
              </a:rPr>
              <a:t>, significantly outperforming Gold (12%), the S&amp;P 500 (15%), and the NASDAQ (18%).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Absolute Scarcity:</a:t>
            </a:r>
            <a:r>
              <a:rPr lang="en-US" sz="1200" kern="1200" dirty="0">
                <a:solidFill>
                  <a:schemeClr val="tx1"/>
                </a:solidFill>
                <a:effectLst/>
                <a:latin typeface="+mn-lt"/>
                <a:ea typeface="+mn-ea"/>
                <a:cs typeface="+mn-cs"/>
              </a:rPr>
              <a:t> While AI and automation produce an infinite supply of goods and services, Bitcoin’s </a:t>
            </a:r>
            <a:r>
              <a:rPr lang="en-US" sz="1200" b="1" kern="1200" dirty="0">
                <a:solidFill>
                  <a:schemeClr val="tx1"/>
                </a:solidFill>
                <a:effectLst/>
                <a:latin typeface="+mn-lt"/>
                <a:ea typeface="+mn-ea"/>
                <a:cs typeface="+mn-cs"/>
              </a:rPr>
              <a:t>21 million supply cap</a:t>
            </a:r>
            <a:r>
              <a:rPr lang="en-US" sz="1200" kern="1200" dirty="0">
                <a:solidFill>
                  <a:schemeClr val="tx1"/>
                </a:solidFill>
                <a:effectLst/>
                <a:latin typeface="+mn-lt"/>
                <a:ea typeface="+mn-ea"/>
                <a:cs typeface="+mn-cs"/>
              </a:rPr>
              <a:t> ensures its long-term purchasing power remains secure. </a:t>
            </a:r>
          </a:p>
          <a:p>
            <a:r>
              <a:rPr lang="en-US" sz="1200" b="1" kern="1200" dirty="0">
                <a:solidFill>
                  <a:schemeClr val="tx1"/>
                </a:solidFill>
                <a:effectLst/>
                <a:latin typeface="+mn-lt"/>
                <a:ea typeface="+mn-ea"/>
                <a:cs typeface="+mn-cs"/>
              </a:rPr>
              <a:t>The takeaway is clear:</a:t>
            </a:r>
            <a:r>
              <a:rPr lang="en-US" sz="1200" kern="1200" dirty="0">
                <a:solidFill>
                  <a:schemeClr val="tx1"/>
                </a:solidFill>
                <a:effectLst/>
                <a:latin typeface="+mn-lt"/>
                <a:ea typeface="+mn-ea"/>
                <a:cs typeface="+mn-cs"/>
              </a:rPr>
              <a:t> Anchor your stored energy in absolute digital scarcity, scale your output using artificial intelligence, and live by unshakeable principles of human sovereignty.</a:t>
            </a:r>
          </a:p>
          <a:p>
            <a:endParaRPr lang="en-US" dirty="0"/>
          </a:p>
        </p:txBody>
      </p:sp>
      <p:sp>
        <p:nvSpPr>
          <p:cNvPr id="4" name="Slide Number Placeholder 3"/>
          <p:cNvSpPr>
            <a:spLocks noGrp="1"/>
          </p:cNvSpPr>
          <p:nvPr>
            <p:ph type="sldNum" sz="quarter" idx="5"/>
          </p:nvPr>
        </p:nvSpPr>
        <p:spPr/>
        <p:txBody>
          <a:bodyPr/>
          <a:lstStyle/>
          <a:p>
            <a:fld id="{695325AD-FF62-4CDE-81ED-AFF0346EE6CC}" type="slidenum">
              <a:rPr lang="en-US" smtClean="0"/>
              <a:t>16</a:t>
            </a:fld>
            <a:endParaRPr lang="en-US"/>
          </a:p>
        </p:txBody>
      </p:sp>
    </p:spTree>
    <p:extLst>
      <p:ext uri="{BB962C8B-B14F-4D97-AF65-F5344CB8AC3E}">
        <p14:creationId xmlns:p14="http://schemas.microsoft.com/office/powerpoint/2010/main" val="2289488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6C6535-9EDD-ABF1-03D3-4228DCF89D4E}"/>
              </a:ext>
            </a:extLst>
          </p:cNvPr>
          <p:cNvSpPr>
            <a:spLocks noGrp="1"/>
          </p:cNvSpPr>
          <p:nvPr>
            <p:ph type="dt" sz="half" idx="10"/>
          </p:nvPr>
        </p:nvSpPr>
        <p:spPr/>
        <p:txBody>
          <a:bodyPr/>
          <a:lstStyle/>
          <a:p>
            <a:fld id="{3656CA74-2D9E-4631-90C1-152494F9BF15}" type="datetimeFigureOut">
              <a:rPr lang="en-US" smtClean="0"/>
              <a:t>10/19/2026</a:t>
            </a:fld>
            <a:endParaRPr lang="en-US"/>
          </a:p>
        </p:txBody>
      </p:sp>
      <p:sp>
        <p:nvSpPr>
          <p:cNvPr id="3" name="Footer Placeholder 2">
            <a:extLst>
              <a:ext uri="{FF2B5EF4-FFF2-40B4-BE49-F238E27FC236}">
                <a16:creationId xmlns:a16="http://schemas.microsoft.com/office/drawing/2014/main" id="{265E6494-3216-829D-0950-F85932B44C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A850BD4-C1B8-957F-E545-7855287B75E8}"/>
              </a:ext>
            </a:extLst>
          </p:cNvPr>
          <p:cNvSpPr>
            <a:spLocks noGrp="1"/>
          </p:cNvSpPr>
          <p:nvPr>
            <p:ph type="sldNum" sz="quarter" idx="12"/>
          </p:nvPr>
        </p:nvSpPr>
        <p:spPr/>
        <p:txBody>
          <a:bodyPr/>
          <a:lstStyle/>
          <a:p>
            <a:fld id="{8461E2BF-873F-41DD-AEC8-979FE080AF10}" type="slidenum">
              <a:rPr lang="en-US" smtClean="0"/>
              <a:t>‹#›</a:t>
            </a:fld>
            <a:endParaRPr lang="en-US"/>
          </a:p>
        </p:txBody>
      </p:sp>
    </p:spTree>
    <p:extLst>
      <p:ext uri="{BB962C8B-B14F-4D97-AF65-F5344CB8AC3E}">
        <p14:creationId xmlns:p14="http://schemas.microsoft.com/office/powerpoint/2010/main" val="268079246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AF769A-EDA4-F3E9-0C96-F2EE53F5DD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5F677F-1D2F-8F49-2836-20A03E0C3B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80E40-9937-1CBA-68B8-B97B23A796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56CA74-2D9E-4631-90C1-152494F9BF15}" type="datetimeFigureOut">
              <a:rPr lang="en-US" smtClean="0"/>
              <a:t>10/19/2026</a:t>
            </a:fld>
            <a:endParaRPr lang="en-US"/>
          </a:p>
        </p:txBody>
      </p:sp>
      <p:sp>
        <p:nvSpPr>
          <p:cNvPr id="5" name="Footer Placeholder 4">
            <a:extLst>
              <a:ext uri="{FF2B5EF4-FFF2-40B4-BE49-F238E27FC236}">
                <a16:creationId xmlns:a16="http://schemas.microsoft.com/office/drawing/2014/main" id="{3F8A960D-6AA4-5C88-1094-24409D728D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0CAAFDF-FCDB-C5F5-123C-4FAE1DF7F5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61E2BF-873F-41DD-AEC8-979FE080AF10}" type="slidenum">
              <a:rPr lang="en-US" smtClean="0"/>
              <a:t>‹#›</a:t>
            </a:fld>
            <a:endParaRPr lang="en-US"/>
          </a:p>
        </p:txBody>
      </p:sp>
    </p:spTree>
    <p:extLst>
      <p:ext uri="{BB962C8B-B14F-4D97-AF65-F5344CB8AC3E}">
        <p14:creationId xmlns:p14="http://schemas.microsoft.com/office/powerpoint/2010/main" val="3763084714"/>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96239E-03D9-AE36-7A27-F3A72ED66BC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188DEF-8F10-8CB7-4EF2-8C11D5F1703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3DBB68-31BA-98D2-5A87-D7F2E314062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BAFD8A-3C21-87C1-49BB-4DC816CF69B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66571F-921D-4E26-DEBD-E9953EE63CF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40B95A-B80E-C544-D477-BEB503423E5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4C2350F-4490-35F1-91D1-485F37B7736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17B85B-B92C-C6A6-57A7-19A2E31996A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8BFCE2-3ED8-4A0F-166B-A654EE4DE01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429C89-5DEE-4B41-8AAC-A630C5EFAE1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909680-84DD-2408-15B6-23205AB09F3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7014AC-33A2-8C26-6741-4AA39B13784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3BFA01-E60A-B5FC-8632-DD725B3BA29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61AE24-8284-B462-5FB7-18B3AB137CD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EDE4C4-9A60-5871-129E-BECEE80C234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40B858-FDC9-B89E-7A55-6D437712E1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16913201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2711</Words>
  <Application>Microsoft Office PowerPoint</Application>
  <PresentationFormat>寬螢幕</PresentationFormat>
  <Paragraphs>104</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2026-08-07T16:46:47Z</dcterms:created>
  <dcterms:modified xsi:type="dcterms:W3CDTF">2026-10-19T15:35:51Z</dcterms:modified>
</cp:coreProperties>
</file>