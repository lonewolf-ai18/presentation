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7404A0-B5B8-40A9-A976-C8CD5F3A3449}" v="16" dt="2026-08-02T03:52:33.3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648" autoAdjust="0"/>
  </p:normalViewPr>
  <p:slideViewPr>
    <p:cSldViewPr snapToGrid="0">
      <p:cViewPr varScale="1">
        <p:scale>
          <a:sx n="72" d="100"/>
          <a:sy n="72" d="100"/>
        </p:scale>
        <p:origin x="1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8-02T03:50:21.227" v="43" actId="14"/>
      <pc:docMkLst>
        <pc:docMk/>
      </pc:docMkLst>
      <pc:sldChg chg="addSp delSp modSp mod setBg modAnim modNotesTx">
        <pc:chgData name="Lai, Wilson" userId="2840974a-0d84-4886-90a9-9a3ed79f3a48" providerId="ADAL" clId="{9F23B798-9E84-4552-BA63-E776E805C424}" dt="2026-08-02T03:48:09.198" v="39" actId="20577"/>
        <pc:sldMkLst>
          <pc:docMk/>
          <pc:sldMk cId="0" sldId="257"/>
        </pc:sldMkLst>
        <pc:spChg chg="add mod">
          <ac:chgData name="Lai, Wilson" userId="2840974a-0d84-4886-90a9-9a3ed79f3a48" providerId="ADAL" clId="{9F23B798-9E84-4552-BA63-E776E805C424}" dt="2026-08-01T16:37:52.361" v="34" actId="164"/>
          <ac:spMkLst>
            <pc:docMk/>
            <pc:sldMk cId="0" sldId="257"/>
            <ac:spMk id="5" creationId="{14794536-A5C2-CC06-F87C-7A7EDA94AA19}"/>
          </ac:spMkLst>
        </pc:spChg>
        <pc:spChg chg="add">
          <ac:chgData name="Lai, Wilson" userId="2840974a-0d84-4886-90a9-9a3ed79f3a48" providerId="ADAL" clId="{9F23B798-9E84-4552-BA63-E776E805C424}" dt="2026-08-01T16:19:50.189" v="3" actId="26606"/>
          <ac:spMkLst>
            <pc:docMk/>
            <pc:sldMk cId="0" sldId="257"/>
            <ac:spMk id="9" creationId="{42A4FC2C-047E-45A5-965D-8E1E3BF09BC6}"/>
          </ac:spMkLst>
        </pc:spChg>
        <pc:grpChg chg="add mod">
          <ac:chgData name="Lai, Wilson" userId="2840974a-0d84-4886-90a9-9a3ed79f3a48" providerId="ADAL" clId="{9F23B798-9E84-4552-BA63-E776E805C424}" dt="2026-08-01T16:37:52.361" v="34" actId="164"/>
          <ac:grpSpMkLst>
            <pc:docMk/>
            <pc:sldMk cId="0" sldId="257"/>
            <ac:grpSpMk id="6" creationId="{70087213-E239-FD6F-AEED-E316C4FC8591}"/>
          </ac:grpSpMkLst>
        </pc:grpChg>
        <pc:picChg chg="del">
          <ac:chgData name="Lai, Wilson" userId="2840974a-0d84-4886-90a9-9a3ed79f3a48" providerId="ADAL" clId="{9F23B798-9E84-4552-BA63-E776E805C424}" dt="2026-08-01T16:19:39.901" v="1" actId="21"/>
          <ac:picMkLst>
            <pc:docMk/>
            <pc:sldMk cId="0" sldId="257"/>
            <ac:picMk id="2" creationId="{00000000-0000-0000-0000-000000000000}"/>
          </ac:picMkLst>
        </pc:picChg>
        <pc:picChg chg="mod">
          <ac:chgData name="Lai, Wilson" userId="2840974a-0d84-4886-90a9-9a3ed79f3a48" providerId="ADAL" clId="{9F23B798-9E84-4552-BA63-E776E805C424}" dt="2026-08-01T16:37:52.361" v="34" actId="164"/>
          <ac:picMkLst>
            <pc:docMk/>
            <pc:sldMk cId="0" sldId="257"/>
            <ac:picMk id="2" creationId="{1257BDC0-CF64-DA3B-081C-09275BC2D370}"/>
          </ac:picMkLst>
        </pc:picChg>
        <pc:picChg chg="add mod">
          <ac:chgData name="Lai, Wilson" userId="2840974a-0d84-4886-90a9-9a3ed79f3a48" providerId="ADAL" clId="{9F23B798-9E84-4552-BA63-E776E805C424}" dt="2026-08-01T16:19:50.189" v="3" actId="26606"/>
          <ac:picMkLst>
            <pc:docMk/>
            <pc:sldMk cId="0" sldId="257"/>
            <ac:picMk id="4" creationId="{C9AE78E4-7A9C-4702-8303-084D4699B872}"/>
          </ac:picMkLst>
        </pc:picChg>
      </pc:sldChg>
      <pc:sldChg chg="addSp delSp mod">
        <pc:chgData name="Lai, Wilson" userId="2840974a-0d84-4886-90a9-9a3ed79f3a48" providerId="ADAL" clId="{9F23B798-9E84-4552-BA63-E776E805C424}" dt="2026-08-01T16:20:05.531" v="5" actId="22"/>
        <pc:sldMkLst>
          <pc:docMk/>
          <pc:sldMk cId="0" sldId="258"/>
        </pc:sldMkLst>
        <pc:picChg chg="del">
          <ac:chgData name="Lai, Wilson" userId="2840974a-0d84-4886-90a9-9a3ed79f3a48" providerId="ADAL" clId="{9F23B798-9E84-4552-BA63-E776E805C424}" dt="2026-08-01T16:19:54.853" v="4" actId="21"/>
          <ac:picMkLst>
            <pc:docMk/>
            <pc:sldMk cId="0" sldId="258"/>
            <ac:picMk id="2" creationId="{00000000-0000-0000-0000-000000000000}"/>
          </ac:picMkLst>
        </pc:picChg>
        <pc:picChg chg="add">
          <ac:chgData name="Lai, Wilson" userId="2840974a-0d84-4886-90a9-9a3ed79f3a48" providerId="ADAL" clId="{9F23B798-9E84-4552-BA63-E776E805C424}" dt="2026-08-01T16:20:05.531" v="5" actId="22"/>
          <ac:picMkLst>
            <pc:docMk/>
            <pc:sldMk cId="0" sldId="258"/>
            <ac:picMk id="4" creationId="{93241839-3715-76C5-1CC1-477A8E75491B}"/>
          </ac:picMkLst>
        </pc:picChg>
      </pc:sldChg>
      <pc:sldChg chg="addSp delSp mod">
        <pc:chgData name="Lai, Wilson" userId="2840974a-0d84-4886-90a9-9a3ed79f3a48" providerId="ADAL" clId="{9F23B798-9E84-4552-BA63-E776E805C424}" dt="2026-08-01T16:20:18.876" v="7" actId="22"/>
        <pc:sldMkLst>
          <pc:docMk/>
          <pc:sldMk cId="0" sldId="259"/>
        </pc:sldMkLst>
        <pc:picChg chg="del">
          <ac:chgData name="Lai, Wilson" userId="2840974a-0d84-4886-90a9-9a3ed79f3a48" providerId="ADAL" clId="{9F23B798-9E84-4552-BA63-E776E805C424}" dt="2026-08-01T16:20:09.517" v="6" actId="21"/>
          <ac:picMkLst>
            <pc:docMk/>
            <pc:sldMk cId="0" sldId="259"/>
            <ac:picMk id="2" creationId="{00000000-0000-0000-0000-000000000000}"/>
          </ac:picMkLst>
        </pc:picChg>
        <pc:picChg chg="add">
          <ac:chgData name="Lai, Wilson" userId="2840974a-0d84-4886-90a9-9a3ed79f3a48" providerId="ADAL" clId="{9F23B798-9E84-4552-BA63-E776E805C424}" dt="2026-08-01T16:20:18.876" v="7" actId="22"/>
          <ac:picMkLst>
            <pc:docMk/>
            <pc:sldMk cId="0" sldId="259"/>
            <ac:picMk id="4" creationId="{B49FD0A2-5F00-71B5-C94E-9905ED67E76E}"/>
          </ac:picMkLst>
        </pc:picChg>
      </pc:sldChg>
      <pc:sldChg chg="addSp delSp mod">
        <pc:chgData name="Lai, Wilson" userId="2840974a-0d84-4886-90a9-9a3ed79f3a48" providerId="ADAL" clId="{9F23B798-9E84-4552-BA63-E776E805C424}" dt="2026-08-01T16:20:32.639" v="9" actId="22"/>
        <pc:sldMkLst>
          <pc:docMk/>
          <pc:sldMk cId="0" sldId="260"/>
        </pc:sldMkLst>
        <pc:picChg chg="del">
          <ac:chgData name="Lai, Wilson" userId="2840974a-0d84-4886-90a9-9a3ed79f3a48" providerId="ADAL" clId="{9F23B798-9E84-4552-BA63-E776E805C424}" dt="2026-08-01T16:20:21.972" v="8" actId="21"/>
          <ac:picMkLst>
            <pc:docMk/>
            <pc:sldMk cId="0" sldId="260"/>
            <ac:picMk id="2" creationId="{00000000-0000-0000-0000-000000000000}"/>
          </ac:picMkLst>
        </pc:picChg>
        <pc:picChg chg="add">
          <ac:chgData name="Lai, Wilson" userId="2840974a-0d84-4886-90a9-9a3ed79f3a48" providerId="ADAL" clId="{9F23B798-9E84-4552-BA63-E776E805C424}" dt="2026-08-01T16:20:32.639" v="9" actId="22"/>
          <ac:picMkLst>
            <pc:docMk/>
            <pc:sldMk cId="0" sldId="260"/>
            <ac:picMk id="4" creationId="{F1DCFBA9-B939-6454-B7B9-6615E83C329C}"/>
          </ac:picMkLst>
        </pc:picChg>
      </pc:sldChg>
      <pc:sldChg chg="addSp delSp mod">
        <pc:chgData name="Lai, Wilson" userId="2840974a-0d84-4886-90a9-9a3ed79f3a48" providerId="ADAL" clId="{9F23B798-9E84-4552-BA63-E776E805C424}" dt="2026-08-01T16:20:44.832" v="11" actId="22"/>
        <pc:sldMkLst>
          <pc:docMk/>
          <pc:sldMk cId="0" sldId="261"/>
        </pc:sldMkLst>
        <pc:picChg chg="del">
          <ac:chgData name="Lai, Wilson" userId="2840974a-0d84-4886-90a9-9a3ed79f3a48" providerId="ADAL" clId="{9F23B798-9E84-4552-BA63-E776E805C424}" dt="2026-08-01T16:20:35.836" v="10" actId="21"/>
          <ac:picMkLst>
            <pc:docMk/>
            <pc:sldMk cId="0" sldId="261"/>
            <ac:picMk id="2" creationId="{00000000-0000-0000-0000-000000000000}"/>
          </ac:picMkLst>
        </pc:picChg>
        <pc:picChg chg="add">
          <ac:chgData name="Lai, Wilson" userId="2840974a-0d84-4886-90a9-9a3ed79f3a48" providerId="ADAL" clId="{9F23B798-9E84-4552-BA63-E776E805C424}" dt="2026-08-01T16:20:44.832" v="11" actId="22"/>
          <ac:picMkLst>
            <pc:docMk/>
            <pc:sldMk cId="0" sldId="261"/>
            <ac:picMk id="4" creationId="{83D1DA4D-561D-8936-681A-6DE540DAAE7E}"/>
          </ac:picMkLst>
        </pc:picChg>
      </pc:sldChg>
      <pc:sldChg chg="addSp delSp mod">
        <pc:chgData name="Lai, Wilson" userId="2840974a-0d84-4886-90a9-9a3ed79f3a48" providerId="ADAL" clId="{9F23B798-9E84-4552-BA63-E776E805C424}" dt="2026-08-01T16:20:58.316" v="13" actId="22"/>
        <pc:sldMkLst>
          <pc:docMk/>
          <pc:sldMk cId="0" sldId="262"/>
        </pc:sldMkLst>
        <pc:picChg chg="del">
          <ac:chgData name="Lai, Wilson" userId="2840974a-0d84-4886-90a9-9a3ed79f3a48" providerId="ADAL" clId="{9F23B798-9E84-4552-BA63-E776E805C424}" dt="2026-08-01T16:20:48.478" v="12" actId="21"/>
          <ac:picMkLst>
            <pc:docMk/>
            <pc:sldMk cId="0" sldId="262"/>
            <ac:picMk id="2" creationId="{00000000-0000-0000-0000-000000000000}"/>
          </ac:picMkLst>
        </pc:picChg>
        <pc:picChg chg="add">
          <ac:chgData name="Lai, Wilson" userId="2840974a-0d84-4886-90a9-9a3ed79f3a48" providerId="ADAL" clId="{9F23B798-9E84-4552-BA63-E776E805C424}" dt="2026-08-01T16:20:58.316" v="13" actId="22"/>
          <ac:picMkLst>
            <pc:docMk/>
            <pc:sldMk cId="0" sldId="262"/>
            <ac:picMk id="4" creationId="{791407E7-3AB8-8C03-1847-BD3C260819B1}"/>
          </ac:picMkLst>
        </pc:picChg>
      </pc:sldChg>
      <pc:sldChg chg="addSp delSp mod">
        <pc:chgData name="Lai, Wilson" userId="2840974a-0d84-4886-90a9-9a3ed79f3a48" providerId="ADAL" clId="{9F23B798-9E84-4552-BA63-E776E805C424}" dt="2026-08-01T16:21:21.794" v="15" actId="22"/>
        <pc:sldMkLst>
          <pc:docMk/>
          <pc:sldMk cId="0" sldId="263"/>
        </pc:sldMkLst>
        <pc:picChg chg="del">
          <ac:chgData name="Lai, Wilson" userId="2840974a-0d84-4886-90a9-9a3ed79f3a48" providerId="ADAL" clId="{9F23B798-9E84-4552-BA63-E776E805C424}" dt="2026-08-01T16:21:01.231" v="14" actId="21"/>
          <ac:picMkLst>
            <pc:docMk/>
            <pc:sldMk cId="0" sldId="263"/>
            <ac:picMk id="2" creationId="{00000000-0000-0000-0000-000000000000}"/>
          </ac:picMkLst>
        </pc:picChg>
        <pc:picChg chg="add">
          <ac:chgData name="Lai, Wilson" userId="2840974a-0d84-4886-90a9-9a3ed79f3a48" providerId="ADAL" clId="{9F23B798-9E84-4552-BA63-E776E805C424}" dt="2026-08-01T16:21:21.794" v="15" actId="22"/>
          <ac:picMkLst>
            <pc:docMk/>
            <pc:sldMk cId="0" sldId="263"/>
            <ac:picMk id="4" creationId="{0FDC1BC3-D94A-2637-AE4C-EA466344CF9E}"/>
          </ac:picMkLst>
        </pc:picChg>
      </pc:sldChg>
      <pc:sldChg chg="addSp delSp mod">
        <pc:chgData name="Lai, Wilson" userId="2840974a-0d84-4886-90a9-9a3ed79f3a48" providerId="ADAL" clId="{9F23B798-9E84-4552-BA63-E776E805C424}" dt="2026-08-01T16:21:44.173" v="17" actId="22"/>
        <pc:sldMkLst>
          <pc:docMk/>
          <pc:sldMk cId="0" sldId="264"/>
        </pc:sldMkLst>
        <pc:picChg chg="del">
          <ac:chgData name="Lai, Wilson" userId="2840974a-0d84-4886-90a9-9a3ed79f3a48" providerId="ADAL" clId="{9F23B798-9E84-4552-BA63-E776E805C424}" dt="2026-08-01T16:21:25.244" v="16" actId="21"/>
          <ac:picMkLst>
            <pc:docMk/>
            <pc:sldMk cId="0" sldId="264"/>
            <ac:picMk id="2" creationId="{00000000-0000-0000-0000-000000000000}"/>
          </ac:picMkLst>
        </pc:picChg>
        <pc:picChg chg="add">
          <ac:chgData name="Lai, Wilson" userId="2840974a-0d84-4886-90a9-9a3ed79f3a48" providerId="ADAL" clId="{9F23B798-9E84-4552-BA63-E776E805C424}" dt="2026-08-01T16:21:44.173" v="17" actId="22"/>
          <ac:picMkLst>
            <pc:docMk/>
            <pc:sldMk cId="0" sldId="264"/>
            <ac:picMk id="4" creationId="{5EC6F728-73D1-24B7-690B-359A86652CF2}"/>
          </ac:picMkLst>
        </pc:picChg>
      </pc:sldChg>
      <pc:sldChg chg="addSp delSp mod">
        <pc:chgData name="Lai, Wilson" userId="2840974a-0d84-4886-90a9-9a3ed79f3a48" providerId="ADAL" clId="{9F23B798-9E84-4552-BA63-E776E805C424}" dt="2026-08-01T16:22:18.921" v="19" actId="22"/>
        <pc:sldMkLst>
          <pc:docMk/>
          <pc:sldMk cId="0" sldId="265"/>
        </pc:sldMkLst>
        <pc:picChg chg="del">
          <ac:chgData name="Lai, Wilson" userId="2840974a-0d84-4886-90a9-9a3ed79f3a48" providerId="ADAL" clId="{9F23B798-9E84-4552-BA63-E776E805C424}" dt="2026-08-01T16:21:47.385" v="18" actId="21"/>
          <ac:picMkLst>
            <pc:docMk/>
            <pc:sldMk cId="0" sldId="265"/>
            <ac:picMk id="2" creationId="{00000000-0000-0000-0000-000000000000}"/>
          </ac:picMkLst>
        </pc:picChg>
        <pc:picChg chg="add">
          <ac:chgData name="Lai, Wilson" userId="2840974a-0d84-4886-90a9-9a3ed79f3a48" providerId="ADAL" clId="{9F23B798-9E84-4552-BA63-E776E805C424}" dt="2026-08-01T16:22:18.921" v="19" actId="22"/>
          <ac:picMkLst>
            <pc:docMk/>
            <pc:sldMk cId="0" sldId="265"/>
            <ac:picMk id="4" creationId="{79CEB39D-B85F-63D5-A737-22434CFB9F2D}"/>
          </ac:picMkLst>
        </pc:picChg>
      </pc:sldChg>
      <pc:sldChg chg="addSp delSp mod modNotesTx">
        <pc:chgData name="Lai, Wilson" userId="2840974a-0d84-4886-90a9-9a3ed79f3a48" providerId="ADAL" clId="{9F23B798-9E84-4552-BA63-E776E805C424}" dt="2026-08-02T03:50:21.227" v="43" actId="14"/>
        <pc:sldMkLst>
          <pc:docMk/>
          <pc:sldMk cId="0" sldId="266"/>
        </pc:sldMkLst>
        <pc:picChg chg="del">
          <ac:chgData name="Lai, Wilson" userId="2840974a-0d84-4886-90a9-9a3ed79f3a48" providerId="ADAL" clId="{9F23B798-9E84-4552-BA63-E776E805C424}" dt="2026-08-01T16:22:21.730" v="20" actId="21"/>
          <ac:picMkLst>
            <pc:docMk/>
            <pc:sldMk cId="0" sldId="266"/>
            <ac:picMk id="2" creationId="{00000000-0000-0000-0000-000000000000}"/>
          </ac:picMkLst>
        </pc:picChg>
        <pc:picChg chg="add">
          <ac:chgData name="Lai, Wilson" userId="2840974a-0d84-4886-90a9-9a3ed79f3a48" providerId="ADAL" clId="{9F23B798-9E84-4552-BA63-E776E805C424}" dt="2026-08-01T16:22:54.014" v="21" actId="22"/>
          <ac:picMkLst>
            <pc:docMk/>
            <pc:sldMk cId="0" sldId="266"/>
            <ac:picMk id="4" creationId="{E43D333E-61A4-281A-2644-48E60356BA79}"/>
          </ac:picMkLst>
        </pc:picChg>
      </pc:sldChg>
      <pc:sldChg chg="addSp delSp mod">
        <pc:chgData name="Lai, Wilson" userId="2840974a-0d84-4886-90a9-9a3ed79f3a48" providerId="ADAL" clId="{9F23B798-9E84-4552-BA63-E776E805C424}" dt="2026-08-01T16:23:26.221" v="23" actId="22"/>
        <pc:sldMkLst>
          <pc:docMk/>
          <pc:sldMk cId="0" sldId="267"/>
        </pc:sldMkLst>
        <pc:picChg chg="del">
          <ac:chgData name="Lai, Wilson" userId="2840974a-0d84-4886-90a9-9a3ed79f3a48" providerId="ADAL" clId="{9F23B798-9E84-4552-BA63-E776E805C424}" dt="2026-08-01T16:23:01.641" v="22" actId="21"/>
          <ac:picMkLst>
            <pc:docMk/>
            <pc:sldMk cId="0" sldId="267"/>
            <ac:picMk id="2" creationId="{00000000-0000-0000-0000-000000000000}"/>
          </ac:picMkLst>
        </pc:picChg>
        <pc:picChg chg="add">
          <ac:chgData name="Lai, Wilson" userId="2840974a-0d84-4886-90a9-9a3ed79f3a48" providerId="ADAL" clId="{9F23B798-9E84-4552-BA63-E776E805C424}" dt="2026-08-01T16:23:26.221" v="23" actId="22"/>
          <ac:picMkLst>
            <pc:docMk/>
            <pc:sldMk cId="0" sldId="267"/>
            <ac:picMk id="4" creationId="{C10F7400-8D17-8361-0D8B-E61FE74823ED}"/>
          </ac:picMkLst>
        </pc:picChg>
      </pc:sldChg>
      <pc:sldChg chg="addSp delSp mod">
        <pc:chgData name="Lai, Wilson" userId="2840974a-0d84-4886-90a9-9a3ed79f3a48" providerId="ADAL" clId="{9F23B798-9E84-4552-BA63-E776E805C424}" dt="2026-08-01T16:23:41.264" v="25" actId="22"/>
        <pc:sldMkLst>
          <pc:docMk/>
          <pc:sldMk cId="0" sldId="268"/>
        </pc:sldMkLst>
        <pc:picChg chg="del">
          <ac:chgData name="Lai, Wilson" userId="2840974a-0d84-4886-90a9-9a3ed79f3a48" providerId="ADAL" clId="{9F23B798-9E84-4552-BA63-E776E805C424}" dt="2026-08-01T16:23:31.972" v="24" actId="21"/>
          <ac:picMkLst>
            <pc:docMk/>
            <pc:sldMk cId="0" sldId="268"/>
            <ac:picMk id="2" creationId="{00000000-0000-0000-0000-000000000000}"/>
          </ac:picMkLst>
        </pc:picChg>
        <pc:picChg chg="add">
          <ac:chgData name="Lai, Wilson" userId="2840974a-0d84-4886-90a9-9a3ed79f3a48" providerId="ADAL" clId="{9F23B798-9E84-4552-BA63-E776E805C424}" dt="2026-08-01T16:23:41.264" v="25" actId="22"/>
          <ac:picMkLst>
            <pc:docMk/>
            <pc:sldMk cId="0" sldId="268"/>
            <ac:picMk id="4" creationId="{07DBFF31-6EB5-AC8A-869C-2E26D3790E94}"/>
          </ac:picMkLst>
        </pc:picChg>
      </pc:sldChg>
      <pc:sldMasterChg chg="setBg">
        <pc:chgData name="Lai, Wilson" userId="2840974a-0d84-4886-90a9-9a3ed79f3a48" providerId="ADAL" clId="{9F23B798-9E84-4552-BA63-E776E805C424}" dt="2026-08-01T16:15:52.996" v="0"/>
        <pc:sldMasterMkLst>
          <pc:docMk/>
          <pc:sldMasterMk cId="3680772386"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585107-B464-436C-94D8-10886F67E18A}"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FBB059-F6DE-497C-BBBF-FED9A69801B8}" type="slidenum">
              <a:rPr lang="en-US" smtClean="0"/>
              <a:t>‹#›</a:t>
            </a:fld>
            <a:endParaRPr lang="en-US"/>
          </a:p>
        </p:txBody>
      </p:sp>
    </p:spTree>
    <p:extLst>
      <p:ext uri="{BB962C8B-B14F-4D97-AF65-F5344CB8AC3E}">
        <p14:creationId xmlns:p14="http://schemas.microsoft.com/office/powerpoint/2010/main" val="1692323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https://www.youtube.com/watch?v=ViqYWhLimGg</a:t>
            </a:r>
          </a:p>
          <a:p>
            <a:endParaRPr lang="en-US" dirty="0"/>
          </a:p>
          <a:p>
            <a:r>
              <a:rPr lang="en-US" sz="1200" b="1" kern="1200" dirty="0">
                <a:solidFill>
                  <a:schemeClr val="tx1"/>
                </a:solidFill>
                <a:effectLst/>
                <a:latin typeface="+mn-lt"/>
                <a:ea typeface="+mn-ea"/>
                <a:cs typeface="+mn-cs"/>
              </a:rPr>
              <a:t>Introduction &amp; Vision:</a:t>
            </a:r>
            <a:r>
              <a:rPr lang="en-US" sz="1200" kern="1200" dirty="0">
                <a:solidFill>
                  <a:schemeClr val="tx1"/>
                </a:solidFill>
                <a:effectLst/>
                <a:latin typeface="+mn-lt"/>
                <a:ea typeface="+mn-ea"/>
                <a:cs typeface="+mn-cs"/>
              </a:rPr>
              <a:t> Welcome everyone. Today we are exploring what happens when theoretical, exponential growth curves run headfirst into physical, financial, political, and biological reality. </a:t>
            </a:r>
          </a:p>
          <a:p>
            <a:r>
              <a:rPr lang="en-US" sz="1200" b="1" kern="1200" dirty="0">
                <a:solidFill>
                  <a:schemeClr val="tx1"/>
                </a:solidFill>
                <a:effectLst/>
                <a:latin typeface="+mn-lt"/>
                <a:ea typeface="+mn-ea"/>
                <a:cs typeface="+mn-cs"/>
              </a:rPr>
              <a:t>Core Premise:</a:t>
            </a:r>
            <a:r>
              <a:rPr lang="en-US" sz="1200" kern="1200" dirty="0">
                <a:solidFill>
                  <a:schemeClr val="tx1"/>
                </a:solidFill>
                <a:effectLst/>
                <a:latin typeface="+mn-lt"/>
                <a:ea typeface="+mn-ea"/>
                <a:cs typeface="+mn-cs"/>
              </a:rPr>
              <a:t> Scaling models—whether in AI compute, macro-leverage, or public policy—often operate under the assumption of infinite linear or exponential headroom. But real-world systems are constrained by physical laws, energy limits, debt yields, and market volatility. </a:t>
            </a:r>
          </a:p>
          <a:p>
            <a:r>
              <a:rPr lang="en-US" sz="1200" b="1" kern="1200" dirty="0">
                <a:solidFill>
                  <a:schemeClr val="tx1"/>
                </a:solidFill>
                <a:effectLst/>
                <a:latin typeface="+mn-lt"/>
                <a:ea typeface="+mn-ea"/>
                <a:cs typeface="+mn-cs"/>
              </a:rPr>
              <a:t>The 4 Anchor Examples: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Macro/Leverage:</a:t>
            </a:r>
            <a:r>
              <a:rPr lang="en-US" sz="1200" kern="1200" dirty="0">
                <a:solidFill>
                  <a:schemeClr val="tx1"/>
                </a:solidFill>
                <a:effectLst/>
                <a:latin typeface="+mn-lt"/>
                <a:ea typeface="+mn-ea"/>
                <a:cs typeface="+mn-cs"/>
              </a:rPr>
              <a:t> A $20B margin call cascade triggered by exponential leverage meeting semiconductor volatility. </a:t>
            </a:r>
          </a:p>
          <a:p>
            <a:r>
              <a:rPr lang="en-US" sz="1200" b="1" kern="1200" dirty="0">
                <a:solidFill>
                  <a:schemeClr val="tx1"/>
                </a:solidFill>
                <a:effectLst/>
                <a:latin typeface="+mn-lt"/>
                <a:ea typeface="+mn-ea"/>
                <a:cs typeface="+mn-cs"/>
              </a:rPr>
              <a:t>AI/IP Limits:</a:t>
            </a:r>
            <a:r>
              <a:rPr lang="en-US" sz="1200" kern="1200" dirty="0">
                <a:solidFill>
                  <a:schemeClr val="tx1"/>
                </a:solidFill>
                <a:effectLst/>
                <a:latin typeface="+mn-lt"/>
                <a:ea typeface="+mn-ea"/>
                <a:cs typeface="+mn-cs"/>
              </a:rPr>
              <a:t> A $1.5B IP lawsuit and grid constraints confronting raw compute demands. </a:t>
            </a:r>
          </a:p>
          <a:p>
            <a:r>
              <a:rPr lang="en-US" sz="1200" b="1" kern="1200" dirty="0">
                <a:solidFill>
                  <a:schemeClr val="tx1"/>
                </a:solidFill>
                <a:effectLst/>
                <a:latin typeface="+mn-lt"/>
                <a:ea typeface="+mn-ea"/>
                <a:cs typeface="+mn-cs"/>
              </a:rPr>
              <a:t>Municipal Policy:</a:t>
            </a:r>
            <a:r>
              <a:rPr lang="en-US" sz="1200" kern="1200" dirty="0">
                <a:solidFill>
                  <a:schemeClr val="tx1"/>
                </a:solidFill>
                <a:effectLst/>
                <a:latin typeface="+mn-lt"/>
                <a:ea typeface="+mn-ea"/>
                <a:cs typeface="+mn-cs"/>
              </a:rPr>
              <a:t> Localized 30% discount grocery experiments creating unintended inflationary and economic feedback loops. </a:t>
            </a:r>
          </a:p>
          <a:p>
            <a:r>
              <a:rPr lang="en-US" sz="1200" b="1" kern="1200" dirty="0">
                <a:solidFill>
                  <a:schemeClr val="tx1"/>
                </a:solidFill>
                <a:effectLst/>
                <a:latin typeface="+mn-lt"/>
                <a:ea typeface="+mn-ea"/>
                <a:cs typeface="+mn-cs"/>
              </a:rPr>
              <a:t>Biological Complexity:</a:t>
            </a:r>
            <a:r>
              <a:rPr lang="en-US" sz="1200" kern="1200" dirty="0">
                <a:solidFill>
                  <a:schemeClr val="tx1"/>
                </a:solidFill>
                <a:effectLst/>
                <a:latin typeface="+mn-lt"/>
                <a:ea typeface="+mn-ea"/>
                <a:cs typeface="+mn-cs"/>
              </a:rPr>
              <a:t> Mapping the fruit fly brain, revealing that biological intelligence requires 64-dimensional hyperbolic space rather than simple Euclidean silicon dimensions. </a:t>
            </a:r>
          </a:p>
          <a:p>
            <a:endParaRPr lang="en-US" dirty="0"/>
          </a:p>
        </p:txBody>
      </p:sp>
      <p:sp>
        <p:nvSpPr>
          <p:cNvPr id="4" name="Slide Number Placeholder 3"/>
          <p:cNvSpPr>
            <a:spLocks noGrp="1"/>
          </p:cNvSpPr>
          <p:nvPr>
            <p:ph type="sldNum" sz="quarter" idx="5"/>
          </p:nvPr>
        </p:nvSpPr>
        <p:spPr/>
        <p:txBody>
          <a:bodyPr/>
          <a:lstStyle/>
          <a:p>
            <a:fld id="{E5FBB059-F6DE-497C-BBBF-FED9A69801B8}" type="slidenum">
              <a:rPr lang="en-US" smtClean="0"/>
              <a:t>1</a:t>
            </a:fld>
            <a:endParaRPr lang="en-US"/>
          </a:p>
        </p:txBody>
      </p:sp>
    </p:spTree>
    <p:extLst>
      <p:ext uri="{BB962C8B-B14F-4D97-AF65-F5344CB8AC3E}">
        <p14:creationId xmlns:p14="http://schemas.microsoft.com/office/powerpoint/2010/main" val="1499350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Conviction:</a:t>
            </a:r>
            <a:r>
              <a:rPr lang="en-US" sz="1200" kern="1200" dirty="0">
                <a:solidFill>
                  <a:schemeClr val="tx1"/>
                </a:solidFill>
                <a:effectLst/>
                <a:latin typeface="+mn-lt"/>
                <a:ea typeface="+mn-ea"/>
                <a:cs typeface="+mn-cs"/>
              </a:rPr>
              <a:t> The "Situational Awareness" thesis predicted AI capabilities scaling by an order of magnitude ($10\times$) every two years. Driven by this conviction, concentrated bets transformed $225 million into $20 billion on paper through aggressive market momentum. </a:t>
            </a:r>
          </a:p>
          <a:p>
            <a:r>
              <a:rPr lang="en-US" sz="1200" b="1" kern="1200" dirty="0">
                <a:solidFill>
                  <a:schemeClr val="tx1"/>
                </a:solidFill>
                <a:effectLst/>
                <a:latin typeface="+mn-lt"/>
                <a:ea typeface="+mn-ea"/>
                <a:cs typeface="+mn-cs"/>
              </a:rPr>
              <a:t>The Multiplier (The Trap):</a:t>
            </a:r>
            <a:r>
              <a:rPr lang="en-US" sz="1200" kern="1200" dirty="0">
                <a:solidFill>
                  <a:schemeClr val="tx1"/>
                </a:solidFill>
                <a:effectLst/>
                <a:latin typeface="+mn-lt"/>
                <a:ea typeface="+mn-ea"/>
                <a:cs typeface="+mn-cs"/>
              </a:rPr>
              <a:t> To maximize returns, the fund utilized approximately $3.5\times$ leverage. In leveraged positions, standard market volatility is exponentially amplified—a routine $3\%\text{--}4\%$ equity pullback instantly turns into a devastating $12\%\text{--}14\%$ portfolio drop. </a:t>
            </a:r>
          </a:p>
          <a:p>
            <a:r>
              <a:rPr lang="en-US" sz="1200" b="1" kern="1200" dirty="0">
                <a:solidFill>
                  <a:schemeClr val="tx1"/>
                </a:solidFill>
                <a:effectLst/>
                <a:latin typeface="+mn-lt"/>
                <a:ea typeface="+mn-ea"/>
                <a:cs typeface="+mn-cs"/>
              </a:rPr>
              <a:t>The Wipeout:</a:t>
            </a:r>
            <a:r>
              <a:rPr lang="en-US" sz="1200" kern="1200" dirty="0">
                <a:solidFill>
                  <a:schemeClr val="tx1"/>
                </a:solidFill>
                <a:effectLst/>
                <a:latin typeface="+mn-lt"/>
                <a:ea typeface="+mn-ea"/>
                <a:cs typeface="+mn-cs"/>
              </a:rPr>
              <a:t> Once margin limits were breached, prime broker liquidations triggered automatic, one-way ratchet selling, forcing assets into the market regardless of fundamental value. </a:t>
            </a:r>
          </a:p>
          <a:p>
            <a:r>
              <a:rPr lang="en-US" sz="1200" b="1" kern="1200" dirty="0">
                <a:solidFill>
                  <a:schemeClr val="tx1"/>
                </a:solidFill>
                <a:effectLst/>
                <a:latin typeface="+mn-lt"/>
                <a:ea typeface="+mn-ea"/>
                <a:cs typeface="+mn-cs"/>
              </a:rPr>
              <a:t>The Macro Fallout:</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Retail Cascade:</a:t>
            </a:r>
            <a:r>
              <a:rPr lang="en-US" sz="1200" kern="1200" dirty="0">
                <a:solidFill>
                  <a:schemeClr val="tx1"/>
                </a:solidFill>
                <a:effectLst/>
                <a:latin typeface="+mn-lt"/>
                <a:ea typeface="+mn-ea"/>
                <a:cs typeface="+mn-cs"/>
              </a:rPr>
              <a:t> Over $1.2$ million South Korean retail leverage accounts were hit, with roughly $350,000$ experiencing total liquidation. </a:t>
            </a:r>
          </a:p>
          <a:p>
            <a:r>
              <a:rPr lang="en-US" sz="1200" b="1" kern="1200" dirty="0">
                <a:solidFill>
                  <a:schemeClr val="tx1"/>
                </a:solidFill>
                <a:effectLst/>
                <a:latin typeface="+mn-lt"/>
                <a:ea typeface="+mn-ea"/>
                <a:cs typeface="+mn-cs"/>
              </a:rPr>
              <a:t>Market Crash:</a:t>
            </a:r>
            <a:r>
              <a:rPr lang="en-US" sz="1200" kern="1200" dirty="0">
                <a:solidFill>
                  <a:schemeClr val="tx1"/>
                </a:solidFill>
                <a:effectLst/>
                <a:latin typeface="+mn-lt"/>
                <a:ea typeface="+mn-ea"/>
                <a:cs typeface="+mn-cs"/>
              </a:rPr>
              <a:t> The Kospi Index plummeted $40\%$ in just 40 days. Heavyweight semiconductor stocks bore the brunt: Samsung plunged $38\%$ and SK Hynix fell $14\%$. </a:t>
            </a:r>
          </a:p>
          <a:p>
            <a:endParaRPr lang="en-US" dirty="0"/>
          </a:p>
        </p:txBody>
      </p:sp>
      <p:sp>
        <p:nvSpPr>
          <p:cNvPr id="4" name="Slide Number Placeholder 3"/>
          <p:cNvSpPr>
            <a:spLocks noGrp="1"/>
          </p:cNvSpPr>
          <p:nvPr>
            <p:ph type="sldNum" sz="quarter" idx="5"/>
          </p:nvPr>
        </p:nvSpPr>
        <p:spPr/>
        <p:txBody>
          <a:bodyPr/>
          <a:lstStyle/>
          <a:p>
            <a:fld id="{E5FBB059-F6DE-497C-BBBF-FED9A69801B8}" type="slidenum">
              <a:rPr lang="en-US" smtClean="0"/>
              <a:t>2</a:t>
            </a:fld>
            <a:endParaRPr lang="en-US"/>
          </a:p>
        </p:txBody>
      </p:sp>
    </p:spTree>
    <p:extLst>
      <p:ext uri="{BB962C8B-B14F-4D97-AF65-F5344CB8AC3E}">
        <p14:creationId xmlns:p14="http://schemas.microsoft.com/office/powerpoint/2010/main" val="3805790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Yield Benchmark:</a:t>
            </a:r>
            <a:r>
              <a:rPr lang="en-US" sz="1200" kern="1200" dirty="0">
                <a:solidFill>
                  <a:schemeClr val="tx1"/>
                </a:solidFill>
                <a:effectLst/>
                <a:latin typeface="+mn-lt"/>
                <a:ea typeface="+mn-ea"/>
                <a:cs typeface="+mn-cs"/>
              </a:rPr>
              <a:t> Driven by a massive $2 trillion annual U.S. federal deficit and a growing $40 trillion national debt, 30-Year U.S. Treasury yields touched $5.2\%$. On a pre-tax equivalent basis, this offers investors an effective $9\%$ risk-free return. </a:t>
            </a:r>
          </a:p>
          <a:p>
            <a:r>
              <a:rPr lang="en-US" sz="1200" b="1" kern="1200" dirty="0">
                <a:solidFill>
                  <a:schemeClr val="tx1"/>
                </a:solidFill>
                <a:effectLst/>
                <a:latin typeface="+mn-lt"/>
                <a:ea typeface="+mn-ea"/>
                <a:cs typeface="+mn-cs"/>
              </a:rPr>
              <a:t>The Equity Valuation Strain:</a:t>
            </a:r>
            <a:r>
              <a:rPr lang="en-US" sz="1200" kern="1200" dirty="0">
                <a:solidFill>
                  <a:schemeClr val="tx1"/>
                </a:solidFill>
                <a:effectLst/>
                <a:latin typeface="+mn-lt"/>
                <a:ea typeface="+mn-ea"/>
                <a:cs typeface="+mn-cs"/>
              </a:rPr>
              <a:t> On the other side, semiconductor and AI equities have been trading at premium multiples of $50\times$ to $100\times$ earnings, premised on frictionless, multi-year exponential growth. </a:t>
            </a:r>
          </a:p>
          <a:p>
            <a:r>
              <a:rPr lang="en-US" sz="1200" b="1" kern="1200" dirty="0">
                <a:solidFill>
                  <a:schemeClr val="tx1"/>
                </a:solidFill>
                <a:effectLst/>
                <a:latin typeface="+mn-lt"/>
                <a:ea typeface="+mn-ea"/>
                <a:cs typeface="+mn-cs"/>
              </a:rPr>
              <a:t>The Core Question:</a:t>
            </a:r>
            <a:r>
              <a:rPr lang="en-US" sz="1200" kern="1200" dirty="0">
                <a:solidFill>
                  <a:schemeClr val="tx1"/>
                </a:solidFill>
                <a:effectLst/>
                <a:latin typeface="+mn-lt"/>
                <a:ea typeface="+mn-ea"/>
                <a:cs typeface="+mn-cs"/>
              </a:rPr>
              <a:t> As cost of capital rises, the fundamental hurdle rate changes. Why should institutional capital take on high volatility at $50\times$ earnings when a $9\%$ pre-tax equivalent, risk-free yield is available? High yields act as a "gravity well," sucking liquidity out of high-multiple speculative tech. </a:t>
            </a:r>
          </a:p>
          <a:p>
            <a:endParaRPr lang="en-US" dirty="0"/>
          </a:p>
        </p:txBody>
      </p:sp>
      <p:sp>
        <p:nvSpPr>
          <p:cNvPr id="4" name="Slide Number Placeholder 3"/>
          <p:cNvSpPr>
            <a:spLocks noGrp="1"/>
          </p:cNvSpPr>
          <p:nvPr>
            <p:ph type="sldNum" sz="quarter" idx="5"/>
          </p:nvPr>
        </p:nvSpPr>
        <p:spPr/>
        <p:txBody>
          <a:bodyPr/>
          <a:lstStyle/>
          <a:p>
            <a:fld id="{E5FBB059-F6DE-497C-BBBF-FED9A69801B8}" type="slidenum">
              <a:rPr lang="en-US" smtClean="0"/>
              <a:t>3</a:t>
            </a:fld>
            <a:endParaRPr lang="en-US"/>
          </a:p>
        </p:txBody>
      </p:sp>
    </p:spTree>
    <p:extLst>
      <p:ext uri="{BB962C8B-B14F-4D97-AF65-F5344CB8AC3E}">
        <p14:creationId xmlns:p14="http://schemas.microsoft.com/office/powerpoint/2010/main" val="3634082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Market Split:</a:t>
            </a:r>
            <a:r>
              <a:rPr lang="en-US" sz="1200" kern="1200" dirty="0">
                <a:solidFill>
                  <a:schemeClr val="tx1"/>
                </a:solidFill>
                <a:effectLst/>
                <a:latin typeface="+mn-lt"/>
                <a:ea typeface="+mn-ea"/>
                <a:cs typeface="+mn-cs"/>
              </a:rPr>
              <a:t> The AI ecosystem is bifurcating into two distinct operating models:</a:t>
            </a:r>
          </a:p>
          <a:p>
            <a:r>
              <a:rPr lang="en-US" sz="1200" b="1" kern="1200" dirty="0">
                <a:solidFill>
                  <a:schemeClr val="tx1"/>
                </a:solidFill>
                <a:effectLst/>
                <a:latin typeface="+mn-lt"/>
                <a:ea typeface="+mn-ea"/>
                <a:cs typeface="+mn-cs"/>
              </a:rPr>
              <a:t>Frontier Duopoly (Anthropic &amp; OpenAI):</a:t>
            </a:r>
            <a:r>
              <a:rPr lang="en-US" sz="1200" kern="1200" dirty="0">
                <a:solidFill>
                  <a:schemeClr val="tx1"/>
                </a:solidFill>
                <a:effectLst/>
                <a:latin typeface="+mn-lt"/>
                <a:ea typeface="+mn-ea"/>
                <a:cs typeface="+mn-cs"/>
              </a:rPr>
              <a:t> High-cost, closed-source "walled gardens" tracking from $10B to $70B–$100B+ ARR trajectories. They control proprietary data and closed APIs. </a:t>
            </a:r>
          </a:p>
          <a:p>
            <a:r>
              <a:rPr lang="en-US" sz="1200" b="1" kern="1200" dirty="0">
                <a:solidFill>
                  <a:schemeClr val="tx1"/>
                </a:solidFill>
                <a:effectLst/>
                <a:latin typeface="+mn-lt"/>
                <a:ea typeface="+mn-ea"/>
                <a:cs typeface="+mn-cs"/>
              </a:rPr>
              <a:t>Open-Source Insurgents (Llama, DeepSeek, Qwen, GLM):</a:t>
            </a:r>
            <a:r>
              <a:rPr lang="en-US" sz="1200" kern="1200" dirty="0">
                <a:solidFill>
                  <a:schemeClr val="tx1"/>
                </a:solidFill>
                <a:effectLst/>
                <a:latin typeface="+mn-lt"/>
                <a:ea typeface="+mn-ea"/>
                <a:cs typeface="+mn-cs"/>
              </a:rPr>
              <a:t> Highly performant models offered at $80\%\text{--}90\%$ cheaper token costs, enabling private hosting and customization. </a:t>
            </a:r>
          </a:p>
          <a:p>
            <a:r>
              <a:rPr lang="en-US" sz="1200" b="1" kern="1200" dirty="0">
                <a:solidFill>
                  <a:schemeClr val="tx1"/>
                </a:solidFill>
                <a:effectLst/>
                <a:latin typeface="+mn-lt"/>
                <a:ea typeface="+mn-ea"/>
                <a:cs typeface="+mn-cs"/>
              </a:rPr>
              <a:t>The Compute Bottleneck Advantage:</a:t>
            </a:r>
            <a:r>
              <a:rPr lang="en-US" sz="1200" kern="1200" dirty="0">
                <a:solidFill>
                  <a:schemeClr val="tx1"/>
                </a:solidFill>
                <a:effectLst/>
                <a:latin typeface="+mn-lt"/>
                <a:ea typeface="+mn-ea"/>
                <a:cs typeface="+mn-cs"/>
              </a:rPr>
              <a:t> Because compute infrastructure supply grows at roughly $3\times$ YoY while raw demand grows at $10\times$ YoY, physical bottlenecks naturally favor duopolies capable of extracting the highest yield per token. </a:t>
            </a:r>
          </a:p>
          <a:p>
            <a:r>
              <a:rPr lang="en-US" sz="1200" b="1" kern="1200" dirty="0">
                <a:solidFill>
                  <a:schemeClr val="tx1"/>
                </a:solidFill>
                <a:effectLst/>
                <a:latin typeface="+mn-lt"/>
                <a:ea typeface="+mn-ea"/>
                <a:cs typeface="+mn-cs"/>
              </a:rPr>
              <a:t>Safety Concerns vs. Regulatory Capture:</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Legitimate Risk:</a:t>
            </a:r>
            <a:r>
              <a:rPr lang="en-US" sz="1200" kern="1200" dirty="0">
                <a:solidFill>
                  <a:schemeClr val="tx1"/>
                </a:solidFill>
                <a:effectLst/>
                <a:latin typeface="+mn-lt"/>
                <a:ea typeface="+mn-ea"/>
                <a:cs typeface="+mn-cs"/>
              </a:rPr>
              <a:t> Unreleased models chaining zero-day exploits and sandboxing risks highlight real concerns around Recursive Self-Improvement (RSI). </a:t>
            </a:r>
          </a:p>
          <a:p>
            <a:r>
              <a:rPr lang="en-US" sz="1200" b="1" kern="1200" dirty="0">
                <a:solidFill>
                  <a:schemeClr val="tx1"/>
                </a:solidFill>
                <a:effectLst/>
                <a:latin typeface="+mn-lt"/>
                <a:ea typeface="+mn-ea"/>
                <a:cs typeface="+mn-cs"/>
              </a:rPr>
              <a:t>Regulatory Capture:</a:t>
            </a:r>
            <a:r>
              <a:rPr lang="en-US" sz="1200" kern="1200" dirty="0">
                <a:solidFill>
                  <a:schemeClr val="tx1"/>
                </a:solidFill>
                <a:effectLst/>
                <a:latin typeface="+mn-lt"/>
                <a:ea typeface="+mn-ea"/>
                <a:cs typeface="+mn-cs"/>
              </a:rPr>
              <a:t> However, proposals demanding a "FDA for AI" risk pulling up the ladder on open-source competition. As Peter Thiel observed, </a:t>
            </a:r>
            <a:r>
              <a:rPr lang="en-US" sz="1200" i="1" kern="1200" dirty="0">
                <a:solidFill>
                  <a:schemeClr val="tx1"/>
                </a:solidFill>
                <a:effectLst/>
                <a:latin typeface="+mn-lt"/>
                <a:ea typeface="+mn-ea"/>
                <a:cs typeface="+mn-cs"/>
              </a:rPr>
              <a:t>"Monopolies pretend to be commodities"</a:t>
            </a:r>
            <a:r>
              <a:rPr lang="en-US" sz="1200" kern="1200" dirty="0">
                <a:solidFill>
                  <a:schemeClr val="tx1"/>
                </a:solidFill>
                <a:effectLst/>
                <a:latin typeface="+mn-lt"/>
                <a:ea typeface="+mn-ea"/>
                <a:cs typeface="+mn-cs"/>
              </a:rPr>
              <a:t>—incumbents often frame market preservation in the language of public safety. </a:t>
            </a:r>
          </a:p>
          <a:p>
            <a:endParaRPr lang="en-US" dirty="0"/>
          </a:p>
        </p:txBody>
      </p:sp>
      <p:sp>
        <p:nvSpPr>
          <p:cNvPr id="4" name="Slide Number Placeholder 3"/>
          <p:cNvSpPr>
            <a:spLocks noGrp="1"/>
          </p:cNvSpPr>
          <p:nvPr>
            <p:ph type="sldNum" sz="quarter" idx="5"/>
          </p:nvPr>
        </p:nvSpPr>
        <p:spPr/>
        <p:txBody>
          <a:bodyPr/>
          <a:lstStyle/>
          <a:p>
            <a:fld id="{E5FBB059-F6DE-497C-BBBF-FED9A69801B8}" type="slidenum">
              <a:rPr lang="en-US" smtClean="0"/>
              <a:t>4</a:t>
            </a:fld>
            <a:endParaRPr lang="en-US"/>
          </a:p>
        </p:txBody>
      </p:sp>
    </p:spTree>
    <p:extLst>
      <p:ext uri="{BB962C8B-B14F-4D97-AF65-F5344CB8AC3E}">
        <p14:creationId xmlns:p14="http://schemas.microsoft.com/office/powerpoint/2010/main" val="3650500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Mechanical Friction:</a:t>
            </a:r>
            <a:r>
              <a:rPr lang="en-US" sz="1200" kern="1200" dirty="0">
                <a:solidFill>
                  <a:schemeClr val="tx1"/>
                </a:solidFill>
                <a:effectLst/>
                <a:latin typeface="+mn-lt"/>
                <a:ea typeface="+mn-ea"/>
                <a:cs typeface="+mn-cs"/>
              </a:rPr>
              <a:t> To feed hungry AI models, physical books are literally run through mechanical "guillotines," severing their spines for high-speed industrial scanning. </a:t>
            </a:r>
          </a:p>
          <a:p>
            <a:r>
              <a:rPr lang="en-US" sz="1200" b="1" kern="1200" dirty="0">
                <a:solidFill>
                  <a:schemeClr val="tx1"/>
                </a:solidFill>
                <a:effectLst/>
                <a:latin typeface="+mn-lt"/>
                <a:ea typeface="+mn-ea"/>
                <a:cs typeface="+mn-cs"/>
              </a:rPr>
              <a:t>The Conversion:</a:t>
            </a:r>
            <a:r>
              <a:rPr lang="en-US" sz="1200" kern="1200" dirty="0">
                <a:solidFill>
                  <a:schemeClr val="tx1"/>
                </a:solidFill>
                <a:effectLst/>
                <a:latin typeface="+mn-lt"/>
                <a:ea typeface="+mn-ea"/>
                <a:cs typeface="+mn-cs"/>
              </a:rPr>
              <a:t> High-value human intellectual property is ingested and distilled into uncopyrightable mathematical weight matrices. </a:t>
            </a:r>
          </a:p>
          <a:p>
            <a:r>
              <a:rPr lang="en-US" sz="1200" b="1" kern="1200" dirty="0">
                <a:solidFill>
                  <a:schemeClr val="tx1"/>
                </a:solidFill>
                <a:effectLst/>
                <a:latin typeface="+mn-lt"/>
                <a:ea typeface="+mn-ea"/>
                <a:cs typeface="+mn-cs"/>
              </a:rPr>
              <a:t>The IP Collision:</a:t>
            </a:r>
            <a:r>
              <a:rPr lang="en-US" sz="1200" kern="1200" dirty="0">
                <a:solidFill>
                  <a:schemeClr val="tx1"/>
                </a:solidFill>
                <a:effectLst/>
                <a:latin typeface="+mn-lt"/>
                <a:ea typeface="+mn-ea"/>
                <a:cs typeface="+mn-cs"/>
              </a:rPr>
              <a:t> This process has hit a severe legal wall, exemplified by </a:t>
            </a:r>
            <a:r>
              <a:rPr lang="en-US" sz="1200" kern="1200" dirty="0" err="1">
                <a:solidFill>
                  <a:schemeClr val="tx1"/>
                </a:solidFill>
                <a:effectLst/>
                <a:latin typeface="+mn-lt"/>
                <a:ea typeface="+mn-ea"/>
                <a:cs typeface="+mn-cs"/>
              </a:rPr>
              <a:t>Anthropic's</a:t>
            </a:r>
            <a:r>
              <a:rPr lang="en-US" sz="1200" kern="1200" dirty="0">
                <a:solidFill>
                  <a:schemeClr val="tx1"/>
                </a:solidFill>
                <a:effectLst/>
                <a:latin typeface="+mn-lt"/>
                <a:ea typeface="+mn-ea"/>
                <a:cs typeface="+mn-cs"/>
              </a:rPr>
              <a:t> record $1.5B settlement involving 7 million copyrighted books. </a:t>
            </a:r>
          </a:p>
          <a:p>
            <a:r>
              <a:rPr lang="en-US" sz="1200" b="1" kern="1200" dirty="0">
                <a:solidFill>
                  <a:schemeClr val="tx1"/>
                </a:solidFill>
                <a:effectLst/>
                <a:latin typeface="+mn-lt"/>
                <a:ea typeface="+mn-ea"/>
                <a:cs typeface="+mn-cs"/>
              </a:rPr>
              <a:t>The Central Paradox:</a:t>
            </a:r>
            <a:r>
              <a:rPr lang="en-US" sz="1200" kern="1200" dirty="0">
                <a:solidFill>
                  <a:schemeClr val="tx1"/>
                </a:solidFill>
                <a:effectLst/>
                <a:latin typeface="+mn-lt"/>
                <a:ea typeface="+mn-ea"/>
                <a:cs typeface="+mn-cs"/>
              </a:rPr>
              <a:t> AI frontier labs argue that scraping and distilling the entirety of human knowledge falls squarely under "fair use," yet they simultaneously enforce strict terms of service preventing anyone from using their output data to train competing models. </a:t>
            </a:r>
          </a:p>
          <a:p>
            <a:endParaRPr lang="en-US" dirty="0"/>
          </a:p>
        </p:txBody>
      </p:sp>
      <p:sp>
        <p:nvSpPr>
          <p:cNvPr id="4" name="Slide Number Placeholder 3"/>
          <p:cNvSpPr>
            <a:spLocks noGrp="1"/>
          </p:cNvSpPr>
          <p:nvPr>
            <p:ph type="sldNum" sz="quarter" idx="5"/>
          </p:nvPr>
        </p:nvSpPr>
        <p:spPr/>
        <p:txBody>
          <a:bodyPr/>
          <a:lstStyle/>
          <a:p>
            <a:fld id="{E5FBB059-F6DE-497C-BBBF-FED9A69801B8}" type="slidenum">
              <a:rPr lang="en-US" smtClean="0"/>
              <a:t>5</a:t>
            </a:fld>
            <a:endParaRPr lang="en-US"/>
          </a:p>
        </p:txBody>
      </p:sp>
    </p:spTree>
    <p:extLst>
      <p:ext uri="{BB962C8B-B14F-4D97-AF65-F5344CB8AC3E}">
        <p14:creationId xmlns:p14="http://schemas.microsoft.com/office/powerpoint/2010/main" val="2730325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Imbalance:</a:t>
            </a:r>
            <a:r>
              <a:rPr lang="en-US" sz="1200" kern="1200" dirty="0">
                <a:solidFill>
                  <a:schemeClr val="tx1"/>
                </a:solidFill>
                <a:effectLst/>
                <a:latin typeface="+mn-lt"/>
                <a:ea typeface="+mn-ea"/>
                <a:cs typeface="+mn-cs"/>
              </a:rPr>
              <a:t> Software intelligence demand is growing exponentially at $10\times$ YoY, but physical data center and power grid construction can only scale at roughly $3\times$ YoY. </a:t>
            </a:r>
          </a:p>
          <a:p>
            <a:r>
              <a:rPr lang="en-US" sz="1200" b="1" kern="1200" dirty="0">
                <a:solidFill>
                  <a:schemeClr val="tx1"/>
                </a:solidFill>
                <a:effectLst/>
                <a:latin typeface="+mn-lt"/>
                <a:ea typeface="+mn-ea"/>
                <a:cs typeface="+mn-cs"/>
              </a:rPr>
              <a:t>The Grid Reality:</a:t>
            </a:r>
            <a:r>
              <a:rPr lang="en-US" sz="1200" kern="1200" dirty="0">
                <a:solidFill>
                  <a:schemeClr val="tx1"/>
                </a:solidFill>
                <a:effectLst/>
                <a:latin typeface="+mn-lt"/>
                <a:ea typeface="+mn-ea"/>
                <a:cs typeface="+mn-cs"/>
              </a:rPr>
              <a:t> Projections indicate a massive $1.7\text{ Terawatt}$ energy shortage by 2050—equivalent to six times the entire current energy consumption of California. </a:t>
            </a:r>
          </a:p>
          <a:p>
            <a:r>
              <a:rPr lang="en-US" sz="1200" b="1" kern="1200" dirty="0">
                <a:solidFill>
                  <a:schemeClr val="tx1"/>
                </a:solidFill>
                <a:effectLst/>
                <a:latin typeface="+mn-lt"/>
                <a:ea typeface="+mn-ea"/>
                <a:cs typeface="+mn-cs"/>
              </a:rPr>
              <a:t>Energy Transition Options: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Solar &amp; Storage:</a:t>
            </a:r>
            <a:r>
              <a:rPr lang="en-US" sz="1200" kern="1200" dirty="0">
                <a:solidFill>
                  <a:schemeClr val="tx1"/>
                </a:solidFill>
                <a:effectLst/>
                <a:latin typeface="+mn-lt"/>
                <a:ea typeface="+mn-ea"/>
                <a:cs typeface="+mn-cs"/>
              </a:rPr>
              <a:t> Rapid to deploy and currently powering over half of California's peak grid, but bound by intermittency and storage density limits. </a:t>
            </a:r>
          </a:p>
          <a:p>
            <a:r>
              <a:rPr lang="en-US" sz="1200" b="1" kern="1200" dirty="0">
                <a:solidFill>
                  <a:schemeClr val="tx1"/>
                </a:solidFill>
                <a:effectLst/>
                <a:latin typeface="+mn-lt"/>
                <a:ea typeface="+mn-ea"/>
                <a:cs typeface="+mn-cs"/>
              </a:rPr>
              <a:t>Nuclear Fusion:</a:t>
            </a:r>
            <a:r>
              <a:rPr lang="en-US" sz="1200" kern="1200" dirty="0">
                <a:solidFill>
                  <a:schemeClr val="tx1"/>
                </a:solidFill>
                <a:effectLst/>
                <a:latin typeface="+mn-lt"/>
                <a:ea typeface="+mn-ea"/>
                <a:cs typeface="+mn-cs"/>
              </a:rPr>
              <a:t> Breakthroughs like China's 582-ton superconducting magnet reaching 100M-degree plasma show promise, but commercially viable fusion scale remains decades away. </a:t>
            </a:r>
          </a:p>
          <a:p>
            <a:r>
              <a:rPr lang="en-US" sz="1200" b="1" kern="1200" dirty="0">
                <a:solidFill>
                  <a:schemeClr val="tx1"/>
                </a:solidFill>
                <a:effectLst/>
                <a:latin typeface="+mn-lt"/>
                <a:ea typeface="+mn-ea"/>
                <a:cs typeface="+mn-cs"/>
              </a:rPr>
              <a:t>Bottom Line:</a:t>
            </a:r>
            <a:r>
              <a:rPr lang="en-US" sz="1200" kern="1200" dirty="0">
                <a:solidFill>
                  <a:schemeClr val="tx1"/>
                </a:solidFill>
                <a:effectLst/>
                <a:latin typeface="+mn-lt"/>
                <a:ea typeface="+mn-ea"/>
                <a:cs typeface="+mn-cs"/>
              </a:rPr>
              <a:t> You cannot download more power. Software exponential curves must eventually submit to physical power generation constraints.</a:t>
            </a:r>
          </a:p>
          <a:p>
            <a:endParaRPr lang="en-US" dirty="0"/>
          </a:p>
        </p:txBody>
      </p:sp>
      <p:sp>
        <p:nvSpPr>
          <p:cNvPr id="4" name="Slide Number Placeholder 3"/>
          <p:cNvSpPr>
            <a:spLocks noGrp="1"/>
          </p:cNvSpPr>
          <p:nvPr>
            <p:ph type="sldNum" sz="quarter" idx="5"/>
          </p:nvPr>
        </p:nvSpPr>
        <p:spPr/>
        <p:txBody>
          <a:bodyPr/>
          <a:lstStyle/>
          <a:p>
            <a:fld id="{E5FBB059-F6DE-497C-BBBF-FED9A69801B8}" type="slidenum">
              <a:rPr lang="en-US" smtClean="0"/>
              <a:t>6</a:t>
            </a:fld>
            <a:endParaRPr lang="en-US"/>
          </a:p>
        </p:txBody>
      </p:sp>
    </p:spTree>
    <p:extLst>
      <p:ext uri="{BB962C8B-B14F-4D97-AF65-F5344CB8AC3E}">
        <p14:creationId xmlns:p14="http://schemas.microsoft.com/office/powerpoint/2010/main" val="3775126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Pitch (Left Cycle):</a:t>
            </a:r>
            <a:r>
              <a:rPr lang="en-US" sz="1200" kern="1200" dirty="0">
                <a:solidFill>
                  <a:schemeClr val="tx1"/>
                </a:solidFill>
                <a:effectLst/>
                <a:latin typeface="+mn-lt"/>
                <a:ea typeface="+mn-ea"/>
                <a:cs typeface="+mn-cs"/>
              </a:rPr>
              <a:t> A city allocates $70M to open 5 municipally owned grocery stores offering citizens $30\%$ price discounts. It generates immediate, highly visible political approval and demands for expansion. </a:t>
            </a:r>
          </a:p>
          <a:p>
            <a:r>
              <a:rPr lang="en-US" sz="1200" b="1" kern="1200" dirty="0">
                <a:solidFill>
                  <a:schemeClr val="tx1"/>
                </a:solidFill>
                <a:effectLst/>
                <a:latin typeface="+mn-lt"/>
                <a:ea typeface="+mn-ea"/>
                <a:cs typeface="+mn-cs"/>
              </a:rPr>
              <a:t>The Friction (Right Cycle):</a:t>
            </a:r>
            <a:r>
              <a:rPr lang="en-US" sz="1200" kern="1200" dirty="0">
                <a:solidFill>
                  <a:schemeClr val="tx1"/>
                </a:solidFill>
                <a:effectLst/>
                <a:latin typeface="+mn-lt"/>
                <a:ea typeface="+mn-ea"/>
                <a:cs typeface="+mn-cs"/>
              </a:rPr>
              <a:t> Subsidized price cuts create distortionary economic feedback loops: </a:t>
            </a:r>
          </a:p>
          <a:p>
            <a:r>
              <a:rPr lang="en-US" sz="1200" kern="1200" dirty="0">
                <a:solidFill>
                  <a:schemeClr val="tx1"/>
                </a:solidFill>
                <a:effectLst/>
                <a:latin typeface="+mn-lt"/>
                <a:ea typeface="+mn-ea"/>
                <a:cs typeface="+mn-cs"/>
              </a:rPr>
              <a:t>Unsubsidized private grocers operating on thin margins fail. </a:t>
            </a:r>
          </a:p>
          <a:p>
            <a:r>
              <a:rPr lang="en-US" sz="1200" kern="1200" dirty="0">
                <a:solidFill>
                  <a:schemeClr val="tx1"/>
                </a:solidFill>
                <a:effectLst/>
                <a:latin typeface="+mn-lt"/>
                <a:ea typeface="+mn-ea"/>
                <a:cs typeface="+mn-cs"/>
              </a:rPr>
              <a:t>Inventory at discount stores rapidly depletes due to artificially high demand. </a:t>
            </a:r>
          </a:p>
          <a:p>
            <a:r>
              <a:rPr lang="en-US" sz="1200" kern="1200" dirty="0">
                <a:solidFill>
                  <a:schemeClr val="tx1"/>
                </a:solidFill>
                <a:effectLst/>
                <a:latin typeface="+mn-lt"/>
                <a:ea typeface="+mn-ea"/>
                <a:cs typeface="+mn-cs"/>
              </a:rPr>
              <a:t>Municipal deficits increase to fund store expansion and restocking. </a:t>
            </a:r>
          </a:p>
          <a:p>
            <a:r>
              <a:rPr lang="en-US" sz="1200" kern="1200" dirty="0">
                <a:solidFill>
                  <a:schemeClr val="tx1"/>
                </a:solidFill>
                <a:effectLst/>
                <a:latin typeface="+mn-lt"/>
                <a:ea typeface="+mn-ea"/>
                <a:cs typeface="+mn-cs"/>
              </a:rPr>
              <a:t>Local borrowing or money creation amplifies broader inflationary pressures. </a:t>
            </a:r>
          </a:p>
          <a:p>
            <a:r>
              <a:rPr lang="en-US" sz="1200" b="1" kern="1200" dirty="0">
                <a:solidFill>
                  <a:schemeClr val="tx1"/>
                </a:solidFill>
                <a:effectLst/>
                <a:latin typeface="+mn-lt"/>
                <a:ea typeface="+mn-ea"/>
                <a:cs typeface="+mn-cs"/>
              </a:rPr>
              <a:t>Core Takeaway:</a:t>
            </a:r>
            <a:r>
              <a:rPr lang="en-US" sz="1200" kern="1200" dirty="0">
                <a:solidFill>
                  <a:schemeClr val="tx1"/>
                </a:solidFill>
                <a:effectLst/>
                <a:latin typeface="+mn-lt"/>
                <a:ea typeface="+mn-ea"/>
                <a:cs typeface="+mn-cs"/>
              </a:rPr>
              <a:t> Short-term interventionist price relief can act as a political marketing vehicle, but ignoring underlying supply-side friction causes economic degradation over time. </a:t>
            </a:r>
          </a:p>
          <a:p>
            <a:endParaRPr lang="en-US" dirty="0"/>
          </a:p>
        </p:txBody>
      </p:sp>
      <p:sp>
        <p:nvSpPr>
          <p:cNvPr id="4" name="Slide Number Placeholder 3"/>
          <p:cNvSpPr>
            <a:spLocks noGrp="1"/>
          </p:cNvSpPr>
          <p:nvPr>
            <p:ph type="sldNum" sz="quarter" idx="5"/>
          </p:nvPr>
        </p:nvSpPr>
        <p:spPr/>
        <p:txBody>
          <a:bodyPr/>
          <a:lstStyle/>
          <a:p>
            <a:fld id="{E5FBB059-F6DE-497C-BBBF-FED9A69801B8}" type="slidenum">
              <a:rPr lang="en-US" smtClean="0"/>
              <a:t>7</a:t>
            </a:fld>
            <a:endParaRPr lang="en-US"/>
          </a:p>
        </p:txBody>
      </p:sp>
    </p:spTree>
    <p:extLst>
      <p:ext uri="{BB962C8B-B14F-4D97-AF65-F5344CB8AC3E}">
        <p14:creationId xmlns:p14="http://schemas.microsoft.com/office/powerpoint/2010/main" val="1532852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Drosophila Mapping:</a:t>
            </a:r>
            <a:r>
              <a:rPr lang="en-US" sz="1200" kern="1200" dirty="0">
                <a:solidFill>
                  <a:schemeClr val="tx1"/>
                </a:solidFill>
                <a:effectLst/>
                <a:latin typeface="+mn-lt"/>
                <a:ea typeface="+mn-ea"/>
                <a:cs typeface="+mn-cs"/>
              </a:rPr>
              <a:t> In October 2024, scientists fully mapped the fruit fly brain—139,000 neurons and 50 million synapses. </a:t>
            </a:r>
          </a:p>
          <a:p>
            <a:r>
              <a:rPr lang="en-US" sz="1200" b="1" kern="1200" dirty="0">
                <a:solidFill>
                  <a:schemeClr val="tx1"/>
                </a:solidFill>
                <a:effectLst/>
                <a:latin typeface="+mn-lt"/>
                <a:ea typeface="+mn-ea"/>
                <a:cs typeface="+mn-cs"/>
              </a:rPr>
              <a:t>The Breakthrough:</a:t>
            </a:r>
            <a:r>
              <a:rPr lang="en-US" sz="1200" kern="1200" dirty="0">
                <a:solidFill>
                  <a:schemeClr val="tx1"/>
                </a:solidFill>
                <a:effectLst/>
                <a:latin typeface="+mn-lt"/>
                <a:ea typeface="+mn-ea"/>
                <a:cs typeface="+mn-cs"/>
              </a:rPr>
              <a:t> Standard 3D Euclidean spatial modeling failed to map the brain's functional geometry. Researchers discovered that biological neural connectivity naturally exists in </a:t>
            </a:r>
            <a:r>
              <a:rPr lang="en-US" sz="1200" b="1" kern="1200" dirty="0">
                <a:solidFill>
                  <a:schemeClr val="tx1"/>
                </a:solidFill>
                <a:effectLst/>
                <a:latin typeface="+mn-lt"/>
                <a:ea typeface="+mn-ea"/>
                <a:cs typeface="+mn-cs"/>
              </a:rPr>
              <a:t>64-dimensional hyperbolic space</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Silicon vs. Biology Comparison:</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Dimensionality:</a:t>
            </a:r>
            <a:r>
              <a:rPr lang="en-US" sz="1200" kern="1200" dirty="0">
                <a:solidFill>
                  <a:schemeClr val="tx1"/>
                </a:solidFill>
                <a:effectLst/>
                <a:latin typeface="+mn-lt"/>
                <a:ea typeface="+mn-ea"/>
                <a:cs typeface="+mn-cs"/>
              </a:rPr>
              <a:t> Silicon relies on fixed linear vector embeddings; biological brains utilize high-dimensional hyperbolic geometries. </a:t>
            </a:r>
          </a:p>
          <a:p>
            <a:r>
              <a:rPr lang="en-US" sz="1200" b="1" kern="1200" dirty="0">
                <a:solidFill>
                  <a:schemeClr val="tx1"/>
                </a:solidFill>
                <a:effectLst/>
                <a:latin typeface="+mn-lt"/>
                <a:ea typeface="+mn-ea"/>
                <a:cs typeface="+mn-cs"/>
              </a:rPr>
              <a:t>Efficiency:</a:t>
            </a:r>
            <a:r>
              <a:rPr lang="en-US" sz="1200" kern="1200" dirty="0">
                <a:solidFill>
                  <a:schemeClr val="tx1"/>
                </a:solidFill>
                <a:effectLst/>
                <a:latin typeface="+mn-lt"/>
                <a:ea typeface="+mn-ea"/>
                <a:cs typeface="+mn-cs"/>
              </a:rPr>
              <a:t> Silicon requires gigawatt-scale data centers to force intelligence; a single biological cell houses 10 billion proteins and runs complex intelligence on mere calories. </a:t>
            </a:r>
          </a:p>
          <a:p>
            <a:r>
              <a:rPr lang="en-US" sz="1200" b="1" kern="1200" dirty="0">
                <a:solidFill>
                  <a:schemeClr val="tx1"/>
                </a:solidFill>
                <a:effectLst/>
                <a:latin typeface="+mn-lt"/>
                <a:ea typeface="+mn-ea"/>
                <a:cs typeface="+mn-cs"/>
              </a:rPr>
              <a:t>Goal Seeking:</a:t>
            </a:r>
            <a:r>
              <a:rPr lang="en-US" sz="1200" kern="1200" dirty="0">
                <a:solidFill>
                  <a:schemeClr val="tx1"/>
                </a:solidFill>
                <a:effectLst/>
                <a:latin typeface="+mn-lt"/>
                <a:ea typeface="+mn-ea"/>
                <a:cs typeface="+mn-cs"/>
              </a:rPr>
              <a:t> Silicon relies on brittle prompt optimization susceptible to exploits; biological intelligence naturally couples perception, survival, and physical agency. </a:t>
            </a:r>
          </a:p>
          <a:p>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Silicon scales through brute force compute; nature scales through multidimensional structural efficiency. </a:t>
            </a:r>
          </a:p>
          <a:p>
            <a:endParaRPr lang="en-US" dirty="0"/>
          </a:p>
        </p:txBody>
      </p:sp>
      <p:sp>
        <p:nvSpPr>
          <p:cNvPr id="4" name="Slide Number Placeholder 3"/>
          <p:cNvSpPr>
            <a:spLocks noGrp="1"/>
          </p:cNvSpPr>
          <p:nvPr>
            <p:ph type="sldNum" sz="quarter" idx="5"/>
          </p:nvPr>
        </p:nvSpPr>
        <p:spPr/>
        <p:txBody>
          <a:bodyPr/>
          <a:lstStyle/>
          <a:p>
            <a:fld id="{E5FBB059-F6DE-497C-BBBF-FED9A69801B8}" type="slidenum">
              <a:rPr lang="en-US" smtClean="0"/>
              <a:t>8</a:t>
            </a:fld>
            <a:endParaRPr lang="en-US"/>
          </a:p>
        </p:txBody>
      </p:sp>
    </p:spTree>
    <p:extLst>
      <p:ext uri="{BB962C8B-B14F-4D97-AF65-F5344CB8AC3E}">
        <p14:creationId xmlns:p14="http://schemas.microsoft.com/office/powerpoint/2010/main" val="159779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Bringing It All Together:</a:t>
            </a:r>
            <a:r>
              <a:rPr lang="en-US" sz="1200" kern="1200" dirty="0">
                <a:solidFill>
                  <a:schemeClr val="tx1"/>
                </a:solidFill>
                <a:effectLst/>
                <a:latin typeface="+mn-lt"/>
                <a:ea typeface="+mn-ea"/>
                <a:cs typeface="+mn-cs"/>
              </a:rPr>
              <a:t> The core theme across economics, AI, IP, energy, and biology is the collision between unbounded theoretical expansion and bounded physical reality. </a:t>
            </a:r>
          </a:p>
          <a:p>
            <a:r>
              <a:rPr lang="en-US" sz="1200" b="1" kern="1200" dirty="0">
                <a:solidFill>
                  <a:schemeClr val="tx1"/>
                </a:solidFill>
                <a:effectLst/>
                <a:latin typeface="+mn-lt"/>
                <a:ea typeface="+mn-ea"/>
                <a:cs typeface="+mn-cs"/>
              </a:rPr>
              <a:t>The Elements: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Infinite Intelligence Demand:</a:t>
            </a:r>
            <a:r>
              <a:rPr lang="en-US" sz="1200" kern="1200" dirty="0">
                <a:solidFill>
                  <a:schemeClr val="tx1"/>
                </a:solidFill>
                <a:effectLst/>
                <a:latin typeface="+mn-lt"/>
                <a:ea typeface="+mn-ea"/>
                <a:cs typeface="+mn-cs"/>
              </a:rPr>
              <a:t> Autonomous agents, continuous model pre-training, and universal automation goals. </a:t>
            </a:r>
          </a:p>
          <a:p>
            <a:r>
              <a:rPr lang="en-US" sz="1200" b="1" kern="1200" dirty="0">
                <a:solidFill>
                  <a:schemeClr val="tx1"/>
                </a:solidFill>
                <a:effectLst/>
                <a:latin typeface="+mn-lt"/>
                <a:ea typeface="+mn-ea"/>
                <a:cs typeface="+mn-cs"/>
              </a:rPr>
              <a:t>Finite Physical Resources:</a:t>
            </a:r>
            <a:r>
              <a:rPr lang="en-US" sz="1200" kern="1200" dirty="0">
                <a:solidFill>
                  <a:schemeClr val="tx1"/>
                </a:solidFill>
                <a:effectLst/>
                <a:latin typeface="+mn-lt"/>
                <a:ea typeface="+mn-ea"/>
                <a:cs typeface="+mn-cs"/>
              </a:rPr>
              <a:t> Energy grids, copyright limits, chip fabrication throughput. </a:t>
            </a:r>
          </a:p>
          <a:p>
            <a:r>
              <a:rPr lang="en-US" sz="1200" b="1" kern="1200" dirty="0">
                <a:solidFill>
                  <a:schemeClr val="tx1"/>
                </a:solidFill>
                <a:effectLst/>
                <a:latin typeface="+mn-lt"/>
                <a:ea typeface="+mn-ea"/>
                <a:cs typeface="+mn-cs"/>
              </a:rPr>
              <a:t>Fragile Macro Structures:</a:t>
            </a:r>
            <a:r>
              <a:rPr lang="en-US" sz="1200" kern="1200" dirty="0">
                <a:solidFill>
                  <a:schemeClr val="tx1"/>
                </a:solidFill>
                <a:effectLst/>
                <a:latin typeface="+mn-lt"/>
                <a:ea typeface="+mn-ea"/>
                <a:cs typeface="+mn-cs"/>
              </a:rPr>
              <a:t> Highly leveraged portfolios, $2T annual deficits, and interventionist market distortions. </a:t>
            </a:r>
          </a:p>
          <a:p>
            <a:r>
              <a:rPr lang="en-US" sz="1200" b="1" kern="1200" dirty="0">
                <a:solidFill>
                  <a:schemeClr val="tx1"/>
                </a:solidFill>
                <a:effectLst/>
                <a:latin typeface="+mn-lt"/>
                <a:ea typeface="+mn-ea"/>
                <a:cs typeface="+mn-cs"/>
              </a:rPr>
              <a:t>The Friction Zone:</a:t>
            </a:r>
            <a:r>
              <a:rPr lang="en-US" sz="1200" kern="1200" dirty="0">
                <a:solidFill>
                  <a:schemeClr val="tx1"/>
                </a:solidFill>
                <a:effectLst/>
                <a:latin typeface="+mn-lt"/>
                <a:ea typeface="+mn-ea"/>
                <a:cs typeface="+mn-cs"/>
              </a:rPr>
              <a:t> The intersection where theoretical models break. This is where margin calls occur, copyright lawsuits are settled, regulatory capture is attempted, and debt yields spike. </a:t>
            </a:r>
          </a:p>
          <a:p>
            <a:r>
              <a:rPr lang="en-US" sz="1200" b="1" kern="1200" dirty="0">
                <a:solidFill>
                  <a:schemeClr val="tx1"/>
                </a:solidFill>
                <a:effectLst/>
                <a:latin typeface="+mn-lt"/>
                <a:ea typeface="+mn-ea"/>
                <a:cs typeface="+mn-cs"/>
              </a:rPr>
              <a:t>Final Thought:</a:t>
            </a:r>
            <a:r>
              <a:rPr lang="en-US" sz="1200" kern="1200" dirty="0">
                <a:solidFill>
                  <a:schemeClr val="tx1"/>
                </a:solidFill>
                <a:effectLst/>
                <a:latin typeface="+mn-lt"/>
                <a:ea typeface="+mn-ea"/>
                <a:cs typeface="+mn-cs"/>
              </a:rPr>
              <a:t> Intelligence may scale exponentially in theory, but it must ultimately operate within a physical and financial universe that does not.</a:t>
            </a:r>
          </a:p>
          <a:p>
            <a:endParaRPr lang="en-US" dirty="0"/>
          </a:p>
        </p:txBody>
      </p:sp>
      <p:sp>
        <p:nvSpPr>
          <p:cNvPr id="4" name="Slide Number Placeholder 3"/>
          <p:cNvSpPr>
            <a:spLocks noGrp="1"/>
          </p:cNvSpPr>
          <p:nvPr>
            <p:ph type="sldNum" sz="quarter" idx="5"/>
          </p:nvPr>
        </p:nvSpPr>
        <p:spPr/>
        <p:txBody>
          <a:bodyPr/>
          <a:lstStyle/>
          <a:p>
            <a:fld id="{E5FBB059-F6DE-497C-BBBF-FED9A69801B8}" type="slidenum">
              <a:rPr lang="en-US" smtClean="0"/>
              <a:t>9</a:t>
            </a:fld>
            <a:endParaRPr lang="en-US"/>
          </a:p>
        </p:txBody>
      </p:sp>
    </p:spTree>
    <p:extLst>
      <p:ext uri="{BB962C8B-B14F-4D97-AF65-F5344CB8AC3E}">
        <p14:creationId xmlns:p14="http://schemas.microsoft.com/office/powerpoint/2010/main" val="2590195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Macro Counterwinds: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Treasury Yield Gravity Well:</a:t>
            </a:r>
            <a:r>
              <a:rPr lang="en-US" sz="1200" kern="1200" dirty="0">
                <a:solidFill>
                  <a:schemeClr val="tx1"/>
                </a:solidFill>
                <a:effectLst/>
                <a:latin typeface="+mn-lt"/>
                <a:ea typeface="+mn-ea"/>
                <a:cs typeface="+mn-cs"/>
              </a:rPr>
              <a:t> With 30-year yields at $5.2\%$, high-valuation semiconductor equities faces re-rating pressure as capital migrates toward safer returns.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Deficit Pressures:</a:t>
            </a:r>
            <a:r>
              <a:rPr lang="en-US" sz="1200" kern="1200" dirty="0">
                <a:solidFill>
                  <a:schemeClr val="tx1"/>
                </a:solidFill>
                <a:effectLst/>
                <a:latin typeface="+mn-lt"/>
                <a:ea typeface="+mn-ea"/>
                <a:cs typeface="+mn-cs"/>
              </a:rPr>
              <a:t> $2 trillion annual deficits sustain high cost of capital across all corporate capital expenditures.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Market Shock &amp; Leverage Cascade:</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Semiconductor Bear Market:</a:t>
            </a:r>
            <a:r>
              <a:rPr lang="en-US" sz="1200" kern="1200" dirty="0">
                <a:solidFill>
                  <a:schemeClr val="tx1"/>
                </a:solidFill>
                <a:effectLst/>
                <a:latin typeface="+mn-lt"/>
                <a:ea typeface="+mn-ea"/>
                <a:cs typeface="+mn-cs"/>
              </a:rPr>
              <a:t> The Philadelphia Semiconductor Index suffered a $20\%$ drop, wiping out over $1 trillion in market capitalization.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$3.5\times$ Leverage Collapse:</a:t>
            </a:r>
            <a:r>
              <a:rPr lang="en-US" sz="1200" kern="1200" dirty="0">
                <a:solidFill>
                  <a:schemeClr val="tx1"/>
                </a:solidFill>
                <a:effectLst/>
                <a:latin typeface="+mn-lt"/>
                <a:ea typeface="+mn-ea"/>
                <a:cs typeface="+mn-cs"/>
              </a:rPr>
              <a:t> Positions carrying $3.5\times$ leverage turned moderate sector pullbacks into total liquidations.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International Spillovers:</a:t>
            </a:r>
            <a:r>
              <a:rPr lang="en-US" sz="1200" kern="1200" dirty="0">
                <a:solidFill>
                  <a:schemeClr val="tx1"/>
                </a:solidFill>
                <a:effectLst/>
                <a:latin typeface="+mn-lt"/>
                <a:ea typeface="+mn-ea"/>
                <a:cs typeface="+mn-cs"/>
              </a:rPr>
              <a:t> The KOSPI index dropped $40\%$ in 40 days, triggering over 1.2 million margin calls across South Korean retail and institutional accounts.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Strategic Divide:</a:t>
            </a:r>
            <a:r>
              <a:rPr lang="en-US" sz="1200" kern="1200" dirty="0">
                <a:solidFill>
                  <a:schemeClr val="tx1"/>
                </a:solidFill>
                <a:effectLst/>
                <a:latin typeface="+mn-lt"/>
                <a:ea typeface="+mn-ea"/>
                <a:cs typeface="+mn-cs"/>
              </a:rPr>
              <a:t> While Western frontier models face mounting capital costs and high token pricing, open-source alternatives (like DeepSeek and Qwen) are delivering inference at up to $90\%$ lower costs, reshaping global enterprise adoption dynamics.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E5FBB059-F6DE-497C-BBBF-FED9A69801B8}" type="slidenum">
              <a:rPr lang="en-US" smtClean="0"/>
              <a:t>10</a:t>
            </a:fld>
            <a:endParaRPr lang="en-US"/>
          </a:p>
        </p:txBody>
      </p:sp>
    </p:spTree>
    <p:extLst>
      <p:ext uri="{BB962C8B-B14F-4D97-AF65-F5344CB8AC3E}">
        <p14:creationId xmlns:p14="http://schemas.microsoft.com/office/powerpoint/2010/main" val="34744903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Connecting the Dots:</a:t>
            </a:r>
            <a:r>
              <a:rPr lang="en-US" sz="1200" kern="1200" dirty="0">
                <a:solidFill>
                  <a:schemeClr val="tx1"/>
                </a:solidFill>
                <a:effectLst/>
                <a:latin typeface="+mn-lt"/>
                <a:ea typeface="+mn-ea"/>
                <a:cs typeface="+mn-cs"/>
              </a:rPr>
              <a:t> "This brings us to the core synthesis. We have </a:t>
            </a:r>
            <a:r>
              <a:rPr lang="en-US" sz="1200" b="1" kern="1200" dirty="0">
                <a:solidFill>
                  <a:schemeClr val="tx1"/>
                </a:solidFill>
                <a:effectLst/>
                <a:latin typeface="+mn-lt"/>
                <a:ea typeface="+mn-ea"/>
                <a:cs typeface="+mn-cs"/>
              </a:rPr>
              <a:t>Infinite Intelligence Demand</a:t>
            </a:r>
            <a:r>
              <a:rPr lang="en-US" sz="1200" kern="1200" dirty="0">
                <a:solidFill>
                  <a:schemeClr val="tx1"/>
                </a:solidFill>
                <a:effectLst/>
                <a:latin typeface="+mn-lt"/>
                <a:ea typeface="+mn-ea"/>
                <a:cs typeface="+mn-cs"/>
              </a:rPr>
              <a:t> colliding with </a:t>
            </a:r>
            <a:r>
              <a:rPr lang="en-US" sz="1200" b="1" kern="1200" dirty="0">
                <a:solidFill>
                  <a:schemeClr val="tx1"/>
                </a:solidFill>
                <a:effectLst/>
                <a:latin typeface="+mn-lt"/>
                <a:ea typeface="+mn-ea"/>
                <a:cs typeface="+mn-cs"/>
              </a:rPr>
              <a:t>Finite Physical Resources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Fragile Economic Structures</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Defining the Friction Zone:</a:t>
            </a:r>
            <a:r>
              <a:rPr lang="en-US" sz="1200" kern="1200" dirty="0">
                <a:solidFill>
                  <a:schemeClr val="tx1"/>
                </a:solidFill>
                <a:effectLst/>
                <a:latin typeface="+mn-lt"/>
                <a:ea typeface="+mn-ea"/>
                <a:cs typeface="+mn-cs"/>
              </a:rPr>
              <a:t> "The intersection of these three forces is the 'Friction Zone'. This is where leverage margin calls get triggered, $1.5B IP lawsuits occur, entrenched incumbents lobby for regulatory capture, and government deficits explode." </a:t>
            </a:r>
          </a:p>
          <a:p>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"Digital intelligence may scale exponentially in theory, but it is bound to a physical and financial universe that operates under strictly non-exponential rules." </a:t>
            </a:r>
          </a:p>
          <a:p>
            <a:endParaRPr lang="en-US" dirty="0"/>
          </a:p>
        </p:txBody>
      </p:sp>
      <p:sp>
        <p:nvSpPr>
          <p:cNvPr id="4" name="Slide Number Placeholder 3"/>
          <p:cNvSpPr>
            <a:spLocks noGrp="1"/>
          </p:cNvSpPr>
          <p:nvPr>
            <p:ph type="sldNum" sz="quarter" idx="5"/>
          </p:nvPr>
        </p:nvSpPr>
        <p:spPr/>
        <p:txBody>
          <a:bodyPr/>
          <a:lstStyle/>
          <a:p>
            <a:fld id="{E5FBB059-F6DE-497C-BBBF-FED9A69801B8}" type="slidenum">
              <a:rPr lang="en-US" smtClean="0"/>
              <a:t>11</a:t>
            </a:fld>
            <a:endParaRPr lang="en-US"/>
          </a:p>
        </p:txBody>
      </p:sp>
    </p:spTree>
    <p:extLst>
      <p:ext uri="{BB962C8B-B14F-4D97-AF65-F5344CB8AC3E}">
        <p14:creationId xmlns:p14="http://schemas.microsoft.com/office/powerpoint/2010/main" val="18807331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Recap of Key Forces: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Macro Gravity:</a:t>
            </a:r>
            <a:r>
              <a:rPr lang="en-US" sz="1200" kern="1200" dirty="0">
                <a:solidFill>
                  <a:schemeClr val="tx1"/>
                </a:solidFill>
                <a:effectLst/>
                <a:latin typeface="+mn-lt"/>
                <a:ea typeface="+mn-ea"/>
                <a:cs typeface="+mn-cs"/>
              </a:rPr>
              <a:t> 5.2% Treasury yields and $2T annual deficits place a firm cap on asset valuations. </a:t>
            </a:r>
          </a:p>
          <a:p>
            <a:r>
              <a:rPr lang="en-US" sz="1200" b="1" kern="1200" dirty="0">
                <a:solidFill>
                  <a:schemeClr val="tx1"/>
                </a:solidFill>
                <a:effectLst/>
                <a:latin typeface="+mn-lt"/>
                <a:ea typeface="+mn-ea"/>
                <a:cs typeface="+mn-cs"/>
              </a:rPr>
              <a:t>Leverage Cascades:</a:t>
            </a:r>
            <a:r>
              <a:rPr lang="en-US" sz="1200" kern="1200" dirty="0">
                <a:solidFill>
                  <a:schemeClr val="tx1"/>
                </a:solidFill>
                <a:effectLst/>
                <a:latin typeface="+mn-lt"/>
                <a:ea typeface="+mn-ea"/>
                <a:cs typeface="+mn-cs"/>
              </a:rPr>
              <a:t> Over-leveraged bets in high-conviction tech trends amplify market sell-offs into systemic liquidations, as seen in the Philadelphia Semiconductor Index shedding $1T+ in market cap. </a:t>
            </a:r>
          </a:p>
          <a:p>
            <a:r>
              <a:rPr lang="en-US" sz="1200" b="1" kern="1200" dirty="0">
                <a:solidFill>
                  <a:schemeClr val="tx1"/>
                </a:solidFill>
                <a:effectLst/>
                <a:latin typeface="+mn-lt"/>
                <a:ea typeface="+mn-ea"/>
                <a:cs typeface="+mn-cs"/>
              </a:rPr>
              <a:t>Disruptive Pricing:</a:t>
            </a:r>
            <a:r>
              <a:rPr lang="en-US" sz="1200" kern="1200" dirty="0">
                <a:solidFill>
                  <a:schemeClr val="tx1"/>
                </a:solidFill>
                <a:effectLst/>
                <a:latin typeface="+mn-lt"/>
                <a:ea typeface="+mn-ea"/>
                <a:cs typeface="+mn-cs"/>
              </a:rPr>
              <a:t> Open-source architectures providing 90% cost reductions challenge closed-model revenue streams. </a:t>
            </a:r>
          </a:p>
          <a:p>
            <a:r>
              <a:rPr lang="en-US" sz="1200" b="1" kern="1200" dirty="0">
                <a:solidFill>
                  <a:schemeClr val="tx1"/>
                </a:solidFill>
                <a:effectLst/>
                <a:latin typeface="+mn-lt"/>
                <a:ea typeface="+mn-ea"/>
                <a:cs typeface="+mn-cs"/>
              </a:rPr>
              <a:t>Closing Thought:</a:t>
            </a:r>
            <a:r>
              <a:rPr lang="en-US" sz="1200" kern="1200" dirty="0">
                <a:solidFill>
                  <a:schemeClr val="tx1"/>
                </a:solidFill>
                <a:effectLst/>
                <a:latin typeface="+mn-lt"/>
                <a:ea typeface="+mn-ea"/>
                <a:cs typeface="+mn-cs"/>
              </a:rPr>
              <a:t> "Navigating the next decade isn't just about betting on raw technological acceleration. It's about accurately pricing the physical, structural, and financial friction that standing in its way. Thank you."</a:t>
            </a:r>
          </a:p>
          <a:p>
            <a:endParaRPr lang="en-US" dirty="0"/>
          </a:p>
        </p:txBody>
      </p:sp>
      <p:sp>
        <p:nvSpPr>
          <p:cNvPr id="4" name="Slide Number Placeholder 3"/>
          <p:cNvSpPr>
            <a:spLocks noGrp="1"/>
          </p:cNvSpPr>
          <p:nvPr>
            <p:ph type="sldNum" sz="quarter" idx="5"/>
          </p:nvPr>
        </p:nvSpPr>
        <p:spPr/>
        <p:txBody>
          <a:bodyPr/>
          <a:lstStyle/>
          <a:p>
            <a:fld id="{E5FBB059-F6DE-497C-BBBF-FED9A69801B8}" type="slidenum">
              <a:rPr lang="en-US" smtClean="0"/>
              <a:t>12</a:t>
            </a:fld>
            <a:endParaRPr lang="en-US"/>
          </a:p>
        </p:txBody>
      </p:sp>
    </p:spTree>
    <p:extLst>
      <p:ext uri="{BB962C8B-B14F-4D97-AF65-F5344CB8AC3E}">
        <p14:creationId xmlns:p14="http://schemas.microsoft.com/office/powerpoint/2010/main" val="2249204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949F5F-A2CE-AD23-0027-0CA2AC2A1037}"/>
              </a:ext>
            </a:extLst>
          </p:cNvPr>
          <p:cNvSpPr>
            <a:spLocks noGrp="1"/>
          </p:cNvSpPr>
          <p:nvPr>
            <p:ph type="dt" sz="half" idx="10"/>
          </p:nvPr>
        </p:nvSpPr>
        <p:spPr/>
        <p:txBody>
          <a:bodyPr/>
          <a:lstStyle/>
          <a:p>
            <a:fld id="{EADE561E-02D2-496A-9F6F-EC529508F2FE}" type="datetimeFigureOut">
              <a:rPr lang="en-US" smtClean="0"/>
              <a:t>10/19/2026</a:t>
            </a:fld>
            <a:endParaRPr lang="en-US"/>
          </a:p>
        </p:txBody>
      </p:sp>
      <p:sp>
        <p:nvSpPr>
          <p:cNvPr id="3" name="Footer Placeholder 2">
            <a:extLst>
              <a:ext uri="{FF2B5EF4-FFF2-40B4-BE49-F238E27FC236}">
                <a16:creationId xmlns:a16="http://schemas.microsoft.com/office/drawing/2014/main" id="{0E911338-B1DD-ECFB-E674-90FBF02904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82C1D1-538B-8F9E-F6D8-7A759032E063}"/>
              </a:ext>
            </a:extLst>
          </p:cNvPr>
          <p:cNvSpPr>
            <a:spLocks noGrp="1"/>
          </p:cNvSpPr>
          <p:nvPr>
            <p:ph type="sldNum" sz="quarter" idx="12"/>
          </p:nvPr>
        </p:nvSpPr>
        <p:spPr/>
        <p:txBody>
          <a:bodyPr/>
          <a:lstStyle/>
          <a:p>
            <a:fld id="{91259D20-4596-44C3-A29B-8A6A2EDD02E3}" type="slidenum">
              <a:rPr lang="en-US" smtClean="0"/>
              <a:t>‹#›</a:t>
            </a:fld>
            <a:endParaRPr lang="en-US"/>
          </a:p>
        </p:txBody>
      </p:sp>
    </p:spTree>
    <p:extLst>
      <p:ext uri="{BB962C8B-B14F-4D97-AF65-F5344CB8AC3E}">
        <p14:creationId xmlns:p14="http://schemas.microsoft.com/office/powerpoint/2010/main" val="83969124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EACF8D-4E79-CDE8-E6AA-63897AACEB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821597-C01D-7C5F-8822-7E03C6253F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B05FBD-FAE4-99C3-ADAB-83EA815A07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DE561E-02D2-496A-9F6F-EC529508F2FE}" type="datetimeFigureOut">
              <a:rPr lang="en-US" smtClean="0"/>
              <a:t>10/19/2026</a:t>
            </a:fld>
            <a:endParaRPr lang="en-US"/>
          </a:p>
        </p:txBody>
      </p:sp>
      <p:sp>
        <p:nvSpPr>
          <p:cNvPr id="5" name="Footer Placeholder 4">
            <a:extLst>
              <a:ext uri="{FF2B5EF4-FFF2-40B4-BE49-F238E27FC236}">
                <a16:creationId xmlns:a16="http://schemas.microsoft.com/office/drawing/2014/main" id="{D7B6EAC4-C9FC-DAAB-56A5-591FA5739F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195FA0C-8A70-8458-BFB5-C9E04F7BE9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259D20-4596-44C3-A29B-8A6A2EDD02E3}" type="slidenum">
              <a:rPr lang="en-US" smtClean="0"/>
              <a:t>‹#›</a:t>
            </a:fld>
            <a:endParaRPr lang="en-US"/>
          </a:p>
        </p:txBody>
      </p:sp>
    </p:spTree>
    <p:extLst>
      <p:ext uri="{BB962C8B-B14F-4D97-AF65-F5344CB8AC3E}">
        <p14:creationId xmlns:p14="http://schemas.microsoft.com/office/powerpoint/2010/main" val="368077238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C9AE78E4-7A9C-4702-8303-084D4699B872}"/>
              </a:ext>
            </a:extLst>
          </p:cNvPr>
          <p:cNvPicPr>
            <a:picLocks noChangeAspect="1"/>
          </p:cNvPicPr>
          <p:nvPr/>
        </p:nvPicPr>
        <p:blipFill>
          <a:blip r:embed="rId3"/>
          <a:srcRect r="872" b="1"/>
          <a:stretch>
            <a:fillRect/>
          </a:stretch>
        </p:blipFill>
        <p:spPr>
          <a:xfrm>
            <a:off x="20" y="1282"/>
            <a:ext cx="12191980" cy="685671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241839-3715-76C5-1CC1-477A8E75491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9FD0A2-5F00-71B5-C94E-9905ED67E76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DCFBA9-B939-6454-B7B9-6615E83C329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D1DA4D-561D-8936-681A-6DE540DAAE7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1407E7-3AB8-8C03-1847-BD3C260819B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DC1BC3-D94A-2637-AE4C-EA466344CF9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C6F728-73D1-24B7-690B-359A86652CF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CEB39D-B85F-63D5-A737-22434CFB9F2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3D333E-61A4-281A-2644-48E60356BA7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0F7400-8D17-8361-0D8B-E61FE74823E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DBFF31-6EB5-AC8A-869C-2E26D3790E9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A49792-1196-081B-28CA-30BE3BF7A4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3780264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1789</Words>
  <Application>Microsoft Office PowerPoint</Application>
  <PresentationFormat>寬螢幕</PresentationFormat>
  <Paragraphs>84</Paragraphs>
  <Slides>13</Slides>
  <Notes>12</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2026-08-01T16:14:35Z</dcterms:created>
  <dcterms:modified xsi:type="dcterms:W3CDTF">2026-10-19T15:36:06Z</dcterms:modified>
</cp:coreProperties>
</file>