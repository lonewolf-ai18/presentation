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B655CB-D0FE-4BB0-83DE-FDEF4D5F6FA1}" v="20" dt="2026-08-24T01:32:57.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7934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24T01:37:52.055" v="162" actId="166"/>
      <pc:docMkLst>
        <pc:docMk/>
      </pc:docMkLst>
      <pc:sldChg chg="addSp delSp modSp mod modAnim modNotes modNotesTx">
        <pc:chgData name="Lai, Wilson" userId="2840974a-0d84-4886-90a9-9a3ed79f3a48" providerId="ADAL" clId="{9F23B798-9E84-4552-BA63-E776E805C424}" dt="2026-08-24T01:37:52.055" v="162" actId="166"/>
        <pc:sldMkLst>
          <pc:docMk/>
          <pc:sldMk cId="0" sldId="257"/>
        </pc:sldMkLst>
        <pc:spChg chg="add mod">
          <ac:chgData name="Lai, Wilson" userId="2840974a-0d84-4886-90a9-9a3ed79f3a48" providerId="ADAL" clId="{9F23B798-9E84-4552-BA63-E776E805C424}" dt="2026-08-23T13:19:28.676" v="9" actId="164"/>
          <ac:spMkLst>
            <pc:docMk/>
            <pc:sldMk cId="0" sldId="257"/>
            <ac:spMk id="5" creationId="{7A44D293-DC3E-C4FE-09FB-D7E8C20D3DEA}"/>
          </ac:spMkLst>
        </pc:spChg>
        <pc:grpChg chg="add mod">
          <ac:chgData name="Lai, Wilson" userId="2840974a-0d84-4886-90a9-9a3ed79f3a48" providerId="ADAL" clId="{9F23B798-9E84-4552-BA63-E776E805C424}" dt="2026-08-23T13:19:28.676" v="9" actId="164"/>
          <ac:grpSpMkLst>
            <pc:docMk/>
            <pc:sldMk cId="0" sldId="257"/>
            <ac:grpSpMk id="6" creationId="{73716656-5674-6313-43A0-836F301227A1}"/>
          </ac:grpSpMkLst>
        </pc:grpChg>
        <pc:picChg chg="del">
          <ac:chgData name="Lai, Wilson" userId="2840974a-0d84-4886-90a9-9a3ed79f3a48" providerId="ADAL" clId="{9F23B798-9E84-4552-BA63-E776E805C424}" dt="2026-08-23T15:41:52.711" v="10" actId="21"/>
          <ac:picMkLst>
            <pc:docMk/>
            <pc:sldMk cId="0" sldId="257"/>
            <ac:picMk id="2" creationId="{00000000-0000-0000-0000-000000000000}"/>
          </ac:picMkLst>
        </pc:picChg>
        <pc:picChg chg="add mod">
          <ac:chgData name="Lai, Wilson" userId="2840974a-0d84-4886-90a9-9a3ed79f3a48" providerId="ADAL" clId="{9F23B798-9E84-4552-BA63-E776E805C424}" dt="2026-08-23T13:19:28.676" v="9" actId="164"/>
          <ac:picMkLst>
            <pc:docMk/>
            <pc:sldMk cId="0" sldId="257"/>
            <ac:picMk id="3" creationId="{0F7B74C4-89AE-2189-5664-28941B4FFC37}"/>
          </ac:picMkLst>
        </pc:picChg>
        <pc:picChg chg="add ord">
          <ac:chgData name="Lai, Wilson" userId="2840974a-0d84-4886-90a9-9a3ed79f3a48" providerId="ADAL" clId="{9F23B798-9E84-4552-BA63-E776E805C424}" dt="2026-08-24T01:37:52.055" v="162" actId="166"/>
          <ac:picMkLst>
            <pc:docMk/>
            <pc:sldMk cId="0" sldId="257"/>
            <ac:picMk id="7" creationId="{C530DABC-F6B4-04EA-0290-43D54F0406FB}"/>
          </ac:picMkLst>
        </pc:picChg>
      </pc:sldChg>
      <pc:sldChg chg="addSp delSp mod modNotes modNotesTx">
        <pc:chgData name="Lai, Wilson" userId="2840974a-0d84-4886-90a9-9a3ed79f3a48" providerId="ADAL" clId="{9F23B798-9E84-4552-BA63-E776E805C424}" dt="2026-08-24T01:33:26.832" v="69" actId="14"/>
        <pc:sldMkLst>
          <pc:docMk/>
          <pc:sldMk cId="0" sldId="258"/>
        </pc:sldMkLst>
        <pc:picChg chg="del">
          <ac:chgData name="Lai, Wilson" userId="2840974a-0d84-4886-90a9-9a3ed79f3a48" providerId="ADAL" clId="{9F23B798-9E84-4552-BA63-E776E805C424}" dt="2026-08-23T15:42:03.614" v="12" actId="21"/>
          <ac:picMkLst>
            <pc:docMk/>
            <pc:sldMk cId="0" sldId="258"/>
            <ac:picMk id="2" creationId="{00000000-0000-0000-0000-000000000000}"/>
          </ac:picMkLst>
        </pc:picChg>
        <pc:picChg chg="add">
          <ac:chgData name="Lai, Wilson" userId="2840974a-0d84-4886-90a9-9a3ed79f3a48" providerId="ADAL" clId="{9F23B798-9E84-4552-BA63-E776E805C424}" dt="2026-08-23T15:42:13.435" v="13" actId="22"/>
          <ac:picMkLst>
            <pc:docMk/>
            <pc:sldMk cId="0" sldId="258"/>
            <ac:picMk id="4" creationId="{227640B5-54DE-BD7C-FECC-00045A93BACF}"/>
          </ac:picMkLst>
        </pc:picChg>
      </pc:sldChg>
      <pc:sldChg chg="addSp delSp mod modNotes modNotesTx">
        <pc:chgData name="Lai, Wilson" userId="2840974a-0d84-4886-90a9-9a3ed79f3a48" providerId="ADAL" clId="{9F23B798-9E84-4552-BA63-E776E805C424}" dt="2026-08-24T01:33:44.412" v="77" actId="12"/>
        <pc:sldMkLst>
          <pc:docMk/>
          <pc:sldMk cId="0" sldId="259"/>
        </pc:sldMkLst>
        <pc:picChg chg="del">
          <ac:chgData name="Lai, Wilson" userId="2840974a-0d84-4886-90a9-9a3ed79f3a48" providerId="ADAL" clId="{9F23B798-9E84-4552-BA63-E776E805C424}" dt="2026-08-24T01:18:33.289" v="16" actId="21"/>
          <ac:picMkLst>
            <pc:docMk/>
            <pc:sldMk cId="0" sldId="259"/>
            <ac:picMk id="2" creationId="{00000000-0000-0000-0000-000000000000}"/>
          </ac:picMkLst>
        </pc:picChg>
        <pc:picChg chg="add">
          <ac:chgData name="Lai, Wilson" userId="2840974a-0d84-4886-90a9-9a3ed79f3a48" providerId="ADAL" clId="{9F23B798-9E84-4552-BA63-E776E805C424}" dt="2026-08-24T01:18:42.028" v="17" actId="22"/>
          <ac:picMkLst>
            <pc:docMk/>
            <pc:sldMk cId="0" sldId="259"/>
            <ac:picMk id="4" creationId="{11E9CDBC-E39A-5576-33C2-6C66DC93D3C5}"/>
          </ac:picMkLst>
        </pc:picChg>
      </pc:sldChg>
      <pc:sldChg chg="addSp delSp mod modNotes modNotesTx">
        <pc:chgData name="Lai, Wilson" userId="2840974a-0d84-4886-90a9-9a3ed79f3a48" providerId="ADAL" clId="{9F23B798-9E84-4552-BA63-E776E805C424}" dt="2026-08-24T01:33:56.903" v="83" actId="14"/>
        <pc:sldMkLst>
          <pc:docMk/>
          <pc:sldMk cId="0" sldId="260"/>
        </pc:sldMkLst>
        <pc:picChg chg="del">
          <ac:chgData name="Lai, Wilson" userId="2840974a-0d84-4886-90a9-9a3ed79f3a48" providerId="ADAL" clId="{9F23B798-9E84-4552-BA63-E776E805C424}" dt="2026-08-24T01:18:45.424" v="18" actId="21"/>
          <ac:picMkLst>
            <pc:docMk/>
            <pc:sldMk cId="0" sldId="260"/>
            <ac:picMk id="2" creationId="{00000000-0000-0000-0000-000000000000}"/>
          </ac:picMkLst>
        </pc:picChg>
        <pc:picChg chg="add">
          <ac:chgData name="Lai, Wilson" userId="2840974a-0d84-4886-90a9-9a3ed79f3a48" providerId="ADAL" clId="{9F23B798-9E84-4552-BA63-E776E805C424}" dt="2026-08-24T01:18:54.568" v="19" actId="22"/>
          <ac:picMkLst>
            <pc:docMk/>
            <pc:sldMk cId="0" sldId="260"/>
            <ac:picMk id="4" creationId="{F98A3AD6-0D62-B44B-8052-166D88B781BA}"/>
          </ac:picMkLst>
        </pc:picChg>
      </pc:sldChg>
      <pc:sldChg chg="addSp delSp mod modNotes modNotesTx">
        <pc:chgData name="Lai, Wilson" userId="2840974a-0d84-4886-90a9-9a3ed79f3a48" providerId="ADAL" clId="{9F23B798-9E84-4552-BA63-E776E805C424}" dt="2026-08-24T01:34:16.548" v="91" actId="14"/>
        <pc:sldMkLst>
          <pc:docMk/>
          <pc:sldMk cId="0" sldId="261"/>
        </pc:sldMkLst>
        <pc:picChg chg="del">
          <ac:chgData name="Lai, Wilson" userId="2840974a-0d84-4886-90a9-9a3ed79f3a48" providerId="ADAL" clId="{9F23B798-9E84-4552-BA63-E776E805C424}" dt="2026-08-24T01:18:57.039" v="20" actId="21"/>
          <ac:picMkLst>
            <pc:docMk/>
            <pc:sldMk cId="0" sldId="261"/>
            <ac:picMk id="2" creationId="{00000000-0000-0000-0000-000000000000}"/>
          </ac:picMkLst>
        </pc:picChg>
        <pc:picChg chg="add">
          <ac:chgData name="Lai, Wilson" userId="2840974a-0d84-4886-90a9-9a3ed79f3a48" providerId="ADAL" clId="{9F23B798-9E84-4552-BA63-E776E805C424}" dt="2026-08-24T01:19:05.257" v="21" actId="22"/>
          <ac:picMkLst>
            <pc:docMk/>
            <pc:sldMk cId="0" sldId="261"/>
            <ac:picMk id="4" creationId="{91077A0A-CB19-F7DE-943E-8E3F04B8D74C}"/>
          </ac:picMkLst>
        </pc:picChg>
      </pc:sldChg>
      <pc:sldChg chg="addSp delSp mod modNotes modNotesTx">
        <pc:chgData name="Lai, Wilson" userId="2840974a-0d84-4886-90a9-9a3ed79f3a48" providerId="ADAL" clId="{9F23B798-9E84-4552-BA63-E776E805C424}" dt="2026-08-24T01:34:33.050" v="102" actId="14"/>
        <pc:sldMkLst>
          <pc:docMk/>
          <pc:sldMk cId="0" sldId="262"/>
        </pc:sldMkLst>
        <pc:picChg chg="del">
          <ac:chgData name="Lai, Wilson" userId="2840974a-0d84-4886-90a9-9a3ed79f3a48" providerId="ADAL" clId="{9F23B798-9E84-4552-BA63-E776E805C424}" dt="2026-08-24T01:19:07.437" v="22" actId="21"/>
          <ac:picMkLst>
            <pc:docMk/>
            <pc:sldMk cId="0" sldId="262"/>
            <ac:picMk id="2" creationId="{00000000-0000-0000-0000-000000000000}"/>
          </ac:picMkLst>
        </pc:picChg>
        <pc:picChg chg="add">
          <ac:chgData name="Lai, Wilson" userId="2840974a-0d84-4886-90a9-9a3ed79f3a48" providerId="ADAL" clId="{9F23B798-9E84-4552-BA63-E776E805C424}" dt="2026-08-24T01:19:15.699" v="23" actId="22"/>
          <ac:picMkLst>
            <pc:docMk/>
            <pc:sldMk cId="0" sldId="262"/>
            <ac:picMk id="4" creationId="{C43E0CB8-9F6D-5DA6-E190-8EDB6635904B}"/>
          </ac:picMkLst>
        </pc:picChg>
      </pc:sldChg>
      <pc:sldChg chg="addSp delSp mod modNotes modNotesTx">
        <pc:chgData name="Lai, Wilson" userId="2840974a-0d84-4886-90a9-9a3ed79f3a48" providerId="ADAL" clId="{9F23B798-9E84-4552-BA63-E776E805C424}" dt="2026-08-24T01:34:50.754" v="110" actId="12"/>
        <pc:sldMkLst>
          <pc:docMk/>
          <pc:sldMk cId="0" sldId="263"/>
        </pc:sldMkLst>
        <pc:picChg chg="del">
          <ac:chgData name="Lai, Wilson" userId="2840974a-0d84-4886-90a9-9a3ed79f3a48" providerId="ADAL" clId="{9F23B798-9E84-4552-BA63-E776E805C424}" dt="2026-08-24T01:19:17.703" v="24" actId="21"/>
          <ac:picMkLst>
            <pc:docMk/>
            <pc:sldMk cId="0" sldId="263"/>
            <ac:picMk id="2" creationId="{00000000-0000-0000-0000-000000000000}"/>
          </ac:picMkLst>
        </pc:picChg>
        <pc:picChg chg="add">
          <ac:chgData name="Lai, Wilson" userId="2840974a-0d84-4886-90a9-9a3ed79f3a48" providerId="ADAL" clId="{9F23B798-9E84-4552-BA63-E776E805C424}" dt="2026-08-24T01:19:25.104" v="25" actId="22"/>
          <ac:picMkLst>
            <pc:docMk/>
            <pc:sldMk cId="0" sldId="263"/>
            <ac:picMk id="4" creationId="{7A6DE08A-A435-7F36-0988-514272A75B34}"/>
          </ac:picMkLst>
        </pc:picChg>
      </pc:sldChg>
      <pc:sldChg chg="addSp delSp mod modNotes modNotesTx">
        <pc:chgData name="Lai, Wilson" userId="2840974a-0d84-4886-90a9-9a3ed79f3a48" providerId="ADAL" clId="{9F23B798-9E84-4552-BA63-E776E805C424}" dt="2026-08-24T01:35:03.506" v="114" actId="14"/>
        <pc:sldMkLst>
          <pc:docMk/>
          <pc:sldMk cId="0" sldId="264"/>
        </pc:sldMkLst>
        <pc:picChg chg="del">
          <ac:chgData name="Lai, Wilson" userId="2840974a-0d84-4886-90a9-9a3ed79f3a48" providerId="ADAL" clId="{9F23B798-9E84-4552-BA63-E776E805C424}" dt="2026-08-24T01:19:27.236" v="26" actId="21"/>
          <ac:picMkLst>
            <pc:docMk/>
            <pc:sldMk cId="0" sldId="264"/>
            <ac:picMk id="2" creationId="{00000000-0000-0000-0000-000000000000}"/>
          </ac:picMkLst>
        </pc:picChg>
        <pc:picChg chg="add">
          <ac:chgData name="Lai, Wilson" userId="2840974a-0d84-4886-90a9-9a3ed79f3a48" providerId="ADAL" clId="{9F23B798-9E84-4552-BA63-E776E805C424}" dt="2026-08-24T01:19:39.007" v="27" actId="22"/>
          <ac:picMkLst>
            <pc:docMk/>
            <pc:sldMk cId="0" sldId="264"/>
            <ac:picMk id="4" creationId="{3065E98E-837B-BA0A-9E49-4BF3923CFE45}"/>
          </ac:picMkLst>
        </pc:picChg>
      </pc:sldChg>
      <pc:sldChg chg="addSp delSp mod modNotes modNotesTx">
        <pc:chgData name="Lai, Wilson" userId="2840974a-0d84-4886-90a9-9a3ed79f3a48" providerId="ADAL" clId="{9F23B798-9E84-4552-BA63-E776E805C424}" dt="2026-08-24T01:35:20.162" v="122" actId="12"/>
        <pc:sldMkLst>
          <pc:docMk/>
          <pc:sldMk cId="0" sldId="265"/>
        </pc:sldMkLst>
        <pc:picChg chg="del">
          <ac:chgData name="Lai, Wilson" userId="2840974a-0d84-4886-90a9-9a3ed79f3a48" providerId="ADAL" clId="{9F23B798-9E84-4552-BA63-E776E805C424}" dt="2026-08-24T01:19:41.186" v="28" actId="21"/>
          <ac:picMkLst>
            <pc:docMk/>
            <pc:sldMk cId="0" sldId="265"/>
            <ac:picMk id="2" creationId="{00000000-0000-0000-0000-000000000000}"/>
          </ac:picMkLst>
        </pc:picChg>
        <pc:picChg chg="add">
          <ac:chgData name="Lai, Wilson" userId="2840974a-0d84-4886-90a9-9a3ed79f3a48" providerId="ADAL" clId="{9F23B798-9E84-4552-BA63-E776E805C424}" dt="2026-08-24T01:19:50.347" v="29" actId="22"/>
          <ac:picMkLst>
            <pc:docMk/>
            <pc:sldMk cId="0" sldId="265"/>
            <ac:picMk id="4" creationId="{46D63EAF-B8ED-0777-9082-8FF33957F7B0}"/>
          </ac:picMkLst>
        </pc:picChg>
      </pc:sldChg>
      <pc:sldChg chg="addSp delSp mod modNotes modNotesTx">
        <pc:chgData name="Lai, Wilson" userId="2840974a-0d84-4886-90a9-9a3ed79f3a48" providerId="ADAL" clId="{9F23B798-9E84-4552-BA63-E776E805C424}" dt="2026-08-24T01:35:36.085" v="130" actId="14"/>
        <pc:sldMkLst>
          <pc:docMk/>
          <pc:sldMk cId="0" sldId="266"/>
        </pc:sldMkLst>
        <pc:picChg chg="del">
          <ac:chgData name="Lai, Wilson" userId="2840974a-0d84-4886-90a9-9a3ed79f3a48" providerId="ADAL" clId="{9F23B798-9E84-4552-BA63-E776E805C424}" dt="2026-08-24T01:19:52.933" v="30" actId="21"/>
          <ac:picMkLst>
            <pc:docMk/>
            <pc:sldMk cId="0" sldId="266"/>
            <ac:picMk id="2" creationId="{00000000-0000-0000-0000-000000000000}"/>
          </ac:picMkLst>
        </pc:picChg>
        <pc:picChg chg="add">
          <ac:chgData name="Lai, Wilson" userId="2840974a-0d84-4886-90a9-9a3ed79f3a48" providerId="ADAL" clId="{9F23B798-9E84-4552-BA63-E776E805C424}" dt="2026-08-24T01:20:02.068" v="31" actId="22"/>
          <ac:picMkLst>
            <pc:docMk/>
            <pc:sldMk cId="0" sldId="266"/>
            <ac:picMk id="4" creationId="{362F4615-9175-D1DC-A23E-2697EF3EA609}"/>
          </ac:picMkLst>
        </pc:picChg>
      </pc:sldChg>
      <pc:sldChg chg="addSp delSp mod modNotes modNotesTx">
        <pc:chgData name="Lai, Wilson" userId="2840974a-0d84-4886-90a9-9a3ed79f3a48" providerId="ADAL" clId="{9F23B798-9E84-4552-BA63-E776E805C424}" dt="2026-08-24T01:35:50.330" v="137" actId="14"/>
        <pc:sldMkLst>
          <pc:docMk/>
          <pc:sldMk cId="0" sldId="267"/>
        </pc:sldMkLst>
        <pc:picChg chg="del">
          <ac:chgData name="Lai, Wilson" userId="2840974a-0d84-4886-90a9-9a3ed79f3a48" providerId="ADAL" clId="{9F23B798-9E84-4552-BA63-E776E805C424}" dt="2026-08-24T01:20:03.582" v="32" actId="21"/>
          <ac:picMkLst>
            <pc:docMk/>
            <pc:sldMk cId="0" sldId="267"/>
            <ac:picMk id="2" creationId="{00000000-0000-0000-0000-000000000000}"/>
          </ac:picMkLst>
        </pc:picChg>
        <pc:picChg chg="add">
          <ac:chgData name="Lai, Wilson" userId="2840974a-0d84-4886-90a9-9a3ed79f3a48" providerId="ADAL" clId="{9F23B798-9E84-4552-BA63-E776E805C424}" dt="2026-08-24T01:20:11.985" v="33" actId="22"/>
          <ac:picMkLst>
            <pc:docMk/>
            <pc:sldMk cId="0" sldId="267"/>
            <ac:picMk id="4" creationId="{0D76E09A-0359-4E5C-B491-3CD432659AF1}"/>
          </ac:picMkLst>
        </pc:picChg>
      </pc:sldChg>
      <pc:sldChg chg="addSp delSp mod modNotes modNotesTx">
        <pc:chgData name="Lai, Wilson" userId="2840974a-0d84-4886-90a9-9a3ed79f3a48" providerId="ADAL" clId="{9F23B798-9E84-4552-BA63-E776E805C424}" dt="2026-08-24T01:36:06.539" v="143" actId="14"/>
        <pc:sldMkLst>
          <pc:docMk/>
          <pc:sldMk cId="0" sldId="268"/>
        </pc:sldMkLst>
        <pc:picChg chg="del">
          <ac:chgData name="Lai, Wilson" userId="2840974a-0d84-4886-90a9-9a3ed79f3a48" providerId="ADAL" clId="{9F23B798-9E84-4552-BA63-E776E805C424}" dt="2026-08-24T01:20:13.809" v="34" actId="21"/>
          <ac:picMkLst>
            <pc:docMk/>
            <pc:sldMk cId="0" sldId="268"/>
            <ac:picMk id="2" creationId="{00000000-0000-0000-0000-000000000000}"/>
          </ac:picMkLst>
        </pc:picChg>
        <pc:picChg chg="add">
          <ac:chgData name="Lai, Wilson" userId="2840974a-0d84-4886-90a9-9a3ed79f3a48" providerId="ADAL" clId="{9F23B798-9E84-4552-BA63-E776E805C424}" dt="2026-08-24T01:20:22.767" v="35" actId="22"/>
          <ac:picMkLst>
            <pc:docMk/>
            <pc:sldMk cId="0" sldId="268"/>
            <ac:picMk id="4" creationId="{7CEAD312-6700-7DA0-B820-1B40FF5E483C}"/>
          </ac:picMkLst>
        </pc:picChg>
      </pc:sldChg>
      <pc:sldChg chg="addSp delSp mod modNotes modNotesTx">
        <pc:chgData name="Lai, Wilson" userId="2840974a-0d84-4886-90a9-9a3ed79f3a48" providerId="ADAL" clId="{9F23B798-9E84-4552-BA63-E776E805C424}" dt="2026-08-24T01:36:21.002" v="150" actId="14"/>
        <pc:sldMkLst>
          <pc:docMk/>
          <pc:sldMk cId="0" sldId="269"/>
        </pc:sldMkLst>
        <pc:picChg chg="del">
          <ac:chgData name="Lai, Wilson" userId="2840974a-0d84-4886-90a9-9a3ed79f3a48" providerId="ADAL" clId="{9F23B798-9E84-4552-BA63-E776E805C424}" dt="2026-08-24T01:20:27.214" v="36" actId="21"/>
          <ac:picMkLst>
            <pc:docMk/>
            <pc:sldMk cId="0" sldId="269"/>
            <ac:picMk id="2" creationId="{00000000-0000-0000-0000-000000000000}"/>
          </ac:picMkLst>
        </pc:picChg>
        <pc:picChg chg="add">
          <ac:chgData name="Lai, Wilson" userId="2840974a-0d84-4886-90a9-9a3ed79f3a48" providerId="ADAL" clId="{9F23B798-9E84-4552-BA63-E776E805C424}" dt="2026-08-24T01:20:35.388" v="37" actId="22"/>
          <ac:picMkLst>
            <pc:docMk/>
            <pc:sldMk cId="0" sldId="269"/>
            <ac:picMk id="4" creationId="{9E5E4E2E-8FAF-E1EA-9BBF-3B1245E96C18}"/>
          </ac:picMkLst>
        </pc:picChg>
      </pc:sldChg>
      <pc:sldChg chg="addSp delSp mod modNotes modNotesTx">
        <pc:chgData name="Lai, Wilson" userId="2840974a-0d84-4886-90a9-9a3ed79f3a48" providerId="ADAL" clId="{9F23B798-9E84-4552-BA63-E776E805C424}" dt="2026-08-24T01:36:29.392" v="154" actId="14"/>
        <pc:sldMkLst>
          <pc:docMk/>
          <pc:sldMk cId="0" sldId="270"/>
        </pc:sldMkLst>
        <pc:picChg chg="del">
          <ac:chgData name="Lai, Wilson" userId="2840974a-0d84-4886-90a9-9a3ed79f3a48" providerId="ADAL" clId="{9F23B798-9E84-4552-BA63-E776E805C424}" dt="2026-08-24T01:20:37.564" v="38" actId="21"/>
          <ac:picMkLst>
            <pc:docMk/>
            <pc:sldMk cId="0" sldId="270"/>
            <ac:picMk id="2" creationId="{00000000-0000-0000-0000-000000000000}"/>
          </ac:picMkLst>
        </pc:picChg>
        <pc:picChg chg="add">
          <ac:chgData name="Lai, Wilson" userId="2840974a-0d84-4886-90a9-9a3ed79f3a48" providerId="ADAL" clId="{9F23B798-9E84-4552-BA63-E776E805C424}" dt="2026-08-24T01:20:46.928" v="39" actId="22"/>
          <ac:picMkLst>
            <pc:docMk/>
            <pc:sldMk cId="0" sldId="270"/>
            <ac:picMk id="4" creationId="{CC52CE0C-4CD5-3EC2-89CB-E540DB02DF40}"/>
          </ac:picMkLst>
        </pc:picChg>
      </pc:sldChg>
      <pc:sldChg chg="addSp delSp mod modNotes modNotesTx">
        <pc:chgData name="Lai, Wilson" userId="2840974a-0d84-4886-90a9-9a3ed79f3a48" providerId="ADAL" clId="{9F23B798-9E84-4552-BA63-E776E805C424}" dt="2026-08-24T01:36:42.878" v="160" actId="14"/>
        <pc:sldMkLst>
          <pc:docMk/>
          <pc:sldMk cId="0" sldId="271"/>
        </pc:sldMkLst>
        <pc:picChg chg="del">
          <ac:chgData name="Lai, Wilson" userId="2840974a-0d84-4886-90a9-9a3ed79f3a48" providerId="ADAL" clId="{9F23B798-9E84-4552-BA63-E776E805C424}" dt="2026-08-24T01:20:48.795" v="40" actId="21"/>
          <ac:picMkLst>
            <pc:docMk/>
            <pc:sldMk cId="0" sldId="271"/>
            <ac:picMk id="2" creationId="{00000000-0000-0000-0000-000000000000}"/>
          </ac:picMkLst>
        </pc:picChg>
        <pc:picChg chg="add">
          <ac:chgData name="Lai, Wilson" userId="2840974a-0d84-4886-90a9-9a3ed79f3a48" providerId="ADAL" clId="{9F23B798-9E84-4552-BA63-E776E805C424}" dt="2026-08-24T01:20:57.678" v="41" actId="22"/>
          <ac:picMkLst>
            <pc:docMk/>
            <pc:sldMk cId="0" sldId="271"/>
            <ac:picMk id="4" creationId="{B17E7588-D13A-76B3-CD39-1F79B7510A3A}"/>
          </ac:picMkLst>
        </pc:picChg>
      </pc:sldChg>
      <pc:sldChg chg="addSp delSp mod modNotes modNotesTx">
        <pc:chgData name="Lai, Wilson" userId="2840974a-0d84-4886-90a9-9a3ed79f3a48" providerId="ADAL" clId="{9F23B798-9E84-4552-BA63-E776E805C424}" dt="2026-08-24T01:32:57.965" v="63"/>
        <pc:sldMkLst>
          <pc:docMk/>
          <pc:sldMk cId="1045020486" sldId="272"/>
        </pc:sldMkLst>
        <pc:picChg chg="del">
          <ac:chgData name="Lai, Wilson" userId="2840974a-0d84-4886-90a9-9a3ed79f3a48" providerId="ADAL" clId="{9F23B798-9E84-4552-BA63-E776E805C424}" dt="2026-08-23T15:42:18.560" v="14" actId="21"/>
          <ac:picMkLst>
            <pc:docMk/>
            <pc:sldMk cId="1045020486" sldId="272"/>
            <ac:picMk id="3" creationId="{55C23F05-BA62-3FAE-E112-3FF30D97D703}"/>
          </ac:picMkLst>
        </pc:picChg>
        <pc:picChg chg="add">
          <ac:chgData name="Lai, Wilson" userId="2840974a-0d84-4886-90a9-9a3ed79f3a48" providerId="ADAL" clId="{9F23B798-9E84-4552-BA63-E776E805C424}" dt="2026-08-23T15:42:30.439" v="15" actId="22"/>
          <ac:picMkLst>
            <pc:docMk/>
            <pc:sldMk cId="1045020486" sldId="272"/>
            <ac:picMk id="4" creationId="{EDF1EBA8-A0C8-3081-BA44-65C7E23C83B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8B617-35A6-4F79-9EA2-5D4170EC6E90}"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1947D6-9B6A-43A0-92DD-9EA9A0A22F94}" type="slidenum">
              <a:rPr lang="en-US" smtClean="0"/>
              <a:t>‹#›</a:t>
            </a:fld>
            <a:endParaRPr lang="en-US"/>
          </a:p>
        </p:txBody>
      </p:sp>
    </p:spTree>
    <p:extLst>
      <p:ext uri="{BB962C8B-B14F-4D97-AF65-F5344CB8AC3E}">
        <p14:creationId xmlns:p14="http://schemas.microsoft.com/office/powerpoint/2010/main" val="3950305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Opening &amp; Context: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Good morning, everyone. Today, we are exploring a question that defines modern portfolio management: Are we witnessing a repeat of the 1999 Dot-Com Tech Bubble, or are we experiencing a fundamental, multi-trillion-dollar technological shift?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this presentation, drawing directly from Cathie Wood's insights at ARK Investment Management, we will unpack why today’s AI boom is structurally different from 1999—and how active investment must adapt to capture the convergence of disruptive platforms. </a:t>
            </a:r>
          </a:p>
          <a:p>
            <a:pPr lvl="0"/>
            <a:r>
              <a:rPr lang="en-US" sz="1200" b="1" kern="1200" dirty="0">
                <a:solidFill>
                  <a:schemeClr val="tx1"/>
                </a:solidFill>
                <a:effectLst/>
                <a:latin typeface="+mn-lt"/>
                <a:ea typeface="+mn-ea"/>
                <a:cs typeface="+mn-cs"/>
              </a:rPr>
              <a:t>The Structural Thesis: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where we are going, we must recognize that traditional market structures have undergone a massive shift since the 2008–2009 Global Financial Crisis.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Most of the asset management industry shifted toward passive indexing, benchmark-sensitive strategies, and short-term quarterly tracking.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created a systemic blind spot: Wall Street began viewing technologically enabled innovation as pure risk rather than long-term growth, abandoning the deep, original research required to analyze exponentially growing technologies. </a:t>
            </a:r>
          </a:p>
          <a:p>
            <a:pPr lvl="0"/>
            <a:r>
              <a:rPr lang="en-US" sz="1200" b="1" kern="1200" dirty="0">
                <a:solidFill>
                  <a:schemeClr val="tx1"/>
                </a:solidFill>
                <a:effectLst/>
                <a:latin typeface="+mn-lt"/>
                <a:ea typeface="+mn-ea"/>
                <a:cs typeface="+mn-cs"/>
              </a:rPr>
              <a:t>Transition to Next Slide: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Let's begin by contrasting the legacy investment paradigm with the reality of investing in disruptive innovation. </a:t>
            </a:r>
          </a:p>
          <a:p>
            <a:endParaRPr lang="en-US" dirty="0"/>
          </a:p>
          <a:p>
            <a:endParaRPr lang="en-US" dirty="0"/>
          </a:p>
          <a:p>
            <a:r>
              <a:rPr lang="en-US" dirty="0"/>
              <a:t>https://youtube.com/watch?v=1RBpOq62vwQ</a:t>
            </a:r>
          </a:p>
        </p:txBody>
      </p:sp>
      <p:sp>
        <p:nvSpPr>
          <p:cNvPr id="4" name="Slide Number Placeholder 3"/>
          <p:cNvSpPr>
            <a:spLocks noGrp="1"/>
          </p:cNvSpPr>
          <p:nvPr>
            <p:ph type="sldNum" sz="quarter" idx="5"/>
          </p:nvPr>
        </p:nvSpPr>
        <p:spPr/>
        <p:txBody>
          <a:bodyPr/>
          <a:lstStyle/>
          <a:p>
            <a:fld id="{E31947D6-9B6A-43A0-92DD-9EA9A0A22F94}" type="slidenum">
              <a:rPr lang="en-US" smtClean="0"/>
              <a:t>1</a:t>
            </a:fld>
            <a:endParaRPr lang="en-US"/>
          </a:p>
        </p:txBody>
      </p:sp>
    </p:spTree>
    <p:extLst>
      <p:ext uri="{BB962C8B-B14F-4D97-AF65-F5344CB8AC3E}">
        <p14:creationId xmlns:p14="http://schemas.microsoft.com/office/powerpoint/2010/main" val="29599256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Legacy Trap (Left Side):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left column illustrates the dominant market environment born out of 08/09. It is characterized by high benchmark sensitivity, extremely short time horizons, and high-frequency or algorithmic trading that whips market sentiment around daily.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short-term focus creates irrational market reactions—where a minor quarterly earnings miss triggers a 10% or 15% sell-off, even when the company's 5-year underlying trajectory remains unchanged. </a:t>
            </a:r>
          </a:p>
          <a:p>
            <a:pPr lvl="0"/>
            <a:r>
              <a:rPr lang="en-US" sz="1200" b="1" kern="1200" dirty="0">
                <a:solidFill>
                  <a:schemeClr val="tx1"/>
                </a:solidFill>
                <a:effectLst/>
                <a:latin typeface="+mn-lt"/>
                <a:ea typeface="+mn-ea"/>
                <a:cs typeface="+mn-cs"/>
              </a:rPr>
              <a:t>The Innovation Reality (Right Side):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right is the paradigm required to capture exponential growth. It requires original, unindexed research rooted in fundamental cost-decline mechanics—specifically Wright’s Law.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demands a minimum </a:t>
            </a:r>
            <a:r>
              <a:rPr lang="en-US" sz="1200" b="1" kern="1200" dirty="0">
                <a:solidFill>
                  <a:schemeClr val="tx1"/>
                </a:solidFill>
                <a:effectLst/>
                <a:latin typeface="+mn-lt"/>
                <a:ea typeface="+mn-ea"/>
                <a:cs typeface="+mn-cs"/>
              </a:rPr>
              <a:t>5-year investment horizon</a:t>
            </a:r>
            <a:r>
              <a:rPr lang="en-US" sz="1200" kern="1200" dirty="0">
                <a:solidFill>
                  <a:schemeClr val="tx1"/>
                </a:solidFill>
                <a:effectLst/>
                <a:latin typeface="+mn-lt"/>
                <a:ea typeface="+mn-ea"/>
                <a:cs typeface="+mn-cs"/>
              </a:rPr>
              <a:t>. Instead of fearing volatility, this framework capitalizes on short-term market dislocations to acquire high-conviction assets at discounted prices. </a:t>
            </a:r>
          </a:p>
          <a:p>
            <a:pPr lvl="0"/>
            <a:r>
              <a:rPr lang="en-US" sz="1200" b="1" kern="1200" dirty="0">
                <a:solidFill>
                  <a:schemeClr val="tx1"/>
                </a:solidFill>
                <a:effectLst/>
                <a:latin typeface="+mn-lt"/>
                <a:ea typeface="+mn-ea"/>
                <a:cs typeface="+mn-cs"/>
              </a:rPr>
              <a:t>The A-R-K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Active:</a:t>
            </a:r>
            <a:r>
              <a:rPr lang="en-US" sz="1200" kern="1200" dirty="0">
                <a:solidFill>
                  <a:schemeClr val="tx1"/>
                </a:solidFill>
                <a:effectLst/>
                <a:latin typeface="+mn-lt"/>
                <a:ea typeface="+mn-ea"/>
                <a:cs typeface="+mn-cs"/>
              </a:rPr>
              <a:t> Complete departure from index overlap. If you simply mirror the S&amp;P 500 or Nasdaq, you are exposing yourself to legacy incumbents vulnerable to disruption.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Research:</a:t>
            </a:r>
            <a:r>
              <a:rPr lang="en-US" sz="1200" kern="1200" dirty="0">
                <a:solidFill>
                  <a:schemeClr val="tx1"/>
                </a:solidFill>
                <a:effectLst/>
                <a:latin typeface="+mn-lt"/>
                <a:ea typeface="+mn-ea"/>
                <a:cs typeface="+mn-cs"/>
              </a:rPr>
              <a:t> Open-source, evolving analysis that engages directly with ecosystem developers, scientists, and industry innovators.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Knowledge:</a:t>
            </a:r>
            <a:r>
              <a:rPr lang="en-US" sz="1200" kern="1200" dirty="0">
                <a:solidFill>
                  <a:schemeClr val="tx1"/>
                </a:solidFill>
                <a:effectLst/>
                <a:latin typeface="+mn-lt"/>
                <a:ea typeface="+mn-ea"/>
                <a:cs typeface="+mn-cs"/>
              </a:rPr>
              <a:t> The relentless pursuit of technological truth over short-term market consensus.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2</a:t>
            </a:fld>
            <a:endParaRPr lang="en-US"/>
          </a:p>
        </p:txBody>
      </p:sp>
    </p:spTree>
    <p:extLst>
      <p:ext uri="{BB962C8B-B14F-4D97-AF65-F5344CB8AC3E}">
        <p14:creationId xmlns:p14="http://schemas.microsoft.com/office/powerpoint/2010/main" val="614050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Addressing the Skeptics: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most common critique of today's AI enthusiasm is that 'we've seen this movie before in 1999.' However, comparing the underlying data reveals that today’s market structure is almost the exact inverse of 1999. </a:t>
            </a:r>
          </a:p>
          <a:p>
            <a:pPr lvl="0"/>
            <a:r>
              <a:rPr lang="en-US" sz="1200" b="1" kern="1200" dirty="0">
                <a:solidFill>
                  <a:schemeClr val="tx1"/>
                </a:solidFill>
                <a:effectLst/>
                <a:latin typeface="+mn-lt"/>
                <a:ea typeface="+mn-ea"/>
                <a:cs typeface="+mn-cs"/>
              </a:rPr>
              <a:t>Technology Readiness: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the market was pricing in </a:t>
            </a:r>
            <a:r>
              <a:rPr lang="en-US" sz="1200" i="1" kern="1200" dirty="0">
                <a:solidFill>
                  <a:schemeClr val="tx1"/>
                </a:solidFill>
                <a:effectLst/>
                <a:latin typeface="+mn-lt"/>
                <a:ea typeface="+mn-ea"/>
                <a:cs typeface="+mn-cs"/>
              </a:rPr>
              <a:t>concepts and seeds</a:t>
            </a:r>
            <a:r>
              <a:rPr lang="en-US" sz="1200" kern="1200" dirty="0">
                <a:solidFill>
                  <a:schemeClr val="tx1"/>
                </a:solidFill>
                <a:effectLst/>
                <a:latin typeface="+mn-lt"/>
                <a:ea typeface="+mn-ea"/>
                <a:cs typeface="+mn-cs"/>
              </a:rPr>
              <a:t>. The internet was real, but the necessary foundational infrastructure—such as Cloud Computing—didn't arrive until 2006. Key AI architectures like Transformer networks didn't emerge until 2017.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the underlying technology is ready, tested, and actively generating value across enterprises globally. </a:t>
            </a:r>
          </a:p>
          <a:p>
            <a:pPr lvl="0"/>
            <a:r>
              <a:rPr lang="en-US" sz="1200" b="1" kern="1200" dirty="0">
                <a:solidFill>
                  <a:schemeClr val="tx1"/>
                </a:solidFill>
                <a:effectLst/>
                <a:latin typeface="+mn-lt"/>
                <a:ea typeface="+mn-ea"/>
                <a:cs typeface="+mn-cs"/>
              </a:rPr>
              <a:t>Valuation Basis &amp; Revenue Velocity: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Wall Street justified sky-high valuations using 10-year speculative projections based on 'eyeballs' and web traffic.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we are seeing </a:t>
            </a:r>
            <a:r>
              <a:rPr lang="en-US" sz="1200" b="1" kern="1200" dirty="0">
                <a:solidFill>
                  <a:schemeClr val="tx1"/>
                </a:solidFill>
                <a:effectLst/>
                <a:latin typeface="+mn-lt"/>
                <a:ea typeface="+mn-ea"/>
                <a:cs typeface="+mn-cs"/>
              </a:rPr>
              <a:t>unprecedented real-time revenue velocity</a:t>
            </a:r>
            <a:r>
              <a:rPr lang="en-US" sz="1200" kern="1200" dirty="0">
                <a:solidFill>
                  <a:schemeClr val="tx1"/>
                </a:solidFill>
                <a:effectLst/>
                <a:latin typeface="+mn-lt"/>
                <a:ea typeface="+mn-ea"/>
                <a:cs typeface="+mn-cs"/>
              </a:rPr>
              <a:t>. Look at Anthropic: its annualized revenue run rate surged from </a:t>
            </a:r>
            <a:r>
              <a:rPr lang="en-US" sz="1200" b="1" kern="1200" dirty="0">
                <a:solidFill>
                  <a:schemeClr val="tx1"/>
                </a:solidFill>
                <a:effectLst/>
                <a:latin typeface="+mn-lt"/>
                <a:ea typeface="+mn-ea"/>
                <a:cs typeface="+mn-cs"/>
              </a:rPr>
              <a:t>$9M to $47M</a:t>
            </a:r>
            <a:r>
              <a:rPr lang="en-US" sz="1200" kern="1200" dirty="0">
                <a:solidFill>
                  <a:schemeClr val="tx1"/>
                </a:solidFill>
                <a:effectLst/>
                <a:latin typeface="+mn-lt"/>
                <a:ea typeface="+mn-ea"/>
                <a:cs typeface="+mn-cs"/>
              </a:rPr>
              <a:t> in a span of just six months due to enterprise demand for Claude. </a:t>
            </a:r>
          </a:p>
          <a:p>
            <a:pPr lvl="0"/>
            <a:r>
              <a:rPr lang="en-US" sz="1200" b="1" kern="1200" dirty="0">
                <a:solidFill>
                  <a:schemeClr val="tx1"/>
                </a:solidFill>
                <a:effectLst/>
                <a:latin typeface="+mn-lt"/>
                <a:ea typeface="+mn-ea"/>
                <a:cs typeface="+mn-cs"/>
              </a:rPr>
              <a:t>Capital Flow &amp; Market Sentiment: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venture capital and speculative public capital were chasing too few viable ideas.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cash-rich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(like Meta, Microsoft, Alphabet, and Amazon) are self-funding massive CAPEX investments out of their balance sheets.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Furthermore, 1999 was characterized by blind euphoria. Today’s market is defined by </a:t>
            </a:r>
            <a:r>
              <a:rPr lang="en-US" sz="1200" b="1" kern="1200" dirty="0">
                <a:solidFill>
                  <a:schemeClr val="tx1"/>
                </a:solidFill>
                <a:effectLst/>
                <a:latin typeface="+mn-lt"/>
                <a:ea typeface="+mn-ea"/>
                <a:cs typeface="+mn-cs"/>
              </a:rPr>
              <a:t>healthy skepticism and nervousness</a:t>
            </a:r>
            <a:r>
              <a:rPr lang="en-US" sz="1200" kern="1200" dirty="0">
                <a:solidFill>
                  <a:schemeClr val="tx1"/>
                </a:solidFill>
                <a:effectLst/>
                <a:latin typeface="+mn-lt"/>
                <a:ea typeface="+mn-ea"/>
                <a:cs typeface="+mn-cs"/>
              </a:rPr>
              <a:t>—which provides the necessary wall of worry for a bull market to climb.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3</a:t>
            </a:fld>
            <a:endParaRPr lang="en-US"/>
          </a:p>
        </p:txBody>
      </p:sp>
    </p:spTree>
    <p:extLst>
      <p:ext uri="{BB962C8B-B14F-4D97-AF65-F5344CB8AC3E}">
        <p14:creationId xmlns:p14="http://schemas.microsoft.com/office/powerpoint/2010/main" val="270004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Wright’s Law: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At the core of technological forecasting is Wright’s Law, a concept originally formulated in aeronautics but applied here across technology platforms.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Wright’s Law states that </a:t>
            </a:r>
            <a:r>
              <a:rPr lang="en-US" sz="1200" b="1" kern="1200" dirty="0">
                <a:solidFill>
                  <a:schemeClr val="tx1"/>
                </a:solidFill>
                <a:effectLst/>
                <a:latin typeface="+mn-lt"/>
                <a:ea typeface="+mn-ea"/>
                <a:cs typeface="+mn-cs"/>
              </a:rPr>
              <a:t>for every cumulative doubling in units produced, costs decline by a consistent and predictable percentage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Case Study: Whole Human Genome Sequencing: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DNA sequencing as a classic example of this mechanic in action: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In 2003, sequencing the first whole human genome required </a:t>
            </a:r>
            <a:r>
              <a:rPr lang="en-US" sz="1200" b="1" kern="1200" dirty="0">
                <a:solidFill>
                  <a:schemeClr val="tx1"/>
                </a:solidFill>
                <a:effectLst/>
                <a:latin typeface="+mn-lt"/>
                <a:ea typeface="+mn-ea"/>
                <a:cs typeface="+mn-cs"/>
              </a:rPr>
              <a:t>$2.7 Billion</a:t>
            </a:r>
            <a:r>
              <a:rPr lang="en-US" sz="1200" kern="1200" dirty="0">
                <a:solidFill>
                  <a:schemeClr val="tx1"/>
                </a:solidFill>
                <a:effectLst/>
                <a:latin typeface="+mn-lt"/>
                <a:ea typeface="+mn-ea"/>
                <a:cs typeface="+mn-cs"/>
              </a:rPr>
              <a:t> and over a decade of effort.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Today, that same process costs </a:t>
            </a:r>
            <a:r>
              <a:rPr lang="en-US" sz="1200" b="1" kern="1200" dirty="0">
                <a:solidFill>
                  <a:schemeClr val="tx1"/>
                </a:solidFill>
                <a:effectLst/>
                <a:latin typeface="+mn-lt"/>
                <a:ea typeface="+mn-ea"/>
                <a:cs typeface="+mn-cs"/>
              </a:rPr>
              <a:t>under $100</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40% cost drop for every cumulative doubling created a structural cost collapse that opened up brand-new commercial markets. </a:t>
            </a:r>
          </a:p>
          <a:p>
            <a:pPr lvl="0"/>
            <a:r>
              <a:rPr lang="en-US" sz="1200" b="1" kern="1200" dirty="0">
                <a:solidFill>
                  <a:schemeClr val="tx1"/>
                </a:solidFill>
                <a:effectLst/>
                <a:latin typeface="+mn-lt"/>
                <a:ea typeface="+mn-ea"/>
                <a:cs typeface="+mn-cs"/>
              </a:rPr>
              <a:t>Strategic Implication for Investors: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a technology's unit economics drop dramatically, it destroys the pricing power of legacy incumbents while creating massive unit volume expansion for low-cost disruptors.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4</a:t>
            </a:fld>
            <a:endParaRPr lang="en-US"/>
          </a:p>
        </p:txBody>
      </p:sp>
    </p:spTree>
    <p:extLst>
      <p:ext uri="{BB962C8B-B14F-4D97-AF65-F5344CB8AC3E}">
        <p14:creationId xmlns:p14="http://schemas.microsoft.com/office/powerpoint/2010/main" val="3143114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Filter for Pure-Play Platforms: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Not every interesting technology is an investment platform. To qualify as a true Innovation Platform, a technology must satisfy three strict conditions: </a:t>
            </a:r>
          </a:p>
          <a:p>
            <a:pPr lvl="0"/>
            <a:r>
              <a:rPr lang="en-US" sz="1200" b="1" kern="1200" dirty="0">
                <a:solidFill>
                  <a:schemeClr val="tx1"/>
                </a:solidFill>
                <a:effectLst/>
                <a:latin typeface="+mn-lt"/>
                <a:ea typeface="+mn-ea"/>
                <a:cs typeface="+mn-cs"/>
              </a:rPr>
              <a:t>Pillar 1: Declining Cost Curve: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must follow a steep learning curve driven by Wright’s Law, as discussed on Slide 4. </a:t>
            </a:r>
          </a:p>
          <a:p>
            <a:pPr lvl="0"/>
            <a:r>
              <a:rPr lang="en-US" sz="1200" b="1" kern="1200" dirty="0">
                <a:solidFill>
                  <a:schemeClr val="tx1"/>
                </a:solidFill>
                <a:effectLst/>
                <a:latin typeface="+mn-lt"/>
                <a:ea typeface="+mn-ea"/>
                <a:cs typeface="+mn-cs"/>
              </a:rPr>
              <a:t>Pillar 2: Cross-Sector Disruption: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costs decline, the technology must become cheap enough to enter and transform multiple distinct industries. For example, AI isn't just a 'tech sector' story—it reshapes healthcare, manufacturing, finance, and transportation. </a:t>
            </a:r>
          </a:p>
          <a:p>
            <a:pPr lvl="0"/>
            <a:r>
              <a:rPr lang="en-US" sz="1200" b="1" kern="1200" dirty="0">
                <a:solidFill>
                  <a:schemeClr val="tx1"/>
                </a:solidFill>
                <a:effectLst/>
                <a:latin typeface="+mn-lt"/>
                <a:ea typeface="+mn-ea"/>
                <a:cs typeface="+mn-cs"/>
              </a:rPr>
              <a:t>Pillar 3: Launchpad for Convergence: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Most importantly, the platform must serve as a building block that intersects with and accelerates other independent technologies.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5</a:t>
            </a:fld>
            <a:endParaRPr lang="en-US"/>
          </a:p>
        </p:txBody>
      </p:sp>
    </p:spTree>
    <p:extLst>
      <p:ext uri="{BB962C8B-B14F-4D97-AF65-F5344CB8AC3E}">
        <p14:creationId xmlns:p14="http://schemas.microsoft.com/office/powerpoint/2010/main" val="444422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the Stack: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invest effectively in AI, we must analyze the three distinct layers of the software and hardware tech stack: </a:t>
            </a:r>
          </a:p>
          <a:p>
            <a:pPr lvl="0"/>
            <a:r>
              <a:rPr lang="en-US" sz="1200" b="1" kern="1200" dirty="0">
                <a:solidFill>
                  <a:schemeClr val="tx1"/>
                </a:solidFill>
                <a:effectLst/>
                <a:latin typeface="+mn-lt"/>
                <a:ea typeface="+mn-ea"/>
                <a:cs typeface="+mn-cs"/>
              </a:rPr>
              <a:t>Layer 1: Infrastructure (Foundation):</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This includes chips, compute infrastructure, data centers, and power grid capabilities (e.g., Nvidia, Cerebras). </a:t>
            </a:r>
          </a:p>
          <a:p>
            <a:pPr lvl="0"/>
            <a:r>
              <a:rPr lang="en-US" sz="1200" b="1" kern="1200" dirty="0">
                <a:solidFill>
                  <a:schemeClr val="tx1"/>
                </a:solidFill>
                <a:effectLst/>
                <a:latin typeface="+mn-lt"/>
                <a:ea typeface="+mn-ea"/>
                <a:cs typeface="+mn-cs"/>
              </a:rPr>
              <a:t>Layer 2: Platform-as-a-Service (PaaS) - The New Core: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is where enterprise value is concentrating. Companies like Palantir, OpenAI, and Anthropic allow enterprises to build custom models directly on top of their private, proprietary data. </a:t>
            </a:r>
          </a:p>
          <a:p>
            <a:pPr lvl="0"/>
            <a:r>
              <a:rPr lang="en-US" sz="1200" b="1" kern="1200" dirty="0">
                <a:solidFill>
                  <a:schemeClr val="tx1"/>
                </a:solidFill>
                <a:effectLst/>
                <a:latin typeface="+mn-lt"/>
                <a:ea typeface="+mn-ea"/>
                <a:cs typeface="+mn-cs"/>
              </a:rPr>
              <a:t>Layer 3: Software-as-a-Service (SaaS) - Vulnerable Legacy: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Traditional SaaS applications are at risk of being displaced. Legacy SaaS relies on static, 'one-size-fits-all' licensing models.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PaaS enables custom internal software built on tailored enterprise data, off-the-shelf SaaS seats are seeing reduced pricing power and market share erosion.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6</a:t>
            </a:fld>
            <a:endParaRPr lang="en-US"/>
          </a:p>
        </p:txBody>
      </p:sp>
    </p:spTree>
    <p:extLst>
      <p:ext uri="{BB962C8B-B14F-4D97-AF65-F5344CB8AC3E}">
        <p14:creationId xmlns:p14="http://schemas.microsoft.com/office/powerpoint/2010/main" val="2319082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Super-Exponential Growth: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independent technological S-curves converge, growth does not add up linearly—it multiplies exponentially. </a:t>
            </a:r>
          </a:p>
          <a:p>
            <a:pPr lvl="0"/>
            <a:r>
              <a:rPr lang="en-US" sz="1200" b="1" kern="1200" dirty="0">
                <a:solidFill>
                  <a:schemeClr val="tx1"/>
                </a:solidFill>
                <a:effectLst/>
                <a:latin typeface="+mn-lt"/>
                <a:ea typeface="+mn-ea"/>
                <a:cs typeface="+mn-cs"/>
              </a:rPr>
              <a:t>Case Study: The $10 Trillion Robo-Taxi Ecosystem: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autonomous taxi fleets as an example of platform convergence: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Robotics:</a:t>
            </a:r>
            <a:r>
              <a:rPr lang="en-US" sz="1200" kern="1200" dirty="0">
                <a:solidFill>
                  <a:schemeClr val="tx1"/>
                </a:solidFill>
                <a:effectLst/>
                <a:latin typeface="+mn-lt"/>
                <a:ea typeface="+mn-ea"/>
                <a:cs typeface="+mn-cs"/>
              </a:rPr>
              <a:t> Autonomous vehicle platforms and sensors.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Energy Storage:</a:t>
            </a:r>
            <a:r>
              <a:rPr lang="en-US" sz="1200" kern="1200" dirty="0">
                <a:solidFill>
                  <a:schemeClr val="tx1"/>
                </a:solidFill>
                <a:effectLst/>
                <a:latin typeface="+mn-lt"/>
                <a:ea typeface="+mn-ea"/>
                <a:cs typeface="+mn-cs"/>
              </a:rPr>
              <a:t> Advanced electric battery systems.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Real-time neural net inference, computer vision, and routing.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Without any one of these three platforms, autonomous taxis cannot exist at scale.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Combined, they unlock an estimated </a:t>
            </a:r>
            <a:r>
              <a:rPr lang="en-US" sz="1200" b="1" kern="1200" dirty="0">
                <a:solidFill>
                  <a:schemeClr val="tx1"/>
                </a:solidFill>
                <a:effectLst/>
                <a:latin typeface="+mn-lt"/>
                <a:ea typeface="+mn-ea"/>
                <a:cs typeface="+mn-cs"/>
              </a:rPr>
              <a:t>$10 Trillion global market opportunity</a:t>
            </a:r>
            <a:r>
              <a:rPr lang="en-US" sz="1200" kern="1200" dirty="0">
                <a:solidFill>
                  <a:schemeClr val="tx1"/>
                </a:solidFill>
                <a:effectLst/>
                <a:latin typeface="+mn-lt"/>
                <a:ea typeface="+mn-ea"/>
                <a:cs typeface="+mn-cs"/>
              </a:rPr>
              <a:t> over the next decade.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7</a:t>
            </a:fld>
            <a:endParaRPr lang="en-US"/>
          </a:p>
        </p:txBody>
      </p:sp>
    </p:spTree>
    <p:extLst>
      <p:ext uri="{BB962C8B-B14F-4D97-AF65-F5344CB8AC3E}">
        <p14:creationId xmlns:p14="http://schemas.microsoft.com/office/powerpoint/2010/main" val="411284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Market Misperceptions &amp; Extreme Skepticism: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Health care—specifically Multi-omics—is currently one of the most overlooked applications of AI.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market downturns, the multi-omics space faced intense skepticism. At its lowest point, the ARKG ETF had a </a:t>
            </a:r>
            <a:r>
              <a:rPr lang="en-US" sz="1200" b="1" kern="1200" dirty="0">
                <a:solidFill>
                  <a:schemeClr val="tx1"/>
                </a:solidFill>
                <a:effectLst/>
                <a:latin typeface="+mn-lt"/>
                <a:ea typeface="+mn-ea"/>
                <a:cs typeface="+mn-cs"/>
              </a:rPr>
              <a:t>60% short interest ratio</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Short sellers viewed biotech and genomics as too heavily regulated, politically vulnerable, and burdened by temporary negative cash flows. </a:t>
            </a:r>
          </a:p>
          <a:p>
            <a:pPr lvl="0"/>
            <a:r>
              <a:rPr lang="en-US" sz="1200" b="1" kern="1200" dirty="0">
                <a:solidFill>
                  <a:schemeClr val="tx1"/>
                </a:solidFill>
                <a:effectLst/>
                <a:latin typeface="+mn-lt"/>
                <a:ea typeface="+mn-ea"/>
                <a:cs typeface="+mn-cs"/>
              </a:rPr>
              <a:t>The Convergence Reality in Healthcare: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reality, the convergence of AI, Single-Cell Sequencing, and CRISPR Gene Editing creates an unprecedented biological breakthrough: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Single-Cell Sequencing + AI:</a:t>
            </a:r>
            <a:r>
              <a:rPr lang="en-US" sz="1200" kern="1200" dirty="0">
                <a:solidFill>
                  <a:schemeClr val="tx1"/>
                </a:solidFill>
                <a:effectLst/>
                <a:latin typeface="+mn-lt"/>
                <a:ea typeface="+mn-ea"/>
                <a:cs typeface="+mn-cs"/>
              </a:rPr>
              <a:t> Analyzes the 35–40 trillion cells in the human body to identify micro-mutations before symptoms appear.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CRISPR Gene Editing:</a:t>
            </a:r>
            <a:r>
              <a:rPr lang="en-US" sz="1200" kern="1200" dirty="0">
                <a:solidFill>
                  <a:schemeClr val="tx1"/>
                </a:solidFill>
                <a:effectLst/>
                <a:latin typeface="+mn-lt"/>
                <a:ea typeface="+mn-ea"/>
                <a:cs typeface="+mn-cs"/>
              </a:rPr>
              <a:t> Reprograms defective DNA sequences directly at the cellular level.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8</a:t>
            </a:fld>
            <a:endParaRPr lang="en-US"/>
          </a:p>
        </p:txBody>
      </p:sp>
    </p:spTree>
    <p:extLst>
      <p:ext uri="{BB962C8B-B14F-4D97-AF65-F5344CB8AC3E}">
        <p14:creationId xmlns:p14="http://schemas.microsoft.com/office/powerpoint/2010/main" val="3012636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Learning from Past Analytical Errors: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maintain investment discipline, active managers must re-evaluate their theses continuously and admit when a technology fails to scale into an independent platform. </a:t>
            </a:r>
          </a:p>
          <a:p>
            <a:pPr lvl="0"/>
            <a:r>
              <a:rPr lang="en-US" sz="1200" b="1" kern="1200" dirty="0">
                <a:solidFill>
                  <a:schemeClr val="tx1"/>
                </a:solidFill>
                <a:effectLst/>
                <a:latin typeface="+mn-lt"/>
                <a:ea typeface="+mn-ea"/>
                <a:cs typeface="+mn-cs"/>
              </a:rPr>
              <a:t>Dead-End Case Study 1: 3D Printing: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3D printing was initially viewed as an independent industry platform.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over time, 3D printing was absorbed simply as an automation feature within existing industrial, automotive, and aerospace manufacturing workflows. </a:t>
            </a:r>
          </a:p>
          <a:p>
            <a:pPr lvl="0"/>
            <a:r>
              <a:rPr lang="en-US" sz="1200" b="1" kern="1200" dirty="0">
                <a:solidFill>
                  <a:schemeClr val="tx1"/>
                </a:solidFill>
                <a:effectLst/>
                <a:latin typeface="+mn-lt"/>
                <a:ea typeface="+mn-ea"/>
                <a:cs typeface="+mn-cs"/>
              </a:rPr>
              <a:t>Dead-End Case Study 2: Toyota’s Hydrogen Strategy: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Toyota heavily pursued hydrogen fuel cells due to Japanese post-Fukushima energy policy constraints.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the massive infrastructure buildout costs for hydrogen could not keep pace with global battery-electric vehicle (EV) learning curves, making hydrogen passenger vehicles economically unviable.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an innovation does not command its own cross-sector S-curve, it is a feature or feature set, not an investment platform.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9</a:t>
            </a:fld>
            <a:endParaRPr lang="en-US"/>
          </a:p>
        </p:txBody>
      </p:sp>
    </p:spTree>
    <p:extLst>
      <p:ext uri="{BB962C8B-B14F-4D97-AF65-F5344CB8AC3E}">
        <p14:creationId xmlns:p14="http://schemas.microsoft.com/office/powerpoint/2010/main" val="2059927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Macro Environment: 'Good Deflation':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Wright’s Law drives technology cost reductions, it creates a macro phenomenon called </a:t>
            </a:r>
            <a:r>
              <a:rPr lang="en-US" sz="1200" b="1" kern="1200" dirty="0">
                <a:solidFill>
                  <a:schemeClr val="tx1"/>
                </a:solidFill>
                <a:effectLst/>
                <a:latin typeface="+mn-lt"/>
                <a:ea typeface="+mn-ea"/>
                <a:cs typeface="+mn-cs"/>
              </a:rPr>
              <a:t>Good Deflation</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Disruptors (Optimal Zone):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Disruptive platforms pass cost reductions directly to customers in the form of lower prices.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Because their cost structures fall faster than their prices, disruptors expand unit demand rapidly while maintaining healthy operating margins. </a:t>
            </a:r>
          </a:p>
          <a:p>
            <a:pPr lvl="0"/>
            <a:r>
              <a:rPr lang="en-US" sz="1200" b="1" kern="1200" dirty="0">
                <a:solidFill>
                  <a:schemeClr val="tx1"/>
                </a:solidFill>
                <a:effectLst/>
                <a:latin typeface="+mn-lt"/>
                <a:ea typeface="+mn-ea"/>
                <a:cs typeface="+mn-cs"/>
              </a:rPr>
              <a:t>Traditional Incumbents (Danger Zone):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Legacy incumbents are stuck with high, rigid legacy cost structures.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protect market share against low-cost disruptors, incumbents are forced to slash prices without a corresponding drop in cost structure—resulting in margin compression, debt restructuring, and severe dividend risk. </a:t>
            </a:r>
          </a:p>
          <a:p>
            <a:pPr lvl="0"/>
            <a:r>
              <a:rPr lang="en-US" sz="1200" b="1" kern="1200" dirty="0">
                <a:solidFill>
                  <a:schemeClr val="tx1"/>
                </a:solidFill>
                <a:effectLst/>
                <a:latin typeface="+mn-lt"/>
                <a:ea typeface="+mn-ea"/>
                <a:cs typeface="+mn-cs"/>
              </a:rPr>
              <a:t>Case Study: Internal Combustion Engine (ICE) Auto Industry: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Traditional ICE automakers face structural headwinds as consumers transition toward autonomous electric vehicle fleets.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10</a:t>
            </a:fld>
            <a:endParaRPr lang="en-US"/>
          </a:p>
        </p:txBody>
      </p:sp>
    </p:spTree>
    <p:extLst>
      <p:ext uri="{BB962C8B-B14F-4D97-AF65-F5344CB8AC3E}">
        <p14:creationId xmlns:p14="http://schemas.microsoft.com/office/powerpoint/2010/main" val="635751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Decoupling Volatility from Risk: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One of the most critical conceptual tasks for investors is distinguishing daily volatility from structural risk. </a:t>
            </a:r>
          </a:p>
          <a:p>
            <a:pPr lvl="0"/>
            <a:r>
              <a:rPr lang="en-US" sz="1200" b="1" kern="1200" dirty="0">
                <a:solidFill>
                  <a:schemeClr val="tx1"/>
                </a:solidFill>
                <a:effectLst/>
                <a:latin typeface="+mn-lt"/>
                <a:ea typeface="+mn-ea"/>
                <a:cs typeface="+mn-cs"/>
              </a:rPr>
              <a:t>Volatility = Uncertainty &amp; Market Sentiment:</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Volatility is a function of short-term uncertainty. </a:t>
            </a: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It is amplified by high-frequency trading algorithms reacting to headlines, macroeconomic updates, or quarterly earnings noise. </a:t>
            </a:r>
          </a:p>
          <a:p>
            <a:pPr lvl="0"/>
            <a:r>
              <a:rPr lang="en-US" sz="1200" b="1" kern="1200" dirty="0">
                <a:solidFill>
                  <a:schemeClr val="tx1"/>
                </a:solidFill>
                <a:effectLst/>
                <a:latin typeface="+mn-lt"/>
                <a:ea typeface="+mn-ea"/>
                <a:cs typeface="+mn-cs"/>
              </a:rPr>
              <a:t>Risk = Permanent Capital Impairment: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Real risk is the permanent impairment of capital caused by a failed investment thesis.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example, when interrogating company management teams on AI strategy, some reveal their AI efforts to be 'only an inch deep'—merely checking a public relations box rather than deploying real technical architectures.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11</a:t>
            </a:fld>
            <a:endParaRPr lang="en-US"/>
          </a:p>
        </p:txBody>
      </p:sp>
    </p:spTree>
    <p:extLst>
      <p:ext uri="{BB962C8B-B14F-4D97-AF65-F5344CB8AC3E}">
        <p14:creationId xmlns:p14="http://schemas.microsoft.com/office/powerpoint/2010/main" val="1926788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Down Markets as Opportunities: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Rather than pulling back during market drawdowns, active managers use market corrections to strengthen portfolio conviction. </a:t>
            </a:r>
          </a:p>
          <a:p>
            <a:pPr lvl="0"/>
            <a:r>
              <a:rPr lang="en-US" sz="1200" b="1" kern="1200" dirty="0">
                <a:solidFill>
                  <a:schemeClr val="tx1"/>
                </a:solidFill>
                <a:effectLst/>
                <a:latin typeface="+mn-lt"/>
                <a:ea typeface="+mn-ea"/>
                <a:cs typeface="+mn-cs"/>
              </a:rPr>
              <a:t>The 6-Metric Bottom-Up Scoring System: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drawdowns, every portfolio company is systematically evaluated across a proprietary 6-metric bottom-up scoring model (evaluating moat, technology depth, management quality, balance sheet strength, and valuation). </a:t>
            </a:r>
          </a:p>
          <a:p>
            <a:pPr lvl="0"/>
            <a:r>
              <a:rPr lang="en-US" sz="1200" b="1" kern="1200" dirty="0">
                <a:solidFill>
                  <a:schemeClr val="tx1"/>
                </a:solidFill>
                <a:effectLst/>
                <a:latin typeface="+mn-lt"/>
                <a:ea typeface="+mn-ea"/>
                <a:cs typeface="+mn-cs"/>
              </a:rPr>
              <a:t>Eliminating Uncertainty: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funnel process forces capital out of secondary, lower-conviction holdings and concentrates it into top-tier platforms.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approach removes structural thesis risk from the strategy while preserving long-term upside participation.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12</a:t>
            </a:fld>
            <a:endParaRPr lang="en-US"/>
          </a:p>
        </p:txBody>
      </p:sp>
    </p:spTree>
    <p:extLst>
      <p:ext uri="{BB962C8B-B14F-4D97-AF65-F5344CB8AC3E}">
        <p14:creationId xmlns:p14="http://schemas.microsoft.com/office/powerpoint/2010/main" val="2239710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5-Year Horizon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Short-term market participants demand cheap multiples today because they lack visibility into multi-year technology adoption curves. </a:t>
            </a:r>
          </a:p>
          <a:p>
            <a:pPr lvl="0"/>
            <a:r>
              <a:rPr lang="en-US" sz="1200" b="1" kern="1200" dirty="0">
                <a:solidFill>
                  <a:schemeClr val="tx1"/>
                </a:solidFill>
                <a:effectLst/>
                <a:latin typeface="+mn-lt"/>
                <a:ea typeface="+mn-ea"/>
                <a:cs typeface="+mn-cs"/>
              </a:rPr>
              <a:t>Accounting for Multiple Decay: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evaluating high-growth platforms in Year 1, active models factor in an assumed multiple compression over a 5-year period—assuming the valuation multiple will decay down toward a standard market multiple (e.g., 18–19x EBITDA) by Year 5. </a:t>
            </a:r>
          </a:p>
          <a:p>
            <a:pPr lvl="0"/>
            <a:r>
              <a:rPr lang="en-US" sz="1200" b="1" kern="1200" dirty="0">
                <a:solidFill>
                  <a:schemeClr val="tx1"/>
                </a:solidFill>
                <a:effectLst/>
                <a:latin typeface="+mn-lt"/>
                <a:ea typeface="+mn-ea"/>
                <a:cs typeface="+mn-cs"/>
              </a:rPr>
              <a:t>The Principle of Overwhelming Force:</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For an investment thesis to pass investment criteria, the company's projected revenue growth and margin expansion must be strong enough to completely offset this multiple decay.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13</a:t>
            </a:fld>
            <a:endParaRPr lang="en-US"/>
          </a:p>
        </p:txBody>
      </p:sp>
    </p:spTree>
    <p:extLst>
      <p:ext uri="{BB962C8B-B14F-4D97-AF65-F5344CB8AC3E}">
        <p14:creationId xmlns:p14="http://schemas.microsoft.com/office/powerpoint/2010/main" val="766277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How to Identify a Real Tech Bubble Top: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 will we know when this AI-driven technology cycle has reached its true peak?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will not occur when investors are anxious, questioning hyper-scaler CAPEX, or debating valuation multiples.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Cathie Wood notes: </a:t>
            </a:r>
            <a:r>
              <a:rPr lang="en-US" sz="1200" i="1" kern="1200" dirty="0">
                <a:solidFill>
                  <a:schemeClr val="tx1"/>
                </a:solidFill>
                <a:effectLst/>
                <a:latin typeface="+mn-lt"/>
                <a:ea typeface="+mn-ea"/>
                <a:cs typeface="+mn-cs"/>
              </a:rPr>
              <a:t>'I will know this technology revolution has reached its peak when... the sky is the limit, when no one is worried about anything, and all the skepticism is gone.'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Current Market Position: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Today’s market is characterized by institutional skepticism, volatility, and strict cash flow accountability.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skepticism provides the healthy discipline needed to build durable, long-term enterprise value.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14</a:t>
            </a:fld>
            <a:endParaRPr lang="en-US"/>
          </a:p>
        </p:txBody>
      </p:sp>
    </p:spTree>
    <p:extLst>
      <p:ext uri="{BB962C8B-B14F-4D97-AF65-F5344CB8AC3E}">
        <p14:creationId xmlns:p14="http://schemas.microsoft.com/office/powerpoint/2010/main" val="3002081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1999 Reality Check: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market multiples were driven by speculative assumptions around web traffic and potential reach, well before real unit economics existed. </a:t>
            </a:r>
          </a:p>
          <a:p>
            <a:pPr lvl="0"/>
            <a:r>
              <a:rPr lang="en-US" sz="1200" b="1" kern="1200" dirty="0">
                <a:solidFill>
                  <a:schemeClr val="tx1"/>
                </a:solidFill>
                <a:effectLst/>
                <a:latin typeface="+mn-lt"/>
                <a:ea typeface="+mn-ea"/>
                <a:cs typeface="+mn-cs"/>
              </a:rPr>
              <a:t>Modern Innovation Era Reality: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Today’s growth is anchored by high hardware utilization, rapid product adoption, and significant productivity gains. </a:t>
            </a:r>
          </a:p>
          <a:p>
            <a:pPr lvl="0"/>
            <a:r>
              <a:rPr lang="en-US" sz="1200" b="1" kern="1200" dirty="0">
                <a:solidFill>
                  <a:schemeClr val="tx1"/>
                </a:solidFill>
                <a:effectLst/>
                <a:latin typeface="+mn-lt"/>
                <a:ea typeface="+mn-ea"/>
                <a:cs typeface="+mn-cs"/>
              </a:rPr>
              <a:t>The Benchmark Blind Spot: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Traditional broad market indices remain heavily weighted toward mature, legacy mega-cap benchmarks.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creates a blind spot that leaves index-only investors under-allocated to pure-play disruptive platforms emerging outside legacy benchmark holdings.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15</a:t>
            </a:fld>
            <a:endParaRPr lang="en-US"/>
          </a:p>
        </p:txBody>
      </p:sp>
    </p:spTree>
    <p:extLst>
      <p:ext uri="{BB962C8B-B14F-4D97-AF65-F5344CB8AC3E}">
        <p14:creationId xmlns:p14="http://schemas.microsoft.com/office/powerpoint/2010/main" val="2031986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Synthesizing the Core Framework:</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wrap up our analysis of Slides 1 through 15, let's summarize the four core takeaways of this technological revolution: </a:t>
            </a:r>
          </a:p>
          <a:p>
            <a:pPr marL="228600" lvl="0" indent="-228600">
              <a:buFont typeface="+mj-lt"/>
              <a:buAutoNum type="arabicPeriod"/>
            </a:pPr>
            <a:r>
              <a:rPr lang="en-US" sz="1200" b="1" kern="1200" dirty="0">
                <a:solidFill>
                  <a:schemeClr val="tx1"/>
                </a:solidFill>
                <a:effectLst/>
                <a:latin typeface="+mn-lt"/>
                <a:ea typeface="+mn-ea"/>
                <a:cs typeface="+mn-cs"/>
              </a:rPr>
              <a:t>Wright’s Law Cost Declines:</a:t>
            </a:r>
            <a:r>
              <a:rPr lang="en-US" sz="1200" kern="1200" dirty="0">
                <a:solidFill>
                  <a:schemeClr val="tx1"/>
                </a:solidFill>
                <a:effectLst/>
                <a:latin typeface="+mn-lt"/>
                <a:ea typeface="+mn-ea"/>
                <a:cs typeface="+mn-cs"/>
              </a:rPr>
              <a:t> Predictable cost reductions drive rapid market expansion (e.g., DNA sequencing dropping from $2.7B to under $100). </a:t>
            </a:r>
          </a:p>
          <a:p>
            <a:pPr marL="228600" lvl="0" indent="-228600">
              <a:buFont typeface="+mj-lt"/>
              <a:buAutoNum type="arabicPeriod"/>
            </a:pPr>
            <a:r>
              <a:rPr lang="en-US" sz="1200" b="1" kern="1200" dirty="0">
                <a:solidFill>
                  <a:schemeClr val="tx1"/>
                </a:solidFill>
                <a:effectLst/>
                <a:latin typeface="+mn-lt"/>
                <a:ea typeface="+mn-ea"/>
                <a:cs typeface="+mn-cs"/>
              </a:rPr>
              <a:t>Multi-Platform Convergence:</a:t>
            </a:r>
            <a:r>
              <a:rPr lang="en-US" sz="1200" kern="1200" dirty="0">
                <a:solidFill>
                  <a:schemeClr val="tx1"/>
                </a:solidFill>
                <a:effectLst/>
                <a:latin typeface="+mn-lt"/>
                <a:ea typeface="+mn-ea"/>
                <a:cs typeface="+mn-cs"/>
              </a:rPr>
              <a:t> Combined platforms accelerate adoption (e.g., AI, Robotics, and Energy Storage converging to create Autonomous Robo-Taxis). </a:t>
            </a:r>
          </a:p>
          <a:p>
            <a:pPr marL="228600" lvl="0" indent="-228600">
              <a:buFont typeface="+mj-lt"/>
              <a:buAutoNum type="arabicPeriod"/>
            </a:pPr>
            <a:r>
              <a:rPr lang="en-US" sz="1200" b="1" kern="1200" dirty="0">
                <a:solidFill>
                  <a:schemeClr val="tx1"/>
                </a:solidFill>
                <a:effectLst/>
                <a:latin typeface="+mn-lt"/>
                <a:ea typeface="+mn-ea"/>
                <a:cs typeface="+mn-cs"/>
              </a:rPr>
              <a:t>Real Revenue Velocity:</a:t>
            </a:r>
            <a:r>
              <a:rPr lang="en-US" sz="1200" kern="1200" dirty="0">
                <a:solidFill>
                  <a:schemeClr val="tx1"/>
                </a:solidFill>
                <a:effectLst/>
                <a:latin typeface="+mn-lt"/>
                <a:ea typeface="+mn-ea"/>
                <a:cs typeface="+mn-cs"/>
              </a:rPr>
              <a:t> Value creation is supported by actual enterprise revenue growth, not speculative metrics. </a:t>
            </a:r>
          </a:p>
          <a:p>
            <a:pPr marL="228600" lvl="0" indent="-228600">
              <a:buFont typeface="+mj-lt"/>
              <a:buAutoNum type="arabicPeriod"/>
            </a:pPr>
            <a:r>
              <a:rPr lang="en-US" sz="1200" b="1" kern="1200" dirty="0">
                <a:solidFill>
                  <a:schemeClr val="tx1"/>
                </a:solidFill>
                <a:effectLst/>
                <a:latin typeface="+mn-lt"/>
                <a:ea typeface="+mn-ea"/>
                <a:cs typeface="+mn-cs"/>
              </a:rPr>
              <a:t>Active, Long-Term Horizon:</a:t>
            </a:r>
            <a:r>
              <a:rPr lang="en-US" sz="1200" kern="1200" dirty="0">
                <a:solidFill>
                  <a:schemeClr val="tx1"/>
                </a:solidFill>
                <a:effectLst/>
                <a:latin typeface="+mn-lt"/>
                <a:ea typeface="+mn-ea"/>
                <a:cs typeface="+mn-cs"/>
              </a:rPr>
              <a:t> Capturing this value requires moving beyond benchmark-sensitive indexing to maintain a 5-year investment horizon through market volatility. </a:t>
            </a:r>
          </a:p>
          <a:p>
            <a:endParaRPr lang="en-US" dirty="0"/>
          </a:p>
        </p:txBody>
      </p:sp>
      <p:sp>
        <p:nvSpPr>
          <p:cNvPr id="4" name="Slide Number Placeholder 3"/>
          <p:cNvSpPr>
            <a:spLocks noGrp="1"/>
          </p:cNvSpPr>
          <p:nvPr>
            <p:ph type="sldNum" sz="quarter" idx="5"/>
          </p:nvPr>
        </p:nvSpPr>
        <p:spPr/>
        <p:txBody>
          <a:bodyPr/>
          <a:lstStyle/>
          <a:p>
            <a:fld id="{E31947D6-9B6A-43A0-92DD-9EA9A0A22F94}" type="slidenum">
              <a:rPr lang="en-US" smtClean="0"/>
              <a:t>16</a:t>
            </a:fld>
            <a:endParaRPr lang="en-US"/>
          </a:p>
        </p:txBody>
      </p:sp>
    </p:spTree>
    <p:extLst>
      <p:ext uri="{BB962C8B-B14F-4D97-AF65-F5344CB8AC3E}">
        <p14:creationId xmlns:p14="http://schemas.microsoft.com/office/powerpoint/2010/main" val="200383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63CE49-0A02-66C7-854B-5CD6020DE99B}"/>
              </a:ext>
            </a:extLst>
          </p:cNvPr>
          <p:cNvSpPr>
            <a:spLocks noGrp="1"/>
          </p:cNvSpPr>
          <p:nvPr>
            <p:ph type="dt" sz="half" idx="10"/>
          </p:nvPr>
        </p:nvSpPr>
        <p:spPr/>
        <p:txBody>
          <a:bodyPr/>
          <a:lstStyle/>
          <a:p>
            <a:fld id="{3E7BE3C6-698D-42FB-90EB-A9D417F3EDFE}" type="datetimeFigureOut">
              <a:rPr lang="en-US" smtClean="0"/>
              <a:t>10/19/2026</a:t>
            </a:fld>
            <a:endParaRPr lang="en-US"/>
          </a:p>
        </p:txBody>
      </p:sp>
      <p:sp>
        <p:nvSpPr>
          <p:cNvPr id="3" name="Footer Placeholder 2">
            <a:extLst>
              <a:ext uri="{FF2B5EF4-FFF2-40B4-BE49-F238E27FC236}">
                <a16:creationId xmlns:a16="http://schemas.microsoft.com/office/drawing/2014/main" id="{E14C03FA-8E41-65D8-912D-ED9027DC9C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AADC2E-0D6C-8F3F-15E7-46CB4A85F253}"/>
              </a:ext>
            </a:extLst>
          </p:cNvPr>
          <p:cNvSpPr>
            <a:spLocks noGrp="1"/>
          </p:cNvSpPr>
          <p:nvPr>
            <p:ph type="sldNum" sz="quarter" idx="12"/>
          </p:nvPr>
        </p:nvSpPr>
        <p:spPr/>
        <p:txBody>
          <a:bodyPr/>
          <a:lstStyle/>
          <a:p>
            <a:fld id="{DEC7BF3B-6071-448E-BE77-2604A7B3E62E}" type="slidenum">
              <a:rPr lang="en-US" smtClean="0"/>
              <a:t>‹#›</a:t>
            </a:fld>
            <a:endParaRPr lang="en-US"/>
          </a:p>
        </p:txBody>
      </p:sp>
    </p:spTree>
    <p:extLst>
      <p:ext uri="{BB962C8B-B14F-4D97-AF65-F5344CB8AC3E}">
        <p14:creationId xmlns:p14="http://schemas.microsoft.com/office/powerpoint/2010/main" val="3682011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96E8C3-6546-6B10-C326-14E760B85A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942544-48D5-827B-EC97-4495014D29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A759D7-1872-8645-EDC2-326DC5B8A3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7BE3C6-698D-42FB-90EB-A9D417F3EDFE}" type="datetimeFigureOut">
              <a:rPr lang="en-US" smtClean="0"/>
              <a:t>10/19/2026</a:t>
            </a:fld>
            <a:endParaRPr lang="en-US"/>
          </a:p>
        </p:txBody>
      </p:sp>
      <p:sp>
        <p:nvSpPr>
          <p:cNvPr id="5" name="Footer Placeholder 4">
            <a:extLst>
              <a:ext uri="{FF2B5EF4-FFF2-40B4-BE49-F238E27FC236}">
                <a16:creationId xmlns:a16="http://schemas.microsoft.com/office/drawing/2014/main" id="{80383C0F-2F4E-1F14-DB99-8C997EBE34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DD0BCC-1ACD-2F14-44AF-EB2514F88D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C7BF3B-6071-448E-BE77-2604A7B3E62E}" type="slidenum">
              <a:rPr lang="en-US" smtClean="0"/>
              <a:t>‹#›</a:t>
            </a:fld>
            <a:endParaRPr lang="en-US"/>
          </a:p>
        </p:txBody>
      </p:sp>
    </p:spTree>
    <p:extLst>
      <p:ext uri="{BB962C8B-B14F-4D97-AF65-F5344CB8AC3E}">
        <p14:creationId xmlns:p14="http://schemas.microsoft.com/office/powerpoint/2010/main" val="425719998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30DABC-F6B4-04EA-0290-43D54F0406F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7640B5-54DE-BD7C-FECC-00045A93BA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E9CDBC-E39A-5576-33C2-6C66DC93D3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8A3AD6-0D62-B44B-8052-166D88B781B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077A0A-CB19-F7DE-943E-8E3F04B8D74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3E0CB8-9F6D-5DA6-E190-8EDB663590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6DE08A-A435-7F36-0988-514272A75B3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65E98E-837B-BA0A-9E49-4BF3923CFE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D63EAF-B8ED-0777-9082-8FF33957F7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2F4615-9175-D1DC-A23E-2697EF3EA6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76E09A-0359-4E5C-B491-3CD432659A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EAD312-6700-7DA0-B820-1B40FF5E48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5E4E2E-8FAF-E1EA-9BBF-3B1245E96C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52CE0C-4CD5-3EC2-89CB-E540DB02DF4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7E7588-D13A-76B3-CD39-1F79B7510A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F1EBA8-A0C8-3081-BA44-65C7E23C83B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045020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2298</Words>
  <Application>Microsoft Office PowerPoint</Application>
  <PresentationFormat>寬螢幕</PresentationFormat>
  <Paragraphs>155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2026-08-23T13:11:49Z</dcterms:created>
  <dcterms:modified xsi:type="dcterms:W3CDTF">2026-10-19T15:43:07Z</dcterms:modified>
</cp:coreProperties>
</file>