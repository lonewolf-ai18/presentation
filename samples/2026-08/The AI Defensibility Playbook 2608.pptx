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A574BF-936D-42FC-96FC-601399C852C7}" v="18" dt="2026-08-06T01:00:13.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73077" autoAdjust="0"/>
  </p:normalViewPr>
  <p:slideViewPr>
    <p:cSldViewPr snapToGrid="0">
      <p:cViewPr varScale="1">
        <p:scale>
          <a:sx n="74" d="100"/>
          <a:sy n="74" d="100"/>
        </p:scale>
        <p:origin x="7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6T01:00:26.315" v="56" actId="166"/>
      <pc:docMkLst>
        <pc:docMk/>
      </pc:docMkLst>
      <pc:sldChg chg="addSp delSp modSp mod modAnim modNotesTx">
        <pc:chgData name="Lai, Wilson" userId="2840974a-0d84-4886-90a9-9a3ed79f3a48" providerId="ADAL" clId="{9F23B798-9E84-4552-BA63-E776E805C424}" dt="2026-08-06T01:00:26.315" v="56" actId="166"/>
        <pc:sldMkLst>
          <pc:docMk/>
          <pc:sldMk cId="0" sldId="257"/>
        </pc:sldMkLst>
        <pc:spChg chg="add mod">
          <ac:chgData name="Lai, Wilson" userId="2840974a-0d84-4886-90a9-9a3ed79f3a48" providerId="ADAL" clId="{9F23B798-9E84-4552-BA63-E776E805C424}" dt="2026-08-05T14:51:36.126" v="17" actId="164"/>
          <ac:spMkLst>
            <pc:docMk/>
            <pc:sldMk cId="0" sldId="257"/>
            <ac:spMk id="5" creationId="{7EB72BC7-308A-490C-D14F-51BEC99E77F6}"/>
          </ac:spMkLst>
        </pc:spChg>
        <pc:grpChg chg="add mod">
          <ac:chgData name="Lai, Wilson" userId="2840974a-0d84-4886-90a9-9a3ed79f3a48" providerId="ADAL" clId="{9F23B798-9E84-4552-BA63-E776E805C424}" dt="2026-08-05T15:02:37.322" v="23" actId="1076"/>
          <ac:grpSpMkLst>
            <pc:docMk/>
            <pc:sldMk cId="0" sldId="257"/>
            <ac:grpSpMk id="6" creationId="{3B0014E5-F3CA-34C2-FA89-0376603EE9C1}"/>
          </ac:grpSpMkLst>
        </pc:grpChg>
        <pc:picChg chg="del">
          <ac:chgData name="Lai, Wilson" userId="2840974a-0d84-4886-90a9-9a3ed79f3a48" providerId="ADAL" clId="{9F23B798-9E84-4552-BA63-E776E805C424}" dt="2026-08-05T15:02:16.563" v="20" actId="478"/>
          <ac:picMkLst>
            <pc:docMk/>
            <pc:sldMk cId="0" sldId="257"/>
            <ac:picMk id="2" creationId="{00000000-0000-0000-0000-000000000000}"/>
          </ac:picMkLst>
        </pc:picChg>
        <pc:picChg chg="add mod">
          <ac:chgData name="Lai, Wilson" userId="2840974a-0d84-4886-90a9-9a3ed79f3a48" providerId="ADAL" clId="{9F23B798-9E84-4552-BA63-E776E805C424}" dt="2026-08-05T14:51:36.126" v="17" actId="164"/>
          <ac:picMkLst>
            <pc:docMk/>
            <pc:sldMk cId="0" sldId="257"/>
            <ac:picMk id="3" creationId="{1A4176B8-1738-6A4C-0EF1-456D2CD27127}"/>
          </ac:picMkLst>
        </pc:picChg>
        <pc:picChg chg="add mod ord">
          <ac:chgData name="Lai, Wilson" userId="2840974a-0d84-4886-90a9-9a3ed79f3a48" providerId="ADAL" clId="{9F23B798-9E84-4552-BA63-E776E805C424}" dt="2026-08-06T01:00:26.315" v="56" actId="166"/>
          <ac:picMkLst>
            <pc:docMk/>
            <pc:sldMk cId="0" sldId="257"/>
            <ac:picMk id="7" creationId="{C46D52FB-F4AD-1949-6789-4DD0D096358F}"/>
          </ac:picMkLst>
        </pc:picChg>
      </pc:sldChg>
      <pc:sldChg chg="addSp delSp mod">
        <pc:chgData name="Lai, Wilson" userId="2840974a-0d84-4886-90a9-9a3ed79f3a48" providerId="ADAL" clId="{9F23B798-9E84-4552-BA63-E776E805C424}" dt="2026-08-05T15:03:38.947" v="25" actId="22"/>
        <pc:sldMkLst>
          <pc:docMk/>
          <pc:sldMk cId="0" sldId="258"/>
        </pc:sldMkLst>
        <pc:picChg chg="del">
          <ac:chgData name="Lai, Wilson" userId="2840974a-0d84-4886-90a9-9a3ed79f3a48" providerId="ADAL" clId="{9F23B798-9E84-4552-BA63-E776E805C424}" dt="2026-08-05T15:02:46.197" v="24" actId="21"/>
          <ac:picMkLst>
            <pc:docMk/>
            <pc:sldMk cId="0" sldId="258"/>
            <ac:picMk id="2" creationId="{00000000-0000-0000-0000-000000000000}"/>
          </ac:picMkLst>
        </pc:picChg>
        <pc:picChg chg="add">
          <ac:chgData name="Lai, Wilson" userId="2840974a-0d84-4886-90a9-9a3ed79f3a48" providerId="ADAL" clId="{9F23B798-9E84-4552-BA63-E776E805C424}" dt="2026-08-05T15:03:38.947" v="25" actId="22"/>
          <ac:picMkLst>
            <pc:docMk/>
            <pc:sldMk cId="0" sldId="258"/>
            <ac:picMk id="4" creationId="{916740E0-6748-27D7-DAAD-A0F468C1F3B6}"/>
          </ac:picMkLst>
        </pc:picChg>
      </pc:sldChg>
      <pc:sldChg chg="addSp delSp mod">
        <pc:chgData name="Lai, Wilson" userId="2840974a-0d84-4886-90a9-9a3ed79f3a48" providerId="ADAL" clId="{9F23B798-9E84-4552-BA63-E776E805C424}" dt="2026-08-05T15:03:56.640" v="27" actId="22"/>
        <pc:sldMkLst>
          <pc:docMk/>
          <pc:sldMk cId="0" sldId="259"/>
        </pc:sldMkLst>
        <pc:picChg chg="del">
          <ac:chgData name="Lai, Wilson" userId="2840974a-0d84-4886-90a9-9a3ed79f3a48" providerId="ADAL" clId="{9F23B798-9E84-4552-BA63-E776E805C424}" dt="2026-08-05T15:03:45.854" v="26" actId="21"/>
          <ac:picMkLst>
            <pc:docMk/>
            <pc:sldMk cId="0" sldId="259"/>
            <ac:picMk id="2" creationId="{00000000-0000-0000-0000-000000000000}"/>
          </ac:picMkLst>
        </pc:picChg>
        <pc:picChg chg="add">
          <ac:chgData name="Lai, Wilson" userId="2840974a-0d84-4886-90a9-9a3ed79f3a48" providerId="ADAL" clId="{9F23B798-9E84-4552-BA63-E776E805C424}" dt="2026-08-05T15:03:56.640" v="27" actId="22"/>
          <ac:picMkLst>
            <pc:docMk/>
            <pc:sldMk cId="0" sldId="259"/>
            <ac:picMk id="4" creationId="{D7DF8322-C778-DF14-3D86-34F513B9A6B9}"/>
          </ac:picMkLst>
        </pc:picChg>
      </pc:sldChg>
      <pc:sldChg chg="addSp delSp mod modNotesTx">
        <pc:chgData name="Lai, Wilson" userId="2840974a-0d84-4886-90a9-9a3ed79f3a48" providerId="ADAL" clId="{9F23B798-9E84-4552-BA63-E776E805C424}" dt="2026-08-06T00:58:48.971" v="53" actId="20577"/>
        <pc:sldMkLst>
          <pc:docMk/>
          <pc:sldMk cId="0" sldId="260"/>
        </pc:sldMkLst>
        <pc:picChg chg="del">
          <ac:chgData name="Lai, Wilson" userId="2840974a-0d84-4886-90a9-9a3ed79f3a48" providerId="ADAL" clId="{9F23B798-9E84-4552-BA63-E776E805C424}" dt="2026-08-05T15:03:58.897" v="28" actId="21"/>
          <ac:picMkLst>
            <pc:docMk/>
            <pc:sldMk cId="0" sldId="260"/>
            <ac:picMk id="2" creationId="{00000000-0000-0000-0000-000000000000}"/>
          </ac:picMkLst>
        </pc:picChg>
        <pc:picChg chg="add">
          <ac:chgData name="Lai, Wilson" userId="2840974a-0d84-4886-90a9-9a3ed79f3a48" providerId="ADAL" clId="{9F23B798-9E84-4552-BA63-E776E805C424}" dt="2026-08-05T15:04:08.965" v="29" actId="22"/>
          <ac:picMkLst>
            <pc:docMk/>
            <pc:sldMk cId="0" sldId="260"/>
            <ac:picMk id="4" creationId="{448DC2CF-E21E-C422-803D-95EA708DB90C}"/>
          </ac:picMkLst>
        </pc:picChg>
      </pc:sldChg>
      <pc:sldChg chg="addSp delSp mod">
        <pc:chgData name="Lai, Wilson" userId="2840974a-0d84-4886-90a9-9a3ed79f3a48" providerId="ADAL" clId="{9F23B798-9E84-4552-BA63-E776E805C424}" dt="2026-08-05T15:04:20.516" v="31" actId="22"/>
        <pc:sldMkLst>
          <pc:docMk/>
          <pc:sldMk cId="0" sldId="261"/>
        </pc:sldMkLst>
        <pc:picChg chg="del">
          <ac:chgData name="Lai, Wilson" userId="2840974a-0d84-4886-90a9-9a3ed79f3a48" providerId="ADAL" clId="{9F23B798-9E84-4552-BA63-E776E805C424}" dt="2026-08-05T15:04:12.470" v="30" actId="21"/>
          <ac:picMkLst>
            <pc:docMk/>
            <pc:sldMk cId="0" sldId="261"/>
            <ac:picMk id="2" creationId="{00000000-0000-0000-0000-000000000000}"/>
          </ac:picMkLst>
        </pc:picChg>
        <pc:picChg chg="add">
          <ac:chgData name="Lai, Wilson" userId="2840974a-0d84-4886-90a9-9a3ed79f3a48" providerId="ADAL" clId="{9F23B798-9E84-4552-BA63-E776E805C424}" dt="2026-08-05T15:04:20.516" v="31" actId="22"/>
          <ac:picMkLst>
            <pc:docMk/>
            <pc:sldMk cId="0" sldId="261"/>
            <ac:picMk id="4" creationId="{33AC55B0-40D5-394C-749B-4B2772ED9D50}"/>
          </ac:picMkLst>
        </pc:picChg>
      </pc:sldChg>
      <pc:sldChg chg="addSp delSp mod">
        <pc:chgData name="Lai, Wilson" userId="2840974a-0d84-4886-90a9-9a3ed79f3a48" providerId="ADAL" clId="{9F23B798-9E84-4552-BA63-E776E805C424}" dt="2026-08-05T15:04:40.854" v="33" actId="22"/>
        <pc:sldMkLst>
          <pc:docMk/>
          <pc:sldMk cId="0" sldId="262"/>
        </pc:sldMkLst>
        <pc:picChg chg="del">
          <ac:chgData name="Lai, Wilson" userId="2840974a-0d84-4886-90a9-9a3ed79f3a48" providerId="ADAL" clId="{9F23B798-9E84-4552-BA63-E776E805C424}" dt="2026-08-05T15:04:25.596" v="32" actId="21"/>
          <ac:picMkLst>
            <pc:docMk/>
            <pc:sldMk cId="0" sldId="262"/>
            <ac:picMk id="2" creationId="{00000000-0000-0000-0000-000000000000}"/>
          </ac:picMkLst>
        </pc:picChg>
        <pc:picChg chg="add">
          <ac:chgData name="Lai, Wilson" userId="2840974a-0d84-4886-90a9-9a3ed79f3a48" providerId="ADAL" clId="{9F23B798-9E84-4552-BA63-E776E805C424}" dt="2026-08-05T15:04:40.854" v="33" actId="22"/>
          <ac:picMkLst>
            <pc:docMk/>
            <pc:sldMk cId="0" sldId="262"/>
            <ac:picMk id="4" creationId="{25BE56EF-FA2F-4BF6-2591-B3CD59D6E42C}"/>
          </ac:picMkLst>
        </pc:picChg>
      </pc:sldChg>
      <pc:sldChg chg="addSp delSp mod">
        <pc:chgData name="Lai, Wilson" userId="2840974a-0d84-4886-90a9-9a3ed79f3a48" providerId="ADAL" clId="{9F23B798-9E84-4552-BA63-E776E805C424}" dt="2026-08-05T15:05:01.574" v="35" actId="22"/>
        <pc:sldMkLst>
          <pc:docMk/>
          <pc:sldMk cId="0" sldId="263"/>
        </pc:sldMkLst>
        <pc:picChg chg="del">
          <ac:chgData name="Lai, Wilson" userId="2840974a-0d84-4886-90a9-9a3ed79f3a48" providerId="ADAL" clId="{9F23B798-9E84-4552-BA63-E776E805C424}" dt="2026-08-05T15:04:43.338" v="34" actId="21"/>
          <ac:picMkLst>
            <pc:docMk/>
            <pc:sldMk cId="0" sldId="263"/>
            <ac:picMk id="2" creationId="{00000000-0000-0000-0000-000000000000}"/>
          </ac:picMkLst>
        </pc:picChg>
        <pc:picChg chg="add">
          <ac:chgData name="Lai, Wilson" userId="2840974a-0d84-4886-90a9-9a3ed79f3a48" providerId="ADAL" clId="{9F23B798-9E84-4552-BA63-E776E805C424}" dt="2026-08-05T15:05:01.574" v="35" actId="22"/>
          <ac:picMkLst>
            <pc:docMk/>
            <pc:sldMk cId="0" sldId="263"/>
            <ac:picMk id="4" creationId="{C8586ADB-1D9E-9E97-C4E1-78EC5517E37A}"/>
          </ac:picMkLst>
        </pc:picChg>
      </pc:sldChg>
      <pc:sldChg chg="addSp delSp mod">
        <pc:chgData name="Lai, Wilson" userId="2840974a-0d84-4886-90a9-9a3ed79f3a48" providerId="ADAL" clId="{9F23B798-9E84-4552-BA63-E776E805C424}" dt="2026-08-05T15:05:52.587" v="37" actId="22"/>
        <pc:sldMkLst>
          <pc:docMk/>
          <pc:sldMk cId="0" sldId="264"/>
        </pc:sldMkLst>
        <pc:picChg chg="del">
          <ac:chgData name="Lai, Wilson" userId="2840974a-0d84-4886-90a9-9a3ed79f3a48" providerId="ADAL" clId="{9F23B798-9E84-4552-BA63-E776E805C424}" dt="2026-08-05T15:05:04.097" v="36" actId="21"/>
          <ac:picMkLst>
            <pc:docMk/>
            <pc:sldMk cId="0" sldId="264"/>
            <ac:picMk id="2" creationId="{00000000-0000-0000-0000-000000000000}"/>
          </ac:picMkLst>
        </pc:picChg>
        <pc:picChg chg="add">
          <ac:chgData name="Lai, Wilson" userId="2840974a-0d84-4886-90a9-9a3ed79f3a48" providerId="ADAL" clId="{9F23B798-9E84-4552-BA63-E776E805C424}" dt="2026-08-05T15:05:52.587" v="37" actId="22"/>
          <ac:picMkLst>
            <pc:docMk/>
            <pc:sldMk cId="0" sldId="264"/>
            <ac:picMk id="4" creationId="{3A9D2A11-E3F0-CCF5-75AC-D3030183A4DD}"/>
          </ac:picMkLst>
        </pc:picChg>
      </pc:sldChg>
      <pc:sldChg chg="addSp delSp mod">
        <pc:chgData name="Lai, Wilson" userId="2840974a-0d84-4886-90a9-9a3ed79f3a48" providerId="ADAL" clId="{9F23B798-9E84-4552-BA63-E776E805C424}" dt="2026-08-05T15:06:03.889" v="39" actId="22"/>
        <pc:sldMkLst>
          <pc:docMk/>
          <pc:sldMk cId="0" sldId="265"/>
        </pc:sldMkLst>
        <pc:picChg chg="del">
          <ac:chgData name="Lai, Wilson" userId="2840974a-0d84-4886-90a9-9a3ed79f3a48" providerId="ADAL" clId="{9F23B798-9E84-4552-BA63-E776E805C424}" dt="2026-08-05T15:05:54.826" v="38" actId="21"/>
          <ac:picMkLst>
            <pc:docMk/>
            <pc:sldMk cId="0" sldId="265"/>
            <ac:picMk id="2" creationId="{00000000-0000-0000-0000-000000000000}"/>
          </ac:picMkLst>
        </pc:picChg>
        <pc:picChg chg="add">
          <ac:chgData name="Lai, Wilson" userId="2840974a-0d84-4886-90a9-9a3ed79f3a48" providerId="ADAL" clId="{9F23B798-9E84-4552-BA63-E776E805C424}" dt="2026-08-05T15:06:03.889" v="39" actId="22"/>
          <ac:picMkLst>
            <pc:docMk/>
            <pc:sldMk cId="0" sldId="265"/>
            <ac:picMk id="4" creationId="{80FF7152-FFF8-9D87-8207-4662DC1655C6}"/>
          </ac:picMkLst>
        </pc:picChg>
      </pc:sldChg>
      <pc:sldChg chg="addSp delSp mod">
        <pc:chgData name="Lai, Wilson" userId="2840974a-0d84-4886-90a9-9a3ed79f3a48" providerId="ADAL" clId="{9F23B798-9E84-4552-BA63-E776E805C424}" dt="2026-08-05T15:06:15.924" v="41" actId="22"/>
        <pc:sldMkLst>
          <pc:docMk/>
          <pc:sldMk cId="0" sldId="266"/>
        </pc:sldMkLst>
        <pc:picChg chg="del">
          <ac:chgData name="Lai, Wilson" userId="2840974a-0d84-4886-90a9-9a3ed79f3a48" providerId="ADAL" clId="{9F23B798-9E84-4552-BA63-E776E805C424}" dt="2026-08-05T15:06:05.979" v="40" actId="21"/>
          <ac:picMkLst>
            <pc:docMk/>
            <pc:sldMk cId="0" sldId="266"/>
            <ac:picMk id="2" creationId="{00000000-0000-0000-0000-000000000000}"/>
          </ac:picMkLst>
        </pc:picChg>
        <pc:picChg chg="add">
          <ac:chgData name="Lai, Wilson" userId="2840974a-0d84-4886-90a9-9a3ed79f3a48" providerId="ADAL" clId="{9F23B798-9E84-4552-BA63-E776E805C424}" dt="2026-08-05T15:06:15.924" v="41" actId="22"/>
          <ac:picMkLst>
            <pc:docMk/>
            <pc:sldMk cId="0" sldId="266"/>
            <ac:picMk id="4" creationId="{F03B193F-BE45-4775-EF95-678E1062DDF8}"/>
          </ac:picMkLst>
        </pc:picChg>
      </pc:sldChg>
      <pc:sldChg chg="addSp delSp mod">
        <pc:chgData name="Lai, Wilson" userId="2840974a-0d84-4886-90a9-9a3ed79f3a48" providerId="ADAL" clId="{9F23B798-9E84-4552-BA63-E776E805C424}" dt="2026-08-05T15:06:31.254" v="43" actId="22"/>
        <pc:sldMkLst>
          <pc:docMk/>
          <pc:sldMk cId="0" sldId="267"/>
        </pc:sldMkLst>
        <pc:picChg chg="del">
          <ac:chgData name="Lai, Wilson" userId="2840974a-0d84-4886-90a9-9a3ed79f3a48" providerId="ADAL" clId="{9F23B798-9E84-4552-BA63-E776E805C424}" dt="2026-08-05T15:06:19.570" v="42" actId="21"/>
          <ac:picMkLst>
            <pc:docMk/>
            <pc:sldMk cId="0" sldId="267"/>
            <ac:picMk id="2" creationId="{00000000-0000-0000-0000-000000000000}"/>
          </ac:picMkLst>
        </pc:picChg>
        <pc:picChg chg="add">
          <ac:chgData name="Lai, Wilson" userId="2840974a-0d84-4886-90a9-9a3ed79f3a48" providerId="ADAL" clId="{9F23B798-9E84-4552-BA63-E776E805C424}" dt="2026-08-05T15:06:31.254" v="43" actId="22"/>
          <ac:picMkLst>
            <pc:docMk/>
            <pc:sldMk cId="0" sldId="267"/>
            <ac:picMk id="4" creationId="{8D59EABE-7FD4-2A18-CDCA-A7015D682330}"/>
          </ac:picMkLst>
        </pc:picChg>
      </pc:sldChg>
      <pc:sldChg chg="addSp delSp mod modNotesTx">
        <pc:chgData name="Lai, Wilson" userId="2840974a-0d84-4886-90a9-9a3ed79f3a48" providerId="ADAL" clId="{9F23B798-9E84-4552-BA63-E776E805C424}" dt="2026-08-06T01:00:04.843" v="54" actId="12"/>
        <pc:sldMkLst>
          <pc:docMk/>
          <pc:sldMk cId="0" sldId="268"/>
        </pc:sldMkLst>
        <pc:picChg chg="del">
          <ac:chgData name="Lai, Wilson" userId="2840974a-0d84-4886-90a9-9a3ed79f3a48" providerId="ADAL" clId="{9F23B798-9E84-4552-BA63-E776E805C424}" dt="2026-08-05T15:06:33.262" v="44" actId="21"/>
          <ac:picMkLst>
            <pc:docMk/>
            <pc:sldMk cId="0" sldId="268"/>
            <ac:picMk id="2" creationId="{00000000-0000-0000-0000-000000000000}"/>
          </ac:picMkLst>
        </pc:picChg>
        <pc:picChg chg="add">
          <ac:chgData name="Lai, Wilson" userId="2840974a-0d84-4886-90a9-9a3ed79f3a48" providerId="ADAL" clId="{9F23B798-9E84-4552-BA63-E776E805C424}" dt="2026-08-05T15:06:53.364" v="45" actId="22"/>
          <ac:picMkLst>
            <pc:docMk/>
            <pc:sldMk cId="0" sldId="268"/>
            <ac:picMk id="4" creationId="{7D2F09FC-5433-583E-99DF-37A737F53225}"/>
          </ac:picMkLst>
        </pc:picChg>
      </pc:sldChg>
      <pc:sldChg chg="addSp delSp mod">
        <pc:chgData name="Lai, Wilson" userId="2840974a-0d84-4886-90a9-9a3ed79f3a48" providerId="ADAL" clId="{9F23B798-9E84-4552-BA63-E776E805C424}" dt="2026-08-05T15:06:59.650" v="47" actId="21"/>
        <pc:sldMkLst>
          <pc:docMk/>
          <pc:sldMk cId="3522599366" sldId="269"/>
        </pc:sldMkLst>
        <pc:picChg chg="add del">
          <ac:chgData name="Lai, Wilson" userId="2840974a-0d84-4886-90a9-9a3ed79f3a48" providerId="ADAL" clId="{9F23B798-9E84-4552-BA63-E776E805C424}" dt="2026-08-05T15:06:59.650" v="47" actId="21"/>
          <ac:picMkLst>
            <pc:docMk/>
            <pc:sldMk cId="3522599366" sldId="269"/>
            <ac:picMk id="3" creationId="{FFB4A83A-E2A0-83F6-14AF-AECA60EB0F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C5E27C-482B-4BFC-871C-E2C2DA12BCE7}"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6CADA-EF4A-4A7B-B4BC-01D8D6BFCBAD}" type="slidenum">
              <a:rPr lang="en-US" smtClean="0"/>
              <a:t>‹#›</a:t>
            </a:fld>
            <a:endParaRPr lang="en-US"/>
          </a:p>
        </p:txBody>
      </p:sp>
    </p:spTree>
    <p:extLst>
      <p:ext uri="{BB962C8B-B14F-4D97-AF65-F5344CB8AC3E}">
        <p14:creationId xmlns:p14="http://schemas.microsoft.com/office/powerpoint/2010/main" val="960304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morning/afternoon, everyone. Today, we’re going to discuss the fundamental shift happening across the software landscape.</a:t>
            </a:r>
          </a:p>
          <a:p>
            <a:r>
              <a:rPr lang="en-US" sz="1200" kern="1200" dirty="0">
                <a:solidFill>
                  <a:schemeClr val="tx1"/>
                </a:solidFill>
                <a:effectLst/>
                <a:latin typeface="+mn-lt"/>
                <a:ea typeface="+mn-ea"/>
                <a:cs typeface="+mn-cs"/>
              </a:rPr>
              <a:t>Over the last decade, software defensibility was largely built on distribution advantages and incremental workflow optimization. In the AI era, however, the barrier to producing software has plummeted dramatically. </a:t>
            </a:r>
          </a:p>
          <a:p>
            <a:r>
              <a:rPr lang="en-US" sz="1200" kern="1200" dirty="0">
                <a:solidFill>
                  <a:schemeClr val="tx1"/>
                </a:solidFill>
                <a:effectLst/>
                <a:latin typeface="+mn-lt"/>
                <a:ea typeface="+mn-ea"/>
                <a:cs typeface="+mn-cs"/>
              </a:rPr>
              <a:t>We are seeing a "supply-side boom" where anyone can build or "vibe code" an application quickly. </a:t>
            </a:r>
          </a:p>
          <a:p>
            <a:r>
              <a:rPr lang="en-US" sz="1200" kern="1200" dirty="0">
                <a:solidFill>
                  <a:schemeClr val="tx1"/>
                </a:solidFill>
                <a:effectLst/>
                <a:latin typeface="+mn-lt"/>
                <a:ea typeface="+mn-ea"/>
                <a:cs typeface="+mn-cs"/>
              </a:rPr>
              <a:t>Because software itself can now execute actual work rather than just assist humans, the rules around moats, pricing structures, and platform risks must be completely rewritten. </a:t>
            </a:r>
          </a:p>
          <a:p>
            <a:r>
              <a:rPr lang="en-US" sz="1200" kern="1200" dirty="0">
                <a:solidFill>
                  <a:schemeClr val="tx1"/>
                </a:solidFill>
                <a:effectLst/>
                <a:latin typeface="+mn-lt"/>
                <a:ea typeface="+mn-ea"/>
                <a:cs typeface="+mn-cs"/>
              </a:rPr>
              <a:t>Over the next few minutes, we will walk through a strategic framework to help startups navigate this shift, avoid structural traps, and build durable, high-margin software companies.</a:t>
            </a:r>
            <a:endParaRPr lang="en-US" dirty="0"/>
          </a:p>
          <a:p>
            <a:endParaRPr lang="en-US" dirty="0"/>
          </a:p>
          <a:p>
            <a:r>
              <a:rPr lang="en-US" dirty="0"/>
              <a:t>https://youtube.com/watch?v=fgzr3PhzIMk</a:t>
            </a:r>
          </a:p>
        </p:txBody>
      </p:sp>
      <p:sp>
        <p:nvSpPr>
          <p:cNvPr id="4" name="Slide Number Placeholder 3"/>
          <p:cNvSpPr>
            <a:spLocks noGrp="1"/>
          </p:cNvSpPr>
          <p:nvPr>
            <p:ph type="sldNum" sz="quarter" idx="5"/>
          </p:nvPr>
        </p:nvSpPr>
        <p:spPr/>
        <p:txBody>
          <a:bodyPr/>
          <a:lstStyle/>
          <a:p>
            <a:fld id="{1906CADA-EF4A-4A7B-B4BC-01D8D6BFCBAD}" type="slidenum">
              <a:rPr lang="en-US" smtClean="0"/>
              <a:t>1</a:t>
            </a:fld>
            <a:endParaRPr lang="en-US"/>
          </a:p>
        </p:txBody>
      </p:sp>
    </p:spTree>
    <p:extLst>
      <p:ext uri="{BB962C8B-B14F-4D97-AF65-F5344CB8AC3E}">
        <p14:creationId xmlns:p14="http://schemas.microsoft.com/office/powerpoint/2010/main" val="2591183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most important economic shift in this product cycle is how we calculate Total Addressable Market (TAM). </a:t>
            </a:r>
          </a:p>
          <a:p>
            <a:r>
              <a:rPr lang="en-US" sz="1200" kern="1200" dirty="0">
                <a:solidFill>
                  <a:schemeClr val="tx1"/>
                </a:solidFill>
                <a:effectLst/>
                <a:latin typeface="+mn-lt"/>
                <a:ea typeface="+mn-ea"/>
                <a:cs typeface="+mn-cs"/>
              </a:rPr>
              <a:t>Traditionally, software companies competed for enterprise </a:t>
            </a:r>
            <a:r>
              <a:rPr lang="en-US" sz="1200" b="1" kern="1200" dirty="0">
                <a:solidFill>
                  <a:schemeClr val="tx1"/>
                </a:solidFill>
                <a:effectLst/>
                <a:latin typeface="+mn-lt"/>
                <a:ea typeface="+mn-ea"/>
                <a:cs typeface="+mn-cs"/>
              </a:rPr>
              <a:t>IT budgets</a:t>
            </a:r>
            <a:r>
              <a:rPr lang="en-US" sz="1200" kern="1200" dirty="0">
                <a:solidFill>
                  <a:schemeClr val="tx1"/>
                </a:solidFill>
                <a:effectLst/>
                <a:latin typeface="+mn-lt"/>
                <a:ea typeface="+mn-ea"/>
                <a:cs typeface="+mn-cs"/>
              </a:rPr>
              <a:t>, which represent a fraction of corporate spending. Software was bought to make employees slightly more efficient. </a:t>
            </a:r>
          </a:p>
          <a:p>
            <a:r>
              <a:rPr lang="en-US" sz="1200" kern="1200" dirty="0">
                <a:solidFill>
                  <a:schemeClr val="tx1"/>
                </a:solidFill>
                <a:effectLst/>
                <a:latin typeface="+mn-lt"/>
                <a:ea typeface="+mn-ea"/>
                <a:cs typeface="+mn-cs"/>
              </a:rPr>
              <a:t>Today, software is shifting from </a:t>
            </a:r>
            <a:r>
              <a:rPr lang="en-US" sz="1200" i="1" kern="1200" dirty="0">
                <a:solidFill>
                  <a:schemeClr val="tx1"/>
                </a:solidFill>
                <a:effectLst/>
                <a:latin typeface="+mn-lt"/>
                <a:ea typeface="+mn-ea"/>
                <a:cs typeface="+mn-cs"/>
              </a:rPr>
              <a:t>assisting</a:t>
            </a:r>
            <a:r>
              <a:rPr lang="en-US" sz="1200" kern="1200" dirty="0">
                <a:solidFill>
                  <a:schemeClr val="tx1"/>
                </a:solidFill>
                <a:effectLst/>
                <a:latin typeface="+mn-lt"/>
                <a:ea typeface="+mn-ea"/>
                <a:cs typeface="+mn-cs"/>
              </a:rPr>
              <a:t> workers to </a:t>
            </a:r>
            <a:r>
              <a:rPr lang="en-US" sz="1200" i="1" kern="1200" dirty="0">
                <a:solidFill>
                  <a:schemeClr val="tx1"/>
                </a:solidFill>
                <a:effectLst/>
                <a:latin typeface="+mn-lt"/>
                <a:ea typeface="+mn-ea"/>
                <a:cs typeface="+mn-cs"/>
              </a:rPr>
              <a:t>executing the actual labor</a:t>
            </a:r>
            <a:r>
              <a:rPr lang="en-US" sz="1200" kern="1200" dirty="0">
                <a:solidFill>
                  <a:schemeClr val="tx1"/>
                </a:solidFill>
                <a:effectLst/>
                <a:latin typeface="+mn-lt"/>
                <a:ea typeface="+mn-ea"/>
                <a:cs typeface="+mn-cs"/>
              </a:rPr>
              <a:t>. This moves software straight into </a:t>
            </a:r>
            <a:r>
              <a:rPr lang="en-US" sz="1200" b="1" kern="1200" dirty="0">
                <a:solidFill>
                  <a:schemeClr val="tx1"/>
                </a:solidFill>
                <a:effectLst/>
                <a:latin typeface="+mn-lt"/>
                <a:ea typeface="+mn-ea"/>
                <a:cs typeface="+mn-cs"/>
              </a:rPr>
              <a:t>Global Labor Spend</a:t>
            </a:r>
            <a:r>
              <a:rPr lang="en-US" sz="1200" kern="1200" dirty="0">
                <a:solidFill>
                  <a:schemeClr val="tx1"/>
                </a:solidFill>
                <a:effectLst/>
                <a:latin typeface="+mn-lt"/>
                <a:ea typeface="+mn-ea"/>
                <a:cs typeface="+mn-cs"/>
              </a:rPr>
              <a:t>—a market orders of magnitude larger. </a:t>
            </a:r>
          </a:p>
          <a:p>
            <a:r>
              <a:rPr lang="en-US" sz="1200" kern="1200" dirty="0">
                <a:solidFill>
                  <a:schemeClr val="tx1"/>
                </a:solidFill>
                <a:effectLst/>
                <a:latin typeface="+mn-lt"/>
                <a:ea typeface="+mn-ea"/>
                <a:cs typeface="+mn-cs"/>
              </a:rPr>
              <a:t>As the quote from the briefing highlights: </a:t>
            </a:r>
            <a:r>
              <a:rPr lang="en-US" sz="1200" i="1" kern="1200" dirty="0">
                <a:solidFill>
                  <a:schemeClr val="tx1"/>
                </a:solidFill>
                <a:effectLst/>
                <a:latin typeface="+mn-lt"/>
                <a:ea typeface="+mn-ea"/>
                <a:cs typeface="+mn-cs"/>
              </a:rPr>
              <a:t>"I’ve never been able to hire somebody for a dollar... now I can hire software for a dollar."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tasks can be performed by software at near-zero marginal cost, businesses don't just eliminate existing jobs—they unlock vast backlogs of work that were previously too expensive or complex to assign to human workers.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2</a:t>
            </a:fld>
            <a:endParaRPr lang="en-US"/>
          </a:p>
        </p:txBody>
      </p:sp>
    </p:spTree>
    <p:extLst>
      <p:ext uri="{BB962C8B-B14F-4D97-AF65-F5344CB8AC3E}">
        <p14:creationId xmlns:p14="http://schemas.microsoft.com/office/powerpoint/2010/main" val="2914540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critical that we </a:t>
            </a:r>
            <a:r>
              <a:rPr lang="en-US" sz="1200" b="1" kern="1200" dirty="0">
                <a:solidFill>
                  <a:schemeClr val="tx1"/>
                </a:solidFill>
                <a:effectLst/>
                <a:latin typeface="+mn-lt"/>
                <a:ea typeface="+mn-ea"/>
                <a:cs typeface="+mn-cs"/>
              </a:rPr>
              <a:t>do not confuse technological differentiation with business defensibility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AI Capabilities (Differentiation):</a:t>
            </a:r>
            <a:r>
              <a:rPr lang="en-US" sz="1200" kern="1200" dirty="0">
                <a:solidFill>
                  <a:schemeClr val="tx1"/>
                </a:solidFill>
                <a:effectLst/>
                <a:latin typeface="+mn-lt"/>
                <a:ea typeface="+mn-ea"/>
                <a:cs typeface="+mn-cs"/>
              </a:rPr>
              <a:t> Take a voice agent that speaks 50 languages, operates 24/7, and complies perfectly with local regulations. While highly differentiated compared to a human employee, the underlying technology capability itself is fundamentally a commodity. Because AI models are widely accessible, competitors can replicate raw capabilities very quickly. </a:t>
            </a:r>
          </a:p>
          <a:p>
            <a:r>
              <a:rPr lang="en-US" sz="1200" b="1" kern="1200" dirty="0">
                <a:solidFill>
                  <a:schemeClr val="tx1"/>
                </a:solidFill>
                <a:effectLst/>
                <a:latin typeface="+mn-lt"/>
                <a:ea typeface="+mn-ea"/>
                <a:cs typeface="+mn-cs"/>
              </a:rPr>
              <a:t>Structural Advantages (Defensibility):</a:t>
            </a:r>
            <a:r>
              <a:rPr lang="en-US" sz="1200" kern="1200" dirty="0">
                <a:solidFill>
                  <a:schemeClr val="tx1"/>
                </a:solidFill>
                <a:effectLst/>
                <a:latin typeface="+mn-lt"/>
                <a:ea typeface="+mn-ea"/>
                <a:cs typeface="+mn-cs"/>
              </a:rPr>
              <a:t> True defensibility doesn't come from the raw model output. It comes from </a:t>
            </a:r>
            <a:r>
              <a:rPr lang="en-US" sz="1200" b="1" kern="1200" dirty="0">
                <a:solidFill>
                  <a:schemeClr val="tx1"/>
                </a:solidFill>
                <a:effectLst/>
                <a:latin typeface="+mn-lt"/>
                <a:ea typeface="+mn-ea"/>
                <a:cs typeface="+mn-cs"/>
              </a:rPr>
              <a:t>owning the end workflow</a:t>
            </a:r>
            <a:r>
              <a:rPr lang="en-US" sz="1200" kern="1200" dirty="0">
                <a:solidFill>
                  <a:schemeClr val="tx1"/>
                </a:solidFill>
                <a:effectLst/>
                <a:latin typeface="+mn-lt"/>
                <a:ea typeface="+mn-ea"/>
                <a:cs typeface="+mn-cs"/>
              </a:rPr>
              <a:t>, becoming the underlying </a:t>
            </a:r>
            <a:r>
              <a:rPr lang="en-US" sz="1200" b="1" kern="1200" dirty="0">
                <a:solidFill>
                  <a:schemeClr val="tx1"/>
                </a:solidFill>
                <a:effectLst/>
                <a:latin typeface="+mn-lt"/>
                <a:ea typeface="+mn-ea"/>
                <a:cs typeface="+mn-cs"/>
              </a:rPr>
              <a:t>system of record</a:t>
            </a:r>
            <a:r>
              <a:rPr lang="en-US" sz="1200" kern="1200" dirty="0">
                <a:solidFill>
                  <a:schemeClr val="tx1"/>
                </a:solidFill>
                <a:effectLst/>
                <a:latin typeface="+mn-lt"/>
                <a:ea typeface="+mn-ea"/>
                <a:cs typeface="+mn-cs"/>
              </a:rPr>
              <a:t>, and embedding deeply into customer operations. </a:t>
            </a:r>
          </a:p>
          <a:p>
            <a:r>
              <a:rPr lang="en-US" sz="1200" kern="1200" dirty="0">
                <a:solidFill>
                  <a:schemeClr val="tx1"/>
                </a:solidFill>
                <a:effectLst/>
                <a:latin typeface="+mn-lt"/>
                <a:ea typeface="+mn-ea"/>
                <a:cs typeface="+mn-cs"/>
              </a:rPr>
              <a:t>The core heuristics for evaluating enduring software companies remain unchanged: deep integration, high switching costs, and network effects are still what matter.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3</a:t>
            </a:fld>
            <a:endParaRPr lang="en-US"/>
          </a:p>
        </p:txBody>
      </p:sp>
    </p:spTree>
    <p:extLst>
      <p:ext uri="{BB962C8B-B14F-4D97-AF65-F5344CB8AC3E}">
        <p14:creationId xmlns:p14="http://schemas.microsoft.com/office/powerpoint/2010/main" val="3350789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standard </a:t>
            </a:r>
            <a:r>
              <a:rPr lang="en-US" sz="1200" b="1" kern="1200" dirty="0">
                <a:solidFill>
                  <a:schemeClr val="tx1"/>
                </a:solidFill>
                <a:effectLst/>
                <a:latin typeface="+mn-lt"/>
                <a:ea typeface="+mn-ea"/>
                <a:cs typeface="+mn-cs"/>
              </a:rPr>
              <a:t>per-seat (SaaS) pricing model</a:t>
            </a:r>
            <a:r>
              <a:rPr lang="en-US" sz="1200" kern="1200" dirty="0">
                <a:solidFill>
                  <a:schemeClr val="tx1"/>
                </a:solidFill>
                <a:effectLst/>
                <a:latin typeface="+mn-lt"/>
                <a:ea typeface="+mn-ea"/>
                <a:cs typeface="+mn-cs"/>
              </a:rPr>
              <a:t>—what Alex Rampell calls the "Tall, Grande, Venti" model—is actively disintegrating in the AI era. </a:t>
            </a:r>
          </a:p>
          <a:p>
            <a:r>
              <a:rPr lang="en-US" sz="1200" b="1" kern="1200" dirty="0">
                <a:solidFill>
                  <a:schemeClr val="tx1"/>
                </a:solidFill>
                <a:effectLst/>
                <a:latin typeface="+mn-lt"/>
                <a:ea typeface="+mn-ea"/>
                <a:cs typeface="+mn-cs"/>
              </a:rPr>
              <a:t>The Flaw:</a:t>
            </a:r>
            <a:r>
              <a:rPr lang="en-US" sz="1200" kern="1200" dirty="0">
                <a:solidFill>
                  <a:schemeClr val="tx1"/>
                </a:solidFill>
                <a:effectLst/>
                <a:latin typeface="+mn-lt"/>
                <a:ea typeface="+mn-ea"/>
                <a:cs typeface="+mn-cs"/>
              </a:rPr>
              <a:t> Per-seat pricing incentivizes customer labor efficiency. If your AI software successfully handles customer queries or generates graphics, the client inherently needs fewer human employees. Under a per-seat model, efficiency directly reduces software seat count and shrinks your revenue. </a:t>
            </a:r>
          </a:p>
          <a:p>
            <a:r>
              <a:rPr lang="en-US" sz="1200" b="1" kern="1200" dirty="0">
                <a:solidFill>
                  <a:schemeClr val="tx1"/>
                </a:solidFill>
                <a:effectLst/>
                <a:latin typeface="+mn-lt"/>
                <a:ea typeface="+mn-ea"/>
                <a:cs typeface="+mn-cs"/>
              </a:rPr>
              <a:t>The Fix: Outcome-Based Pricing:</a:t>
            </a:r>
            <a:r>
              <a:rPr lang="en-US" sz="1200" kern="1200" dirty="0">
                <a:solidFill>
                  <a:schemeClr val="tx1"/>
                </a:solidFill>
                <a:effectLst/>
                <a:latin typeface="+mn-lt"/>
                <a:ea typeface="+mn-ea"/>
                <a:cs typeface="+mn-cs"/>
              </a:rPr>
              <a:t> Companies must tie pricing directly to work executed or outcomes delivered. </a:t>
            </a:r>
          </a:p>
          <a:p>
            <a:r>
              <a:rPr lang="en-US" sz="1200" kern="1200" dirty="0">
                <a:solidFill>
                  <a:schemeClr val="tx1"/>
                </a:solidFill>
                <a:effectLst/>
                <a:latin typeface="+mn-lt"/>
                <a:ea typeface="+mn-ea"/>
                <a:cs typeface="+mn-cs"/>
              </a:rPr>
              <a:t>As highlighted in the video discussion, when software companies shift from seat billing to charging for outcomes (e.g., resolved support tickets, processed claims), revenue can </a:t>
            </a:r>
            <a:r>
              <a:rPr lang="en-US" sz="1200" b="1" kern="1200" dirty="0">
                <a:solidFill>
                  <a:schemeClr val="tx1"/>
                </a:solidFill>
                <a:effectLst/>
                <a:latin typeface="+mn-lt"/>
                <a:ea typeface="+mn-ea"/>
                <a:cs typeface="+mn-cs"/>
              </a:rPr>
              <a:t>quadruple</a:t>
            </a:r>
            <a:r>
              <a:rPr lang="en-US" sz="1200" kern="1200" dirty="0">
                <a:solidFill>
                  <a:schemeClr val="tx1"/>
                </a:solidFill>
                <a:effectLst/>
                <a:latin typeface="+mn-lt"/>
                <a:ea typeface="+mn-ea"/>
                <a:cs typeface="+mn-cs"/>
              </a:rPr>
              <a:t> while providing clear economic ROI to the client.</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4</a:t>
            </a:fld>
            <a:endParaRPr lang="en-US"/>
          </a:p>
        </p:txBody>
      </p:sp>
    </p:spTree>
    <p:extLst>
      <p:ext uri="{BB962C8B-B14F-4D97-AF65-F5344CB8AC3E}">
        <p14:creationId xmlns:p14="http://schemas.microsoft.com/office/powerpoint/2010/main" val="2806549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Not all legacy software is equally vulnerable to AI disruption. To understand where opportunities lie, we use the </a:t>
            </a:r>
            <a:r>
              <a:rPr lang="en-US" sz="1200" b="1" kern="1200" dirty="0">
                <a:solidFill>
                  <a:schemeClr val="tx1"/>
                </a:solidFill>
                <a:effectLst/>
                <a:latin typeface="+mn-lt"/>
                <a:ea typeface="+mn-ea"/>
                <a:cs typeface="+mn-cs"/>
              </a:rPr>
              <a:t>Goldilocks Zone framework</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Safe from Disruption (Low Cost / High Switching Pain):</a:t>
            </a:r>
            <a:r>
              <a:rPr lang="en-US" sz="1200" kern="1200" dirty="0">
                <a:solidFill>
                  <a:schemeClr val="tx1"/>
                </a:solidFill>
                <a:effectLst/>
                <a:latin typeface="+mn-lt"/>
                <a:ea typeface="+mn-ea"/>
                <a:cs typeface="+mn-cs"/>
              </a:rPr>
              <a:t> Look at legacy payroll software like ADP or Paychex. Switching payroll causes high organizational pain, but the cost relative to total revenue is small. A CEO won't spend mental bandwidth trying to save 1% on payroll software just to get cleaner "janitorial service". </a:t>
            </a:r>
          </a:p>
          <a:p>
            <a:r>
              <a:rPr lang="en-US" sz="1200" b="1" kern="1200" dirty="0">
                <a:solidFill>
                  <a:schemeClr val="tx1"/>
                </a:solidFill>
                <a:effectLst/>
                <a:latin typeface="+mn-lt"/>
                <a:ea typeface="+mn-ea"/>
                <a:cs typeface="+mn-cs"/>
              </a:rPr>
              <a:t>Vulnerable Targets (High Cost &amp; Visibility):</a:t>
            </a:r>
            <a:r>
              <a:rPr lang="en-US" sz="1200" kern="1200" dirty="0">
                <a:solidFill>
                  <a:schemeClr val="tx1"/>
                </a:solidFill>
                <a:effectLst/>
                <a:latin typeface="+mn-lt"/>
                <a:ea typeface="+mn-ea"/>
                <a:cs typeface="+mn-cs"/>
              </a:rPr>
              <a:t> Products like Salesforce or Adobe with wall-to-wall per-seat licensing. These represent massive, highly visible line items that executives actively target during cost-cutting cycles, making them ripe for rationalization and AI replacement.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5</a:t>
            </a:fld>
            <a:endParaRPr lang="en-US"/>
          </a:p>
        </p:txBody>
      </p:sp>
    </p:spTree>
    <p:extLst>
      <p:ext uri="{BB962C8B-B14F-4D97-AF65-F5344CB8AC3E}">
        <p14:creationId xmlns:p14="http://schemas.microsoft.com/office/powerpoint/2010/main" val="616092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do net-new AI startups capture market share against entrenched software incumbents? They use an </a:t>
            </a:r>
            <a:r>
              <a:rPr lang="en-US" sz="1200" b="1" kern="1200" dirty="0">
                <a:solidFill>
                  <a:schemeClr val="tx1"/>
                </a:solidFill>
                <a:effectLst/>
                <a:latin typeface="+mn-lt"/>
                <a:ea typeface="+mn-ea"/>
                <a:cs typeface="+mn-cs"/>
              </a:rPr>
              <a:t>Upstream Wedge Strategy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legacy enterprise systems (EHRs, CRMs, ERPs) rely on human labor to extract, parse, and input unstructured data. </a:t>
            </a:r>
          </a:p>
          <a:p>
            <a:r>
              <a:rPr lang="en-US" sz="1200" kern="1200" dirty="0">
                <a:solidFill>
                  <a:schemeClr val="tx1"/>
                </a:solidFill>
                <a:effectLst/>
                <a:latin typeface="+mn-lt"/>
                <a:ea typeface="+mn-ea"/>
                <a:cs typeface="+mn-cs"/>
              </a:rPr>
              <a:t>Startups can wedge themselves </a:t>
            </a:r>
            <a:r>
              <a:rPr lang="en-US" sz="1200" b="1" kern="1200" dirty="0">
                <a:solidFill>
                  <a:schemeClr val="tx1"/>
                </a:solidFill>
                <a:effectLst/>
                <a:latin typeface="+mn-lt"/>
                <a:ea typeface="+mn-ea"/>
                <a:cs typeface="+mn-cs"/>
              </a:rPr>
              <a:t>upstream</a:t>
            </a:r>
            <a:r>
              <a:rPr lang="en-US" sz="1200" kern="1200" dirty="0">
                <a:solidFill>
                  <a:schemeClr val="tx1"/>
                </a:solidFill>
                <a:effectLst/>
                <a:latin typeface="+mn-lt"/>
                <a:ea typeface="+mn-ea"/>
                <a:cs typeface="+mn-cs"/>
              </a:rPr>
              <a:t> where unstructured data originates—such as messy inboxes, faxes, audio recordings, or emails. </a:t>
            </a:r>
          </a:p>
          <a:p>
            <a:r>
              <a:rPr lang="en-US" sz="1200" kern="1200" dirty="0">
                <a:solidFill>
                  <a:schemeClr val="tx1"/>
                </a:solidFill>
                <a:effectLst/>
                <a:latin typeface="+mn-lt"/>
                <a:ea typeface="+mn-ea"/>
                <a:cs typeface="+mn-cs"/>
              </a:rPr>
              <a:t>By deploying AI models (like Tenor in healthcare) to parse this unstructured input, the software replaces human secretarial work. </a:t>
            </a:r>
          </a:p>
          <a:p>
            <a:r>
              <a:rPr lang="en-US" sz="1200" kern="1200" dirty="0">
                <a:solidFill>
                  <a:schemeClr val="tx1"/>
                </a:solidFill>
                <a:effectLst/>
                <a:latin typeface="+mn-lt"/>
                <a:ea typeface="+mn-ea"/>
                <a:cs typeface="+mn-cs"/>
              </a:rPr>
              <a:t>Once a startup controls the upstream data intake and execution, it can gradually eat away at downstream workflows until it eventually replaces the legacy system of record entirely.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6</a:t>
            </a:fld>
            <a:endParaRPr lang="en-US"/>
          </a:p>
        </p:txBody>
      </p:sp>
    </p:spTree>
    <p:extLst>
      <p:ext uri="{BB962C8B-B14F-4D97-AF65-F5344CB8AC3E}">
        <p14:creationId xmlns:p14="http://schemas.microsoft.com/office/powerpoint/2010/main" val="1382125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AI era, startups must transition through three distinct stages at unprecedented speed: </a:t>
            </a:r>
          </a:p>
          <a:p>
            <a:r>
              <a:rPr lang="en-US" sz="1200" b="1" kern="1200" dirty="0">
                <a:solidFill>
                  <a:schemeClr val="tx1"/>
                </a:solidFill>
                <a:effectLst/>
                <a:latin typeface="+mn-lt"/>
                <a:ea typeface="+mn-ea"/>
                <a:cs typeface="+mn-cs"/>
              </a:rPr>
              <a:t>Step 1: The Feature (The Hook):</a:t>
            </a:r>
            <a:r>
              <a:rPr lang="en-US" sz="1200" kern="1200" dirty="0">
                <a:solidFill>
                  <a:schemeClr val="tx1"/>
                </a:solidFill>
                <a:effectLst/>
                <a:latin typeface="+mn-lt"/>
                <a:ea typeface="+mn-ea"/>
                <a:cs typeface="+mn-cs"/>
              </a:rPr>
              <a:t> Startups often enter the market as a high-revenue feature—such as an automated front-office receptionist for orthodontic clinics. Because it directly replaces expensive human labor, startups can immediately charge premium prices (e.g., $20,000/year). </a:t>
            </a:r>
          </a:p>
          <a:p>
            <a:r>
              <a:rPr lang="en-US" sz="1200" b="1" kern="1200" dirty="0">
                <a:solidFill>
                  <a:schemeClr val="tx1"/>
                </a:solidFill>
                <a:effectLst/>
                <a:latin typeface="+mn-lt"/>
                <a:ea typeface="+mn-ea"/>
                <a:cs typeface="+mn-cs"/>
              </a:rPr>
              <a:t>Step 2: The Product (Backfilling):</a:t>
            </a:r>
            <a:r>
              <a:rPr lang="en-US" sz="1200" kern="1200" dirty="0">
                <a:solidFill>
                  <a:schemeClr val="tx1"/>
                </a:solidFill>
                <a:effectLst/>
                <a:latin typeface="+mn-lt"/>
                <a:ea typeface="+mn-ea"/>
                <a:cs typeface="+mn-cs"/>
              </a:rPr>
              <a:t> Startups cannot stop at being a feature; platform owners will eventually attempt to replicate simple capabilities. They must quickly backfill core features—building underlying scheduling, billing, and management tools into daily operations. </a:t>
            </a:r>
          </a:p>
          <a:p>
            <a:r>
              <a:rPr lang="en-US" sz="1200" b="1" kern="1200" dirty="0">
                <a:solidFill>
                  <a:schemeClr val="tx1"/>
                </a:solidFill>
                <a:effectLst/>
                <a:latin typeface="+mn-lt"/>
                <a:ea typeface="+mn-ea"/>
                <a:cs typeface="+mn-cs"/>
              </a:rPr>
              <a:t>Step 3: The Company (Establishing the Moat):</a:t>
            </a:r>
            <a:r>
              <a:rPr lang="en-US" sz="1200" kern="1200" dirty="0">
                <a:solidFill>
                  <a:schemeClr val="tx1"/>
                </a:solidFill>
                <a:effectLst/>
                <a:latin typeface="+mn-lt"/>
                <a:ea typeface="+mn-ea"/>
                <a:cs typeface="+mn-cs"/>
              </a:rPr>
              <a:t> Finally, they build structural moats that make it impossible for incumbents or platform owners to displace them.</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7</a:t>
            </a:fld>
            <a:endParaRPr lang="en-US"/>
          </a:p>
        </p:txBody>
      </p:sp>
    </p:spTree>
    <p:extLst>
      <p:ext uri="{BB962C8B-B14F-4D97-AF65-F5344CB8AC3E}">
        <p14:creationId xmlns:p14="http://schemas.microsoft.com/office/powerpoint/2010/main" val="885666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Everyone talks about "Data Network Effects," but at a early stage, data network effects are largely invisible. </a:t>
            </a:r>
          </a:p>
          <a:p>
            <a:r>
              <a:rPr lang="en-US" sz="1200" b="1" kern="1200" dirty="0">
                <a:solidFill>
                  <a:schemeClr val="tx1"/>
                </a:solidFill>
                <a:effectLst/>
                <a:latin typeface="+mn-lt"/>
                <a:ea typeface="+mn-ea"/>
                <a:cs typeface="+mn-cs"/>
              </a:rPr>
              <a:t>Sub-Scale (0 to 1 Phase):</a:t>
            </a:r>
            <a:r>
              <a:rPr lang="en-US" sz="1200" kern="1200" dirty="0">
                <a:solidFill>
                  <a:schemeClr val="tx1"/>
                </a:solidFill>
                <a:effectLst/>
                <a:latin typeface="+mn-lt"/>
                <a:ea typeface="+mn-ea"/>
                <a:cs typeface="+mn-cs"/>
              </a:rPr>
              <a:t> At the beginning, having processed 4 customers versus 3 customers out of 8 billion is irrelevant. The algorithm performance looks identical across competitors, and the "gravity" of data is undetectable. </a:t>
            </a:r>
          </a:p>
          <a:p>
            <a:r>
              <a:rPr lang="en-US" sz="1200" b="1" kern="1200" dirty="0">
                <a:solidFill>
                  <a:schemeClr val="tx1"/>
                </a:solidFill>
                <a:effectLst/>
                <a:latin typeface="+mn-lt"/>
                <a:ea typeface="+mn-ea"/>
                <a:cs typeface="+mn-cs"/>
              </a:rPr>
              <a:t>Mega-Scale (1 to N Phase):</a:t>
            </a:r>
            <a:r>
              <a:rPr lang="en-US" sz="1200" kern="1200" dirty="0">
                <a:solidFill>
                  <a:schemeClr val="tx1"/>
                </a:solidFill>
                <a:effectLst/>
                <a:latin typeface="+mn-lt"/>
                <a:ea typeface="+mn-ea"/>
                <a:cs typeface="+mn-cs"/>
              </a:rPr>
              <a:t> Data gravity only becomes inescapable at mega-scale. For instance, in AI fraud prevention, a platform that has processed 4 billion records dramatically outperforms a startup that has seen 1 billion.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Scale creates undeniable performance advantages, but startups must survive the sub-scale phase to reach that gravitational threshold.</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8</a:t>
            </a:fld>
            <a:endParaRPr lang="en-US"/>
          </a:p>
        </p:txBody>
      </p:sp>
    </p:spTree>
    <p:extLst>
      <p:ext uri="{BB962C8B-B14F-4D97-AF65-F5344CB8AC3E}">
        <p14:creationId xmlns:p14="http://schemas.microsoft.com/office/powerpoint/2010/main" val="3830754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Reaching gravitational scale requires surviving a brutal market lifecycle: </a:t>
            </a:r>
          </a:p>
          <a:p>
            <a:r>
              <a:rPr lang="en-US" sz="1200" b="1" kern="1200" dirty="0">
                <a:solidFill>
                  <a:schemeClr val="tx1"/>
                </a:solidFill>
                <a:effectLst/>
                <a:latin typeface="+mn-lt"/>
                <a:ea typeface="+mn-ea"/>
                <a:cs typeface="+mn-cs"/>
              </a:rPr>
              <a:t>Phase 1: The 20-Player Bloodbath:</a:t>
            </a:r>
            <a:r>
              <a:rPr lang="en-US" sz="1200" kern="1200" dirty="0">
                <a:solidFill>
                  <a:schemeClr val="tx1"/>
                </a:solidFill>
                <a:effectLst/>
                <a:latin typeface="+mn-lt"/>
                <a:ea typeface="+mn-ea"/>
                <a:cs typeface="+mn-cs"/>
              </a:rPr>
              <a:t> Low barriers to code creation lead to 20+ startups building the exact same tool. Venture capital subsidizes loss-leaders, pushing prices down toward the cost of compute/electricity. </a:t>
            </a:r>
          </a:p>
          <a:p>
            <a:r>
              <a:rPr lang="en-US" sz="1200" b="1" kern="1200" dirty="0">
                <a:solidFill>
                  <a:schemeClr val="tx1"/>
                </a:solidFill>
                <a:effectLst/>
                <a:latin typeface="+mn-lt"/>
                <a:ea typeface="+mn-ea"/>
                <a:cs typeface="+mn-cs"/>
              </a:rPr>
              <a:t>Phase 2: The Consolidation (PE Playbook):</a:t>
            </a:r>
            <a:r>
              <a:rPr lang="en-US" sz="1200" kern="1200" dirty="0">
                <a:solidFill>
                  <a:schemeClr val="tx1"/>
                </a:solidFill>
                <a:effectLst/>
                <a:latin typeface="+mn-lt"/>
                <a:ea typeface="+mn-ea"/>
                <a:cs typeface="+mn-cs"/>
              </a:rPr>
              <a:t> Momentum eventually capitalizes. Market leaders acquire immediate competitors, put sub-scale players out of business, or lowball the bottom 15. </a:t>
            </a:r>
          </a:p>
          <a:p>
            <a:r>
              <a:rPr lang="en-US" sz="1200" b="1" kern="1200" dirty="0">
                <a:solidFill>
                  <a:schemeClr val="tx1"/>
                </a:solidFill>
                <a:effectLst/>
                <a:latin typeface="+mn-lt"/>
                <a:ea typeface="+mn-ea"/>
                <a:cs typeface="+mn-cs"/>
              </a:rPr>
              <a:t>Phase 3: The Good Market:</a:t>
            </a:r>
            <a:r>
              <a:rPr lang="en-US" sz="1200" kern="1200" dirty="0">
                <a:solidFill>
                  <a:schemeClr val="tx1"/>
                </a:solidFill>
                <a:effectLst/>
                <a:latin typeface="+mn-lt"/>
                <a:ea typeface="+mn-ea"/>
                <a:cs typeface="+mn-cs"/>
              </a:rPr>
              <a:t> The surviving platform reaches critical scale, gains pricing power, and delivers a structurally superior product. Founders must focus heavily on velocity and execution to ensure they are the consolidator rather than the victim in Phase 2.</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9</a:t>
            </a:fld>
            <a:endParaRPr lang="en-US"/>
          </a:p>
        </p:txBody>
      </p:sp>
    </p:spTree>
    <p:extLst>
      <p:ext uri="{BB962C8B-B14F-4D97-AF65-F5344CB8AC3E}">
        <p14:creationId xmlns:p14="http://schemas.microsoft.com/office/powerpoint/2010/main" val="16933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choosing markets, founders must carefully evaluate platform risk from foundation model providers like OpenAI, Anthropic, or Google. </a:t>
            </a:r>
          </a:p>
          <a:p>
            <a:r>
              <a:rPr lang="en-US" sz="1200" b="1" kern="1200" dirty="0">
                <a:solidFill>
                  <a:schemeClr val="tx1"/>
                </a:solidFill>
                <a:effectLst/>
                <a:latin typeface="+mn-lt"/>
                <a:ea typeface="+mn-ea"/>
                <a:cs typeface="+mn-cs"/>
              </a:rPr>
              <a:t>Platform Priorities:</a:t>
            </a:r>
            <a:r>
              <a:rPr lang="en-US" sz="1200" kern="1200" dirty="0">
                <a:solidFill>
                  <a:schemeClr val="tx1"/>
                </a:solidFill>
                <a:effectLst/>
                <a:latin typeface="+mn-lt"/>
                <a:ea typeface="+mn-ea"/>
                <a:cs typeface="+mn-cs"/>
              </a:rPr>
              <a:t> Platform owners focus on capturing general, horizontal layers (compilers, operating systems, horizontal code gen, general AI assistants). These are the "gold bricks at their feet." </a:t>
            </a:r>
          </a:p>
          <a:p>
            <a:r>
              <a:rPr lang="en-US" sz="1200" b="1" kern="1200" dirty="0">
                <a:solidFill>
                  <a:schemeClr val="tx1"/>
                </a:solidFill>
                <a:effectLst/>
                <a:latin typeface="+mn-lt"/>
                <a:ea typeface="+mn-ea"/>
                <a:cs typeface="+mn-cs"/>
              </a:rPr>
              <a:t>Vertical Application Opportunity:</a:t>
            </a:r>
            <a:r>
              <a:rPr lang="en-US" sz="1200" kern="1200" dirty="0">
                <a:solidFill>
                  <a:schemeClr val="tx1"/>
                </a:solidFill>
                <a:effectLst/>
                <a:latin typeface="+mn-lt"/>
                <a:ea typeface="+mn-ea"/>
                <a:cs typeface="+mn-cs"/>
              </a:rPr>
              <a:t> Platform owners will not spend resources building niche vertical applications—like auto-loan servicing, plaintiff legal drafting, or dental care management. </a:t>
            </a:r>
          </a:p>
          <a:p>
            <a:r>
              <a:rPr lang="en-US" sz="1200" b="1" kern="1200" dirty="0">
                <a:solidFill>
                  <a:schemeClr val="tx1"/>
                </a:solidFill>
                <a:effectLst/>
                <a:latin typeface="+mn-lt"/>
                <a:ea typeface="+mn-ea"/>
                <a:cs typeface="+mn-cs"/>
              </a:rPr>
              <a:t>Strategy:</a:t>
            </a:r>
            <a:r>
              <a:rPr lang="en-US" sz="1200" kern="1200" dirty="0">
                <a:solidFill>
                  <a:schemeClr val="tx1"/>
                </a:solidFill>
                <a:effectLst/>
                <a:latin typeface="+mn-lt"/>
                <a:ea typeface="+mn-ea"/>
                <a:cs typeface="+mn-cs"/>
              </a:rPr>
              <a:t> Startups should "hunt gold bricks far away" by focusing on obscure, labor-intensive vertical niches where foundation model providers are highly unlikely to compete.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10</a:t>
            </a:fld>
            <a:endParaRPr lang="en-US"/>
          </a:p>
        </p:txBody>
      </p:sp>
    </p:spTree>
    <p:extLst>
      <p:ext uri="{BB962C8B-B14F-4D97-AF65-F5344CB8AC3E}">
        <p14:creationId xmlns:p14="http://schemas.microsoft.com/office/powerpoint/2010/main" val="3709066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Do AI-native startups automatically disrupt legacy BPO (Business Process Outsourcing) and software incumbents? Not necessarily. </a:t>
            </a:r>
          </a:p>
          <a:p>
            <a:r>
              <a:rPr lang="en-US" sz="1200" b="1" kern="1200" dirty="0">
                <a:solidFill>
                  <a:schemeClr val="tx1"/>
                </a:solidFill>
                <a:effectLst/>
                <a:latin typeface="+mn-lt"/>
                <a:ea typeface="+mn-ea"/>
                <a:cs typeface="+mn-cs"/>
              </a:rPr>
              <a:t>The Bull Case for Incumbents:</a:t>
            </a:r>
            <a:r>
              <a:rPr lang="en-US" sz="1200" kern="1200" dirty="0">
                <a:solidFill>
                  <a:schemeClr val="tx1"/>
                </a:solidFill>
                <a:effectLst/>
                <a:latin typeface="+mn-lt"/>
                <a:ea typeface="+mn-ea"/>
                <a:cs typeface="+mn-cs"/>
              </a:rPr>
              <a:t> Consider BPO giants like Tata or Infosys running corporate call centers. They already hold trust, compliance clearances, and deeply integrated contracts with enterprises. By integrating AI internally, they can reduce workforce headcount from 100,000 to a fraction, dramatically boosting profit margins while retaining client relationships. </a:t>
            </a:r>
          </a:p>
          <a:p>
            <a:r>
              <a:rPr lang="en-US" sz="1200" b="1" kern="1200" dirty="0">
                <a:solidFill>
                  <a:schemeClr val="tx1"/>
                </a:solidFill>
                <a:effectLst/>
                <a:latin typeface="+mn-lt"/>
                <a:ea typeface="+mn-ea"/>
                <a:cs typeface="+mn-cs"/>
              </a:rPr>
              <a:t>The Bear Case for Incumbents:</a:t>
            </a:r>
            <a:r>
              <a:rPr lang="en-US" sz="1200" kern="1200" dirty="0">
                <a:solidFill>
                  <a:schemeClr val="tx1"/>
                </a:solidFill>
                <a:effectLst/>
                <a:latin typeface="+mn-lt"/>
                <a:ea typeface="+mn-ea"/>
                <a:cs typeface="+mn-cs"/>
              </a:rPr>
              <a:t> Enterprise clients bypass BPOs altogether, replacing human outsourcing contracts with AI-native startups. </a:t>
            </a:r>
          </a:p>
          <a:p>
            <a:r>
              <a:rPr lang="en-US" sz="1200" kern="1200" dirty="0">
                <a:solidFill>
                  <a:schemeClr val="tx1"/>
                </a:solidFill>
                <a:effectLst/>
                <a:latin typeface="+mn-lt"/>
                <a:ea typeface="+mn-ea"/>
                <a:cs typeface="+mn-cs"/>
              </a:rPr>
              <a:t>Both dynamics are actively unfolding today. Disruption is not guaranteed simply because a new technology exists; incumbents with distribution and deep integrations hold a strong position. </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11</a:t>
            </a:fld>
            <a:endParaRPr lang="en-US"/>
          </a:p>
        </p:txBody>
      </p:sp>
    </p:spTree>
    <p:extLst>
      <p:ext uri="{BB962C8B-B14F-4D97-AF65-F5344CB8AC3E}">
        <p14:creationId xmlns:p14="http://schemas.microsoft.com/office/powerpoint/2010/main" val="235223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the new defensibility playbook: </a:t>
            </a:r>
          </a:p>
          <a:p>
            <a:pPr marL="228600" indent="-228600">
              <a:buFont typeface="+mj-lt"/>
              <a:buAutoNum type="arabicPeriod"/>
            </a:pPr>
            <a:r>
              <a:rPr lang="en-US" sz="1200" b="1" kern="1200" dirty="0">
                <a:solidFill>
                  <a:schemeClr val="tx1"/>
                </a:solidFill>
                <a:effectLst/>
                <a:latin typeface="+mn-lt"/>
                <a:ea typeface="+mn-ea"/>
                <a:cs typeface="+mn-cs"/>
              </a:rPr>
              <a:t>Target Labor, Not IT Budgets:</a:t>
            </a:r>
            <a:r>
              <a:rPr lang="en-US" sz="1200" kern="1200" dirty="0">
                <a:solidFill>
                  <a:schemeClr val="tx1"/>
                </a:solidFill>
                <a:effectLst/>
                <a:latin typeface="+mn-lt"/>
                <a:ea typeface="+mn-ea"/>
                <a:cs typeface="+mn-cs"/>
              </a:rPr>
              <a:t> Build software to capture the massive TAM of human task replacement. Pivot away from per-seat licensing to outcome-based pricing. </a:t>
            </a:r>
          </a:p>
          <a:p>
            <a:pPr marL="228600" indent="-228600">
              <a:buFont typeface="+mj-lt"/>
              <a:buAutoNum type="arabicPeriod"/>
            </a:pPr>
            <a:r>
              <a:rPr lang="en-US" sz="1200" b="1" kern="1200" dirty="0">
                <a:solidFill>
                  <a:schemeClr val="tx1"/>
                </a:solidFill>
                <a:effectLst/>
                <a:latin typeface="+mn-lt"/>
                <a:ea typeface="+mn-ea"/>
                <a:cs typeface="+mn-cs"/>
              </a:rPr>
              <a:t>Backfill the Product Layer:</a:t>
            </a:r>
            <a:r>
              <a:rPr lang="en-US" sz="1200" kern="1200" dirty="0">
                <a:solidFill>
                  <a:schemeClr val="tx1"/>
                </a:solidFill>
                <a:effectLst/>
                <a:latin typeface="+mn-lt"/>
                <a:ea typeface="+mn-ea"/>
                <a:cs typeface="+mn-cs"/>
              </a:rPr>
              <a:t> Capitalize on high-revenue AI feature "wedges" (such as the messy inbox) to fund rapid expansion into a sticky system of record. </a:t>
            </a:r>
          </a:p>
          <a:p>
            <a:pPr marL="228600" indent="-228600">
              <a:buFont typeface="+mj-lt"/>
              <a:buAutoNum type="arabicPeriod"/>
            </a:pPr>
            <a:r>
              <a:rPr lang="en-US" sz="1200" b="1" kern="1200" dirty="0">
                <a:solidFill>
                  <a:schemeClr val="tx1"/>
                </a:solidFill>
                <a:effectLst/>
                <a:latin typeface="+mn-lt"/>
                <a:ea typeface="+mn-ea"/>
                <a:cs typeface="+mn-cs"/>
              </a:rPr>
              <a:t>Hunt Far-Away Bricks:</a:t>
            </a:r>
            <a:r>
              <a:rPr lang="en-US" sz="1200" kern="1200" dirty="0">
                <a:solidFill>
                  <a:schemeClr val="tx1"/>
                </a:solidFill>
                <a:effectLst/>
                <a:latin typeface="+mn-lt"/>
                <a:ea typeface="+mn-ea"/>
                <a:cs typeface="+mn-cs"/>
              </a:rPr>
              <a:t> Avoid competing horizontally against platform giants. Build deep in obscure, high-value vertical markets, and aggregate scale quickly to build a data moat.</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12</a:t>
            </a:fld>
            <a:endParaRPr lang="en-US"/>
          </a:p>
        </p:txBody>
      </p:sp>
    </p:spTree>
    <p:extLst>
      <p:ext uri="{BB962C8B-B14F-4D97-AF65-F5344CB8AC3E}">
        <p14:creationId xmlns:p14="http://schemas.microsoft.com/office/powerpoint/2010/main" val="500443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final conceptual map ties together everything we have discussed:</a:t>
            </a:r>
          </a:p>
          <a:p>
            <a:r>
              <a:rPr lang="en-US" sz="1200" kern="1200" dirty="0">
                <a:solidFill>
                  <a:schemeClr val="tx1"/>
                </a:solidFill>
                <a:effectLst/>
                <a:latin typeface="+mn-lt"/>
                <a:ea typeface="+mn-ea"/>
                <a:cs typeface="+mn-cs"/>
              </a:rPr>
              <a:t>Differentiation gets your foot in the door as a "hook," but defensibility provides the lasting "moat." </a:t>
            </a:r>
          </a:p>
          <a:p>
            <a:r>
              <a:rPr lang="en-US" sz="1200" kern="1200" dirty="0">
                <a:solidFill>
                  <a:schemeClr val="tx1"/>
                </a:solidFill>
                <a:effectLst/>
                <a:latin typeface="+mn-lt"/>
                <a:ea typeface="+mn-ea"/>
                <a:cs typeface="+mn-cs"/>
              </a:rPr>
              <a:t>Transitioning from IT budgets to labor TAM unlocks massive market opportunity. </a:t>
            </a:r>
          </a:p>
          <a:p>
            <a:r>
              <a:rPr lang="en-US" sz="1200" kern="1200" dirty="0">
                <a:solidFill>
                  <a:schemeClr val="tx1"/>
                </a:solidFill>
                <a:effectLst/>
                <a:latin typeface="+mn-lt"/>
                <a:ea typeface="+mn-ea"/>
                <a:cs typeface="+mn-cs"/>
              </a:rPr>
              <a:t>Navigating scale effects, understanding Goldilocks zones, and building sticky systems of record are the definitive paths to surviving in the era of infinite software. </a:t>
            </a:r>
          </a:p>
          <a:p>
            <a:r>
              <a:rPr lang="en-US" sz="1200" kern="1200" dirty="0">
                <a:solidFill>
                  <a:schemeClr val="tx1"/>
                </a:solidFill>
                <a:effectLst/>
                <a:latin typeface="+mn-lt"/>
                <a:ea typeface="+mn-ea"/>
                <a:cs typeface="+mn-cs"/>
              </a:rPr>
              <a:t>Thank you. I'm happy to open the floor to any questions or further discussion.</a:t>
            </a:r>
          </a:p>
          <a:p>
            <a:endParaRPr lang="en-US" dirty="0"/>
          </a:p>
        </p:txBody>
      </p:sp>
      <p:sp>
        <p:nvSpPr>
          <p:cNvPr id="4" name="Slide Number Placeholder 3"/>
          <p:cNvSpPr>
            <a:spLocks noGrp="1"/>
          </p:cNvSpPr>
          <p:nvPr>
            <p:ph type="sldNum" sz="quarter" idx="5"/>
          </p:nvPr>
        </p:nvSpPr>
        <p:spPr/>
        <p:txBody>
          <a:bodyPr/>
          <a:lstStyle/>
          <a:p>
            <a:fld id="{1906CADA-EF4A-4A7B-B4BC-01D8D6BFCBAD}" type="slidenum">
              <a:rPr lang="en-US" smtClean="0"/>
              <a:t>13</a:t>
            </a:fld>
            <a:endParaRPr lang="en-US"/>
          </a:p>
        </p:txBody>
      </p:sp>
    </p:spTree>
    <p:extLst>
      <p:ext uri="{BB962C8B-B14F-4D97-AF65-F5344CB8AC3E}">
        <p14:creationId xmlns:p14="http://schemas.microsoft.com/office/powerpoint/2010/main" val="1074177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8ADDB-18A9-7FD8-DCFD-CA90DF6F0BA1}"/>
              </a:ext>
            </a:extLst>
          </p:cNvPr>
          <p:cNvSpPr>
            <a:spLocks noGrp="1"/>
          </p:cNvSpPr>
          <p:nvPr>
            <p:ph type="dt" sz="half" idx="10"/>
          </p:nvPr>
        </p:nvSpPr>
        <p:spPr/>
        <p:txBody>
          <a:bodyPr/>
          <a:lstStyle/>
          <a:p>
            <a:fld id="{75921578-B1D8-4FD2-94E3-C93DF97D2C10}" type="datetimeFigureOut">
              <a:rPr lang="en-US" smtClean="0"/>
              <a:t>10/19/2026</a:t>
            </a:fld>
            <a:endParaRPr lang="en-US"/>
          </a:p>
        </p:txBody>
      </p:sp>
      <p:sp>
        <p:nvSpPr>
          <p:cNvPr id="3" name="Footer Placeholder 2">
            <a:extLst>
              <a:ext uri="{FF2B5EF4-FFF2-40B4-BE49-F238E27FC236}">
                <a16:creationId xmlns:a16="http://schemas.microsoft.com/office/drawing/2014/main" id="{4531296C-80CF-48FD-AE6B-35F70B38A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782F-AFE0-2141-8FC0-2808A6AE9987}"/>
              </a:ext>
            </a:extLst>
          </p:cNvPr>
          <p:cNvSpPr>
            <a:spLocks noGrp="1"/>
          </p:cNvSpPr>
          <p:nvPr>
            <p:ph type="sldNum" sz="quarter" idx="12"/>
          </p:nvPr>
        </p:nvSpPr>
        <p:spPr/>
        <p:txBody>
          <a:bodyPr/>
          <a:lstStyle/>
          <a:p>
            <a:fld id="{E5F2C248-0025-4786-B6DB-5B07C4995C22}" type="slidenum">
              <a:rPr lang="en-US" smtClean="0"/>
              <a:t>‹#›</a:t>
            </a:fld>
            <a:endParaRPr lang="en-US"/>
          </a:p>
        </p:txBody>
      </p:sp>
    </p:spTree>
    <p:extLst>
      <p:ext uri="{BB962C8B-B14F-4D97-AF65-F5344CB8AC3E}">
        <p14:creationId xmlns:p14="http://schemas.microsoft.com/office/powerpoint/2010/main" val="201995874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BEC3E-708D-F0F7-1FB1-F76A4C769C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6E3677-6406-753B-6E5C-DB87FC81A2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18D16C-CF79-42CD-3613-CE4E33844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921578-B1D8-4FD2-94E3-C93DF97D2C10}" type="datetimeFigureOut">
              <a:rPr lang="en-US" smtClean="0"/>
              <a:t>10/19/2026</a:t>
            </a:fld>
            <a:endParaRPr lang="en-US"/>
          </a:p>
        </p:txBody>
      </p:sp>
      <p:sp>
        <p:nvSpPr>
          <p:cNvPr id="5" name="Footer Placeholder 4">
            <a:extLst>
              <a:ext uri="{FF2B5EF4-FFF2-40B4-BE49-F238E27FC236}">
                <a16:creationId xmlns:a16="http://schemas.microsoft.com/office/drawing/2014/main" id="{868842F0-58A5-A67B-D12E-CD7864DF0C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E6234F-1A99-50C1-ABCE-817F0C848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F2C248-0025-4786-B6DB-5B07C4995C22}" type="slidenum">
              <a:rPr lang="en-US" smtClean="0"/>
              <a:t>‹#›</a:t>
            </a:fld>
            <a:endParaRPr lang="en-US"/>
          </a:p>
        </p:txBody>
      </p:sp>
    </p:spTree>
    <p:extLst>
      <p:ext uri="{BB962C8B-B14F-4D97-AF65-F5344CB8AC3E}">
        <p14:creationId xmlns:p14="http://schemas.microsoft.com/office/powerpoint/2010/main" val="421464140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6D52FB-F4AD-1949-6789-4DD0D096358F}"/>
              </a:ext>
            </a:extLst>
          </p:cNvPr>
          <p:cNvPicPr>
            <a:picLocks noChangeAspect="1"/>
          </p:cNvPicPr>
          <p:nvPr/>
        </p:nvPicPr>
        <p:blipFill>
          <a:blip r:embed="rId3"/>
          <a:stretch>
            <a:fillRect/>
          </a:stretch>
        </p:blipFill>
        <p:spPr>
          <a:xfrm>
            <a:off x="0" y="0"/>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6740E0-6748-27D7-DAAD-A0F468C1F3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F8322-C778-DF14-3D86-34F513B9A6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8DC2CF-E21E-C422-803D-95EA708DB9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AC55B0-40D5-394C-749B-4B2772ED9D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BE56EF-FA2F-4BF6-2591-B3CD59D6E4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586ADB-1D9E-9E97-C4E1-78EC5517E3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9D2A11-E3F0-CCF5-75AC-D3030183A4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FF7152-FFF8-9D87-8207-4662DC1655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3B193F-BE45-4775-EF95-678E1062DD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59EABE-7FD4-2A18-CDCA-A7015D6823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2F09FC-5433-583E-99DF-37A737F532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B4A83A-E2A0-83F6-14AF-AECA60EB0F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522599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1650</Words>
  <Application>Microsoft Office PowerPoint</Application>
  <PresentationFormat>寬螢幕</PresentationFormat>
  <Paragraphs>70</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2026-08-05T10:42:17Z</dcterms:created>
  <dcterms:modified xsi:type="dcterms:W3CDTF">2026-10-19T15:40:01Z</dcterms:modified>
</cp:coreProperties>
</file>