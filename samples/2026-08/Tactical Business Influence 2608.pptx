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BBC219-1AB9-4C88-AA3E-800C1776B11C}" v="20" dt="2026-08-30T13:42:35.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30T13:42:47.841" v="51" actId="166"/>
      <pc:docMkLst>
        <pc:docMk/>
      </pc:docMkLst>
      <pc:sldChg chg="addSp delSp modSp mod modAnim modNotesTx">
        <pc:chgData name="Lai, Wilson" userId="2840974a-0d84-4886-90a9-9a3ed79f3a48" providerId="ADAL" clId="{9F23B798-9E84-4552-BA63-E776E805C424}" dt="2026-08-30T13:42:47.841" v="51" actId="166"/>
        <pc:sldMkLst>
          <pc:docMk/>
          <pc:sldMk cId="0" sldId="257"/>
        </pc:sldMkLst>
        <pc:spChg chg="add mod">
          <ac:chgData name="Lai, Wilson" userId="2840974a-0d84-4886-90a9-9a3ed79f3a48" providerId="ADAL" clId="{9F23B798-9E84-4552-BA63-E776E805C424}" dt="2026-08-30T05:49:09.999" v="8" actId="164"/>
          <ac:spMkLst>
            <pc:docMk/>
            <pc:sldMk cId="0" sldId="257"/>
            <ac:spMk id="5" creationId="{32038533-8E5B-892B-C5F5-E3738246A84C}"/>
          </ac:spMkLst>
        </pc:spChg>
        <pc:grpChg chg="add mod">
          <ac:chgData name="Lai, Wilson" userId="2840974a-0d84-4886-90a9-9a3ed79f3a48" providerId="ADAL" clId="{9F23B798-9E84-4552-BA63-E776E805C424}" dt="2026-08-30T05:49:09.999" v="8" actId="164"/>
          <ac:grpSpMkLst>
            <pc:docMk/>
            <pc:sldMk cId="0" sldId="257"/>
            <ac:grpSpMk id="6" creationId="{588EF21C-DBAC-74FE-6045-28D6ED77D440}"/>
          </ac:grpSpMkLst>
        </pc:grpChg>
        <pc:picChg chg="del">
          <ac:chgData name="Lai, Wilson" userId="2840974a-0d84-4886-90a9-9a3ed79f3a48" providerId="ADAL" clId="{9F23B798-9E84-4552-BA63-E776E805C424}" dt="2026-08-30T06:17:38.734" v="9" actId="21"/>
          <ac:picMkLst>
            <pc:docMk/>
            <pc:sldMk cId="0" sldId="257"/>
            <ac:picMk id="2" creationId="{00000000-0000-0000-0000-000000000000}"/>
          </ac:picMkLst>
        </pc:picChg>
        <pc:picChg chg="add mod">
          <ac:chgData name="Lai, Wilson" userId="2840974a-0d84-4886-90a9-9a3ed79f3a48" providerId="ADAL" clId="{9F23B798-9E84-4552-BA63-E776E805C424}" dt="2026-08-30T05:49:09.999" v="8" actId="164"/>
          <ac:picMkLst>
            <pc:docMk/>
            <pc:sldMk cId="0" sldId="257"/>
            <ac:picMk id="3" creationId="{0B96FC43-BBD4-0C34-C1E3-B344885E0CF0}"/>
          </ac:picMkLst>
        </pc:picChg>
        <pc:picChg chg="add ord">
          <ac:chgData name="Lai, Wilson" userId="2840974a-0d84-4886-90a9-9a3ed79f3a48" providerId="ADAL" clId="{9F23B798-9E84-4552-BA63-E776E805C424}" dt="2026-08-30T13:42:47.841" v="51" actId="166"/>
          <ac:picMkLst>
            <pc:docMk/>
            <pc:sldMk cId="0" sldId="257"/>
            <ac:picMk id="7" creationId="{4B8CFB96-EF8E-BA41-81AB-86E18702B5EC}"/>
          </ac:picMkLst>
        </pc:picChg>
      </pc:sldChg>
      <pc:sldChg chg="addSp delSp mod">
        <pc:chgData name="Lai, Wilson" userId="2840974a-0d84-4886-90a9-9a3ed79f3a48" providerId="ADAL" clId="{9F23B798-9E84-4552-BA63-E776E805C424}" dt="2026-08-30T06:18:06.028" v="12" actId="22"/>
        <pc:sldMkLst>
          <pc:docMk/>
          <pc:sldMk cId="0" sldId="258"/>
        </pc:sldMkLst>
        <pc:picChg chg="del">
          <ac:chgData name="Lai, Wilson" userId="2840974a-0d84-4886-90a9-9a3ed79f3a48" providerId="ADAL" clId="{9F23B798-9E84-4552-BA63-E776E805C424}" dt="2026-08-30T06:17:58.059" v="11" actId="21"/>
          <ac:picMkLst>
            <pc:docMk/>
            <pc:sldMk cId="0" sldId="258"/>
            <ac:picMk id="2" creationId="{00000000-0000-0000-0000-000000000000}"/>
          </ac:picMkLst>
        </pc:picChg>
        <pc:picChg chg="add">
          <ac:chgData name="Lai, Wilson" userId="2840974a-0d84-4886-90a9-9a3ed79f3a48" providerId="ADAL" clId="{9F23B798-9E84-4552-BA63-E776E805C424}" dt="2026-08-30T06:18:06.028" v="12" actId="22"/>
          <ac:picMkLst>
            <pc:docMk/>
            <pc:sldMk cId="0" sldId="258"/>
            <ac:picMk id="4" creationId="{6B2F63D0-8269-DDAA-8F21-89E7601046EA}"/>
          </ac:picMkLst>
        </pc:picChg>
      </pc:sldChg>
      <pc:sldChg chg="addSp delSp mod">
        <pc:chgData name="Lai, Wilson" userId="2840974a-0d84-4886-90a9-9a3ed79f3a48" providerId="ADAL" clId="{9F23B798-9E84-4552-BA63-E776E805C424}" dt="2026-08-30T06:18:15.886" v="14" actId="22"/>
        <pc:sldMkLst>
          <pc:docMk/>
          <pc:sldMk cId="0" sldId="259"/>
        </pc:sldMkLst>
        <pc:picChg chg="del">
          <ac:chgData name="Lai, Wilson" userId="2840974a-0d84-4886-90a9-9a3ed79f3a48" providerId="ADAL" clId="{9F23B798-9E84-4552-BA63-E776E805C424}" dt="2026-08-30T06:18:07.861" v="13" actId="21"/>
          <ac:picMkLst>
            <pc:docMk/>
            <pc:sldMk cId="0" sldId="259"/>
            <ac:picMk id="2" creationId="{00000000-0000-0000-0000-000000000000}"/>
          </ac:picMkLst>
        </pc:picChg>
        <pc:picChg chg="add">
          <ac:chgData name="Lai, Wilson" userId="2840974a-0d84-4886-90a9-9a3ed79f3a48" providerId="ADAL" clId="{9F23B798-9E84-4552-BA63-E776E805C424}" dt="2026-08-30T06:18:15.886" v="14" actId="22"/>
          <ac:picMkLst>
            <pc:docMk/>
            <pc:sldMk cId="0" sldId="259"/>
            <ac:picMk id="4" creationId="{F9BF5222-9D04-EDB0-91FC-4F7A5E08FF03}"/>
          </ac:picMkLst>
        </pc:picChg>
      </pc:sldChg>
      <pc:sldChg chg="addSp delSp mod">
        <pc:chgData name="Lai, Wilson" userId="2840974a-0d84-4886-90a9-9a3ed79f3a48" providerId="ADAL" clId="{9F23B798-9E84-4552-BA63-E776E805C424}" dt="2026-08-30T06:18:25.904" v="16" actId="22"/>
        <pc:sldMkLst>
          <pc:docMk/>
          <pc:sldMk cId="0" sldId="260"/>
        </pc:sldMkLst>
        <pc:picChg chg="del">
          <ac:chgData name="Lai, Wilson" userId="2840974a-0d84-4886-90a9-9a3ed79f3a48" providerId="ADAL" clId="{9F23B798-9E84-4552-BA63-E776E805C424}" dt="2026-08-30T06:18:17.560" v="15" actId="21"/>
          <ac:picMkLst>
            <pc:docMk/>
            <pc:sldMk cId="0" sldId="260"/>
            <ac:picMk id="2" creationId="{00000000-0000-0000-0000-000000000000}"/>
          </ac:picMkLst>
        </pc:picChg>
        <pc:picChg chg="add">
          <ac:chgData name="Lai, Wilson" userId="2840974a-0d84-4886-90a9-9a3ed79f3a48" providerId="ADAL" clId="{9F23B798-9E84-4552-BA63-E776E805C424}" dt="2026-08-30T06:18:25.904" v="16" actId="22"/>
          <ac:picMkLst>
            <pc:docMk/>
            <pc:sldMk cId="0" sldId="260"/>
            <ac:picMk id="4" creationId="{E6C9DA72-F980-0D3B-D224-DE7785B8EB8E}"/>
          </ac:picMkLst>
        </pc:picChg>
      </pc:sldChg>
      <pc:sldChg chg="addSp delSp mod">
        <pc:chgData name="Lai, Wilson" userId="2840974a-0d84-4886-90a9-9a3ed79f3a48" providerId="ADAL" clId="{9F23B798-9E84-4552-BA63-E776E805C424}" dt="2026-08-30T06:18:37.542" v="18" actId="22"/>
        <pc:sldMkLst>
          <pc:docMk/>
          <pc:sldMk cId="0" sldId="261"/>
        </pc:sldMkLst>
        <pc:picChg chg="del">
          <ac:chgData name="Lai, Wilson" userId="2840974a-0d84-4886-90a9-9a3ed79f3a48" providerId="ADAL" clId="{9F23B798-9E84-4552-BA63-E776E805C424}" dt="2026-08-30T06:18:28.387" v="17" actId="21"/>
          <ac:picMkLst>
            <pc:docMk/>
            <pc:sldMk cId="0" sldId="261"/>
            <ac:picMk id="2" creationId="{00000000-0000-0000-0000-000000000000}"/>
          </ac:picMkLst>
        </pc:picChg>
        <pc:picChg chg="add">
          <ac:chgData name="Lai, Wilson" userId="2840974a-0d84-4886-90a9-9a3ed79f3a48" providerId="ADAL" clId="{9F23B798-9E84-4552-BA63-E776E805C424}" dt="2026-08-30T06:18:37.542" v="18" actId="22"/>
          <ac:picMkLst>
            <pc:docMk/>
            <pc:sldMk cId="0" sldId="261"/>
            <ac:picMk id="4" creationId="{6AC318D1-C98D-892D-3B3F-B5744A406853}"/>
          </ac:picMkLst>
        </pc:picChg>
      </pc:sldChg>
      <pc:sldChg chg="addSp delSp mod">
        <pc:chgData name="Lai, Wilson" userId="2840974a-0d84-4886-90a9-9a3ed79f3a48" providerId="ADAL" clId="{9F23B798-9E84-4552-BA63-E776E805C424}" dt="2026-08-30T06:18:47.747" v="20" actId="22"/>
        <pc:sldMkLst>
          <pc:docMk/>
          <pc:sldMk cId="0" sldId="262"/>
        </pc:sldMkLst>
        <pc:picChg chg="del">
          <ac:chgData name="Lai, Wilson" userId="2840974a-0d84-4886-90a9-9a3ed79f3a48" providerId="ADAL" clId="{9F23B798-9E84-4552-BA63-E776E805C424}" dt="2026-08-30T06:18:39.279" v="19" actId="21"/>
          <ac:picMkLst>
            <pc:docMk/>
            <pc:sldMk cId="0" sldId="262"/>
            <ac:picMk id="2" creationId="{00000000-0000-0000-0000-000000000000}"/>
          </ac:picMkLst>
        </pc:picChg>
        <pc:picChg chg="add">
          <ac:chgData name="Lai, Wilson" userId="2840974a-0d84-4886-90a9-9a3ed79f3a48" providerId="ADAL" clId="{9F23B798-9E84-4552-BA63-E776E805C424}" dt="2026-08-30T06:18:47.747" v="20" actId="22"/>
          <ac:picMkLst>
            <pc:docMk/>
            <pc:sldMk cId="0" sldId="262"/>
            <ac:picMk id="4" creationId="{73662954-18CC-4C40-42D6-F21B5286EB89}"/>
          </ac:picMkLst>
        </pc:picChg>
      </pc:sldChg>
      <pc:sldChg chg="addSp delSp mod modNotesTx">
        <pc:chgData name="Lai, Wilson" userId="2840974a-0d84-4886-90a9-9a3ed79f3a48" providerId="ADAL" clId="{9F23B798-9E84-4552-BA63-E776E805C424}" dt="2026-08-30T13:41:07.374" v="42" actId="14"/>
        <pc:sldMkLst>
          <pc:docMk/>
          <pc:sldMk cId="0" sldId="263"/>
        </pc:sldMkLst>
        <pc:picChg chg="del">
          <ac:chgData name="Lai, Wilson" userId="2840974a-0d84-4886-90a9-9a3ed79f3a48" providerId="ADAL" clId="{9F23B798-9E84-4552-BA63-E776E805C424}" dt="2026-08-30T06:18:49.381" v="21" actId="21"/>
          <ac:picMkLst>
            <pc:docMk/>
            <pc:sldMk cId="0" sldId="263"/>
            <ac:picMk id="2" creationId="{00000000-0000-0000-0000-000000000000}"/>
          </ac:picMkLst>
        </pc:picChg>
        <pc:picChg chg="add">
          <ac:chgData name="Lai, Wilson" userId="2840974a-0d84-4886-90a9-9a3ed79f3a48" providerId="ADAL" clId="{9F23B798-9E84-4552-BA63-E776E805C424}" dt="2026-08-30T06:18:58.246" v="22" actId="22"/>
          <ac:picMkLst>
            <pc:docMk/>
            <pc:sldMk cId="0" sldId="263"/>
            <ac:picMk id="4" creationId="{1B66A10C-386C-F89A-7DF7-9DAD6FF5224F}"/>
          </ac:picMkLst>
        </pc:picChg>
      </pc:sldChg>
      <pc:sldChg chg="addSp delSp mod">
        <pc:chgData name="Lai, Wilson" userId="2840974a-0d84-4886-90a9-9a3ed79f3a48" providerId="ADAL" clId="{9F23B798-9E84-4552-BA63-E776E805C424}" dt="2026-08-30T06:19:12.116" v="24" actId="22"/>
        <pc:sldMkLst>
          <pc:docMk/>
          <pc:sldMk cId="0" sldId="264"/>
        </pc:sldMkLst>
        <pc:picChg chg="del">
          <ac:chgData name="Lai, Wilson" userId="2840974a-0d84-4886-90a9-9a3ed79f3a48" providerId="ADAL" clId="{9F23B798-9E84-4552-BA63-E776E805C424}" dt="2026-08-30T06:19:03.705" v="23" actId="21"/>
          <ac:picMkLst>
            <pc:docMk/>
            <pc:sldMk cId="0" sldId="264"/>
            <ac:picMk id="2" creationId="{00000000-0000-0000-0000-000000000000}"/>
          </ac:picMkLst>
        </pc:picChg>
        <pc:picChg chg="add">
          <ac:chgData name="Lai, Wilson" userId="2840974a-0d84-4886-90a9-9a3ed79f3a48" providerId="ADAL" clId="{9F23B798-9E84-4552-BA63-E776E805C424}" dt="2026-08-30T06:19:12.116" v="24" actId="22"/>
          <ac:picMkLst>
            <pc:docMk/>
            <pc:sldMk cId="0" sldId="264"/>
            <ac:picMk id="4" creationId="{B962B9AE-336C-225B-AFB6-301B8CB659C9}"/>
          </ac:picMkLst>
        </pc:picChg>
      </pc:sldChg>
      <pc:sldChg chg="addSp delSp mod">
        <pc:chgData name="Lai, Wilson" userId="2840974a-0d84-4886-90a9-9a3ed79f3a48" providerId="ADAL" clId="{9F23B798-9E84-4552-BA63-E776E805C424}" dt="2026-08-30T06:19:24.250" v="26" actId="22"/>
        <pc:sldMkLst>
          <pc:docMk/>
          <pc:sldMk cId="0" sldId="265"/>
        </pc:sldMkLst>
        <pc:picChg chg="del">
          <ac:chgData name="Lai, Wilson" userId="2840974a-0d84-4886-90a9-9a3ed79f3a48" providerId="ADAL" clId="{9F23B798-9E84-4552-BA63-E776E805C424}" dt="2026-08-30T06:19:15.740" v="25" actId="21"/>
          <ac:picMkLst>
            <pc:docMk/>
            <pc:sldMk cId="0" sldId="265"/>
            <ac:picMk id="2" creationId="{00000000-0000-0000-0000-000000000000}"/>
          </ac:picMkLst>
        </pc:picChg>
        <pc:picChg chg="add">
          <ac:chgData name="Lai, Wilson" userId="2840974a-0d84-4886-90a9-9a3ed79f3a48" providerId="ADAL" clId="{9F23B798-9E84-4552-BA63-E776E805C424}" dt="2026-08-30T06:19:24.250" v="26" actId="22"/>
          <ac:picMkLst>
            <pc:docMk/>
            <pc:sldMk cId="0" sldId="265"/>
            <ac:picMk id="4" creationId="{C85F9834-2CE8-277A-7E12-B0410A61F6E4}"/>
          </ac:picMkLst>
        </pc:picChg>
      </pc:sldChg>
      <pc:sldChg chg="addSp delSp mod">
        <pc:chgData name="Lai, Wilson" userId="2840974a-0d84-4886-90a9-9a3ed79f3a48" providerId="ADAL" clId="{9F23B798-9E84-4552-BA63-E776E805C424}" dt="2026-08-30T06:19:35.292" v="28" actId="22"/>
        <pc:sldMkLst>
          <pc:docMk/>
          <pc:sldMk cId="0" sldId="266"/>
        </pc:sldMkLst>
        <pc:picChg chg="del">
          <ac:chgData name="Lai, Wilson" userId="2840974a-0d84-4886-90a9-9a3ed79f3a48" providerId="ADAL" clId="{9F23B798-9E84-4552-BA63-E776E805C424}" dt="2026-08-30T06:19:27.358" v="27" actId="21"/>
          <ac:picMkLst>
            <pc:docMk/>
            <pc:sldMk cId="0" sldId="266"/>
            <ac:picMk id="2" creationId="{00000000-0000-0000-0000-000000000000}"/>
          </ac:picMkLst>
        </pc:picChg>
        <pc:picChg chg="add">
          <ac:chgData name="Lai, Wilson" userId="2840974a-0d84-4886-90a9-9a3ed79f3a48" providerId="ADAL" clId="{9F23B798-9E84-4552-BA63-E776E805C424}" dt="2026-08-30T06:19:35.292" v="28" actId="22"/>
          <ac:picMkLst>
            <pc:docMk/>
            <pc:sldMk cId="0" sldId="266"/>
            <ac:picMk id="4" creationId="{4BC25C2A-4B0F-7DBB-4893-82CCFFC4D86F}"/>
          </ac:picMkLst>
        </pc:picChg>
      </pc:sldChg>
      <pc:sldChg chg="addSp delSp mod modNotesTx">
        <pc:chgData name="Lai, Wilson" userId="2840974a-0d84-4886-90a9-9a3ed79f3a48" providerId="ADAL" clId="{9F23B798-9E84-4552-BA63-E776E805C424}" dt="2026-08-30T13:41:43.699" v="44" actId="14"/>
        <pc:sldMkLst>
          <pc:docMk/>
          <pc:sldMk cId="0" sldId="267"/>
        </pc:sldMkLst>
        <pc:picChg chg="del">
          <ac:chgData name="Lai, Wilson" userId="2840974a-0d84-4886-90a9-9a3ed79f3a48" providerId="ADAL" clId="{9F23B798-9E84-4552-BA63-E776E805C424}" dt="2026-08-30T06:19:38.907" v="29" actId="21"/>
          <ac:picMkLst>
            <pc:docMk/>
            <pc:sldMk cId="0" sldId="267"/>
            <ac:picMk id="2" creationId="{00000000-0000-0000-0000-000000000000}"/>
          </ac:picMkLst>
        </pc:picChg>
        <pc:picChg chg="add">
          <ac:chgData name="Lai, Wilson" userId="2840974a-0d84-4886-90a9-9a3ed79f3a48" providerId="ADAL" clId="{9F23B798-9E84-4552-BA63-E776E805C424}" dt="2026-08-30T06:19:47.587" v="30" actId="22"/>
          <ac:picMkLst>
            <pc:docMk/>
            <pc:sldMk cId="0" sldId="267"/>
            <ac:picMk id="4" creationId="{7C2FB44D-444A-C523-7AA9-0A26AF876F3F}"/>
          </ac:picMkLst>
        </pc:picChg>
      </pc:sldChg>
      <pc:sldChg chg="addSp delSp mod modNotesTx">
        <pc:chgData name="Lai, Wilson" userId="2840974a-0d84-4886-90a9-9a3ed79f3a48" providerId="ADAL" clId="{9F23B798-9E84-4552-BA63-E776E805C424}" dt="2026-08-30T13:41:58.237" v="46" actId="14"/>
        <pc:sldMkLst>
          <pc:docMk/>
          <pc:sldMk cId="0" sldId="268"/>
        </pc:sldMkLst>
        <pc:picChg chg="del">
          <ac:chgData name="Lai, Wilson" userId="2840974a-0d84-4886-90a9-9a3ed79f3a48" providerId="ADAL" clId="{9F23B798-9E84-4552-BA63-E776E805C424}" dt="2026-08-30T06:19:52.665" v="31" actId="21"/>
          <ac:picMkLst>
            <pc:docMk/>
            <pc:sldMk cId="0" sldId="268"/>
            <ac:picMk id="2" creationId="{00000000-0000-0000-0000-000000000000}"/>
          </ac:picMkLst>
        </pc:picChg>
        <pc:picChg chg="add">
          <ac:chgData name="Lai, Wilson" userId="2840974a-0d84-4886-90a9-9a3ed79f3a48" providerId="ADAL" clId="{9F23B798-9E84-4552-BA63-E776E805C424}" dt="2026-08-30T06:20:03.604" v="32" actId="22"/>
          <ac:picMkLst>
            <pc:docMk/>
            <pc:sldMk cId="0" sldId="268"/>
            <ac:picMk id="4" creationId="{7ACF26CF-271F-A0BB-1C85-041D9B01FF3A}"/>
          </ac:picMkLst>
        </pc:picChg>
      </pc:sldChg>
      <pc:sldChg chg="addSp delSp mod">
        <pc:chgData name="Lai, Wilson" userId="2840974a-0d84-4886-90a9-9a3ed79f3a48" providerId="ADAL" clId="{9F23B798-9E84-4552-BA63-E776E805C424}" dt="2026-08-30T06:20:19.702" v="34" actId="22"/>
        <pc:sldMkLst>
          <pc:docMk/>
          <pc:sldMk cId="0" sldId="269"/>
        </pc:sldMkLst>
        <pc:picChg chg="del">
          <ac:chgData name="Lai, Wilson" userId="2840974a-0d84-4886-90a9-9a3ed79f3a48" providerId="ADAL" clId="{9F23B798-9E84-4552-BA63-E776E805C424}" dt="2026-08-30T06:20:05.557" v="33" actId="21"/>
          <ac:picMkLst>
            <pc:docMk/>
            <pc:sldMk cId="0" sldId="269"/>
            <ac:picMk id="2" creationId="{00000000-0000-0000-0000-000000000000}"/>
          </ac:picMkLst>
        </pc:picChg>
        <pc:picChg chg="add">
          <ac:chgData name="Lai, Wilson" userId="2840974a-0d84-4886-90a9-9a3ed79f3a48" providerId="ADAL" clId="{9F23B798-9E84-4552-BA63-E776E805C424}" dt="2026-08-30T06:20:19.702" v="34" actId="22"/>
          <ac:picMkLst>
            <pc:docMk/>
            <pc:sldMk cId="0" sldId="269"/>
            <ac:picMk id="4" creationId="{0A063402-56F9-C09E-32CA-54B008D37FE8}"/>
          </ac:picMkLst>
        </pc:picChg>
      </pc:sldChg>
      <pc:sldChg chg="addSp delSp mod">
        <pc:chgData name="Lai, Wilson" userId="2840974a-0d84-4886-90a9-9a3ed79f3a48" providerId="ADAL" clId="{9F23B798-9E84-4552-BA63-E776E805C424}" dt="2026-08-30T06:20:30.889" v="36" actId="22"/>
        <pc:sldMkLst>
          <pc:docMk/>
          <pc:sldMk cId="0" sldId="270"/>
        </pc:sldMkLst>
        <pc:picChg chg="del">
          <ac:chgData name="Lai, Wilson" userId="2840974a-0d84-4886-90a9-9a3ed79f3a48" providerId="ADAL" clId="{9F23B798-9E84-4552-BA63-E776E805C424}" dt="2026-08-30T06:20:23.276" v="35" actId="21"/>
          <ac:picMkLst>
            <pc:docMk/>
            <pc:sldMk cId="0" sldId="270"/>
            <ac:picMk id="2" creationId="{00000000-0000-0000-0000-000000000000}"/>
          </ac:picMkLst>
        </pc:picChg>
        <pc:picChg chg="add">
          <ac:chgData name="Lai, Wilson" userId="2840974a-0d84-4886-90a9-9a3ed79f3a48" providerId="ADAL" clId="{9F23B798-9E84-4552-BA63-E776E805C424}" dt="2026-08-30T06:20:30.889" v="36" actId="22"/>
          <ac:picMkLst>
            <pc:docMk/>
            <pc:sldMk cId="0" sldId="270"/>
            <ac:picMk id="4" creationId="{BD7422B2-EA01-950E-F0A5-BEB3D57C6B0D}"/>
          </ac:picMkLst>
        </pc:picChg>
      </pc:sldChg>
      <pc:sldChg chg="addSp delSp mod modNotesTx">
        <pc:chgData name="Lai, Wilson" userId="2840974a-0d84-4886-90a9-9a3ed79f3a48" providerId="ADAL" clId="{9F23B798-9E84-4552-BA63-E776E805C424}" dt="2026-08-30T13:42:25.120" v="48" actId="14"/>
        <pc:sldMkLst>
          <pc:docMk/>
          <pc:sldMk cId="0" sldId="271"/>
        </pc:sldMkLst>
        <pc:picChg chg="del">
          <ac:chgData name="Lai, Wilson" userId="2840974a-0d84-4886-90a9-9a3ed79f3a48" providerId="ADAL" clId="{9F23B798-9E84-4552-BA63-E776E805C424}" dt="2026-08-30T06:20:32.820" v="37" actId="21"/>
          <ac:picMkLst>
            <pc:docMk/>
            <pc:sldMk cId="0" sldId="271"/>
            <ac:picMk id="2" creationId="{00000000-0000-0000-0000-000000000000}"/>
          </ac:picMkLst>
        </pc:picChg>
        <pc:picChg chg="add">
          <ac:chgData name="Lai, Wilson" userId="2840974a-0d84-4886-90a9-9a3ed79f3a48" providerId="ADAL" clId="{9F23B798-9E84-4552-BA63-E776E805C424}" dt="2026-08-30T06:20:41.462" v="38" actId="22"/>
          <ac:picMkLst>
            <pc:docMk/>
            <pc:sldMk cId="0" sldId="271"/>
            <ac:picMk id="4" creationId="{620D07B7-B2FA-AC3F-A810-A9BFB6174E04}"/>
          </ac:picMkLst>
        </pc:picChg>
      </pc:sldChg>
      <pc:sldChg chg="modNotesTx">
        <pc:chgData name="Lai, Wilson" userId="2840974a-0d84-4886-90a9-9a3ed79f3a48" providerId="ADAL" clId="{9F23B798-9E84-4552-BA63-E776E805C424}" dt="2026-08-30T13:42:38.903" v="50" actId="14"/>
        <pc:sldMkLst>
          <pc:docMk/>
          <pc:sldMk cId="168314532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C58BA-3A06-4375-861E-EB8CDFE751C3}"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C98367-0AC8-4479-8FAB-C04F9A7CB519}" type="slidenum">
              <a:rPr lang="en-US" smtClean="0"/>
              <a:t>‹#›</a:t>
            </a:fld>
            <a:endParaRPr lang="en-US"/>
          </a:p>
        </p:txBody>
      </p:sp>
    </p:spTree>
    <p:extLst>
      <p:ext uri="{BB962C8B-B14F-4D97-AF65-F5344CB8AC3E}">
        <p14:creationId xmlns:p14="http://schemas.microsoft.com/office/powerpoint/2010/main" val="1986733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we’re unpacking a high-stakes influence framework derived from former FBI Lead International Kidnapping Negotiator Chris Voss, author of </a:t>
            </a:r>
            <a:r>
              <a:rPr lang="en-US" sz="1200" i="1" kern="1200" dirty="0">
                <a:solidFill>
                  <a:schemeClr val="tx1"/>
                </a:solidFill>
                <a:effectLst/>
                <a:latin typeface="+mn-lt"/>
                <a:ea typeface="+mn-ea"/>
                <a:cs typeface="+mn-cs"/>
              </a:rPr>
              <a:t>Never Split the Difference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Core Premise:</a:t>
            </a:r>
            <a:r>
              <a:rPr lang="en-US" sz="1200" kern="1200" dirty="0">
                <a:solidFill>
                  <a:schemeClr val="tx1"/>
                </a:solidFill>
                <a:effectLst/>
                <a:latin typeface="+mn-lt"/>
                <a:ea typeface="+mn-ea"/>
                <a:cs typeface="+mn-cs"/>
              </a:rPr>
              <a:t> At first glance, kidnapping negotiations and modern business deals seem worlds apart. But whether you're negotiating for a hostage or negotiating an M&amp;A deal, funding round, or commercial agreement, you are dealing with human beings under pressure.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Negotiation isn't an academic exercise or a battle of spreadsheets; it is a psychological process rooted in human biology. Today, we'll examine how to leverage emotional intelligence to turn adversaries into genuine collaborators.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https://www.youtube.com/watch?v=fTJklJp75Is</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a:t>
            </a:fld>
            <a:endParaRPr lang="en-US"/>
          </a:p>
        </p:txBody>
      </p:sp>
    </p:spTree>
    <p:extLst>
      <p:ext uri="{BB962C8B-B14F-4D97-AF65-F5344CB8AC3E}">
        <p14:creationId xmlns:p14="http://schemas.microsoft.com/office/powerpoint/2010/main" val="1606053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Universal Hardware:</a:t>
            </a:r>
            <a:r>
              <a:rPr lang="en-US" sz="1200" kern="1200" dirty="0">
                <a:solidFill>
                  <a:schemeClr val="tx1"/>
                </a:solidFill>
                <a:effectLst/>
                <a:latin typeface="+mn-lt"/>
                <a:ea typeface="+mn-ea"/>
                <a:cs typeface="+mn-cs"/>
              </a:rPr>
              <a:t> In international deal-making, people often get bogged down by regional etiquette—whether doing business in Dubai, Monaco, Singapore, or New York. While superficial customs vary, human neurochemistry is identical across every geography, ethnicity, and culture. </a:t>
            </a:r>
          </a:p>
          <a:p>
            <a:pPr lvl="0"/>
            <a:r>
              <a:rPr lang="en-US" sz="1200" b="1" kern="1200" dirty="0">
                <a:solidFill>
                  <a:schemeClr val="tx1"/>
                </a:solidFill>
                <a:effectLst/>
                <a:latin typeface="+mn-lt"/>
                <a:ea typeface="+mn-ea"/>
                <a:cs typeface="+mn-cs"/>
              </a:rPr>
              <a:t>The Archetypes:</a:t>
            </a:r>
            <a:r>
              <a:rPr lang="en-US" sz="1200" kern="1200" dirty="0">
                <a:solidFill>
                  <a:schemeClr val="tx1"/>
                </a:solidFill>
                <a:effectLst/>
                <a:latin typeface="+mn-lt"/>
                <a:ea typeface="+mn-ea"/>
                <a:cs typeface="+mn-cs"/>
              </a:rPr>
              <a:t> Whether facing Fortune 500 executives, international kidnappers, or regional suppliers, you are negotiating with the exact same biological hardware. </a:t>
            </a:r>
          </a:p>
          <a:p>
            <a:pPr lvl="0"/>
            <a:r>
              <a:rPr lang="en-US" sz="1200" b="1" kern="1200" dirty="0">
                <a:solidFill>
                  <a:schemeClr val="tx1"/>
                </a:solidFill>
                <a:effectLst/>
                <a:latin typeface="+mn-lt"/>
                <a:ea typeface="+mn-ea"/>
                <a:cs typeface="+mn-cs"/>
              </a:rPr>
              <a:t>Biological Decision Making:</a:t>
            </a:r>
            <a:r>
              <a:rPr lang="en-US" sz="1200" kern="1200" dirty="0">
                <a:solidFill>
                  <a:schemeClr val="tx1"/>
                </a:solidFill>
                <a:effectLst/>
                <a:latin typeface="+mn-lt"/>
                <a:ea typeface="+mn-ea"/>
                <a:cs typeface="+mn-cs"/>
              </a:rPr>
              <a:t> High pressure triggers universal fear mechanisms. If you speak directly to these underlying neurochemical drivers, you gain immense influence regardless of the counterpart's background.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Do not get lost in procedural rules or surface-level differences. Focus first on addressing human neurochemistry—releasing emotional pressure to restore clear, rational thinking.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2</a:t>
            </a:fld>
            <a:endParaRPr lang="en-US"/>
          </a:p>
        </p:txBody>
      </p:sp>
    </p:spTree>
    <p:extLst>
      <p:ext uri="{BB962C8B-B14F-4D97-AF65-F5344CB8AC3E}">
        <p14:creationId xmlns:p14="http://schemas.microsoft.com/office/powerpoint/2010/main" val="1253832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Fallacy of "Win-Win":</a:t>
            </a:r>
            <a:r>
              <a:rPr lang="en-US" sz="1200" kern="1200" dirty="0">
                <a:solidFill>
                  <a:schemeClr val="tx1"/>
                </a:solidFill>
                <a:effectLst/>
                <a:latin typeface="+mn-lt"/>
                <a:ea typeface="+mn-ea"/>
                <a:cs typeface="+mn-cs"/>
              </a:rPr>
              <a:t> In traditional business, we are taught that compromise is the ultimate goal—that meeting halfway is a victory. Voss challenges this directly: </a:t>
            </a:r>
            <a:r>
              <a:rPr lang="en-US" sz="1200" i="1" kern="1200" dirty="0">
                <a:solidFill>
                  <a:schemeClr val="tx1"/>
                </a:solidFill>
                <a:effectLst/>
                <a:latin typeface="+mn-lt"/>
                <a:ea typeface="+mn-ea"/>
                <a:cs typeface="+mn-cs"/>
              </a:rPr>
              <a:t>Splitting the difference is failure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Hostage vs. Business Context:</a:t>
            </a:r>
            <a:r>
              <a:rPr lang="en-US" sz="1200" kern="1200" dirty="0">
                <a:solidFill>
                  <a:schemeClr val="tx1"/>
                </a:solidFill>
                <a:effectLst/>
                <a:latin typeface="+mn-lt"/>
                <a:ea typeface="+mn-ea"/>
                <a:cs typeface="+mn-cs"/>
              </a:rPr>
              <a:t> In hostage negotiation, splitting the difference between six hostages and zero means three people die. In business, splitting the difference leads to split-the-difference, half-baked compromises that satisfy neither party and result in broken implementation down the road. </a:t>
            </a:r>
          </a:p>
          <a:p>
            <a:pPr lvl="0"/>
            <a:r>
              <a:rPr lang="en-US" sz="1200" b="1" kern="1200" dirty="0">
                <a:solidFill>
                  <a:schemeClr val="tx1"/>
                </a:solidFill>
                <a:effectLst/>
                <a:latin typeface="+mn-lt"/>
                <a:ea typeface="+mn-ea"/>
                <a:cs typeface="+mn-cs"/>
              </a:rPr>
              <a:t>Why We Compromise:</a:t>
            </a:r>
            <a:r>
              <a:rPr lang="en-US" sz="1200" kern="1200" dirty="0">
                <a:solidFill>
                  <a:schemeClr val="tx1"/>
                </a:solidFill>
                <a:effectLst/>
                <a:latin typeface="+mn-lt"/>
                <a:ea typeface="+mn-ea"/>
                <a:cs typeface="+mn-cs"/>
              </a:rPr>
              <a:t> Compromise is rarely driven by a desire for the </a:t>
            </a:r>
            <a:r>
              <a:rPr lang="en-US" sz="1200" i="1" kern="1200" dirty="0">
                <a:solidFill>
                  <a:schemeClr val="tx1"/>
                </a:solidFill>
                <a:effectLst/>
                <a:latin typeface="+mn-lt"/>
                <a:ea typeface="+mn-ea"/>
                <a:cs typeface="+mn-cs"/>
              </a:rPr>
              <a:t>best</a:t>
            </a:r>
            <a:r>
              <a:rPr lang="en-US" sz="1200" kern="1200" dirty="0">
                <a:solidFill>
                  <a:schemeClr val="tx1"/>
                </a:solidFill>
                <a:effectLst/>
                <a:latin typeface="+mn-lt"/>
                <a:ea typeface="+mn-ea"/>
                <a:cs typeface="+mn-cs"/>
              </a:rPr>
              <a:t> outcome; it is driven by a desire for a </a:t>
            </a:r>
            <a:r>
              <a:rPr lang="en-US" sz="1200" i="1" kern="1200" dirty="0">
                <a:solidFill>
                  <a:schemeClr val="tx1"/>
                </a:solidFill>
                <a:effectLst/>
                <a:latin typeface="+mn-lt"/>
                <a:ea typeface="+mn-ea"/>
                <a:cs typeface="+mn-cs"/>
              </a:rPr>
              <a:t>comfortable, quick</a:t>
            </a:r>
            <a:r>
              <a:rPr lang="en-US" sz="1200" kern="1200" dirty="0">
                <a:solidFill>
                  <a:schemeClr val="tx1"/>
                </a:solidFill>
                <a:effectLst/>
                <a:latin typeface="+mn-lt"/>
                <a:ea typeface="+mn-ea"/>
                <a:cs typeface="+mn-cs"/>
              </a:rPr>
              <a:t> resolution to avoid conflict.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Stop rushing to split numbers or make lazy concessions just to conclude a meeting. Push past superficial compromises to unearth the true drivers of the deal.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3</a:t>
            </a:fld>
            <a:endParaRPr lang="en-US"/>
          </a:p>
        </p:txBody>
      </p:sp>
    </p:spTree>
    <p:extLst>
      <p:ext uri="{BB962C8B-B14F-4D97-AF65-F5344CB8AC3E}">
        <p14:creationId xmlns:p14="http://schemas.microsoft.com/office/powerpoint/2010/main" val="2181487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Two Core Drives:</a:t>
            </a:r>
            <a:r>
              <a:rPr lang="en-US" sz="1200" kern="1200" dirty="0">
                <a:solidFill>
                  <a:schemeClr val="tx1"/>
                </a:solidFill>
                <a:effectLst/>
                <a:latin typeface="+mn-lt"/>
                <a:ea typeface="+mn-ea"/>
                <a:cs typeface="+mn-cs"/>
              </a:rPr>
              <a:t> Human decision-making is governed by two underlying gears: </a:t>
            </a:r>
            <a:r>
              <a:rPr lang="en-US" sz="1200" b="1" kern="1200" dirty="0">
                <a:solidFill>
                  <a:schemeClr val="tx1"/>
                </a:solidFill>
                <a:effectLst/>
                <a:latin typeface="+mn-lt"/>
                <a:ea typeface="+mn-ea"/>
                <a:cs typeface="+mn-cs"/>
              </a:rPr>
              <a:t>Fear of Loss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Autonomy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1. Fear of Loss:</a:t>
            </a:r>
            <a:r>
              <a:rPr lang="en-US" sz="1200" kern="1200" dirty="0">
                <a:solidFill>
                  <a:schemeClr val="tx1"/>
                </a:solidFill>
                <a:effectLst/>
                <a:latin typeface="+mn-lt"/>
                <a:ea typeface="+mn-ea"/>
                <a:cs typeface="+mn-cs"/>
              </a:rPr>
              <a:t> Fear of loss is the single greatest driver of human choice. People are far more motivated to avoid a loss than they are to gain an equal reward. Short-term panic and negative emotions dictate how people react under pressure. </a:t>
            </a:r>
          </a:p>
          <a:p>
            <a:pPr lvl="0"/>
            <a:r>
              <a:rPr lang="en-US" sz="1200" b="1" kern="1200" dirty="0">
                <a:solidFill>
                  <a:schemeClr val="tx1"/>
                </a:solidFill>
                <a:effectLst/>
                <a:latin typeface="+mn-lt"/>
                <a:ea typeface="+mn-ea"/>
                <a:cs typeface="+mn-cs"/>
              </a:rPr>
              <a:t>2. Autonomy:</a:t>
            </a:r>
            <a:r>
              <a:rPr lang="en-US" sz="1200" kern="1200" dirty="0">
                <a:solidFill>
                  <a:schemeClr val="tx1"/>
                </a:solidFill>
                <a:effectLst/>
                <a:latin typeface="+mn-lt"/>
                <a:ea typeface="+mn-ea"/>
                <a:cs typeface="+mn-cs"/>
              </a:rPr>
              <a:t> Contrary to Maslow's hierarchy, autonomy—not basic survival—is the deepest human need. Throughout history, humans have repeatedly chosen death over slavery ("Give me liberty or give me death"). </a:t>
            </a:r>
          </a:p>
          <a:p>
            <a:pPr lvl="0"/>
            <a:r>
              <a:rPr lang="en-US" sz="1200" b="1" kern="1200" dirty="0">
                <a:solidFill>
                  <a:schemeClr val="tx1"/>
                </a:solidFill>
                <a:effectLst/>
                <a:latin typeface="+mn-lt"/>
                <a:ea typeface="+mn-ea"/>
                <a:cs typeface="+mn-cs"/>
              </a:rPr>
              <a:t>Mandela Example:</a:t>
            </a:r>
            <a:r>
              <a:rPr lang="en-US" sz="1200" kern="1200" dirty="0">
                <a:solidFill>
                  <a:schemeClr val="tx1"/>
                </a:solidFill>
                <a:effectLst/>
                <a:latin typeface="+mn-lt"/>
                <a:ea typeface="+mn-ea"/>
                <a:cs typeface="+mn-cs"/>
              </a:rPr>
              <a:t> Nelson Mandela survived decades in prison by realizing that because suicide is a choice, staying alive in prison was his own autonomous decision.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If a counterpart feels cornered, they will resist instinctively, even against their own economic interest. Preserving their agency is non-negotiable.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4</a:t>
            </a:fld>
            <a:endParaRPr lang="en-US"/>
          </a:p>
        </p:txBody>
      </p:sp>
    </p:spTree>
    <p:extLst>
      <p:ext uri="{BB962C8B-B14F-4D97-AF65-F5344CB8AC3E}">
        <p14:creationId xmlns:p14="http://schemas.microsoft.com/office/powerpoint/2010/main" val="88420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Pitching Upside vs. Downside:</a:t>
            </a:r>
            <a:r>
              <a:rPr lang="en-US" sz="1200" kern="1200" dirty="0">
                <a:solidFill>
                  <a:schemeClr val="tx1"/>
                </a:solidFill>
                <a:effectLst/>
                <a:latin typeface="+mn-lt"/>
                <a:ea typeface="+mn-ea"/>
                <a:cs typeface="+mn-cs"/>
              </a:rPr>
              <a:t> Amateurs pitch features, benefits, and upside potential. Master negotiators highlight the downside risk of doing nothing to break through the status quo. </a:t>
            </a:r>
          </a:p>
          <a:p>
            <a:pPr lvl="0"/>
            <a:r>
              <a:rPr lang="en-US" sz="1200" b="1" kern="1200" dirty="0">
                <a:solidFill>
                  <a:schemeClr val="tx1"/>
                </a:solidFill>
                <a:effectLst/>
                <a:latin typeface="+mn-lt"/>
                <a:ea typeface="+mn-ea"/>
                <a:cs typeface="+mn-cs"/>
              </a:rPr>
              <a:t>The Power of Inaction:</a:t>
            </a:r>
            <a:r>
              <a:rPr lang="en-US" sz="1200" kern="1200" dirty="0">
                <a:solidFill>
                  <a:schemeClr val="tx1"/>
                </a:solidFill>
                <a:effectLst/>
                <a:latin typeface="+mn-lt"/>
                <a:ea typeface="+mn-ea"/>
                <a:cs typeface="+mn-cs"/>
              </a:rPr>
              <a:t> In business, the biggest competitor isn't another vendor—it's inaction driven by fear of making a mistake. </a:t>
            </a:r>
          </a:p>
          <a:p>
            <a:pPr lvl="0"/>
            <a:r>
              <a:rPr lang="en-US" sz="1200" b="1" kern="1200" dirty="0">
                <a:solidFill>
                  <a:schemeClr val="tx1"/>
                </a:solidFill>
                <a:effectLst/>
                <a:latin typeface="+mn-lt"/>
                <a:ea typeface="+mn-ea"/>
                <a:cs typeface="+mn-cs"/>
              </a:rPr>
              <a:t>The Diagnostic Question:</a:t>
            </a:r>
            <a:r>
              <a:rPr lang="en-US" sz="1200" kern="1200" dirty="0">
                <a:solidFill>
                  <a:schemeClr val="tx1"/>
                </a:solidFill>
                <a:effectLst/>
                <a:latin typeface="+mn-lt"/>
                <a:ea typeface="+mn-ea"/>
                <a:cs typeface="+mn-cs"/>
              </a:rPr>
              <a:t> Ask your counterpart: </a:t>
            </a:r>
            <a:r>
              <a:rPr lang="en-US" sz="1200" i="1" kern="1200" dirty="0">
                <a:solidFill>
                  <a:schemeClr val="tx1"/>
                </a:solidFill>
                <a:effectLst/>
                <a:latin typeface="+mn-lt"/>
                <a:ea typeface="+mn-ea"/>
                <a:cs typeface="+mn-cs"/>
              </a:rPr>
              <a:t>"What happens if you do nothing?"</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Psychological Shift:</a:t>
            </a:r>
            <a:r>
              <a:rPr lang="en-US" sz="1200" kern="1200" dirty="0">
                <a:solidFill>
                  <a:schemeClr val="tx1"/>
                </a:solidFill>
                <a:effectLst/>
                <a:latin typeface="+mn-lt"/>
                <a:ea typeface="+mn-ea"/>
                <a:cs typeface="+mn-cs"/>
              </a:rPr>
              <a:t> This question forces them to confront the inevitable cost of inaction, bringing their fear of loss into sharp focus and unlocking immobilized decision-making.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5</a:t>
            </a:fld>
            <a:endParaRPr lang="en-US"/>
          </a:p>
        </p:txBody>
      </p:sp>
    </p:spTree>
    <p:extLst>
      <p:ext uri="{BB962C8B-B14F-4D97-AF65-F5344CB8AC3E}">
        <p14:creationId xmlns:p14="http://schemas.microsoft.com/office/powerpoint/2010/main" val="361286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Cornered Trap:</a:t>
            </a:r>
            <a:r>
              <a:rPr lang="en-US" sz="1200" kern="1200" dirty="0">
                <a:solidFill>
                  <a:schemeClr val="tx1"/>
                </a:solidFill>
                <a:effectLst/>
                <a:latin typeface="+mn-lt"/>
                <a:ea typeface="+mn-ea"/>
                <a:cs typeface="+mn-cs"/>
              </a:rPr>
              <a:t> Sayings like </a:t>
            </a:r>
            <a:r>
              <a:rPr lang="en-US" sz="1200" i="1" kern="1200" dirty="0">
                <a:solidFill>
                  <a:schemeClr val="tx1"/>
                </a:solidFill>
                <a:effectLst/>
                <a:latin typeface="+mn-lt"/>
                <a:ea typeface="+mn-ea"/>
                <a:cs typeface="+mn-cs"/>
              </a:rPr>
              <a:t>"I've got them over a barrel"</a:t>
            </a:r>
            <a:r>
              <a:rPr lang="en-US" sz="1200" kern="1200" dirty="0">
                <a:solidFill>
                  <a:schemeClr val="tx1"/>
                </a:solidFill>
                <a:effectLst/>
                <a:latin typeface="+mn-lt"/>
                <a:ea typeface="+mn-ea"/>
                <a:cs typeface="+mn-cs"/>
              </a:rPr>
              <a:t> indicate a fatal negotiation flaw. When you strip someone of their agency, you trigger desperate, irrational resistance. </a:t>
            </a:r>
          </a:p>
          <a:p>
            <a:pPr lvl="0"/>
            <a:r>
              <a:rPr lang="en-US" sz="1200" b="1" kern="1200" dirty="0">
                <a:solidFill>
                  <a:schemeClr val="tx1"/>
                </a:solidFill>
                <a:effectLst/>
                <a:latin typeface="+mn-lt"/>
                <a:ea typeface="+mn-ea"/>
                <a:cs typeface="+mn-cs"/>
              </a:rPr>
              <a:t>Safe Right of Veto:</a:t>
            </a:r>
            <a:r>
              <a:rPr lang="en-US" sz="1200" kern="1200" dirty="0">
                <a:solidFill>
                  <a:schemeClr val="tx1"/>
                </a:solidFill>
                <a:effectLst/>
                <a:latin typeface="+mn-lt"/>
                <a:ea typeface="+mn-ea"/>
                <a:cs typeface="+mn-cs"/>
              </a:rPr>
              <a:t> To make a "Yes" attractive, you must make it clear that saying "No" is completely safe. Giving them a clear escape route paradoxically makes them more willing to walk down the path with you.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Always grant your counterpart the absolute right of veto. When people realize they aren't trapped, their defensive guard drops, opening the floor for real collaboration.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6</a:t>
            </a:fld>
            <a:endParaRPr lang="en-US"/>
          </a:p>
        </p:txBody>
      </p:sp>
    </p:spTree>
    <p:extLst>
      <p:ext uri="{BB962C8B-B14F-4D97-AF65-F5344CB8AC3E}">
        <p14:creationId xmlns:p14="http://schemas.microsoft.com/office/powerpoint/2010/main" val="2270514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"Yes" Trap:</a:t>
            </a:r>
            <a:r>
              <a:rPr lang="en-US" sz="1200" kern="1200" dirty="0">
                <a:solidFill>
                  <a:schemeClr val="tx1"/>
                </a:solidFill>
                <a:effectLst/>
                <a:latin typeface="+mn-lt"/>
                <a:ea typeface="+mn-ea"/>
                <a:cs typeface="+mn-cs"/>
              </a:rPr>
              <a:t> Traditional sales techniques teach us to force micro-agreements: </a:t>
            </a:r>
            <a:r>
              <a:rPr lang="en-US" sz="1200" i="1" kern="1200" dirty="0">
                <a:solidFill>
                  <a:schemeClr val="tx1"/>
                </a:solidFill>
                <a:effectLst/>
                <a:latin typeface="+mn-lt"/>
                <a:ea typeface="+mn-ea"/>
                <a:cs typeface="+mn-cs"/>
              </a:rPr>
              <a:t>"Do you have a few minutes?"</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"Would you agree that...?"</a:t>
            </a:r>
            <a:r>
              <a:rPr lang="en-US" sz="1200" kern="1200" dirty="0">
                <a:solidFill>
                  <a:schemeClr val="tx1"/>
                </a:solidFill>
                <a:effectLst/>
                <a:latin typeface="+mn-lt"/>
                <a:ea typeface="+mn-ea"/>
                <a:cs typeface="+mn-cs"/>
              </a:rPr>
              <a:t> This triggers immediate defensiveness, suspicion, and the feeling of being trapped or "bamboozled". </a:t>
            </a:r>
          </a:p>
          <a:p>
            <a:pPr lvl="0"/>
            <a:r>
              <a:rPr lang="en-US" sz="1200" b="1" kern="1200" dirty="0">
                <a:solidFill>
                  <a:schemeClr val="tx1"/>
                </a:solidFill>
                <a:effectLst/>
                <a:latin typeface="+mn-lt"/>
                <a:ea typeface="+mn-ea"/>
                <a:cs typeface="+mn-cs"/>
              </a:rPr>
              <a:t>Flitting to "No":</a:t>
            </a:r>
            <a:r>
              <a:rPr lang="en-US" sz="1200" kern="1200" dirty="0">
                <a:solidFill>
                  <a:schemeClr val="tx1"/>
                </a:solidFill>
                <a:effectLst/>
                <a:latin typeface="+mn-lt"/>
                <a:ea typeface="+mn-ea"/>
                <a:cs typeface="+mn-cs"/>
              </a:rPr>
              <a:t> Shift your questions to invite a "No" answer.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a:t>
            </a:r>
            <a:r>
              <a:rPr lang="en-US" sz="1200" i="1" kern="1200" dirty="0">
                <a:solidFill>
                  <a:schemeClr val="tx1"/>
                </a:solidFill>
                <a:effectLst/>
                <a:latin typeface="+mn-lt"/>
                <a:ea typeface="+mn-ea"/>
                <a:cs typeface="+mn-cs"/>
              </a:rPr>
              <a:t>"Do you have a few minutes?"</a:t>
            </a:r>
            <a:r>
              <a:rPr lang="en-US" sz="1200" kern="1200" dirty="0">
                <a:solidFill>
                  <a:schemeClr val="tx1"/>
                </a:solidFill>
                <a:effectLst/>
                <a:latin typeface="+mn-lt"/>
                <a:ea typeface="+mn-ea"/>
                <a:cs typeface="+mn-cs"/>
              </a:rPr>
              <a:t> ask: </a:t>
            </a:r>
            <a:r>
              <a:rPr lang="en-US" sz="1200" b="1" i="1" kern="1200" dirty="0">
                <a:solidFill>
                  <a:schemeClr val="tx1"/>
                </a:solidFill>
                <a:effectLst/>
                <a:latin typeface="+mn-lt"/>
                <a:ea typeface="+mn-ea"/>
                <a:cs typeface="+mn-cs"/>
              </a:rPr>
              <a:t>"Is now a bad time to talk?"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a:t>
            </a:r>
            <a:r>
              <a:rPr lang="en-US" sz="1200" i="1" kern="1200" dirty="0">
                <a:solidFill>
                  <a:schemeClr val="tx1"/>
                </a:solidFill>
                <a:effectLst/>
                <a:latin typeface="+mn-lt"/>
                <a:ea typeface="+mn-ea"/>
                <a:cs typeface="+mn-cs"/>
              </a:rPr>
              <a:t>"Is this a good fit?"</a:t>
            </a:r>
            <a:r>
              <a:rPr lang="en-US" sz="1200" kern="1200" dirty="0">
                <a:solidFill>
                  <a:schemeClr val="tx1"/>
                </a:solidFill>
                <a:effectLst/>
                <a:latin typeface="+mn-lt"/>
                <a:ea typeface="+mn-ea"/>
                <a:cs typeface="+mn-cs"/>
              </a:rPr>
              <a:t> ask: </a:t>
            </a:r>
            <a:r>
              <a:rPr lang="en-US" sz="1200" b="1" i="1" kern="1200" dirty="0">
                <a:solidFill>
                  <a:schemeClr val="tx1"/>
                </a:solidFill>
                <a:effectLst/>
                <a:latin typeface="+mn-lt"/>
                <a:ea typeface="+mn-ea"/>
                <a:cs typeface="+mn-cs"/>
              </a:rPr>
              <a:t>"Is this a ridiculous idea?"</a:t>
            </a:r>
            <a:r>
              <a:rPr lang="en-US" sz="1200" kern="1200" dirty="0">
                <a:solidFill>
                  <a:schemeClr val="tx1"/>
                </a:solidFill>
                <a:effectLst/>
                <a:latin typeface="+mn-lt"/>
                <a:ea typeface="+mn-ea"/>
                <a:cs typeface="+mn-cs"/>
              </a:rPr>
              <a:t> or </a:t>
            </a:r>
            <a:r>
              <a:rPr lang="en-US" sz="1200" b="1" i="1" kern="1200" dirty="0">
                <a:solidFill>
                  <a:schemeClr val="tx1"/>
                </a:solidFill>
                <a:effectLst/>
                <a:latin typeface="+mn-lt"/>
                <a:ea typeface="+mn-ea"/>
                <a:cs typeface="+mn-cs"/>
              </a:rPr>
              <a:t>"Are you against this?"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Psychological Impact:</a:t>
            </a:r>
            <a:r>
              <a:rPr lang="en-US" sz="1200" kern="1200" dirty="0">
                <a:solidFill>
                  <a:schemeClr val="tx1"/>
                </a:solidFill>
                <a:effectLst/>
                <a:latin typeface="+mn-lt"/>
                <a:ea typeface="+mn-ea"/>
                <a:cs typeface="+mn-cs"/>
              </a:rPr>
              <a:t> Saying "No" gives the counterpart a sense of safety, autonomy, and control. From that safe ground, they can give you honest, actionable engagement.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7</a:t>
            </a:fld>
            <a:endParaRPr lang="en-US"/>
          </a:p>
        </p:txBody>
      </p:sp>
    </p:spTree>
    <p:extLst>
      <p:ext uri="{BB962C8B-B14F-4D97-AF65-F5344CB8AC3E}">
        <p14:creationId xmlns:p14="http://schemas.microsoft.com/office/powerpoint/2010/main" val="3038730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Empathy vs. Sympathy:</a:t>
            </a:r>
            <a:r>
              <a:rPr lang="en-US" sz="1200" kern="1200" dirty="0">
                <a:solidFill>
                  <a:schemeClr val="tx1"/>
                </a:solidFill>
                <a:effectLst/>
                <a:latin typeface="+mn-lt"/>
                <a:ea typeface="+mn-ea"/>
                <a:cs typeface="+mn-cs"/>
              </a:rPr>
              <a:t> Tactical empathy is not being soft or agreeing with the counterpart. It is the calculated, observational demonstration that you understand their exact perspective, pressures, and constraints. </a:t>
            </a:r>
          </a:p>
          <a:p>
            <a:pPr lvl="0"/>
            <a:r>
              <a:rPr lang="en-US" sz="1200" b="1" kern="1200" dirty="0">
                <a:solidFill>
                  <a:schemeClr val="tx1"/>
                </a:solidFill>
                <a:effectLst/>
                <a:latin typeface="+mn-lt"/>
                <a:ea typeface="+mn-ea"/>
                <a:cs typeface="+mn-cs"/>
              </a:rPr>
              <a:t>Labeling the Pressure:</a:t>
            </a:r>
            <a:r>
              <a:rPr lang="en-US" sz="1200" kern="1200" dirty="0">
                <a:solidFill>
                  <a:schemeClr val="tx1"/>
                </a:solidFill>
                <a:effectLst/>
                <a:latin typeface="+mn-lt"/>
                <a:ea typeface="+mn-ea"/>
                <a:cs typeface="+mn-cs"/>
              </a:rPr>
              <a:t> Use labels to call out their unspoken stress: </a:t>
            </a:r>
            <a:r>
              <a:rPr lang="en-US" sz="1200" i="1" kern="1200" dirty="0">
                <a:solidFill>
                  <a:schemeClr val="tx1"/>
                </a:solidFill>
                <a:effectLst/>
                <a:latin typeface="+mn-lt"/>
                <a:ea typeface="+mn-ea"/>
                <a:cs typeface="+mn-cs"/>
              </a:rPr>
              <a:t>"It seems like you're under a lot of pressure,"</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"It seems like you have a strict timeline."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Neurochemical Relief Valve:</a:t>
            </a:r>
            <a:r>
              <a:rPr lang="en-US" sz="1200" kern="1200" dirty="0">
                <a:solidFill>
                  <a:schemeClr val="tx1"/>
                </a:solidFill>
                <a:effectLst/>
                <a:latin typeface="+mn-lt"/>
                <a:ea typeface="+mn-ea"/>
                <a:cs typeface="+mn-cs"/>
              </a:rPr>
              <a:t> Labeling acts like a release valve on a pressure tank. Once their negative emotions are named, their prefrontal cortex reactivates, clearing their head for genuine collaboration.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8</a:t>
            </a:fld>
            <a:endParaRPr lang="en-US"/>
          </a:p>
        </p:txBody>
      </p:sp>
    </p:spTree>
    <p:extLst>
      <p:ext uri="{BB962C8B-B14F-4D97-AF65-F5344CB8AC3E}">
        <p14:creationId xmlns:p14="http://schemas.microsoft.com/office/powerpoint/2010/main" val="3978203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Inoculate &amp; Deactivate:</a:t>
            </a:r>
            <a:r>
              <a:rPr lang="en-US" sz="1200" kern="1200" dirty="0">
                <a:solidFill>
                  <a:schemeClr val="tx1"/>
                </a:solidFill>
                <a:effectLst/>
                <a:latin typeface="+mn-lt"/>
                <a:ea typeface="+mn-ea"/>
                <a:cs typeface="+mn-cs"/>
              </a:rPr>
              <a:t> You cannot plant a new negative emotion, but you can deactivate or inoculate against existing ones by saying them aloud first. </a:t>
            </a:r>
          </a:p>
          <a:p>
            <a:pPr lvl="0"/>
            <a:r>
              <a:rPr lang="en-US" sz="1200" b="1" kern="1200" dirty="0">
                <a:solidFill>
                  <a:schemeClr val="tx1"/>
                </a:solidFill>
                <a:effectLst/>
                <a:latin typeface="+mn-lt"/>
                <a:ea typeface="+mn-ea"/>
                <a:cs typeface="+mn-cs"/>
              </a:rPr>
              <a:t>"Over-Egging the Omelet":</a:t>
            </a:r>
            <a:r>
              <a:rPr lang="en-US" sz="1200" kern="1200" dirty="0">
                <a:solidFill>
                  <a:schemeClr val="tx1"/>
                </a:solidFill>
                <a:effectLst/>
                <a:latin typeface="+mn-lt"/>
                <a:ea typeface="+mn-ea"/>
                <a:cs typeface="+mn-cs"/>
              </a:rPr>
              <a:t> Go to the extreme in calling out their worst thoughts about you. </a:t>
            </a:r>
          </a:p>
          <a:p>
            <a:pPr lvl="0"/>
            <a:r>
              <a:rPr lang="en-US" sz="1200" b="1" kern="1200" dirty="0">
                <a:solidFill>
                  <a:schemeClr val="tx1"/>
                </a:solidFill>
                <a:effectLst/>
                <a:latin typeface="+mn-lt"/>
                <a:ea typeface="+mn-ea"/>
                <a:cs typeface="+mn-cs"/>
              </a:rPr>
              <a:t>Scripting Example: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 know you think this price is ridiculous. You probably feel like we're greedy vultures swooping in to take advantage of you."</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Reversal Effect:</a:t>
            </a:r>
            <a:r>
              <a:rPr lang="en-US" sz="1200" kern="1200" dirty="0">
                <a:solidFill>
                  <a:schemeClr val="tx1"/>
                </a:solidFill>
                <a:effectLst/>
                <a:latin typeface="+mn-lt"/>
                <a:ea typeface="+mn-ea"/>
                <a:cs typeface="+mn-cs"/>
              </a:rPr>
              <a:t> When you deliberately overstate the negative, the counterpart's natural instinct is to correct you: </a:t>
            </a:r>
            <a:r>
              <a:rPr lang="en-US" sz="1200" i="1" kern="1200" dirty="0">
                <a:solidFill>
                  <a:schemeClr val="tx1"/>
                </a:solidFill>
                <a:effectLst/>
                <a:latin typeface="+mn-lt"/>
                <a:ea typeface="+mn-ea"/>
                <a:cs typeface="+mn-cs"/>
              </a:rPr>
              <a:t>"No, no, you're being too hard on yourself. It's just that our budget is tight."</a:t>
            </a:r>
            <a:r>
              <a:rPr lang="en-US" sz="1200" kern="1200" dirty="0">
                <a:solidFill>
                  <a:schemeClr val="tx1"/>
                </a:solidFill>
                <a:effectLst/>
                <a:latin typeface="+mn-lt"/>
                <a:ea typeface="+mn-ea"/>
                <a:cs typeface="+mn-cs"/>
              </a:rPr>
              <a:t> In that moment, they shift from an adversary to a mentor/collaborator.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9</a:t>
            </a:fld>
            <a:endParaRPr lang="en-US"/>
          </a:p>
        </p:txBody>
      </p:sp>
    </p:spTree>
    <p:extLst>
      <p:ext uri="{BB962C8B-B14F-4D97-AF65-F5344CB8AC3E}">
        <p14:creationId xmlns:p14="http://schemas.microsoft.com/office/powerpoint/2010/main" val="978286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Identify the Archetype:</a:t>
            </a:r>
            <a:r>
              <a:rPr lang="en-US" sz="1200" kern="1200" dirty="0">
                <a:solidFill>
                  <a:schemeClr val="tx1"/>
                </a:solidFill>
                <a:effectLst/>
                <a:latin typeface="+mn-lt"/>
                <a:ea typeface="+mn-ea"/>
                <a:cs typeface="+mn-cs"/>
              </a:rPr>
              <a:t> Every negotiator falls into one of three primary archetypes, each with distinct priorities and fears: </a:t>
            </a:r>
          </a:p>
          <a:p>
            <a:pPr lvl="0"/>
            <a:r>
              <a:rPr lang="en-US" sz="1200" b="1" kern="1200" dirty="0">
                <a:solidFill>
                  <a:schemeClr val="tx1"/>
                </a:solidFill>
                <a:effectLst/>
                <a:latin typeface="+mn-lt"/>
                <a:ea typeface="+mn-ea"/>
                <a:cs typeface="+mn-cs"/>
              </a:rPr>
              <a:t>1. The Mercenary:</a:t>
            </a:r>
            <a:r>
              <a:rPr lang="en-US" sz="1200" kern="1200" dirty="0">
                <a:solidFill>
                  <a:schemeClr val="tx1"/>
                </a:solidFill>
                <a:effectLst/>
                <a:latin typeface="+mn-lt"/>
                <a:ea typeface="+mn-ea"/>
                <a:cs typeface="+mn-cs"/>
              </a:rPr>
              <a:t> Focuses on </a:t>
            </a:r>
            <a:r>
              <a:rPr lang="en-US" sz="1200" b="1" kern="1200" dirty="0">
                <a:solidFill>
                  <a:schemeClr val="tx1"/>
                </a:solidFill>
                <a:effectLst/>
                <a:latin typeface="+mn-lt"/>
                <a:ea typeface="+mn-ea"/>
                <a:cs typeface="+mn-cs"/>
              </a:rPr>
              <a:t>Profit &gt; Systems &gt; Mission</a:t>
            </a:r>
            <a:r>
              <a:rPr lang="en-US" sz="1200" kern="1200" dirty="0">
                <a:solidFill>
                  <a:schemeClr val="tx1"/>
                </a:solidFill>
                <a:effectLst/>
                <a:latin typeface="+mn-lt"/>
                <a:ea typeface="+mn-ea"/>
                <a:cs typeface="+mn-cs"/>
              </a:rPr>
              <a:t>. Highly analytical and predictable. </a:t>
            </a:r>
            <a:r>
              <a:rPr lang="en-US" sz="1200" i="1" kern="1200" dirty="0">
                <a:solidFill>
                  <a:schemeClr val="tx1"/>
                </a:solidFill>
                <a:effectLst/>
                <a:latin typeface="+mn-lt"/>
                <a:ea typeface="+mn-ea"/>
                <a:cs typeface="+mn-cs"/>
              </a:rPr>
              <a:t>Core Fear:</a:t>
            </a:r>
            <a:r>
              <a:rPr lang="en-US" sz="1200" kern="1200" dirty="0">
                <a:solidFill>
                  <a:schemeClr val="tx1"/>
                </a:solidFill>
                <a:effectLst/>
                <a:latin typeface="+mn-lt"/>
                <a:ea typeface="+mn-ea"/>
                <a:cs typeface="+mn-cs"/>
              </a:rPr>
              <a:t> Losing margin or profit. </a:t>
            </a:r>
          </a:p>
          <a:p>
            <a:pPr lvl="0"/>
            <a:r>
              <a:rPr lang="en-US" sz="1200" b="1" kern="1200" dirty="0">
                <a:solidFill>
                  <a:schemeClr val="tx1"/>
                </a:solidFill>
                <a:effectLst/>
                <a:latin typeface="+mn-lt"/>
                <a:ea typeface="+mn-ea"/>
                <a:cs typeface="+mn-cs"/>
              </a:rPr>
              <a:t>2. The Entrepreneur:</a:t>
            </a:r>
            <a:r>
              <a:rPr lang="en-US" sz="1200" kern="1200" dirty="0">
                <a:solidFill>
                  <a:schemeClr val="tx1"/>
                </a:solidFill>
                <a:effectLst/>
                <a:latin typeface="+mn-lt"/>
                <a:ea typeface="+mn-ea"/>
                <a:cs typeface="+mn-cs"/>
              </a:rPr>
              <a:t> Focuses on </a:t>
            </a:r>
            <a:r>
              <a:rPr lang="en-US" sz="1200" b="1" kern="1200" dirty="0">
                <a:solidFill>
                  <a:schemeClr val="tx1"/>
                </a:solidFill>
                <a:effectLst/>
                <a:latin typeface="+mn-lt"/>
                <a:ea typeface="+mn-ea"/>
                <a:cs typeface="+mn-cs"/>
              </a:rPr>
              <a:t>Mission &gt; Systems &gt; Profit</a:t>
            </a:r>
            <a:r>
              <a:rPr lang="en-US" sz="1200" kern="1200" dirty="0">
                <a:solidFill>
                  <a:schemeClr val="tx1"/>
                </a:solidFill>
                <a:effectLst/>
                <a:latin typeface="+mn-lt"/>
                <a:ea typeface="+mn-ea"/>
                <a:cs typeface="+mn-cs"/>
              </a:rPr>
              <a:t>. Driven to build something great and make a dent in the universe. </a:t>
            </a:r>
            <a:r>
              <a:rPr lang="en-US" sz="1200" i="1" kern="1200" dirty="0">
                <a:solidFill>
                  <a:schemeClr val="tx1"/>
                </a:solidFill>
                <a:effectLst/>
                <a:latin typeface="+mn-lt"/>
                <a:ea typeface="+mn-ea"/>
                <a:cs typeface="+mn-cs"/>
              </a:rPr>
              <a:t>Core Fear:</a:t>
            </a:r>
            <a:r>
              <a:rPr lang="en-US" sz="1200" kern="1200" dirty="0">
                <a:solidFill>
                  <a:schemeClr val="tx1"/>
                </a:solidFill>
                <a:effectLst/>
                <a:latin typeface="+mn-lt"/>
                <a:ea typeface="+mn-ea"/>
                <a:cs typeface="+mn-cs"/>
              </a:rPr>
              <a:t> Irrelevance or betraying their vision. </a:t>
            </a:r>
          </a:p>
          <a:p>
            <a:pPr lvl="0"/>
            <a:r>
              <a:rPr lang="en-US" sz="1200" b="1" kern="1200" dirty="0">
                <a:solidFill>
                  <a:schemeClr val="tx1"/>
                </a:solidFill>
                <a:effectLst/>
                <a:latin typeface="+mn-lt"/>
                <a:ea typeface="+mn-ea"/>
                <a:cs typeface="+mn-cs"/>
              </a:rPr>
              <a:t>3. The Legacy:</a:t>
            </a:r>
            <a:r>
              <a:rPr lang="en-US" sz="1200" kern="1200" dirty="0">
                <a:solidFill>
                  <a:schemeClr val="tx1"/>
                </a:solidFill>
                <a:effectLst/>
                <a:latin typeface="+mn-lt"/>
                <a:ea typeface="+mn-ea"/>
                <a:cs typeface="+mn-cs"/>
              </a:rPr>
              <a:t> Focuses on </a:t>
            </a:r>
            <a:r>
              <a:rPr lang="en-US" sz="1200" b="1" kern="1200" dirty="0">
                <a:solidFill>
                  <a:schemeClr val="tx1"/>
                </a:solidFill>
                <a:effectLst/>
                <a:latin typeface="+mn-lt"/>
                <a:ea typeface="+mn-ea"/>
                <a:cs typeface="+mn-cs"/>
              </a:rPr>
              <a:t>Systems &gt; Mission &gt; Profit</a:t>
            </a:r>
            <a:r>
              <a:rPr lang="en-US" sz="1200" kern="1200" dirty="0">
                <a:solidFill>
                  <a:schemeClr val="tx1"/>
                </a:solidFill>
                <a:effectLst/>
                <a:latin typeface="+mn-lt"/>
                <a:ea typeface="+mn-ea"/>
                <a:cs typeface="+mn-cs"/>
              </a:rPr>
              <a:t>. Typically a bureaucrat or corporate executive maintaining the status quo. </a:t>
            </a:r>
            <a:r>
              <a:rPr lang="en-US" sz="1200" i="1" kern="1200" dirty="0">
                <a:solidFill>
                  <a:schemeClr val="tx1"/>
                </a:solidFill>
                <a:effectLst/>
                <a:latin typeface="+mn-lt"/>
                <a:ea typeface="+mn-ea"/>
                <a:cs typeface="+mn-cs"/>
              </a:rPr>
              <a:t>Core Fear:</a:t>
            </a:r>
            <a:r>
              <a:rPr lang="en-US" sz="1200" kern="1200" dirty="0">
                <a:solidFill>
                  <a:schemeClr val="tx1"/>
                </a:solidFill>
                <a:effectLst/>
                <a:latin typeface="+mn-lt"/>
                <a:ea typeface="+mn-ea"/>
                <a:cs typeface="+mn-cs"/>
              </a:rPr>
              <a:t> Making a mistake, looking foolish, or getting fired.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Tailor your tactical empathy to target the specific core fear of the archetype you face.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10</a:t>
            </a:fld>
            <a:endParaRPr lang="en-US"/>
          </a:p>
        </p:txBody>
      </p:sp>
    </p:spTree>
    <p:extLst>
      <p:ext uri="{BB962C8B-B14F-4D97-AF65-F5344CB8AC3E}">
        <p14:creationId xmlns:p14="http://schemas.microsoft.com/office/powerpoint/2010/main" val="2593496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Wasted Energy:</a:t>
            </a:r>
            <a:r>
              <a:rPr lang="en-US" sz="1200" kern="1200" dirty="0">
                <a:solidFill>
                  <a:schemeClr val="tx1"/>
                </a:solidFill>
                <a:effectLst/>
                <a:latin typeface="+mn-lt"/>
                <a:ea typeface="+mn-ea"/>
                <a:cs typeface="+mn-cs"/>
              </a:rPr>
              <a:t> In business, counterparties often spend hours talking to you without any intention of closing a deal.</a:t>
            </a:r>
          </a:p>
          <a:p>
            <a:pPr lvl="0"/>
            <a:r>
              <a:rPr lang="en-US" sz="1200" b="1" kern="1200" dirty="0">
                <a:solidFill>
                  <a:schemeClr val="tx1"/>
                </a:solidFill>
                <a:effectLst/>
                <a:latin typeface="+mn-lt"/>
                <a:ea typeface="+mn-ea"/>
                <a:cs typeface="+mn-cs"/>
              </a:rPr>
              <a:t>Three Critical Questions:</a:t>
            </a:r>
            <a:r>
              <a:rPr lang="en-US" sz="1200" kern="1200" dirty="0">
                <a:solidFill>
                  <a:schemeClr val="tx1"/>
                </a:solidFill>
                <a:effectLst/>
                <a:latin typeface="+mn-lt"/>
                <a:ea typeface="+mn-ea"/>
                <a:cs typeface="+mn-cs"/>
              </a:rPr>
              <a:t> Within the first 30 minutes of engagement, establish "Proof of Life" by assessing: </a:t>
            </a:r>
          </a:p>
          <a:p>
            <a:pPr marL="228600" lvl="0" indent="-228600">
              <a:buFont typeface="+mj-lt"/>
              <a:buAutoNum type="arabicPeriod"/>
            </a:pPr>
            <a:r>
              <a:rPr lang="en-US" sz="1200" i="1" kern="1200" dirty="0">
                <a:solidFill>
                  <a:schemeClr val="tx1"/>
                </a:solidFill>
                <a:effectLst/>
                <a:latin typeface="+mn-lt"/>
                <a:ea typeface="+mn-ea"/>
                <a:cs typeface="+mn-cs"/>
              </a:rPr>
              <a:t>Are they talking to you?</a:t>
            </a:r>
            <a:r>
              <a:rPr lang="en-US" sz="1200" kern="1200" dirty="0">
                <a:solidFill>
                  <a:schemeClr val="tx1"/>
                </a:solidFill>
                <a:effectLst/>
                <a:latin typeface="+mn-lt"/>
                <a:ea typeface="+mn-ea"/>
                <a:cs typeface="+mn-cs"/>
              </a:rPr>
              <a:t> (If yes, you have influence). </a:t>
            </a:r>
          </a:p>
          <a:p>
            <a:pPr marL="228600" lvl="0" indent="-228600">
              <a:buFont typeface="+mj-lt"/>
              <a:buAutoNum type="arabicPeriod"/>
            </a:pPr>
            <a:r>
              <a:rPr lang="en-US" sz="1200" i="1" kern="1200" dirty="0">
                <a:solidFill>
                  <a:schemeClr val="tx1"/>
                </a:solidFill>
                <a:effectLst/>
                <a:latin typeface="+mn-lt"/>
                <a:ea typeface="+mn-ea"/>
                <a:cs typeface="+mn-cs"/>
              </a:rPr>
              <a:t>Is there a real deal?</a:t>
            </a:r>
            <a:r>
              <a:rPr lang="en-US" sz="1200" kern="1200" dirty="0">
                <a:solidFill>
                  <a:schemeClr val="tx1"/>
                </a:solidFill>
                <a:effectLst/>
                <a:latin typeface="+mn-lt"/>
                <a:ea typeface="+mn-ea"/>
                <a:cs typeface="+mn-cs"/>
              </a:rPr>
              <a:t> (Or are they just validating the status quo?) </a:t>
            </a:r>
          </a:p>
          <a:p>
            <a:pPr marL="228600" lvl="0" indent="-228600">
              <a:buFont typeface="+mj-lt"/>
              <a:buAutoNum type="arabicPeriod"/>
            </a:pPr>
            <a:r>
              <a:rPr lang="en-US" sz="1200" i="1" kern="1200" dirty="0">
                <a:solidFill>
                  <a:schemeClr val="tx1"/>
                </a:solidFill>
                <a:effectLst/>
                <a:latin typeface="+mn-lt"/>
                <a:ea typeface="+mn-ea"/>
                <a:cs typeface="+mn-cs"/>
              </a:rPr>
              <a:t>Is the deal with YOU?</a:t>
            </a:r>
            <a:r>
              <a:rPr lang="en-US" sz="1200" kern="1200" dirty="0">
                <a:solidFill>
                  <a:schemeClr val="tx1"/>
                </a:solidFill>
                <a:effectLst/>
                <a:latin typeface="+mn-lt"/>
                <a:ea typeface="+mn-ea"/>
                <a:cs typeface="+mn-cs"/>
              </a:rPr>
              <a:t> (Or are you just a stalking horse used to beat down a competitor's price?)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If there is no real deal or they are just kicking tires, walk away early to preserve your resources.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11</a:t>
            </a:fld>
            <a:endParaRPr lang="en-US"/>
          </a:p>
        </p:txBody>
      </p:sp>
    </p:spTree>
    <p:extLst>
      <p:ext uri="{BB962C8B-B14F-4D97-AF65-F5344CB8AC3E}">
        <p14:creationId xmlns:p14="http://schemas.microsoft.com/office/powerpoint/2010/main" val="815251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Amateur Script:</a:t>
                </a:r>
                <a:r>
                  <a:rPr lang="en-US" sz="1200" kern="1200" dirty="0">
                    <a:solidFill>
                      <a:schemeClr val="tx1"/>
                    </a:solidFill>
                    <a:effectLst/>
                    <a:latin typeface="+mn-lt"/>
                    <a:ea typeface="+mn-ea"/>
                    <a:cs typeface="+mn-cs"/>
                  </a:rPr>
                  <a:t> Amateurs follow a predictable pattern: Argue logic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Make accusations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Refuse to give in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Flood with fake gratitude when yielding. Counterparts expect this and prepare defenses accordingly. </a:t>
                </a:r>
              </a:p>
              <a:p>
                <a:pPr lvl="0"/>
                <a:r>
                  <a:rPr lang="en-US" sz="1200" b="1" kern="1200" dirty="0">
                    <a:solidFill>
                      <a:schemeClr val="tx1"/>
                    </a:solidFill>
                    <a:effectLst/>
                    <a:latin typeface="+mn-lt"/>
                    <a:ea typeface="+mn-ea"/>
                    <a:cs typeface="+mn-cs"/>
                  </a:rPr>
                  <a:t>The Master's Sequence (Voss):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Stage 1:</a:t>
                </a:r>
                <a:r>
                  <a:rPr lang="en-US" sz="1200" kern="1200" dirty="0">
                    <a:solidFill>
                      <a:schemeClr val="tx1"/>
                    </a:solidFill>
                    <a:effectLst/>
                    <a:latin typeface="+mn-lt"/>
                    <a:ea typeface="+mn-ea"/>
                    <a:cs typeface="+mn-cs"/>
                  </a:rPr>
                  <a:t> Express </a:t>
                </a:r>
                <a:r>
                  <a:rPr lang="en-US" sz="1200" i="1" kern="1200" dirty="0">
                    <a:solidFill>
                      <a:schemeClr val="tx1"/>
                    </a:solidFill>
                    <a:effectLst/>
                    <a:latin typeface="+mn-lt"/>
                    <a:ea typeface="+mn-ea"/>
                    <a:cs typeface="+mn-cs"/>
                  </a:rPr>
                  <a:t>genuine gratitude upfront</a:t>
                </a:r>
                <a:r>
                  <a:rPr lang="en-US" sz="1200" kern="1200" dirty="0">
                    <a:solidFill>
                      <a:schemeClr val="tx1"/>
                    </a:solidFill>
                    <a:effectLst/>
                    <a:latin typeface="+mn-lt"/>
                    <a:ea typeface="+mn-ea"/>
                    <a:cs typeface="+mn-cs"/>
                  </a:rPr>
                  <a:t> for the opportunity to talk.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Stage 2:</a:t>
                </a:r>
                <a:r>
                  <a:rPr lang="en-US" sz="1200" kern="1200" dirty="0">
                    <a:solidFill>
                      <a:schemeClr val="tx1"/>
                    </a:solidFill>
                    <a:effectLst/>
                    <a:latin typeface="+mn-lt"/>
                    <a:ea typeface="+mn-ea"/>
                    <a:cs typeface="+mn-cs"/>
                  </a:rPr>
                  <a:t> State </a:t>
                </a:r>
                <a:r>
                  <a:rPr lang="en-US" sz="1200" i="1" kern="1200" dirty="0">
                    <a:solidFill>
                      <a:schemeClr val="tx1"/>
                    </a:solidFill>
                    <a:effectLst/>
                    <a:latin typeface="+mn-lt"/>
                    <a:ea typeface="+mn-ea"/>
                    <a:cs typeface="+mn-cs"/>
                  </a:rPr>
                  <a:t>firm boundaries</a:t>
                </a:r>
                <a:r>
                  <a:rPr lang="en-US" sz="1200" kern="1200" dirty="0">
                    <a:solidFill>
                      <a:schemeClr val="tx1"/>
                    </a:solidFill>
                    <a:effectLst/>
                    <a:latin typeface="+mn-lt"/>
                    <a:ea typeface="+mn-ea"/>
                    <a:cs typeface="+mn-cs"/>
                  </a:rPr>
                  <a:t> around what works and what doesn't work for you.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Stage 3:</a:t>
                </a:r>
                <a:r>
                  <a:rPr lang="en-US" sz="1200" kern="1200" dirty="0">
                    <a:solidFill>
                      <a:schemeClr val="tx1"/>
                    </a:solidFill>
                    <a:effectLst/>
                    <a:latin typeface="+mn-lt"/>
                    <a:ea typeface="+mn-ea"/>
                    <a:cs typeface="+mn-cs"/>
                  </a:rPr>
                  <a:t> Refuse to ask for or give throwaway concessions. </a:t>
                </a:r>
              </a:p>
              <a:p>
                <a:pPr lvl="0"/>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Disrupting their expected script catches them off-guard, eliminates game-playing, and dramatically increases collaborative problem-solving. </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Amateur Script:</a:t>
                </a:r>
                <a:r>
                  <a:rPr lang="en-US" sz="1200" kern="1200" dirty="0">
                    <a:solidFill>
                      <a:schemeClr val="tx1"/>
                    </a:solidFill>
                    <a:effectLst/>
                    <a:latin typeface="+mn-lt"/>
                    <a:ea typeface="+mn-ea"/>
                    <a:cs typeface="+mn-cs"/>
                  </a:rPr>
                  <a:t> Amateurs follow a predictable pattern: Argue logic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Make accusations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Refuse to give in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Flood with fake gratitude when yielding. Counterparts expect this and prepare defenses accordingly. </a:t>
                </a:r>
              </a:p>
              <a:p>
                <a:pPr lvl="0"/>
                <a:r>
                  <a:rPr lang="en-US" sz="1200" b="1" kern="1200" dirty="0">
                    <a:solidFill>
                      <a:schemeClr val="tx1"/>
                    </a:solidFill>
                    <a:effectLst/>
                    <a:latin typeface="+mn-lt"/>
                    <a:ea typeface="+mn-ea"/>
                    <a:cs typeface="+mn-cs"/>
                  </a:rPr>
                  <a:t>The Master's Sequence (Voss):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Stage 1:</a:t>
                </a:r>
                <a:r>
                  <a:rPr lang="en-US" sz="1200" kern="1200" dirty="0">
                    <a:solidFill>
                      <a:schemeClr val="tx1"/>
                    </a:solidFill>
                    <a:effectLst/>
                    <a:latin typeface="+mn-lt"/>
                    <a:ea typeface="+mn-ea"/>
                    <a:cs typeface="+mn-cs"/>
                  </a:rPr>
                  <a:t> Express </a:t>
                </a:r>
                <a:r>
                  <a:rPr lang="en-US" sz="1200" i="1" kern="1200" dirty="0">
                    <a:solidFill>
                      <a:schemeClr val="tx1"/>
                    </a:solidFill>
                    <a:effectLst/>
                    <a:latin typeface="+mn-lt"/>
                    <a:ea typeface="+mn-ea"/>
                    <a:cs typeface="+mn-cs"/>
                  </a:rPr>
                  <a:t>genuine gratitude upfront</a:t>
                </a:r>
                <a:r>
                  <a:rPr lang="en-US" sz="1200" kern="1200" dirty="0">
                    <a:solidFill>
                      <a:schemeClr val="tx1"/>
                    </a:solidFill>
                    <a:effectLst/>
                    <a:latin typeface="+mn-lt"/>
                    <a:ea typeface="+mn-ea"/>
                    <a:cs typeface="+mn-cs"/>
                  </a:rPr>
                  <a:t> for the opportunity to talk.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Stage 2:</a:t>
                </a:r>
                <a:r>
                  <a:rPr lang="en-US" sz="1200" kern="1200" dirty="0">
                    <a:solidFill>
                      <a:schemeClr val="tx1"/>
                    </a:solidFill>
                    <a:effectLst/>
                    <a:latin typeface="+mn-lt"/>
                    <a:ea typeface="+mn-ea"/>
                    <a:cs typeface="+mn-cs"/>
                  </a:rPr>
                  <a:t> State </a:t>
                </a:r>
                <a:r>
                  <a:rPr lang="en-US" sz="1200" i="1" kern="1200" dirty="0">
                    <a:solidFill>
                      <a:schemeClr val="tx1"/>
                    </a:solidFill>
                    <a:effectLst/>
                    <a:latin typeface="+mn-lt"/>
                    <a:ea typeface="+mn-ea"/>
                    <a:cs typeface="+mn-cs"/>
                  </a:rPr>
                  <a:t>firm boundaries</a:t>
                </a:r>
                <a:r>
                  <a:rPr lang="en-US" sz="1200" kern="1200" dirty="0">
                    <a:solidFill>
                      <a:schemeClr val="tx1"/>
                    </a:solidFill>
                    <a:effectLst/>
                    <a:latin typeface="+mn-lt"/>
                    <a:ea typeface="+mn-ea"/>
                    <a:cs typeface="+mn-cs"/>
                  </a:rPr>
                  <a:t> around what works and what doesn't work for you.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Stage 3:</a:t>
                </a:r>
                <a:r>
                  <a:rPr lang="en-US" sz="1200" kern="1200" dirty="0">
                    <a:solidFill>
                      <a:schemeClr val="tx1"/>
                    </a:solidFill>
                    <a:effectLst/>
                    <a:latin typeface="+mn-lt"/>
                    <a:ea typeface="+mn-ea"/>
                    <a:cs typeface="+mn-cs"/>
                  </a:rPr>
                  <a:t> Refuse to ask for or give throwaway concessions. </a:t>
                </a:r>
              </a:p>
              <a:p>
                <a:pPr lvl="0"/>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Disrupting their expected script catches them off-guard, eliminates game-playing, and dramatically increases collaborative problem-solving. </a:t>
                </a:r>
              </a:p>
              <a:p>
                <a:endParaRPr lang="en-US" dirty="0"/>
              </a:p>
            </p:txBody>
          </p:sp>
        </mc:Fallback>
      </mc:AlternateContent>
      <p:sp>
        <p:nvSpPr>
          <p:cNvPr id="4" name="Slide Number Placeholder 3"/>
          <p:cNvSpPr>
            <a:spLocks noGrp="1"/>
          </p:cNvSpPr>
          <p:nvPr>
            <p:ph type="sldNum" sz="quarter" idx="5"/>
          </p:nvPr>
        </p:nvSpPr>
        <p:spPr/>
        <p:txBody>
          <a:bodyPr/>
          <a:lstStyle/>
          <a:p>
            <a:fld id="{67C98367-0AC8-4479-8FAB-C04F9A7CB519}" type="slidenum">
              <a:rPr lang="en-US" smtClean="0"/>
              <a:t>12</a:t>
            </a:fld>
            <a:endParaRPr lang="en-US"/>
          </a:p>
        </p:txBody>
      </p:sp>
    </p:spTree>
    <p:extLst>
      <p:ext uri="{BB962C8B-B14F-4D97-AF65-F5344CB8AC3E}">
        <p14:creationId xmlns:p14="http://schemas.microsoft.com/office/powerpoint/2010/main" val="4018594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Panicking Over Scale:</a:t>
            </a:r>
            <a:r>
              <a:rPr lang="en-US" sz="1200" kern="1200" dirty="0">
                <a:solidFill>
                  <a:schemeClr val="tx1"/>
                </a:solidFill>
                <a:effectLst/>
                <a:latin typeface="+mn-lt"/>
                <a:ea typeface="+mn-ea"/>
                <a:cs typeface="+mn-cs"/>
              </a:rPr>
              <a:t> Negotiators often freeze up when facing a larger corporate counterpart or an opponent with more options. </a:t>
            </a:r>
          </a:p>
          <a:p>
            <a:pPr lvl="0"/>
            <a:r>
              <a:rPr lang="en-US" sz="1200" b="1" kern="1200" dirty="0">
                <a:solidFill>
                  <a:schemeClr val="tx1"/>
                </a:solidFill>
                <a:effectLst/>
                <a:latin typeface="+mn-lt"/>
                <a:ea typeface="+mn-ea"/>
                <a:cs typeface="+mn-cs"/>
              </a:rPr>
              <a:t>The Fundamental Rule: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Nobody ever holds all the cards.</a:t>
            </a:r>
            <a:r>
              <a:rPr lang="en-US" sz="1200" kern="1200" dirty="0">
                <a:solidFill>
                  <a:schemeClr val="tx1"/>
                </a:solidFill>
                <a:effectLst/>
                <a:latin typeface="+mn-lt"/>
                <a:ea typeface="+mn-ea"/>
                <a:cs typeface="+mn-cs"/>
              </a:rPr>
              <a:t> If they are spending time talking to you, you have influence.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Never assume you have lost leverage, and never try to strip the counterpart of theirs. Leverage is an illusion; focus instead on understanding their internal pressures and timelines to guide the conversation.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13</a:t>
            </a:fld>
            <a:endParaRPr lang="en-US"/>
          </a:p>
        </p:txBody>
      </p:sp>
    </p:spTree>
    <p:extLst>
      <p:ext uri="{BB962C8B-B14F-4D97-AF65-F5344CB8AC3E}">
        <p14:creationId xmlns:p14="http://schemas.microsoft.com/office/powerpoint/2010/main" val="4206164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Over Affection:</a:t>
            </a:r>
            <a:r>
              <a:rPr lang="en-US" sz="1200" kern="1200" dirty="0">
                <a:solidFill>
                  <a:schemeClr val="tx1"/>
                </a:solidFill>
                <a:effectLst/>
                <a:latin typeface="+mn-lt"/>
                <a:ea typeface="+mn-ea"/>
                <a:cs typeface="+mn-cs"/>
              </a:rPr>
              <a:t> Being understood is far more powerful than being liked. </a:t>
            </a:r>
          </a:p>
          <a:p>
            <a:pPr lvl="0"/>
            <a:r>
              <a:rPr lang="en-US" sz="1200" b="1" kern="1200" dirty="0">
                <a:solidFill>
                  <a:schemeClr val="tx1"/>
                </a:solidFill>
                <a:effectLst/>
                <a:latin typeface="+mn-lt"/>
                <a:ea typeface="+mn-ea"/>
                <a:cs typeface="+mn-cs"/>
              </a:rPr>
              <a:t>Core Value Alignment:</a:t>
            </a:r>
            <a:r>
              <a:rPr lang="en-US" sz="1200" kern="1200" dirty="0">
                <a:solidFill>
                  <a:schemeClr val="tx1"/>
                </a:solidFill>
                <a:effectLst/>
                <a:latin typeface="+mn-lt"/>
                <a:ea typeface="+mn-ea"/>
                <a:cs typeface="+mn-cs"/>
              </a:rPr>
              <a:t> If core values don't align, forcing a deal is a long-term failure. </a:t>
            </a:r>
          </a:p>
          <a:p>
            <a:pPr lvl="0"/>
            <a:r>
              <a:rPr lang="en-US" sz="1200" b="1" kern="1200" dirty="0">
                <a:solidFill>
                  <a:schemeClr val="tx1"/>
                </a:solidFill>
                <a:effectLst/>
                <a:latin typeface="+mn-lt"/>
                <a:ea typeface="+mn-ea"/>
                <a:cs typeface="+mn-cs"/>
              </a:rPr>
              <a:t>The Clean Walk-Away:</a:t>
            </a:r>
            <a:r>
              <a:rPr lang="en-US" sz="1200" kern="1200" dirty="0">
                <a:solidFill>
                  <a:schemeClr val="tx1"/>
                </a:solidFill>
                <a:effectLst/>
                <a:latin typeface="+mn-lt"/>
                <a:ea typeface="+mn-ea"/>
                <a:cs typeface="+mn-cs"/>
              </a:rPr>
              <a:t> Sometimes the single best deal possible is a polite, early walk-away on excellent terms. </a:t>
            </a:r>
          </a:p>
          <a:p>
            <a:pPr lvl="0"/>
            <a:r>
              <a:rPr lang="en-US" sz="1200" b="1" kern="1200" dirty="0">
                <a:solidFill>
                  <a:schemeClr val="tx1"/>
                </a:solidFill>
                <a:effectLst/>
                <a:latin typeface="+mn-lt"/>
                <a:ea typeface="+mn-ea"/>
                <a:cs typeface="+mn-cs"/>
              </a:rPr>
              <a:t>Long-Term Asset:</a:t>
            </a:r>
            <a:r>
              <a:rPr lang="en-US" sz="1200" kern="1200" dirty="0">
                <a:solidFill>
                  <a:schemeClr val="tx1"/>
                </a:solidFill>
                <a:effectLst/>
                <a:latin typeface="+mn-lt"/>
                <a:ea typeface="+mn-ea"/>
                <a:cs typeface="+mn-cs"/>
              </a:rPr>
              <a:t> How counterparties remember dealing with you becomes your most valuable long-term asset in the marketplace. A polite "no deal" today often leads to high-value deals tomorrow.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14</a:t>
            </a:fld>
            <a:endParaRPr lang="en-US"/>
          </a:p>
        </p:txBody>
      </p:sp>
    </p:spTree>
    <p:extLst>
      <p:ext uri="{BB962C8B-B14F-4D97-AF65-F5344CB8AC3E}">
        <p14:creationId xmlns:p14="http://schemas.microsoft.com/office/powerpoint/2010/main" val="1720979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Framework Summary:</a:t>
            </a:r>
            <a:r>
              <a:rPr lang="en-US" sz="1200" kern="1200" dirty="0">
                <a:solidFill>
                  <a:schemeClr val="tx1"/>
                </a:solidFill>
                <a:effectLst/>
                <a:latin typeface="+mn-lt"/>
                <a:ea typeface="+mn-ea"/>
                <a:cs typeface="+mn-cs"/>
              </a:rPr>
              <a:t> Reviewing our key core operating principles: </a:t>
            </a:r>
          </a:p>
          <a:p>
            <a:pPr marL="228600" lvl="0" indent="-228600">
              <a:buFont typeface="+mj-lt"/>
              <a:buAutoNum type="arabicPeriod"/>
            </a:pPr>
            <a:r>
              <a:rPr lang="en-US" sz="1200" b="1" kern="1200" dirty="0">
                <a:solidFill>
                  <a:schemeClr val="tx1"/>
                </a:solidFill>
                <a:effectLst/>
                <a:latin typeface="+mn-lt"/>
                <a:ea typeface="+mn-ea"/>
                <a:cs typeface="+mn-cs"/>
              </a:rPr>
              <a:t>Preserve Autonomy:</a:t>
            </a:r>
            <a:r>
              <a:rPr lang="en-US" sz="1200" kern="1200" dirty="0">
                <a:solidFill>
                  <a:schemeClr val="tx1"/>
                </a:solidFill>
                <a:effectLst/>
                <a:latin typeface="+mn-lt"/>
                <a:ea typeface="+mn-ea"/>
                <a:cs typeface="+mn-cs"/>
              </a:rPr>
              <a:t> Trigger "No" early to give them a safe right of veto. </a:t>
            </a:r>
          </a:p>
          <a:p>
            <a:pPr marL="228600" lvl="0" indent="-228600">
              <a:buFont typeface="+mj-lt"/>
              <a:buAutoNum type="arabicPeriod"/>
            </a:pPr>
            <a:r>
              <a:rPr lang="en-US" sz="1200" b="1" kern="1200" dirty="0">
                <a:solidFill>
                  <a:schemeClr val="tx1"/>
                </a:solidFill>
                <a:effectLst/>
                <a:latin typeface="+mn-lt"/>
                <a:ea typeface="+mn-ea"/>
                <a:cs typeface="+mn-cs"/>
              </a:rPr>
              <a:t>Inoculate Negatives:</a:t>
            </a:r>
            <a:r>
              <a:rPr lang="en-US" sz="1200" kern="1200" dirty="0">
                <a:solidFill>
                  <a:schemeClr val="tx1"/>
                </a:solidFill>
                <a:effectLst/>
                <a:latin typeface="+mn-lt"/>
                <a:ea typeface="+mn-ea"/>
                <a:cs typeface="+mn-cs"/>
              </a:rPr>
              <a:t> Use tactical empathy and audacious labels to vent pressure. </a:t>
            </a:r>
          </a:p>
          <a:p>
            <a:pPr marL="228600" lvl="0" indent="-228600">
              <a:buFont typeface="+mj-lt"/>
              <a:buAutoNum type="arabicPeriod"/>
            </a:pPr>
            <a:r>
              <a:rPr lang="en-US" sz="1200" b="1" kern="1200" dirty="0">
                <a:solidFill>
                  <a:schemeClr val="tx1"/>
                </a:solidFill>
                <a:effectLst/>
                <a:latin typeface="+mn-lt"/>
                <a:ea typeface="+mn-ea"/>
                <a:cs typeface="+mn-cs"/>
              </a:rPr>
              <a:t>Audit the Fear:</a:t>
            </a:r>
            <a:r>
              <a:rPr lang="en-US" sz="1200" kern="1200" dirty="0">
                <a:solidFill>
                  <a:schemeClr val="tx1"/>
                </a:solidFill>
                <a:effectLst/>
                <a:latin typeface="+mn-lt"/>
                <a:ea typeface="+mn-ea"/>
                <a:cs typeface="+mn-cs"/>
              </a:rPr>
              <a:t> Discover loss aversion by asking </a:t>
            </a:r>
            <a:r>
              <a:rPr lang="en-US" sz="1200" i="1" kern="1200" dirty="0">
                <a:solidFill>
                  <a:schemeClr val="tx1"/>
                </a:solidFill>
                <a:effectLst/>
                <a:latin typeface="+mn-lt"/>
                <a:ea typeface="+mn-ea"/>
                <a:cs typeface="+mn-cs"/>
              </a:rPr>
              <a:t>"What happens if you do nothing?"</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Stay Open to Correction:</a:t>
            </a:r>
            <a:r>
              <a:rPr lang="en-US" sz="1200" kern="1200" dirty="0">
                <a:solidFill>
                  <a:schemeClr val="tx1"/>
                </a:solidFill>
                <a:effectLst/>
                <a:latin typeface="+mn-lt"/>
                <a:ea typeface="+mn-ea"/>
                <a:cs typeface="+mn-cs"/>
              </a:rPr>
              <a:t> Allow them to mentor and correct your deliberate over-statements. </a:t>
            </a:r>
          </a:p>
          <a:p>
            <a:pPr lvl="0"/>
            <a:r>
              <a:rPr lang="en-US" sz="1200" b="1" kern="1200" dirty="0">
                <a:solidFill>
                  <a:schemeClr val="tx1"/>
                </a:solidFill>
                <a:effectLst/>
                <a:latin typeface="+mn-lt"/>
                <a:ea typeface="+mn-ea"/>
                <a:cs typeface="+mn-cs"/>
              </a:rPr>
              <a:t>Execution:</a:t>
            </a:r>
            <a:r>
              <a:rPr lang="en-US" sz="1200" kern="1200" dirty="0">
                <a:solidFill>
                  <a:schemeClr val="tx1"/>
                </a:solidFill>
                <a:effectLst/>
                <a:latin typeface="+mn-lt"/>
                <a:ea typeface="+mn-ea"/>
                <a:cs typeface="+mn-cs"/>
              </a:rPr>
              <a:t> Master these elements to predictably convert high-stress conflicts into lucrative, long-term business partnerships.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15</a:t>
            </a:fld>
            <a:endParaRPr lang="en-US"/>
          </a:p>
        </p:txBody>
      </p:sp>
    </p:spTree>
    <p:extLst>
      <p:ext uri="{BB962C8B-B14F-4D97-AF65-F5344CB8AC3E}">
        <p14:creationId xmlns:p14="http://schemas.microsoft.com/office/powerpoint/2010/main" val="3309251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Wrap-Up:</a:t>
            </a:r>
            <a:r>
              <a:rPr lang="en-US" sz="1200" kern="1200" dirty="0">
                <a:solidFill>
                  <a:schemeClr val="tx1"/>
                </a:solidFill>
                <a:effectLst/>
                <a:latin typeface="+mn-lt"/>
                <a:ea typeface="+mn-ea"/>
                <a:cs typeface="+mn-cs"/>
              </a:rPr>
              <a:t> This summary cheat sheet brings together our entire discussion: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Respect </a:t>
            </a:r>
            <a:r>
              <a:rPr lang="en-US" sz="1200" b="1" kern="1200" dirty="0">
                <a:solidFill>
                  <a:schemeClr val="tx1"/>
                </a:solidFill>
                <a:effectLst/>
                <a:latin typeface="+mn-lt"/>
                <a:ea typeface="+mn-ea"/>
                <a:cs typeface="+mn-cs"/>
              </a:rPr>
              <a:t>Autonomy</a:t>
            </a:r>
            <a:r>
              <a:rPr lang="en-US" sz="1200" kern="1200" dirty="0">
                <a:solidFill>
                  <a:schemeClr val="tx1"/>
                </a:solidFill>
                <a:effectLst/>
                <a:latin typeface="+mn-lt"/>
                <a:ea typeface="+mn-ea"/>
                <a:cs typeface="+mn-cs"/>
              </a:rPr>
              <a:t> as the #1 human need.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Address </a:t>
            </a:r>
            <a:r>
              <a:rPr lang="en-US" sz="1200" b="1" kern="1200" dirty="0">
                <a:solidFill>
                  <a:schemeClr val="tx1"/>
                </a:solidFill>
                <a:effectLst/>
                <a:latin typeface="+mn-lt"/>
                <a:ea typeface="+mn-ea"/>
                <a:cs typeface="+mn-cs"/>
              </a:rPr>
              <a:t>Fear of Loss</a:t>
            </a:r>
            <a:r>
              <a:rPr lang="en-US" sz="1200" kern="1200" dirty="0">
                <a:solidFill>
                  <a:schemeClr val="tx1"/>
                </a:solidFill>
                <a:effectLst/>
                <a:latin typeface="+mn-lt"/>
                <a:ea typeface="+mn-ea"/>
                <a:cs typeface="+mn-cs"/>
              </a:rPr>
              <a:t> as the ultimate decision driver.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Utilize </a:t>
            </a:r>
            <a:r>
              <a:rPr lang="en-US" sz="1200" b="1" kern="1200" dirty="0">
                <a:solidFill>
                  <a:schemeClr val="tx1"/>
                </a:solidFill>
                <a:effectLst/>
                <a:latin typeface="+mn-lt"/>
                <a:ea typeface="+mn-ea"/>
                <a:cs typeface="+mn-cs"/>
              </a:rPr>
              <a:t>Tactical Empathy</a:t>
            </a:r>
            <a:r>
              <a:rPr lang="en-US" sz="1200" kern="1200" dirty="0">
                <a:solidFill>
                  <a:schemeClr val="tx1"/>
                </a:solidFill>
                <a:effectLst/>
                <a:latin typeface="+mn-lt"/>
                <a:ea typeface="+mn-ea"/>
                <a:cs typeface="+mn-cs"/>
              </a:rPr>
              <a:t> to trigger neurochemical rapport.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Identify buyer </a:t>
            </a:r>
            <a:r>
              <a:rPr lang="en-US" sz="1200" b="1" kern="1200" dirty="0">
                <a:solidFill>
                  <a:schemeClr val="tx1"/>
                </a:solidFill>
                <a:effectLst/>
                <a:latin typeface="+mn-lt"/>
                <a:ea typeface="+mn-ea"/>
                <a:cs typeface="+mn-cs"/>
              </a:rPr>
              <a:t>Archetypes</a:t>
            </a:r>
            <a:r>
              <a:rPr lang="en-US" sz="1200" kern="1200" dirty="0">
                <a:solidFill>
                  <a:schemeClr val="tx1"/>
                </a:solidFill>
                <a:effectLst/>
                <a:latin typeface="+mn-lt"/>
                <a:ea typeface="+mn-ea"/>
                <a:cs typeface="+mn-cs"/>
              </a:rPr>
              <a:t> (Mercenary, Entrepreneur, Legacy).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Establish </a:t>
            </a:r>
            <a:r>
              <a:rPr lang="en-US" sz="1200" b="1" kern="1200" dirty="0">
                <a:solidFill>
                  <a:schemeClr val="tx1"/>
                </a:solidFill>
                <a:effectLst/>
                <a:latin typeface="+mn-lt"/>
                <a:ea typeface="+mn-ea"/>
                <a:cs typeface="+mn-cs"/>
              </a:rPr>
              <a:t>Proof of Life</a:t>
            </a:r>
            <a:r>
              <a:rPr lang="en-US" sz="1200" kern="1200" dirty="0">
                <a:solidFill>
                  <a:schemeClr val="tx1"/>
                </a:solidFill>
                <a:effectLst/>
                <a:latin typeface="+mn-lt"/>
                <a:ea typeface="+mn-ea"/>
                <a:cs typeface="+mn-cs"/>
              </a:rPr>
              <a:t> within 30 minutes. </a:t>
            </a:r>
          </a:p>
          <a:p>
            <a:pPr lvl="0"/>
            <a:r>
              <a:rPr lang="en-US" sz="1200" b="1" kern="1200" dirty="0">
                <a:solidFill>
                  <a:schemeClr val="tx1"/>
                </a:solidFill>
                <a:effectLst/>
                <a:latin typeface="+mn-lt"/>
                <a:ea typeface="+mn-ea"/>
                <a:cs typeface="+mn-cs"/>
              </a:rPr>
              <a:t>Closing Note:</a:t>
            </a:r>
            <a:r>
              <a:rPr lang="en-US" sz="1200" kern="1200" dirty="0">
                <a:solidFill>
                  <a:schemeClr val="tx1"/>
                </a:solidFill>
                <a:effectLst/>
                <a:latin typeface="+mn-lt"/>
                <a:ea typeface="+mn-ea"/>
                <a:cs typeface="+mn-cs"/>
              </a:rPr>
              <a:t> Shift from pushing for a quick "Yes" to uncovering deeper truths. You will execute faster, build better relationships, and close better deals. </a:t>
            </a:r>
          </a:p>
          <a:p>
            <a:endParaRPr lang="en-US" dirty="0"/>
          </a:p>
        </p:txBody>
      </p:sp>
      <p:sp>
        <p:nvSpPr>
          <p:cNvPr id="4" name="Slide Number Placeholder 3"/>
          <p:cNvSpPr>
            <a:spLocks noGrp="1"/>
          </p:cNvSpPr>
          <p:nvPr>
            <p:ph type="sldNum" sz="quarter" idx="5"/>
          </p:nvPr>
        </p:nvSpPr>
        <p:spPr/>
        <p:txBody>
          <a:bodyPr/>
          <a:lstStyle/>
          <a:p>
            <a:fld id="{67C98367-0AC8-4479-8FAB-C04F9A7CB519}" type="slidenum">
              <a:rPr lang="en-US" smtClean="0"/>
              <a:t>16</a:t>
            </a:fld>
            <a:endParaRPr lang="en-US"/>
          </a:p>
        </p:txBody>
      </p:sp>
    </p:spTree>
    <p:extLst>
      <p:ext uri="{BB962C8B-B14F-4D97-AF65-F5344CB8AC3E}">
        <p14:creationId xmlns:p14="http://schemas.microsoft.com/office/powerpoint/2010/main" val="2965594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BC6564-75BF-BA69-DE6B-BA48BCEB5C44}"/>
              </a:ext>
            </a:extLst>
          </p:cNvPr>
          <p:cNvSpPr>
            <a:spLocks noGrp="1"/>
          </p:cNvSpPr>
          <p:nvPr>
            <p:ph type="dt" sz="half" idx="10"/>
          </p:nvPr>
        </p:nvSpPr>
        <p:spPr/>
        <p:txBody>
          <a:bodyPr/>
          <a:lstStyle/>
          <a:p>
            <a:fld id="{19DA48CA-5E95-4B79-8A29-3ACDD3012E24}" type="datetimeFigureOut">
              <a:rPr lang="en-US" smtClean="0"/>
              <a:t>10/19/2026</a:t>
            </a:fld>
            <a:endParaRPr lang="en-US"/>
          </a:p>
        </p:txBody>
      </p:sp>
      <p:sp>
        <p:nvSpPr>
          <p:cNvPr id="3" name="Footer Placeholder 2">
            <a:extLst>
              <a:ext uri="{FF2B5EF4-FFF2-40B4-BE49-F238E27FC236}">
                <a16:creationId xmlns:a16="http://schemas.microsoft.com/office/drawing/2014/main" id="{1F6EF52B-4315-3382-6B7A-37B9FF79E5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E011E6-CD2B-538D-5CC8-AFEBAEAA35EF}"/>
              </a:ext>
            </a:extLst>
          </p:cNvPr>
          <p:cNvSpPr>
            <a:spLocks noGrp="1"/>
          </p:cNvSpPr>
          <p:nvPr>
            <p:ph type="sldNum" sz="quarter" idx="12"/>
          </p:nvPr>
        </p:nvSpPr>
        <p:spPr/>
        <p:txBody>
          <a:bodyPr/>
          <a:lstStyle/>
          <a:p>
            <a:fld id="{00E928EF-40FA-4676-BBF1-62F25901A095}" type="slidenum">
              <a:rPr lang="en-US" smtClean="0"/>
              <a:t>‹#›</a:t>
            </a:fld>
            <a:endParaRPr lang="en-US"/>
          </a:p>
        </p:txBody>
      </p:sp>
    </p:spTree>
    <p:extLst>
      <p:ext uri="{BB962C8B-B14F-4D97-AF65-F5344CB8AC3E}">
        <p14:creationId xmlns:p14="http://schemas.microsoft.com/office/powerpoint/2010/main" val="9073750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F3182E-575D-D4A4-EFE5-5D444011F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0C86F6-1102-E2CF-BC8B-FB9445CC5D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B3D54-C1E2-7AED-365D-AF131E697A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DA48CA-5E95-4B79-8A29-3ACDD3012E24}" type="datetimeFigureOut">
              <a:rPr lang="en-US" smtClean="0"/>
              <a:t>10/19/2026</a:t>
            </a:fld>
            <a:endParaRPr lang="en-US"/>
          </a:p>
        </p:txBody>
      </p:sp>
      <p:sp>
        <p:nvSpPr>
          <p:cNvPr id="5" name="Footer Placeholder 4">
            <a:extLst>
              <a:ext uri="{FF2B5EF4-FFF2-40B4-BE49-F238E27FC236}">
                <a16:creationId xmlns:a16="http://schemas.microsoft.com/office/drawing/2014/main" id="{9C3E3DAC-7A1B-4E63-AC2F-071D58BFEC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306F9A3-72F8-8580-B945-DBF09BC5C0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E928EF-40FA-4676-BBF1-62F25901A095}" type="slidenum">
              <a:rPr lang="en-US" smtClean="0"/>
              <a:t>‹#›</a:t>
            </a:fld>
            <a:endParaRPr lang="en-US"/>
          </a:p>
        </p:txBody>
      </p:sp>
    </p:spTree>
    <p:extLst>
      <p:ext uri="{BB962C8B-B14F-4D97-AF65-F5344CB8AC3E}">
        <p14:creationId xmlns:p14="http://schemas.microsoft.com/office/powerpoint/2010/main" val="71305734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8CFB96-EF8E-BA41-81AB-86E18702B5E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2F63D0-8269-DDAA-8F21-89E7601046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BF5222-9D04-EDB0-91FC-4F7A5E08FF0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C9DA72-F980-0D3B-D224-DE7785B8EB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C318D1-C98D-892D-3B3F-B5744A4068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662954-18CC-4C40-42D6-F21B5286EB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66A10C-386C-F89A-7DF7-9DAD6FF522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62B9AE-336C-225B-AFB6-301B8CB659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5F9834-2CE8-277A-7E12-B0410A61F6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C25C2A-4B0F-7DBB-4893-82CCFFC4D8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FB44D-444A-C523-7AA9-0A26AF876F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CF26CF-271F-A0BB-1C85-041D9B01FF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063402-56F9-C09E-32CA-54B008D37F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7422B2-EA01-950E-F0A5-BEB3D57C6B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0D07B7-B2FA-AC3F-A810-A9BFB6174E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5974C-0EC5-1472-DD51-CB90915A4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683145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1892</Words>
  <Application>Microsoft Office PowerPoint</Application>
  <PresentationFormat>寬螢幕</PresentationFormat>
  <Paragraphs>91</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2026-08-30T05:42:16Z</dcterms:created>
  <dcterms:modified xsi:type="dcterms:W3CDTF">2026-10-19T15:38:45Z</dcterms:modified>
</cp:coreProperties>
</file>