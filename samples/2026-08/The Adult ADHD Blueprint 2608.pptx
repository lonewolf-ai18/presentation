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B615A0-A273-4478-AC72-02529578F81A}" v="21" dt="2026-08-30T03:35:49.9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6" autoAdjust="0"/>
    <p:restoredTop sz="84330"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modSld">
      <pc:chgData name="Lai, Wilson" userId="2840974a-0d84-4886-90a9-9a3ed79f3a48" providerId="ADAL" clId="{9F23B798-9E84-4552-BA63-E776E805C424}" dt="2026-08-30T03:36:12.248" v="56" actId="166"/>
      <pc:docMkLst>
        <pc:docMk/>
      </pc:docMkLst>
      <pc:sldChg chg="modSp mod modNotesTx">
        <pc:chgData name="Lai, Wilson" userId="2840974a-0d84-4886-90a9-9a3ed79f3a48" providerId="ADAL" clId="{9F23B798-9E84-4552-BA63-E776E805C424}" dt="2026-08-30T03:36:12.248" v="56" actId="166"/>
        <pc:sldMkLst>
          <pc:docMk/>
          <pc:sldMk cId="0" sldId="257"/>
        </pc:sldMkLst>
        <pc:picChg chg="ord">
          <ac:chgData name="Lai, Wilson" userId="2840974a-0d84-4886-90a9-9a3ed79f3a48" providerId="ADAL" clId="{9F23B798-9E84-4552-BA63-E776E805C424}" dt="2026-08-30T03:36:12.248" v="56" actId="166"/>
          <ac:picMkLst>
            <pc:docMk/>
            <pc:sldMk cId="0" sldId="257"/>
            <ac:picMk id="4" creationId="{E2CE1AF1-2FF7-361C-C4A4-B7F210C5A5DA}"/>
          </ac:picMkLst>
        </pc:picChg>
      </pc:sldChg>
      <pc:sldChg chg="modNotesTx">
        <pc:chgData name="Lai, Wilson" userId="2840974a-0d84-4886-90a9-9a3ed79f3a48" providerId="ADAL" clId="{9F23B798-9E84-4552-BA63-E776E805C424}" dt="2026-08-30T03:32:33.008" v="19" actId="20577"/>
        <pc:sldMkLst>
          <pc:docMk/>
          <pc:sldMk cId="0" sldId="258"/>
        </pc:sldMkLst>
      </pc:sldChg>
      <pc:sldChg chg="modNotesTx">
        <pc:chgData name="Lai, Wilson" userId="2840974a-0d84-4886-90a9-9a3ed79f3a48" providerId="ADAL" clId="{9F23B798-9E84-4552-BA63-E776E805C424}" dt="2026-08-30T03:32:22.743" v="17" actId="20577"/>
        <pc:sldMkLst>
          <pc:docMk/>
          <pc:sldMk cId="0" sldId="259"/>
        </pc:sldMkLst>
      </pc:sldChg>
      <pc:sldChg chg="modNotesTx">
        <pc:chgData name="Lai, Wilson" userId="2840974a-0d84-4886-90a9-9a3ed79f3a48" providerId="ADAL" clId="{9F23B798-9E84-4552-BA63-E776E805C424}" dt="2026-08-30T03:32:08.202" v="14" actId="20577"/>
        <pc:sldMkLst>
          <pc:docMk/>
          <pc:sldMk cId="0" sldId="260"/>
        </pc:sldMkLst>
      </pc:sldChg>
      <pc:sldChg chg="modNotesTx">
        <pc:chgData name="Lai, Wilson" userId="2840974a-0d84-4886-90a9-9a3ed79f3a48" providerId="ADAL" clId="{9F23B798-9E84-4552-BA63-E776E805C424}" dt="2026-08-30T03:33:10.325" v="25" actId="20577"/>
        <pc:sldMkLst>
          <pc:docMk/>
          <pc:sldMk cId="0" sldId="261"/>
        </pc:sldMkLst>
      </pc:sldChg>
      <pc:sldChg chg="modNotesTx">
        <pc:chgData name="Lai, Wilson" userId="2840974a-0d84-4886-90a9-9a3ed79f3a48" providerId="ADAL" clId="{9F23B798-9E84-4552-BA63-E776E805C424}" dt="2026-08-30T03:33:26.526" v="27" actId="20577"/>
        <pc:sldMkLst>
          <pc:docMk/>
          <pc:sldMk cId="0" sldId="262"/>
        </pc:sldMkLst>
      </pc:sldChg>
      <pc:sldChg chg="modNotesTx">
        <pc:chgData name="Lai, Wilson" userId="2840974a-0d84-4886-90a9-9a3ed79f3a48" providerId="ADAL" clId="{9F23B798-9E84-4552-BA63-E776E805C424}" dt="2026-08-30T03:33:39.787" v="29" actId="20577"/>
        <pc:sldMkLst>
          <pc:docMk/>
          <pc:sldMk cId="0" sldId="263"/>
        </pc:sldMkLst>
      </pc:sldChg>
      <pc:sldChg chg="modNotesTx">
        <pc:chgData name="Lai, Wilson" userId="2840974a-0d84-4886-90a9-9a3ed79f3a48" providerId="ADAL" clId="{9F23B798-9E84-4552-BA63-E776E805C424}" dt="2026-08-30T03:33:53.951" v="31" actId="20577"/>
        <pc:sldMkLst>
          <pc:docMk/>
          <pc:sldMk cId="0" sldId="264"/>
        </pc:sldMkLst>
      </pc:sldChg>
      <pc:sldChg chg="modNotesTx">
        <pc:chgData name="Lai, Wilson" userId="2840974a-0d84-4886-90a9-9a3ed79f3a48" providerId="ADAL" clId="{9F23B798-9E84-4552-BA63-E776E805C424}" dt="2026-08-30T03:34:11.706" v="33" actId="14"/>
        <pc:sldMkLst>
          <pc:docMk/>
          <pc:sldMk cId="0" sldId="265"/>
        </pc:sldMkLst>
      </pc:sldChg>
      <pc:sldChg chg="modNotesTx">
        <pc:chgData name="Lai, Wilson" userId="2840974a-0d84-4886-90a9-9a3ed79f3a48" providerId="ADAL" clId="{9F23B798-9E84-4552-BA63-E776E805C424}" dt="2026-08-30T03:34:24.282" v="35" actId="14"/>
        <pc:sldMkLst>
          <pc:docMk/>
          <pc:sldMk cId="0" sldId="266"/>
        </pc:sldMkLst>
      </pc:sldChg>
      <pc:sldChg chg="modNotesTx">
        <pc:chgData name="Lai, Wilson" userId="2840974a-0d84-4886-90a9-9a3ed79f3a48" providerId="ADAL" clId="{9F23B798-9E84-4552-BA63-E776E805C424}" dt="2026-08-30T03:34:47.968" v="41" actId="14"/>
        <pc:sldMkLst>
          <pc:docMk/>
          <pc:sldMk cId="0" sldId="267"/>
        </pc:sldMkLst>
      </pc:sldChg>
      <pc:sldChg chg="modNotesTx">
        <pc:chgData name="Lai, Wilson" userId="2840974a-0d84-4886-90a9-9a3ed79f3a48" providerId="ADAL" clId="{9F23B798-9E84-4552-BA63-E776E805C424}" dt="2026-08-30T03:35:02.164" v="43" actId="14"/>
        <pc:sldMkLst>
          <pc:docMk/>
          <pc:sldMk cId="0" sldId="268"/>
        </pc:sldMkLst>
      </pc:sldChg>
      <pc:sldChg chg="modNotesTx">
        <pc:chgData name="Lai, Wilson" userId="2840974a-0d84-4886-90a9-9a3ed79f3a48" providerId="ADAL" clId="{9F23B798-9E84-4552-BA63-E776E805C424}" dt="2026-08-30T03:35:16.191" v="47" actId="12"/>
        <pc:sldMkLst>
          <pc:docMk/>
          <pc:sldMk cId="0" sldId="269"/>
        </pc:sldMkLst>
      </pc:sldChg>
      <pc:sldChg chg="modNotesTx">
        <pc:chgData name="Lai, Wilson" userId="2840974a-0d84-4886-90a9-9a3ed79f3a48" providerId="ADAL" clId="{9F23B798-9E84-4552-BA63-E776E805C424}" dt="2026-08-30T03:35:28.108" v="49" actId="14"/>
        <pc:sldMkLst>
          <pc:docMk/>
          <pc:sldMk cId="0" sldId="270"/>
        </pc:sldMkLst>
      </pc:sldChg>
      <pc:sldChg chg="modNotesTx">
        <pc:chgData name="Lai, Wilson" userId="2840974a-0d84-4886-90a9-9a3ed79f3a48" providerId="ADAL" clId="{9F23B798-9E84-4552-BA63-E776E805C424}" dt="2026-08-30T03:35:40.521" v="51" actId="14"/>
        <pc:sldMkLst>
          <pc:docMk/>
          <pc:sldMk cId="0" sldId="271"/>
        </pc:sldMkLst>
      </pc:sldChg>
      <pc:sldChg chg="modNotesTx">
        <pc:chgData name="Lai, Wilson" userId="2840974a-0d84-4886-90a9-9a3ed79f3a48" providerId="ADAL" clId="{9F23B798-9E84-4552-BA63-E776E805C424}" dt="2026-08-30T03:35:58.842" v="55" actId="14"/>
        <pc:sldMkLst>
          <pc:docMk/>
          <pc:sldMk cId="2523944015"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43CC78-7EC6-45F8-AEFB-C7C030FBE383}"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89523F-C9BA-484B-8581-1A0F975CD456}" type="slidenum">
              <a:rPr lang="en-US" smtClean="0"/>
              <a:t>‹#›</a:t>
            </a:fld>
            <a:endParaRPr lang="en-US"/>
          </a:p>
        </p:txBody>
      </p:sp>
    </p:spTree>
    <p:extLst>
      <p:ext uri="{BB962C8B-B14F-4D97-AF65-F5344CB8AC3E}">
        <p14:creationId xmlns:p14="http://schemas.microsoft.com/office/powerpoint/2010/main" val="1285978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Welcome everyone. Today we are stepping past the common cultural tropes and eye-rolls surrounding ADHD.</a:t>
            </a:r>
          </a:p>
          <a:p>
            <a:pPr lvl="0"/>
            <a:r>
              <a:rPr lang="en-US" dirty="0"/>
              <a:t>Most people think ADHD is just about a hyperactive child bouncing around a classroom or someone who easily gets distracted by shiny objects. But as world-renowned psychiatrist Dr. Sasha Hamdani emphasizes, ADHD at its core is a </a:t>
            </a:r>
            <a:r>
              <a:rPr lang="en-US" b="1" dirty="0"/>
              <a:t>regulation disorder</a:t>
            </a:r>
            <a:r>
              <a:rPr lang="en-US" dirty="0"/>
              <a:t>.</a:t>
            </a:r>
          </a:p>
          <a:p>
            <a:pPr lvl="0"/>
            <a:r>
              <a:rPr lang="en-US" dirty="0"/>
              <a:t>If you are a high-achiever who has spent years silently battling chronic overwhelm, internal anxiety, and self-criticism, this session is designed to give you clarity.</a:t>
            </a:r>
          </a:p>
          <a:p>
            <a:pPr lvl="0"/>
            <a:r>
              <a:rPr lang="en-US" dirty="0"/>
              <a:t>We are here to dismantle the shame: </a:t>
            </a:r>
            <a:r>
              <a:rPr lang="en-US" b="1" dirty="0"/>
              <a:t>Your brain isn't broken—it’s just wired differently.</a:t>
            </a:r>
            <a:endParaRPr lang="en-US" dirty="0"/>
          </a:p>
          <a:p>
            <a:endParaRPr lang="en-US" dirty="0"/>
          </a:p>
          <a:p>
            <a:r>
              <a:rPr lang="en-US" b="1" dirty="0" err="1"/>
              <a:t>elivery</a:t>
            </a:r>
            <a:r>
              <a:rPr lang="en-US" b="1" dirty="0"/>
              <a:t> Tip:</a:t>
            </a:r>
            <a:r>
              <a:rPr lang="en-US" dirty="0"/>
              <a:t> Warm, empathetic tone. Pause after saying "your brain isn't broken" to let the core message land.</a:t>
            </a:r>
          </a:p>
          <a:p>
            <a:endParaRPr lang="en-US" dirty="0"/>
          </a:p>
          <a:p>
            <a:endParaRPr lang="en-US" dirty="0"/>
          </a:p>
          <a:p>
            <a:r>
              <a:rPr lang="en-US" dirty="0"/>
              <a:t>https://www.youtube.com/watch?v=nUPQImuDUng</a:t>
            </a:r>
          </a:p>
        </p:txBody>
      </p:sp>
      <p:sp>
        <p:nvSpPr>
          <p:cNvPr id="4" name="Slide Number Placeholder 3"/>
          <p:cNvSpPr>
            <a:spLocks noGrp="1"/>
          </p:cNvSpPr>
          <p:nvPr>
            <p:ph type="sldNum" sz="quarter" idx="5"/>
          </p:nvPr>
        </p:nvSpPr>
        <p:spPr/>
        <p:txBody>
          <a:bodyPr/>
          <a:lstStyle/>
          <a:p>
            <a:fld id="{6089523F-C9BA-484B-8581-1A0F975CD456}" type="slidenum">
              <a:rPr lang="en-US" smtClean="0"/>
              <a:t>1</a:t>
            </a:fld>
            <a:endParaRPr lang="en-US"/>
          </a:p>
        </p:txBody>
      </p:sp>
    </p:spTree>
    <p:extLst>
      <p:ext uri="{BB962C8B-B14F-4D97-AF65-F5344CB8AC3E}">
        <p14:creationId xmlns:p14="http://schemas.microsoft.com/office/powerpoint/2010/main" val="4132599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Look at the hexagon chart on the right side of the slide. Traditional DSM diagnostic criteria were built decades ago, largely observing hyperactive young boys who disrupted classrooms. </a:t>
            </a:r>
          </a:p>
          <a:p>
            <a:pPr lvl="0"/>
            <a:r>
              <a:rPr lang="en-US" sz="1200" kern="1200" dirty="0">
                <a:solidFill>
                  <a:schemeClr val="tx1"/>
                </a:solidFill>
                <a:effectLst/>
                <a:latin typeface="+mn-lt"/>
                <a:ea typeface="+mn-ea"/>
                <a:cs typeface="+mn-cs"/>
              </a:rPr>
              <a:t>Because it focused on observable external behavior, the diagnostic system overlooked how ADHD dysregulates an entire systemic network: </a:t>
            </a:r>
            <a:r>
              <a:rPr lang="en-US" sz="1200" b="1" kern="1200" dirty="0">
                <a:solidFill>
                  <a:schemeClr val="tx1"/>
                </a:solidFill>
                <a:effectLst/>
                <a:latin typeface="+mn-lt"/>
                <a:ea typeface="+mn-ea"/>
                <a:cs typeface="+mn-cs"/>
              </a:rPr>
              <a:t>Attention, Motivation, Energy, Emotion, Sleep, and Appetite</a:t>
            </a:r>
            <a:r>
              <a:rPr lang="en-US" sz="1200" kern="1200" dirty="0">
                <a:solidFill>
                  <a:schemeClr val="tx1"/>
                </a:solidFill>
                <a:effectLst/>
                <a:latin typeface="+mn-lt"/>
                <a:ea typeface="+mn-ea"/>
                <a:cs typeface="+mn-cs"/>
              </a:rPr>
              <a:t>. </a:t>
            </a:r>
          </a:p>
          <a:p>
            <a:pPr lvl="0"/>
            <a:r>
              <a:rPr lang="en-US" sz="1200" i="1" kern="1200" dirty="0">
                <a:solidFill>
                  <a:schemeClr val="tx1"/>
                </a:solidFill>
                <a:effectLst/>
                <a:latin typeface="+mn-lt"/>
                <a:ea typeface="+mn-ea"/>
                <a:cs typeface="+mn-cs"/>
              </a:rPr>
              <a:t>Emotion:</a:t>
            </a:r>
            <a:r>
              <a:rPr lang="en-US" sz="1200" kern="1200" dirty="0">
                <a:solidFill>
                  <a:schemeClr val="tx1"/>
                </a:solidFill>
                <a:effectLst/>
                <a:latin typeface="+mn-lt"/>
                <a:ea typeface="+mn-ea"/>
                <a:cs typeface="+mn-cs"/>
              </a:rPr>
              <a:t> Experiencing wild swings in mood or sudden emotional floods.</a:t>
            </a:r>
          </a:p>
          <a:p>
            <a:pPr lvl="0"/>
            <a:r>
              <a:rPr lang="en-US" sz="1200" i="1" kern="1200" dirty="0">
                <a:solidFill>
                  <a:schemeClr val="tx1"/>
                </a:solidFill>
                <a:effectLst/>
                <a:latin typeface="+mn-lt"/>
                <a:ea typeface="+mn-ea"/>
                <a:cs typeface="+mn-cs"/>
              </a:rPr>
              <a:t>Sleep &amp; Energy:</a:t>
            </a:r>
            <a:r>
              <a:rPr lang="en-US" sz="1200" kern="1200" dirty="0">
                <a:solidFill>
                  <a:schemeClr val="tx1"/>
                </a:solidFill>
                <a:effectLst/>
                <a:latin typeface="+mn-lt"/>
                <a:ea typeface="+mn-ea"/>
                <a:cs typeface="+mn-cs"/>
              </a:rPr>
              <a:t> Difficulty falling asleep, fragmented sleep, or dramatic crashes in physical/mental stamina.</a:t>
            </a:r>
          </a:p>
          <a:p>
            <a:pPr lvl="0"/>
            <a:r>
              <a:rPr lang="en-US" sz="1200" i="1" kern="1200" dirty="0">
                <a:solidFill>
                  <a:schemeClr val="tx1"/>
                </a:solidFill>
                <a:effectLst/>
                <a:latin typeface="+mn-lt"/>
                <a:ea typeface="+mn-ea"/>
                <a:cs typeface="+mn-cs"/>
              </a:rPr>
              <a:t>Appetite &amp; Motivation:</a:t>
            </a:r>
            <a:r>
              <a:rPr lang="en-US" sz="1200" kern="1200" dirty="0">
                <a:solidFill>
                  <a:schemeClr val="tx1"/>
                </a:solidFill>
                <a:effectLst/>
                <a:latin typeface="+mn-lt"/>
                <a:ea typeface="+mn-ea"/>
                <a:cs typeface="+mn-cs"/>
              </a:rPr>
              <a:t> Forgetting to eat for hours when </a:t>
            </a:r>
            <a:r>
              <a:rPr lang="en-US" sz="1200" kern="1200" dirty="0" err="1">
                <a:solidFill>
                  <a:schemeClr val="tx1"/>
                </a:solidFill>
                <a:effectLst/>
                <a:latin typeface="+mn-lt"/>
                <a:ea typeface="+mn-ea"/>
                <a:cs typeface="+mn-cs"/>
              </a:rPr>
              <a:t>hyperfocused</a:t>
            </a:r>
            <a:r>
              <a:rPr lang="en-US" sz="1200" kern="1200" dirty="0">
                <a:solidFill>
                  <a:schemeClr val="tx1"/>
                </a:solidFill>
                <a:effectLst/>
                <a:latin typeface="+mn-lt"/>
                <a:ea typeface="+mn-ea"/>
                <a:cs typeface="+mn-cs"/>
              </a:rPr>
              <a:t>, or reaching for quick dopamine fixes.</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Use the visual radar chart to walk the audience around each axis.</a:t>
            </a:r>
            <a:r>
              <a:rPr lang="en-US" dirty="0"/>
              <a:t>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2</a:t>
            </a:fld>
            <a:endParaRPr lang="en-US"/>
          </a:p>
        </p:txBody>
      </p:sp>
    </p:spTree>
    <p:extLst>
      <p:ext uri="{BB962C8B-B14F-4D97-AF65-F5344CB8AC3E}">
        <p14:creationId xmlns:p14="http://schemas.microsoft.com/office/powerpoint/2010/main" val="3484725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take a look under the hood to see why emotional overwhelm happens at a structural level. </a:t>
            </a:r>
          </a:p>
          <a:p>
            <a:pPr lvl="0"/>
            <a:r>
              <a:rPr lang="en-US" sz="1200" kern="1200" dirty="0">
                <a:solidFill>
                  <a:schemeClr val="tx1"/>
                </a:solidFill>
                <a:effectLst/>
                <a:latin typeface="+mn-lt"/>
                <a:ea typeface="+mn-ea"/>
                <a:cs typeface="+mn-cs"/>
              </a:rPr>
              <a:t>Directly behind your forehead sits the </a:t>
            </a:r>
            <a:r>
              <a:rPr lang="en-US" sz="1200" b="1" kern="1200" dirty="0">
                <a:solidFill>
                  <a:schemeClr val="tx1"/>
                </a:solidFill>
                <a:effectLst/>
                <a:latin typeface="+mn-lt"/>
                <a:ea typeface="+mn-ea"/>
                <a:cs typeface="+mn-cs"/>
              </a:rPr>
              <a:t>Prefrontal Cortex</a:t>
            </a:r>
            <a:r>
              <a:rPr lang="en-US" sz="1200" kern="1200" dirty="0">
                <a:solidFill>
                  <a:schemeClr val="tx1"/>
                </a:solidFill>
                <a:effectLst/>
                <a:latin typeface="+mn-lt"/>
                <a:ea typeface="+mn-ea"/>
                <a:cs typeface="+mn-cs"/>
              </a:rPr>
              <a:t>—the executive filter responsible for logic, decision-making, and emotional modulation. In the ADHD brain, this cortex is slightly thinner and less responsive. </a:t>
            </a:r>
          </a:p>
          <a:p>
            <a:pPr lvl="0"/>
            <a:r>
              <a:rPr lang="en-US" sz="1200" kern="1200" dirty="0">
                <a:solidFill>
                  <a:schemeClr val="tx1"/>
                </a:solidFill>
                <a:effectLst/>
                <a:latin typeface="+mn-lt"/>
                <a:ea typeface="+mn-ea"/>
                <a:cs typeface="+mn-cs"/>
              </a:rPr>
              <a:t>Deep in the brain lies the </a:t>
            </a:r>
            <a:r>
              <a:rPr lang="en-US" sz="1200" b="1" kern="1200" dirty="0">
                <a:solidFill>
                  <a:schemeClr val="tx1"/>
                </a:solidFill>
                <a:effectLst/>
                <a:latin typeface="+mn-lt"/>
                <a:ea typeface="+mn-ea"/>
                <a:cs typeface="+mn-cs"/>
              </a:rPr>
              <a:t>Amygdala</a:t>
            </a:r>
            <a:r>
              <a:rPr lang="en-US" sz="1200" kern="1200" dirty="0">
                <a:solidFill>
                  <a:schemeClr val="tx1"/>
                </a:solidFill>
                <a:effectLst/>
                <a:latin typeface="+mn-lt"/>
                <a:ea typeface="+mn-ea"/>
                <a:cs typeface="+mn-cs"/>
              </a:rPr>
              <a:t>, our threat-detection alarm system. In ADHD individuals, the amygdala is hyper-reactive. </a:t>
            </a:r>
          </a:p>
          <a:p>
            <a:pPr lvl="0"/>
            <a:r>
              <a:rPr lang="en-US" sz="1200" kern="1200" dirty="0">
                <a:solidFill>
                  <a:schemeClr val="tx1"/>
                </a:solidFill>
                <a:effectLst/>
                <a:latin typeface="+mn-lt"/>
                <a:ea typeface="+mn-ea"/>
                <a:cs typeface="+mn-cs"/>
              </a:rPr>
              <a:t>When a stressor occurs, the amygdala sounds a massive alarm chemical flood. Because the connection between the two areas is weaker, the prefrontal cortex cannot step in fast enough to filter the input. This results in sensory and emotional overload. </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Point to the prefrontal cortex and amygdala on the slide diagram.</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3</a:t>
            </a:fld>
            <a:endParaRPr lang="en-US"/>
          </a:p>
        </p:txBody>
      </p:sp>
    </p:spTree>
    <p:extLst>
      <p:ext uri="{BB962C8B-B14F-4D97-AF65-F5344CB8AC3E}">
        <p14:creationId xmlns:p14="http://schemas.microsoft.com/office/powerpoint/2010/main" val="699588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Popular culture often claims that ADHD simply means having an "empty tank" of dopamine. That is a complete misconception. </a:t>
            </a:r>
          </a:p>
          <a:p>
            <a:pPr lvl="0"/>
            <a:r>
              <a:rPr lang="en-US" sz="1200" kern="1200" dirty="0">
                <a:solidFill>
                  <a:schemeClr val="tx1"/>
                </a:solidFill>
                <a:effectLst/>
                <a:latin typeface="+mn-lt"/>
                <a:ea typeface="+mn-ea"/>
                <a:cs typeface="+mn-cs"/>
              </a:rPr>
              <a:t>Dopamine—the neurotransmitter responsible for alertness, motivation, and mood—is actually present in the ADHD brain, but it is </a:t>
            </a:r>
            <a:r>
              <a:rPr lang="en-US" sz="1200" b="1" kern="1200" dirty="0">
                <a:solidFill>
                  <a:schemeClr val="tx1"/>
                </a:solidFill>
                <a:effectLst/>
                <a:latin typeface="+mn-lt"/>
                <a:ea typeface="+mn-ea"/>
                <a:cs typeface="+mn-cs"/>
              </a:rPr>
              <a:t>inefficiently distributed</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Because dopamine delivery is unstable, your executive functioning fluctuates wildly depending on stress, environment, and hormonal changes. </a:t>
            </a:r>
          </a:p>
          <a:p>
            <a:pPr lvl="0"/>
            <a:r>
              <a:rPr lang="en-US" sz="1200" kern="1200" dirty="0">
                <a:solidFill>
                  <a:schemeClr val="tx1"/>
                </a:solidFill>
                <a:effectLst/>
                <a:latin typeface="+mn-lt"/>
                <a:ea typeface="+mn-ea"/>
                <a:cs typeface="+mn-cs"/>
              </a:rPr>
              <a:t>This explains why you can hyperfocus on a passionate project for 8 hours without eating, but feel utterly paralyzed when trying to initiate a simple administrative task. </a:t>
            </a:r>
          </a:p>
          <a:p>
            <a:pPr lvl="0"/>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Contrast the "Empty Gas Tank" icon with the scattered dopamine dots.</a:t>
            </a:r>
            <a:r>
              <a:rPr lang="en-US" dirty="0"/>
              <a:t> </a:t>
            </a:r>
          </a:p>
        </p:txBody>
      </p:sp>
      <p:sp>
        <p:nvSpPr>
          <p:cNvPr id="4" name="Slide Number Placeholder 3"/>
          <p:cNvSpPr>
            <a:spLocks noGrp="1"/>
          </p:cNvSpPr>
          <p:nvPr>
            <p:ph type="sldNum" sz="quarter" idx="5"/>
          </p:nvPr>
        </p:nvSpPr>
        <p:spPr/>
        <p:txBody>
          <a:bodyPr/>
          <a:lstStyle/>
          <a:p>
            <a:fld id="{6089523F-C9BA-484B-8581-1A0F975CD456}" type="slidenum">
              <a:rPr lang="en-US" smtClean="0"/>
              <a:t>4</a:t>
            </a:fld>
            <a:endParaRPr lang="en-US"/>
          </a:p>
        </p:txBody>
      </p:sp>
    </p:spTree>
    <p:extLst>
      <p:ext uri="{BB962C8B-B14F-4D97-AF65-F5344CB8AC3E}">
        <p14:creationId xmlns:p14="http://schemas.microsoft.com/office/powerpoint/2010/main" val="3846870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medical field categorizes ADHD into three main presentations: </a:t>
            </a:r>
          </a:p>
          <a:p>
            <a:pPr marL="228600" lvl="0" indent="-228600">
              <a:buFont typeface="+mj-lt"/>
              <a:buAutoNum type="arabicPeriod"/>
            </a:pPr>
            <a:r>
              <a:rPr lang="en-US" sz="1200" b="1" kern="1200" dirty="0">
                <a:solidFill>
                  <a:schemeClr val="tx1"/>
                </a:solidFill>
                <a:effectLst/>
                <a:latin typeface="+mn-lt"/>
                <a:ea typeface="+mn-ea"/>
                <a:cs typeface="+mn-cs"/>
              </a:rPr>
              <a:t>Inattentive Type (The Daydreamer):</a:t>
            </a:r>
            <a:r>
              <a:rPr lang="en-US" sz="1200" kern="1200" dirty="0">
                <a:solidFill>
                  <a:schemeClr val="tx1"/>
                </a:solidFill>
                <a:effectLst/>
                <a:latin typeface="+mn-lt"/>
                <a:ea typeface="+mn-ea"/>
                <a:cs typeface="+mn-cs"/>
              </a:rPr>
              <a:t> Characterized by forgetfulness, difficulty initiating or finishing tasks, and avoidance of complex projects. Most common in females, often flies under the radar because it doesn't cause classroom disruption. </a:t>
            </a:r>
          </a:p>
          <a:p>
            <a:pPr marL="228600" lvl="0" indent="-228600">
              <a:buFont typeface="+mj-lt"/>
              <a:buAutoNum type="arabicPeriod"/>
            </a:pPr>
            <a:r>
              <a:rPr lang="en-US" sz="1200" b="1" kern="1200" dirty="0">
                <a:solidFill>
                  <a:schemeClr val="tx1"/>
                </a:solidFill>
                <a:effectLst/>
                <a:latin typeface="+mn-lt"/>
                <a:ea typeface="+mn-ea"/>
                <a:cs typeface="+mn-cs"/>
              </a:rPr>
              <a:t>Hyperactive/Impulsive Type (The Fidgeter):</a:t>
            </a:r>
            <a:r>
              <a:rPr lang="en-US" sz="1200" kern="1200" dirty="0">
                <a:solidFill>
                  <a:schemeClr val="tx1"/>
                </a:solidFill>
                <a:effectLst/>
                <a:latin typeface="+mn-lt"/>
                <a:ea typeface="+mn-ea"/>
                <a:cs typeface="+mn-cs"/>
              </a:rPr>
              <a:t> Characterized by physical restlessness, interrupting others, and verbal impulsivity. </a:t>
            </a:r>
          </a:p>
          <a:p>
            <a:pPr marL="228600" lvl="0" indent="-228600">
              <a:buFont typeface="+mj-lt"/>
              <a:buAutoNum type="arabicPeriod"/>
            </a:pPr>
            <a:r>
              <a:rPr lang="en-US" sz="1200" b="1" kern="1200" dirty="0">
                <a:solidFill>
                  <a:schemeClr val="tx1"/>
                </a:solidFill>
                <a:effectLst/>
                <a:latin typeface="+mn-lt"/>
                <a:ea typeface="+mn-ea"/>
                <a:cs typeface="+mn-cs"/>
              </a:rPr>
              <a:t>Combined Type (The Synthesis):</a:t>
            </a:r>
            <a:r>
              <a:rPr lang="en-US" sz="1200" kern="1200" dirty="0">
                <a:solidFill>
                  <a:schemeClr val="tx1"/>
                </a:solidFill>
                <a:effectLst/>
                <a:latin typeface="+mn-lt"/>
                <a:ea typeface="+mn-ea"/>
                <a:cs typeface="+mn-cs"/>
              </a:rPr>
              <a:t> A simultaneous presentation of both inattentive and hyperactive traits. (This is Dr. Sasha Hamdani’s personal diagnosis). </a:t>
            </a: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Emphasize that identifying your subtype is crucial for targeted coping strategies. </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5</a:t>
            </a:fld>
            <a:endParaRPr lang="en-US"/>
          </a:p>
        </p:txBody>
      </p:sp>
    </p:spTree>
    <p:extLst>
      <p:ext uri="{BB962C8B-B14F-4D97-AF65-F5344CB8AC3E}">
        <p14:creationId xmlns:p14="http://schemas.microsoft.com/office/powerpoint/2010/main" val="536683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This slide captures the essence of adult ADHD in high-achievers. </a:t>
            </a:r>
          </a:p>
          <a:p>
            <a:pPr lvl="0"/>
            <a:r>
              <a:rPr lang="en-US" sz="1200" b="1" kern="1200" dirty="0">
                <a:solidFill>
                  <a:schemeClr val="tx1"/>
                </a:solidFill>
                <a:effectLst/>
                <a:latin typeface="+mn-lt"/>
                <a:ea typeface="+mn-ea"/>
                <a:cs typeface="+mn-cs"/>
              </a:rPr>
              <a:t>External Disruption:</a:t>
            </a:r>
            <a:r>
              <a:rPr lang="en-US" sz="1200" kern="1200" dirty="0">
                <a:solidFill>
                  <a:schemeClr val="tx1"/>
                </a:solidFill>
                <a:effectLst/>
                <a:latin typeface="+mn-lt"/>
                <a:ea typeface="+mn-ea"/>
                <a:cs typeface="+mn-cs"/>
              </a:rPr>
              <a:t> Society only reacts when it sees visible flames—trouble in school, acting out, or open disorganization. </a:t>
            </a:r>
          </a:p>
          <a:p>
            <a:pPr lvl="0"/>
            <a:r>
              <a:rPr lang="en-US" sz="1200" b="1" kern="1200" dirty="0">
                <a:solidFill>
                  <a:schemeClr val="tx1"/>
                </a:solidFill>
                <a:effectLst/>
                <a:latin typeface="+mn-lt"/>
                <a:ea typeface="+mn-ea"/>
                <a:cs typeface="+mn-cs"/>
              </a:rPr>
              <a:t>Internal Disruption:</a:t>
            </a:r>
            <a:r>
              <a:rPr lang="en-US" sz="1200" kern="1200" dirty="0">
                <a:solidFill>
                  <a:schemeClr val="tx1"/>
                </a:solidFill>
                <a:effectLst/>
                <a:latin typeface="+mn-lt"/>
                <a:ea typeface="+mn-ea"/>
                <a:cs typeface="+mn-cs"/>
              </a:rPr>
              <a:t> High-functioning adults maintain a pristine exterior—holding successful careers and managing households. But internally, the house is on fire. </a:t>
            </a:r>
          </a:p>
          <a:p>
            <a:pPr lvl="0"/>
            <a:r>
              <a:rPr lang="en-US" sz="1200" kern="1200" dirty="0">
                <a:solidFill>
                  <a:schemeClr val="tx1"/>
                </a:solidFill>
                <a:effectLst/>
                <a:latin typeface="+mn-lt"/>
                <a:ea typeface="+mn-ea"/>
                <a:cs typeface="+mn-cs"/>
              </a:rPr>
              <a:t>You spend immense energy managing racing thoughts, sudden emotional crashes, and a chronic inability to trust your own follow-through. </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Reference the dual illustration of the burning house to highlight the contrast between public presentation and private struggle. </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6</a:t>
            </a:fld>
            <a:endParaRPr lang="en-US"/>
          </a:p>
        </p:txBody>
      </p:sp>
    </p:spTree>
    <p:extLst>
      <p:ext uri="{BB962C8B-B14F-4D97-AF65-F5344CB8AC3E}">
        <p14:creationId xmlns:p14="http://schemas.microsoft.com/office/powerpoint/2010/main" val="25525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survive in a neurotypical world, many individuals—especially women—develop </a:t>
            </a:r>
            <a:r>
              <a:rPr lang="en-US" sz="1200" b="1" kern="1200" dirty="0">
                <a:solidFill>
                  <a:schemeClr val="tx1"/>
                </a:solidFill>
                <a:effectLst/>
                <a:latin typeface="+mn-lt"/>
                <a:ea typeface="+mn-ea"/>
                <a:cs typeface="+mn-cs"/>
              </a:rPr>
              <a:t>Masking</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Masking includes staying late to over-prepare, relentless perfectionism, avoiding conflict at all costs, and internalizing blame. </a:t>
            </a:r>
          </a:p>
          <a:p>
            <a:pPr lvl="0"/>
            <a:r>
              <a:rPr lang="en-US" sz="1200" kern="1200" dirty="0">
                <a:solidFill>
                  <a:schemeClr val="tx1"/>
                </a:solidFill>
                <a:effectLst/>
                <a:latin typeface="+mn-lt"/>
                <a:ea typeface="+mn-ea"/>
                <a:cs typeface="+mn-cs"/>
              </a:rPr>
              <a:t>While this keeps the outer mask intact, the psychological toll is devastating: chronic anxiety, emotional exhaustion, and inevitable burnout. </a:t>
            </a:r>
          </a:p>
          <a:p>
            <a:pPr lvl="0"/>
            <a:r>
              <a:rPr lang="en-US" sz="1200" kern="1200" dirty="0">
                <a:solidFill>
                  <a:schemeClr val="tx1"/>
                </a:solidFill>
                <a:effectLst/>
                <a:latin typeface="+mn-lt"/>
                <a:ea typeface="+mn-ea"/>
                <a:cs typeface="+mn-cs"/>
              </a:rPr>
              <a:t>Eventually, the mask becomes too heavy to hold. </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Speak directly to the high-achievers in the audience who rely on perfectionism as a coping mechanism. </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7</a:t>
            </a:fld>
            <a:endParaRPr lang="en-US"/>
          </a:p>
        </p:txBody>
      </p:sp>
    </p:spTree>
    <p:extLst>
      <p:ext uri="{BB962C8B-B14F-4D97-AF65-F5344CB8AC3E}">
        <p14:creationId xmlns:p14="http://schemas.microsoft.com/office/powerpoint/2010/main" val="1757942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Estrogen plays a critical role in modulating dopamine production. When estrogen drops, dopamine drops, worsening ADHD dysregulation. </a:t>
                </a:r>
              </a:p>
              <a:p>
                <a:pPr lvl="0"/>
                <a:r>
                  <a:rPr lang="en-US" sz="1200" b="1" kern="1200" dirty="0">
                    <a:solidFill>
                      <a:schemeClr val="tx1"/>
                    </a:solidFill>
                    <a:effectLst/>
                    <a:latin typeface="+mn-lt"/>
                    <a:ea typeface="+mn-ea"/>
                    <a:cs typeface="+mn-cs"/>
                  </a:rPr>
                  <a:t>Puberty:</a:t>
                </a:r>
                <a:r>
                  <a:rPr lang="en-US" sz="1200" kern="1200" dirty="0">
                    <a:solidFill>
                      <a:schemeClr val="tx1"/>
                    </a:solidFill>
                    <a:effectLst/>
                    <a:latin typeface="+mn-lt"/>
                    <a:ea typeface="+mn-ea"/>
                    <a:cs typeface="+mn-cs"/>
                  </a:rPr>
                  <a:t> Fluctuating hormones impair focus and mood, often dismissed as "teen angst". </a:t>
                </a:r>
              </a:p>
              <a:p>
                <a:pPr lvl="0"/>
                <a:r>
                  <a:rPr lang="en-US" sz="1200" b="1" kern="1200" dirty="0">
                    <a:solidFill>
                      <a:schemeClr val="tx1"/>
                    </a:solidFill>
                    <a:effectLst/>
                    <a:latin typeface="+mn-lt"/>
                    <a:ea typeface="+mn-ea"/>
                    <a:cs typeface="+mn-cs"/>
                  </a:rPr>
                  <a:t>Postpartum:</a:t>
                </a:r>
                <a:r>
                  <a:rPr lang="en-US" sz="1200" kern="1200" dirty="0">
                    <a:solidFill>
                      <a:schemeClr val="tx1"/>
                    </a:solidFill>
                    <a:effectLst/>
                    <a:latin typeface="+mn-lt"/>
                    <a:ea typeface="+mn-ea"/>
                    <a:cs typeface="+mn-cs"/>
                  </a:rPr>
                  <a:t> A drastic plummet in estrogen leads to severe executive dysfunction, frequently misdiagnosed solely as Postpartum Depression. </a:t>
                </a:r>
              </a:p>
              <a:p>
                <a:pPr lvl="0"/>
                <a:r>
                  <a:rPr lang="en-US" sz="1200" b="1" kern="1200" dirty="0">
                    <a:solidFill>
                      <a:schemeClr val="tx1"/>
                    </a:solidFill>
                    <a:effectLst/>
                    <a:latin typeface="+mn-lt"/>
                    <a:ea typeface="+mn-ea"/>
                    <a:cs typeface="+mn-cs"/>
                  </a:rPr>
                  <a:t>Perimenopause:</a:t>
                </a:r>
                <a:r>
                  <a:rPr lang="en-US" sz="1200" kern="1200" dirty="0">
                    <a:solidFill>
                      <a:schemeClr val="tx1"/>
                    </a:solidFill>
                    <a:effectLst/>
                    <a:latin typeface="+mn-lt"/>
                    <a:ea typeface="+mn-ea"/>
                    <a:cs typeface="+mn-cs"/>
                  </a:rPr>
                  <a:t> Dropping estrogen causes severe brain fog and executive paralysis, often misdiagnosed as Generalized Anxiety or standard menopausal changes. </a:t>
                </a:r>
              </a:p>
              <a:p>
                <a:pPr lvl="0"/>
                <a:r>
                  <a:rPr lang="en-US" sz="1200" kern="1200" dirty="0">
                    <a:solidFill>
                      <a:schemeClr val="tx1"/>
                    </a:solidFill>
                    <a:effectLst/>
                    <a:latin typeface="+mn-lt"/>
                    <a:ea typeface="+mn-ea"/>
                    <a:cs typeface="+mn-cs"/>
                  </a:rPr>
                  <a:t>Because medicine rarely evaluates ADHD longitudinally across a woman's life, millions are treated for secondary symptoms while the root cause goes unaddressed. </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Walk step-by-step through the timeline (Puberty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Postpartum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Perimenopause). </a:t>
                </a:r>
              </a:p>
              <a:p>
                <a:endParaRPr lang="en-US" dirty="0"/>
              </a:p>
            </p:txBody>
          </p:sp>
        </mc:Choice>
        <mc:Fallback xmlns="">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Estrogen plays a critical role in modulating dopamine production. When estrogen drops, dopamine drops, worsening ADHD dysregulation. </a:t>
                </a:r>
              </a:p>
              <a:p>
                <a:pPr lvl="0"/>
                <a:r>
                  <a:rPr lang="en-US" sz="1200" b="1" kern="1200" dirty="0">
                    <a:solidFill>
                      <a:schemeClr val="tx1"/>
                    </a:solidFill>
                    <a:effectLst/>
                    <a:latin typeface="+mn-lt"/>
                    <a:ea typeface="+mn-ea"/>
                    <a:cs typeface="+mn-cs"/>
                  </a:rPr>
                  <a:t>Puberty:</a:t>
                </a:r>
                <a:r>
                  <a:rPr lang="en-US" sz="1200" kern="1200" dirty="0">
                    <a:solidFill>
                      <a:schemeClr val="tx1"/>
                    </a:solidFill>
                    <a:effectLst/>
                    <a:latin typeface="+mn-lt"/>
                    <a:ea typeface="+mn-ea"/>
                    <a:cs typeface="+mn-cs"/>
                  </a:rPr>
                  <a:t> Fluctuating hormones impair focus and mood, often dismissed as "teen angst". </a:t>
                </a:r>
              </a:p>
              <a:p>
                <a:pPr lvl="0"/>
                <a:r>
                  <a:rPr lang="en-US" sz="1200" b="1" kern="1200" dirty="0">
                    <a:solidFill>
                      <a:schemeClr val="tx1"/>
                    </a:solidFill>
                    <a:effectLst/>
                    <a:latin typeface="+mn-lt"/>
                    <a:ea typeface="+mn-ea"/>
                    <a:cs typeface="+mn-cs"/>
                  </a:rPr>
                  <a:t>Postpartum:</a:t>
                </a:r>
                <a:r>
                  <a:rPr lang="en-US" sz="1200" kern="1200" dirty="0">
                    <a:solidFill>
                      <a:schemeClr val="tx1"/>
                    </a:solidFill>
                    <a:effectLst/>
                    <a:latin typeface="+mn-lt"/>
                    <a:ea typeface="+mn-ea"/>
                    <a:cs typeface="+mn-cs"/>
                  </a:rPr>
                  <a:t> A drastic plummet in estrogen leads to severe executive dysfunction, frequently misdiagnosed solely as Postpartum Depression. </a:t>
                </a:r>
              </a:p>
              <a:p>
                <a:pPr lvl="0"/>
                <a:r>
                  <a:rPr lang="en-US" sz="1200" b="1" kern="1200" dirty="0">
                    <a:solidFill>
                      <a:schemeClr val="tx1"/>
                    </a:solidFill>
                    <a:effectLst/>
                    <a:latin typeface="+mn-lt"/>
                    <a:ea typeface="+mn-ea"/>
                    <a:cs typeface="+mn-cs"/>
                  </a:rPr>
                  <a:t>Perimenopause:</a:t>
                </a:r>
                <a:r>
                  <a:rPr lang="en-US" sz="1200" kern="1200" dirty="0">
                    <a:solidFill>
                      <a:schemeClr val="tx1"/>
                    </a:solidFill>
                    <a:effectLst/>
                    <a:latin typeface="+mn-lt"/>
                    <a:ea typeface="+mn-ea"/>
                    <a:cs typeface="+mn-cs"/>
                  </a:rPr>
                  <a:t> Dropping estrogen causes severe brain fog and executive paralysis, often misdiagnosed as Generalized Anxiety or standard menopausal changes. </a:t>
                </a:r>
              </a:p>
              <a:p>
                <a:pPr lvl="0"/>
                <a:r>
                  <a:rPr lang="en-US" sz="1200" kern="1200" dirty="0">
                    <a:solidFill>
                      <a:schemeClr val="tx1"/>
                    </a:solidFill>
                    <a:effectLst/>
                    <a:latin typeface="+mn-lt"/>
                    <a:ea typeface="+mn-ea"/>
                    <a:cs typeface="+mn-cs"/>
                  </a:rPr>
                  <a:t>Because medicine rarely evaluates ADHD longitudinally across a woman's life, millions are treated for secondary symptoms while the root cause goes unaddressed. </a:t>
                </a:r>
              </a:p>
              <a:p>
                <a:pPr lvl="0"/>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Walk step-by-step through the timeline (Puberty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Postpartum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Perimenopause). </a:t>
                </a:r>
              </a:p>
              <a:p>
                <a:endParaRPr lang="en-US" dirty="0"/>
              </a:p>
            </p:txBody>
          </p:sp>
        </mc:Fallback>
      </mc:AlternateContent>
      <p:sp>
        <p:nvSpPr>
          <p:cNvPr id="4" name="Slide Number Placeholder 3"/>
          <p:cNvSpPr>
            <a:spLocks noGrp="1"/>
          </p:cNvSpPr>
          <p:nvPr>
            <p:ph type="sldNum" sz="quarter" idx="5"/>
          </p:nvPr>
        </p:nvSpPr>
        <p:spPr/>
        <p:txBody>
          <a:bodyPr/>
          <a:lstStyle/>
          <a:p>
            <a:fld id="{6089523F-C9BA-484B-8581-1A0F975CD456}" type="slidenum">
              <a:rPr lang="en-US" smtClean="0"/>
              <a:t>8</a:t>
            </a:fld>
            <a:endParaRPr lang="en-US"/>
          </a:p>
        </p:txBody>
      </p:sp>
    </p:spTree>
    <p:extLst>
      <p:ext uri="{BB962C8B-B14F-4D97-AF65-F5344CB8AC3E}">
        <p14:creationId xmlns:p14="http://schemas.microsoft.com/office/powerpoint/2010/main" val="3255541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Almost 100% of individuals with ADHD experience </a:t>
            </a:r>
            <a:r>
              <a:rPr lang="en-US" sz="1200" b="1" kern="1200" dirty="0">
                <a:solidFill>
                  <a:schemeClr val="tx1"/>
                </a:solidFill>
                <a:effectLst/>
                <a:latin typeface="+mn-lt"/>
                <a:ea typeface="+mn-ea"/>
                <a:cs typeface="+mn-cs"/>
              </a:rPr>
              <a:t>Rejection Sensitive Dysphoria (RSD)</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1. Input:</a:t>
            </a:r>
            <a:r>
              <a:rPr lang="en-US" sz="1200" kern="1200" dirty="0">
                <a:solidFill>
                  <a:schemeClr val="tx1"/>
                </a:solidFill>
                <a:effectLst/>
                <a:latin typeface="+mn-lt"/>
                <a:ea typeface="+mn-ea"/>
                <a:cs typeface="+mn-cs"/>
              </a:rPr>
              <a:t> You receive a brief, ambiguous message like "No worries" or sense a minor shift in someone's tone. </a:t>
            </a:r>
          </a:p>
          <a:p>
            <a:pPr lvl="0"/>
            <a:r>
              <a:rPr lang="en-US" sz="1200" b="1" kern="1200" dirty="0">
                <a:solidFill>
                  <a:schemeClr val="tx1"/>
                </a:solidFill>
                <a:effectLst/>
                <a:latin typeface="+mn-lt"/>
                <a:ea typeface="+mn-ea"/>
                <a:cs typeface="+mn-cs"/>
              </a:rPr>
              <a:t>2. The Flood:</a:t>
            </a:r>
            <a:r>
              <a:rPr lang="en-US" sz="1200" kern="1200" dirty="0">
                <a:solidFill>
                  <a:schemeClr val="tx1"/>
                </a:solidFill>
                <a:effectLst/>
                <a:latin typeface="+mn-lt"/>
                <a:ea typeface="+mn-ea"/>
                <a:cs typeface="+mn-cs"/>
              </a:rPr>
              <a:t> Your hyper-reactive amygdala perceives social danger as a physical threat, flooding your body with panic neurochemicals. </a:t>
            </a:r>
          </a:p>
          <a:p>
            <a:pPr lvl="0"/>
            <a:r>
              <a:rPr lang="en-US" sz="1200" b="1" kern="1200" dirty="0">
                <a:solidFill>
                  <a:schemeClr val="tx1"/>
                </a:solidFill>
                <a:effectLst/>
                <a:latin typeface="+mn-lt"/>
                <a:ea typeface="+mn-ea"/>
                <a:cs typeface="+mn-cs"/>
              </a:rPr>
              <a:t>3. The Spin:</a:t>
            </a:r>
            <a:r>
              <a:rPr lang="en-US" sz="1200" kern="1200" dirty="0">
                <a:solidFill>
                  <a:schemeClr val="tx1"/>
                </a:solidFill>
                <a:effectLst/>
                <a:latin typeface="+mn-lt"/>
                <a:ea typeface="+mn-ea"/>
                <a:cs typeface="+mn-cs"/>
              </a:rPr>
              <a:t> Your prefrontal cortex goes offline. You spend hours ruminating, double-checking with friends, over-apologizing, or cutting off relationships preemptively to avoid rejection. </a:t>
            </a:r>
          </a:p>
          <a:p>
            <a:pPr lvl="1"/>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Use the text message visual ("No worries") to illustrate how a minor event can trigger a major internal spiral.</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9</a:t>
            </a:fld>
            <a:endParaRPr lang="en-US"/>
          </a:p>
        </p:txBody>
      </p:sp>
    </p:spTree>
    <p:extLst>
      <p:ext uri="{BB962C8B-B14F-4D97-AF65-F5344CB8AC3E}">
        <p14:creationId xmlns:p14="http://schemas.microsoft.com/office/powerpoint/2010/main" val="1106071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goal isn't to erase your sensitivity; it's to stay in control during a neurological flood. Dr. Hamdani recommends two actionable tactics: </a:t>
            </a:r>
          </a:p>
          <a:p>
            <a:pPr lvl="0"/>
            <a:r>
              <a:rPr lang="en-US" sz="1200" b="1" kern="1200" dirty="0">
                <a:solidFill>
                  <a:schemeClr val="tx1"/>
                </a:solidFill>
                <a:effectLst/>
                <a:latin typeface="+mn-lt"/>
                <a:ea typeface="+mn-ea"/>
                <a:cs typeface="+mn-cs"/>
              </a:rPr>
              <a:t>Tactic 1: Physical Movement (e.g., Squats):</a:t>
            </a:r>
            <a:r>
              <a:rPr lang="en-US" sz="1200" kern="1200" dirty="0">
                <a:solidFill>
                  <a:schemeClr val="tx1"/>
                </a:solidFill>
                <a:effectLst/>
                <a:latin typeface="+mn-lt"/>
                <a:ea typeface="+mn-ea"/>
                <a:cs typeface="+mn-cs"/>
              </a:rPr>
              <a:t> Performing short bursts of physical exercise forces oxygenated glucose directly to the frontal lobe, helping the brain's logical filter reboot. </a:t>
            </a:r>
          </a:p>
          <a:p>
            <a:pPr lvl="0"/>
            <a:r>
              <a:rPr lang="en-US" sz="1200" b="1" kern="1200" dirty="0">
                <a:solidFill>
                  <a:schemeClr val="tx1"/>
                </a:solidFill>
                <a:effectLst/>
                <a:latin typeface="+mn-lt"/>
                <a:ea typeface="+mn-ea"/>
                <a:cs typeface="+mn-cs"/>
              </a:rPr>
              <a:t>Tactic 2: The 15-Minute Delay:</a:t>
            </a:r>
            <a:r>
              <a:rPr lang="en-US" sz="1200" kern="1200" dirty="0">
                <a:solidFill>
                  <a:schemeClr val="tx1"/>
                </a:solidFill>
                <a:effectLst/>
                <a:latin typeface="+mn-lt"/>
                <a:ea typeface="+mn-ea"/>
                <a:cs typeface="+mn-cs"/>
              </a:rPr>
              <a:t> Recognize that you are neurologically flooded. Set a timer for 15 minutes and commit not to text, speak, or make decisions until the chemical surge dissipates. </a:t>
            </a:r>
          </a:p>
          <a:p>
            <a:pPr lvl="1"/>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Keep delivery energetic and practical. </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10</a:t>
            </a:fld>
            <a:endParaRPr lang="en-US"/>
          </a:p>
        </p:txBody>
      </p:sp>
    </p:spTree>
    <p:extLst>
      <p:ext uri="{BB962C8B-B14F-4D97-AF65-F5344CB8AC3E}">
        <p14:creationId xmlns:p14="http://schemas.microsoft.com/office/powerpoint/2010/main" val="1889986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seeking an evaluation, come equipped with objective data. Log the following areas over 60 days: </a:t>
            </a:r>
          </a:p>
          <a:p>
            <a:pPr marL="228600" lvl="0" indent="-228600">
              <a:buFont typeface="+mj-lt"/>
              <a:buAutoNum type="arabicPeriod"/>
            </a:pPr>
            <a:r>
              <a:rPr lang="en-US" sz="1200" b="1" kern="1200" dirty="0">
                <a:solidFill>
                  <a:schemeClr val="tx1"/>
                </a:solidFill>
                <a:effectLst/>
                <a:latin typeface="+mn-lt"/>
                <a:ea typeface="+mn-ea"/>
                <a:cs typeface="+mn-cs"/>
              </a:rPr>
              <a:t>Task Execution:</a:t>
            </a:r>
            <a:r>
              <a:rPr lang="en-US" sz="1200" kern="1200" dirty="0">
                <a:solidFill>
                  <a:schemeClr val="tx1"/>
                </a:solidFill>
                <a:effectLst/>
                <a:latin typeface="+mn-lt"/>
                <a:ea typeface="+mn-ea"/>
                <a:cs typeface="+mn-cs"/>
              </a:rPr>
              <a:t> Measure Initiation (starting), Distractibility (staying focused), and Completion. </a:t>
            </a:r>
          </a:p>
          <a:p>
            <a:pPr marL="228600" lvl="0" indent="-228600">
              <a:buFont typeface="+mj-lt"/>
              <a:buAutoNum type="arabicPeriod"/>
            </a:pPr>
            <a:r>
              <a:rPr lang="en-US" sz="1200" b="1" kern="1200" dirty="0">
                <a:solidFill>
                  <a:schemeClr val="tx1"/>
                </a:solidFill>
                <a:effectLst/>
                <a:latin typeface="+mn-lt"/>
                <a:ea typeface="+mn-ea"/>
                <a:cs typeface="+mn-cs"/>
              </a:rPr>
              <a:t>Sleep Architecture:</a:t>
            </a:r>
            <a:r>
              <a:rPr lang="en-US" sz="1200" kern="1200" dirty="0">
                <a:solidFill>
                  <a:schemeClr val="tx1"/>
                </a:solidFill>
                <a:effectLst/>
                <a:latin typeface="+mn-lt"/>
                <a:ea typeface="+mn-ea"/>
                <a:cs typeface="+mn-cs"/>
              </a:rPr>
              <a:t> Log duration, night awakenings, and difficulty falling asleep. </a:t>
            </a:r>
          </a:p>
          <a:p>
            <a:pPr marL="228600" lvl="0" indent="-228600">
              <a:buFont typeface="+mj-lt"/>
              <a:buAutoNum type="arabicPeriod"/>
            </a:pPr>
            <a:r>
              <a:rPr lang="en-US" sz="1200" b="1" kern="1200" dirty="0">
                <a:solidFill>
                  <a:schemeClr val="tx1"/>
                </a:solidFill>
                <a:effectLst/>
                <a:latin typeface="+mn-lt"/>
                <a:ea typeface="+mn-ea"/>
                <a:cs typeface="+mn-cs"/>
              </a:rPr>
              <a:t>Mood &amp; Hormones:</a:t>
            </a:r>
            <a:r>
              <a:rPr lang="en-US" sz="1200" kern="1200" dirty="0">
                <a:solidFill>
                  <a:schemeClr val="tx1"/>
                </a:solidFill>
                <a:effectLst/>
                <a:latin typeface="+mn-lt"/>
                <a:ea typeface="+mn-ea"/>
                <a:cs typeface="+mn-cs"/>
              </a:rPr>
              <a:t> Track emotional swings alongside your monthly hormonal cycle to spot physiological patterns. </a:t>
            </a:r>
          </a:p>
          <a:p>
            <a:pPr lvl="2"/>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Highlight that simple phone notes are enough to gather meaningful baseline data.</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11</a:t>
            </a:fld>
            <a:endParaRPr lang="en-US"/>
          </a:p>
        </p:txBody>
      </p:sp>
    </p:spTree>
    <p:extLst>
      <p:ext uri="{BB962C8B-B14F-4D97-AF65-F5344CB8AC3E}">
        <p14:creationId xmlns:p14="http://schemas.microsoft.com/office/powerpoint/2010/main" val="33306256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Psychiatrist (The Gold Standard):</a:t>
            </a:r>
            <a:r>
              <a:rPr lang="en-US" sz="1200" kern="1200" dirty="0">
                <a:solidFill>
                  <a:schemeClr val="tx1"/>
                </a:solidFill>
                <a:effectLst/>
                <a:latin typeface="+mn-lt"/>
                <a:ea typeface="+mn-ea"/>
                <a:cs typeface="+mn-cs"/>
              </a:rPr>
              <a:t> Medical doctors who evaluate both physiological and psychological factors, offering medication and therapy in one place. </a:t>
            </a:r>
          </a:p>
          <a:p>
            <a:pPr lvl="0"/>
            <a:r>
              <a:rPr lang="en-US" sz="1200" b="1" kern="1200" dirty="0">
                <a:solidFill>
                  <a:schemeClr val="tx1"/>
                </a:solidFill>
                <a:effectLst/>
                <a:latin typeface="+mn-lt"/>
                <a:ea typeface="+mn-ea"/>
                <a:cs typeface="+mn-cs"/>
              </a:rPr>
              <a:t>Neuropsychologist (The Deep Dive):</a:t>
            </a:r>
            <a:r>
              <a:rPr lang="en-US" sz="1200" kern="1200" dirty="0">
                <a:solidFill>
                  <a:schemeClr val="tx1"/>
                </a:solidFill>
                <a:effectLst/>
                <a:latin typeface="+mn-lt"/>
                <a:ea typeface="+mn-ea"/>
                <a:cs typeface="+mn-cs"/>
              </a:rPr>
              <a:t> Conducts extensive testing to rule out overlapping conditions. Thorough, though often time-intensive and costly. </a:t>
            </a:r>
          </a:p>
          <a:p>
            <a:pPr lvl="0"/>
            <a:r>
              <a:rPr lang="en-US" sz="1200" b="1" kern="1200" dirty="0">
                <a:solidFill>
                  <a:schemeClr val="tx1"/>
                </a:solidFill>
                <a:effectLst/>
                <a:latin typeface="+mn-lt"/>
                <a:ea typeface="+mn-ea"/>
                <a:cs typeface="+mn-cs"/>
              </a:rPr>
              <a:t>Primary Care / Pediatrician (Accessible Entry):</a:t>
            </a:r>
            <a:r>
              <a:rPr lang="en-US" sz="1200" kern="1200" dirty="0">
                <a:solidFill>
                  <a:schemeClr val="tx1"/>
                </a:solidFill>
                <a:effectLst/>
                <a:latin typeface="+mn-lt"/>
                <a:ea typeface="+mn-ea"/>
                <a:cs typeface="+mn-cs"/>
              </a:rPr>
              <a:t> Lower barrier to entry using standardized rating scales and collateral feedback. </a:t>
            </a:r>
          </a:p>
          <a:p>
            <a:pPr lvl="0"/>
            <a:r>
              <a:rPr lang="en-US" sz="1200" b="1" kern="1200" dirty="0">
                <a:solidFill>
                  <a:schemeClr val="tx1"/>
                </a:solidFill>
                <a:effectLst/>
                <a:latin typeface="+mn-lt"/>
                <a:ea typeface="+mn-ea"/>
                <a:cs typeface="+mn-cs"/>
              </a:rPr>
              <a:t>Crucial Rule:</a:t>
            </a:r>
            <a:r>
              <a:rPr lang="en-US" sz="1200" kern="1200" dirty="0">
                <a:solidFill>
                  <a:schemeClr val="tx1"/>
                </a:solidFill>
                <a:effectLst/>
                <a:latin typeface="+mn-lt"/>
                <a:ea typeface="+mn-ea"/>
                <a:cs typeface="+mn-cs"/>
              </a:rPr>
              <a:t> Vague or outdated perspectives on adult ADHD still persist. Vetting providers ahead of time helps ensure a supportive, informed diagnostic experience. </a:t>
            </a:r>
          </a:p>
          <a:p>
            <a:pPr lvl="1"/>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Reassure the audience that advocating for a qualified clinician is worth the effort. </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12</a:t>
            </a:fld>
            <a:endParaRPr lang="en-US"/>
          </a:p>
        </p:txBody>
      </p:sp>
    </p:spTree>
    <p:extLst>
      <p:ext uri="{BB962C8B-B14F-4D97-AF65-F5344CB8AC3E}">
        <p14:creationId xmlns:p14="http://schemas.microsoft.com/office/powerpoint/2010/main" val="41229788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sz="1200" kern="1200" dirty="0">
                <a:solidFill>
                  <a:schemeClr val="tx1"/>
                </a:solidFill>
                <a:effectLst/>
                <a:latin typeface="+mn-lt"/>
                <a:ea typeface="+mn-ea"/>
                <a:cs typeface="+mn-cs"/>
              </a:rPr>
              <a:t>Treatment is not one-size-fits-all: </a:t>
            </a:r>
          </a:p>
          <a:p>
            <a:pPr marL="0" lvl="0" indent="0">
              <a:buFont typeface="Arial" panose="020B0604020202020204" pitchFamily="34" charset="0"/>
              <a:buNone/>
            </a:pPr>
            <a:r>
              <a:rPr lang="en-US" sz="1200" b="1" kern="1200" dirty="0">
                <a:solidFill>
                  <a:schemeClr val="tx1"/>
                </a:solidFill>
                <a:effectLst/>
                <a:latin typeface="+mn-lt"/>
                <a:ea typeface="+mn-ea"/>
                <a:cs typeface="+mn-cs"/>
              </a:rPr>
              <a:t>Stimulants (e.g., Adderall, Vyvanse):</a:t>
            </a:r>
            <a:r>
              <a:rPr lang="en-US" sz="1200" kern="1200" dirty="0">
                <a:solidFill>
                  <a:schemeClr val="tx1"/>
                </a:solidFill>
                <a:effectLst/>
                <a:latin typeface="+mn-lt"/>
                <a:ea typeface="+mn-ea"/>
                <a:cs typeface="+mn-cs"/>
              </a:rPr>
              <a:t> Help improve alertness and focus. They offer target coverage (4–8 hours), but require managing potential drop-offs. </a:t>
            </a:r>
          </a:p>
          <a:p>
            <a:pPr marL="0" lvl="0" indent="0">
              <a:buFont typeface="Arial" panose="020B0604020202020204" pitchFamily="34" charset="0"/>
              <a:buNone/>
            </a:pPr>
            <a:r>
              <a:rPr lang="en-US" sz="1200" b="1" kern="1200" dirty="0">
                <a:solidFill>
                  <a:schemeClr val="tx1"/>
                </a:solidFill>
                <a:effectLst/>
                <a:latin typeface="+mn-lt"/>
                <a:ea typeface="+mn-ea"/>
                <a:cs typeface="+mn-cs"/>
              </a:rPr>
              <a:t>Non-Stimulants (e.g., Guanfacine, Strattera):</a:t>
            </a:r>
            <a:r>
              <a:rPr lang="en-US" sz="1200" kern="1200" dirty="0">
                <a:solidFill>
                  <a:schemeClr val="tx1"/>
                </a:solidFill>
                <a:effectLst/>
                <a:latin typeface="+mn-lt"/>
                <a:ea typeface="+mn-ea"/>
                <a:cs typeface="+mn-cs"/>
              </a:rPr>
              <a:t> Provide smooth, 24-hour baseline coverage without harsh crashes, often double-targeting overlapping anxiety. </a:t>
            </a:r>
          </a:p>
          <a:p>
            <a:pPr marL="0" lvl="0" indent="0">
              <a:buFont typeface="Arial" panose="020B0604020202020204" pitchFamily="34" charset="0"/>
              <a:buNone/>
            </a:pPr>
            <a:r>
              <a:rPr lang="en-US" sz="1200" b="1" kern="1200" dirty="0">
                <a:solidFill>
                  <a:schemeClr val="tx1"/>
                </a:solidFill>
                <a:effectLst/>
                <a:latin typeface="+mn-lt"/>
                <a:ea typeface="+mn-ea"/>
                <a:cs typeface="+mn-cs"/>
              </a:rPr>
              <a:t>Non-Medication Tools:</a:t>
            </a:r>
            <a:r>
              <a:rPr lang="en-US" sz="1200" kern="1200" dirty="0">
                <a:solidFill>
                  <a:schemeClr val="tx1"/>
                </a:solidFill>
                <a:effectLst/>
                <a:latin typeface="+mn-lt"/>
                <a:ea typeface="+mn-ea"/>
                <a:cs typeface="+mn-cs"/>
              </a:rPr>
              <a:t> Cognitive behavioral therapy, coaching, and environmental scaffolding are essential for building lasting routines—whether using medication or not. </a:t>
            </a:r>
          </a:p>
          <a:p>
            <a:pPr lvl="1"/>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Emphasize that choosing medication is a personal decision, and behavioral tools remain valuable either way. </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13</a:t>
            </a:fld>
            <a:endParaRPr lang="en-US"/>
          </a:p>
        </p:txBody>
      </p:sp>
    </p:spTree>
    <p:extLst>
      <p:ext uri="{BB962C8B-B14F-4D97-AF65-F5344CB8AC3E}">
        <p14:creationId xmlns:p14="http://schemas.microsoft.com/office/powerpoint/2010/main" val="4059928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There is a common narrative that "ADHD is a superpower." While well-intentioned, oversimplifying it can minimize the genuine burden of executive dysregulation. </a:t>
            </a:r>
          </a:p>
          <a:p>
            <a:pPr lvl="0"/>
            <a:r>
              <a:rPr lang="en-US" sz="1200" kern="1200" dirty="0">
                <a:solidFill>
                  <a:schemeClr val="tx1"/>
                </a:solidFill>
                <a:effectLst/>
                <a:latin typeface="+mn-lt"/>
                <a:ea typeface="+mn-ea"/>
                <a:cs typeface="+mn-cs"/>
              </a:rPr>
              <a:t>As Dr. Hamdani puts it: </a:t>
            </a:r>
            <a:r>
              <a:rPr lang="en-US" sz="1200" i="1" kern="1200" dirty="0">
                <a:solidFill>
                  <a:schemeClr val="tx1"/>
                </a:solidFill>
                <a:effectLst/>
                <a:latin typeface="+mn-lt"/>
                <a:ea typeface="+mn-ea"/>
                <a:cs typeface="+mn-cs"/>
              </a:rPr>
              <a:t>"It's like a superpower that you have very little agency over. You can fly, but you can't choose when or where—you might just blast off into space at any given time."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True progress comes from accepting both sides: honoring creative hyperfocus while building practical guardrails for real limitations. </a:t>
            </a:r>
          </a:p>
          <a:p>
            <a:pPr lvl="1"/>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Deliver this with grounded honesty to validate the audience's lived challenges. </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14</a:t>
            </a:fld>
            <a:endParaRPr lang="en-US"/>
          </a:p>
        </p:txBody>
      </p:sp>
    </p:spTree>
    <p:extLst>
      <p:ext uri="{BB962C8B-B14F-4D97-AF65-F5344CB8AC3E}">
        <p14:creationId xmlns:p14="http://schemas.microsoft.com/office/powerpoint/2010/main" val="1807865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If you spent decades blaming yourself for being "lazy," "broken," or "overly anxious," let go of that guilt today. You were navigating a complex system without the instruction manual. </a:t>
            </a:r>
          </a:p>
          <a:p>
            <a:pPr lvl="0"/>
            <a:r>
              <a:rPr lang="en-US" sz="1200" kern="1200" dirty="0">
                <a:solidFill>
                  <a:schemeClr val="tx1"/>
                </a:solidFill>
                <a:effectLst/>
                <a:latin typeface="+mn-lt"/>
                <a:ea typeface="+mn-ea"/>
                <a:cs typeface="+mn-cs"/>
              </a:rPr>
              <a:t>The years spent struggling before a diagnosis weren't wasted. You were building resilience, adaptability, and creative problem-solving strategies. </a:t>
            </a:r>
          </a:p>
          <a:p>
            <a:pPr lvl="0"/>
            <a:r>
              <a:rPr lang="en-US" sz="1200" kern="1200" dirty="0">
                <a:solidFill>
                  <a:schemeClr val="tx1"/>
                </a:solidFill>
                <a:effectLst/>
                <a:latin typeface="+mn-lt"/>
                <a:ea typeface="+mn-ea"/>
                <a:cs typeface="+mn-cs"/>
              </a:rPr>
              <a:t>Paired with the right understanding and tools, those hard-earned strategies become your strongest assets. </a:t>
            </a:r>
          </a:p>
          <a:p>
            <a:pPr lvl="1"/>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Speak with warmth and encouragement. Let the empowering message settle before moving to the final summary. </a:t>
            </a:r>
          </a:p>
          <a:p>
            <a:endParaRPr lang="en-US" dirty="0"/>
          </a:p>
        </p:txBody>
      </p:sp>
      <p:sp>
        <p:nvSpPr>
          <p:cNvPr id="4" name="Slide Number Placeholder 3"/>
          <p:cNvSpPr>
            <a:spLocks noGrp="1"/>
          </p:cNvSpPr>
          <p:nvPr>
            <p:ph type="sldNum" sz="quarter" idx="5"/>
          </p:nvPr>
        </p:nvSpPr>
        <p:spPr/>
        <p:txBody>
          <a:bodyPr/>
          <a:lstStyle/>
          <a:p>
            <a:fld id="{6089523F-C9BA-484B-8581-1A0F975CD456}" type="slidenum">
              <a:rPr lang="en-US" smtClean="0"/>
              <a:t>15</a:t>
            </a:fld>
            <a:endParaRPr lang="en-US"/>
          </a:p>
        </p:txBody>
      </p:sp>
    </p:spTree>
    <p:extLst>
      <p:ext uri="{BB962C8B-B14F-4D97-AF65-F5344CB8AC3E}">
        <p14:creationId xmlns:p14="http://schemas.microsoft.com/office/powerpoint/2010/main" val="2326224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conclude, let's review our master blueprint: </a:t>
                </a:r>
              </a:p>
              <a:p>
                <a:pPr marL="228600" lvl="0" indent="-228600">
                  <a:buFont typeface="+mj-lt"/>
                  <a:buAutoNum type="arabicPeriod"/>
                </a:pPr>
                <a:r>
                  <a:rPr lang="en-US" sz="1200" b="1" kern="1200" dirty="0">
                    <a:solidFill>
                      <a:schemeClr val="tx1"/>
                    </a:solidFill>
                    <a:effectLst/>
                    <a:latin typeface="+mn-lt"/>
                    <a:ea typeface="+mn-ea"/>
                    <a:cs typeface="+mn-cs"/>
                  </a:rPr>
                  <a:t>Core Reality:</a:t>
                </a:r>
                <a:r>
                  <a:rPr lang="en-US" sz="1200" kern="1200" dirty="0">
                    <a:solidFill>
                      <a:schemeClr val="tx1"/>
                    </a:solidFill>
                    <a:effectLst/>
                    <a:latin typeface="+mn-lt"/>
                    <a:ea typeface="+mn-ea"/>
                    <a:cs typeface="+mn-cs"/>
                  </a:rPr>
                  <a:t> ADHD is a dysregulation of attention, sleep, appetite, energy, and emotion. </a:t>
                </a:r>
              </a:p>
              <a:p>
                <a:pPr marL="228600" lvl="0" indent="-228600">
                  <a:buFont typeface="+mj-lt"/>
                  <a:buAutoNum type="arabicPeriod"/>
                </a:pPr>
                <a:r>
                  <a:rPr lang="en-US" sz="1200" b="1" kern="1200" dirty="0">
                    <a:solidFill>
                      <a:schemeClr val="tx1"/>
                    </a:solidFill>
                    <a:effectLst/>
                    <a:latin typeface="+mn-lt"/>
                    <a:ea typeface="+mn-ea"/>
                    <a:cs typeface="+mn-cs"/>
                  </a:rPr>
                  <a:t>Presentations:</a:t>
                </a:r>
                <a:r>
                  <a:rPr lang="en-US" sz="1200" kern="1200" dirty="0">
                    <a:solidFill>
                      <a:schemeClr val="tx1"/>
                    </a:solidFill>
                    <a:effectLst/>
                    <a:latin typeface="+mn-lt"/>
                    <a:ea typeface="+mn-ea"/>
                    <a:cs typeface="+mn-cs"/>
                  </a:rPr>
                  <a:t> Recognizing whether you lean toward Inattentive, Hyperactive, or Combined features help guide your strategy. </a:t>
                </a:r>
              </a:p>
              <a:p>
                <a:pPr marL="228600" lvl="0" indent="-228600">
                  <a:buFont typeface="+mj-lt"/>
                  <a:buAutoNum type="arabicPeriod"/>
                </a:pPr>
                <a:r>
                  <a:rPr lang="en-US" sz="1200" b="1" kern="1200" dirty="0">
                    <a:solidFill>
                      <a:schemeClr val="tx1"/>
                    </a:solidFill>
                    <a:effectLst/>
                    <a:latin typeface="+mn-lt"/>
                    <a:ea typeface="+mn-ea"/>
                    <a:cs typeface="+mn-cs"/>
                  </a:rPr>
                  <a:t>Key Nuance:</a:t>
                </a:r>
                <a:r>
                  <a:rPr lang="en-US" sz="1200" kern="1200" dirty="0">
                    <a:solidFill>
                      <a:schemeClr val="tx1"/>
                    </a:solidFill>
                    <a:effectLst/>
                    <a:latin typeface="+mn-lt"/>
                    <a:ea typeface="+mn-ea"/>
                    <a:cs typeface="+mn-cs"/>
                  </a:rPr>
                  <a:t> Understand how Rejection Sensitive Dysphoria (RSD) impacts your emotional reactions. </a:t>
                </a:r>
              </a:p>
              <a:p>
                <a:pPr marL="228600" lvl="0" indent="-228600">
                  <a:buFont typeface="+mj-lt"/>
                  <a:buAutoNum type="arabicPeriod"/>
                </a:pPr>
                <a:r>
                  <a:rPr lang="en-US" sz="1200" b="1" kern="1200" dirty="0">
                    <a:solidFill>
                      <a:schemeClr val="tx1"/>
                    </a:solidFill>
                    <a:effectLst/>
                    <a:latin typeface="+mn-lt"/>
                    <a:ea typeface="+mn-ea"/>
                    <a:cs typeface="+mn-cs"/>
                  </a:rPr>
                  <a:t>3-Step Roadmap:</a:t>
                </a:r>
                <a:r>
                  <a:rPr lang="en-US" sz="1200" kern="1200" dirty="0">
                    <a:solidFill>
                      <a:schemeClr val="tx1"/>
                    </a:solidFill>
                    <a:effectLst/>
                    <a:latin typeface="+mn-lt"/>
                    <a:ea typeface="+mn-ea"/>
                    <a:cs typeface="+mn-cs"/>
                  </a:rPr>
                  <a:t> Log symptoms for 60 days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Seek an informed evaluation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Build your personalized toolkit combining therapy, routines, and optional medication. </a:t>
                </a:r>
              </a:p>
              <a:p>
                <a:pPr lvl="0"/>
                <a:r>
                  <a:rPr lang="en-US" sz="1200" kern="1200" dirty="0">
                    <a:solidFill>
                      <a:schemeClr val="tx1"/>
                    </a:solidFill>
                    <a:effectLst/>
                    <a:latin typeface="+mn-lt"/>
                    <a:ea typeface="+mn-ea"/>
                    <a:cs typeface="+mn-cs"/>
                  </a:rPr>
                  <a:t>Thank you for taking time to better understand your brain today. </a:t>
                </a:r>
              </a:p>
              <a:p>
                <a:pPr lvl="1"/>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Conclude with confidence, inviting questions and open discussion.</a:t>
                </a:r>
              </a:p>
              <a:p>
                <a:endParaRPr lang="en-US" dirty="0"/>
              </a:p>
            </p:txBody>
          </p:sp>
        </mc:Choice>
        <mc:Fallback xmlns="">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conclude, let's review our master blueprint: </a:t>
                </a:r>
              </a:p>
              <a:p>
                <a:pPr marL="228600" lvl="0" indent="-228600">
                  <a:buFont typeface="+mj-lt"/>
                  <a:buAutoNum type="arabicPeriod"/>
                </a:pPr>
                <a:r>
                  <a:rPr lang="en-US" sz="1200" b="1" kern="1200" dirty="0">
                    <a:solidFill>
                      <a:schemeClr val="tx1"/>
                    </a:solidFill>
                    <a:effectLst/>
                    <a:latin typeface="+mn-lt"/>
                    <a:ea typeface="+mn-ea"/>
                    <a:cs typeface="+mn-cs"/>
                  </a:rPr>
                  <a:t>Core Reality:</a:t>
                </a:r>
                <a:r>
                  <a:rPr lang="en-US" sz="1200" kern="1200" dirty="0">
                    <a:solidFill>
                      <a:schemeClr val="tx1"/>
                    </a:solidFill>
                    <a:effectLst/>
                    <a:latin typeface="+mn-lt"/>
                    <a:ea typeface="+mn-ea"/>
                    <a:cs typeface="+mn-cs"/>
                  </a:rPr>
                  <a:t> ADHD is a dysregulation of attention, sleep, appetite, energy, and emotion. </a:t>
                </a:r>
              </a:p>
              <a:p>
                <a:pPr marL="228600" lvl="0" indent="-228600">
                  <a:buFont typeface="+mj-lt"/>
                  <a:buAutoNum type="arabicPeriod"/>
                </a:pPr>
                <a:r>
                  <a:rPr lang="en-US" sz="1200" b="1" kern="1200" dirty="0">
                    <a:solidFill>
                      <a:schemeClr val="tx1"/>
                    </a:solidFill>
                    <a:effectLst/>
                    <a:latin typeface="+mn-lt"/>
                    <a:ea typeface="+mn-ea"/>
                    <a:cs typeface="+mn-cs"/>
                  </a:rPr>
                  <a:t>Presentations:</a:t>
                </a:r>
                <a:r>
                  <a:rPr lang="en-US" sz="1200" kern="1200" dirty="0">
                    <a:solidFill>
                      <a:schemeClr val="tx1"/>
                    </a:solidFill>
                    <a:effectLst/>
                    <a:latin typeface="+mn-lt"/>
                    <a:ea typeface="+mn-ea"/>
                    <a:cs typeface="+mn-cs"/>
                  </a:rPr>
                  <a:t> Recognizing whether you lean toward Inattentive, Hyperactive, or Combined features help guide your strategy. </a:t>
                </a:r>
              </a:p>
              <a:p>
                <a:pPr marL="228600" lvl="0" indent="-228600">
                  <a:buFont typeface="+mj-lt"/>
                  <a:buAutoNum type="arabicPeriod"/>
                </a:pPr>
                <a:r>
                  <a:rPr lang="en-US" sz="1200" b="1" kern="1200" dirty="0">
                    <a:solidFill>
                      <a:schemeClr val="tx1"/>
                    </a:solidFill>
                    <a:effectLst/>
                    <a:latin typeface="+mn-lt"/>
                    <a:ea typeface="+mn-ea"/>
                    <a:cs typeface="+mn-cs"/>
                  </a:rPr>
                  <a:t>Key Nuance:</a:t>
                </a:r>
                <a:r>
                  <a:rPr lang="en-US" sz="1200" kern="1200" dirty="0">
                    <a:solidFill>
                      <a:schemeClr val="tx1"/>
                    </a:solidFill>
                    <a:effectLst/>
                    <a:latin typeface="+mn-lt"/>
                    <a:ea typeface="+mn-ea"/>
                    <a:cs typeface="+mn-cs"/>
                  </a:rPr>
                  <a:t> Understand how Rejection Sensitive Dysphoria (RSD) impacts your emotional reactions. </a:t>
                </a:r>
              </a:p>
              <a:p>
                <a:pPr marL="228600" lvl="0" indent="-228600">
                  <a:buFont typeface="+mj-lt"/>
                  <a:buAutoNum type="arabicPeriod"/>
                </a:pPr>
                <a:r>
                  <a:rPr lang="en-US" sz="1200" b="1" kern="1200" dirty="0">
                    <a:solidFill>
                      <a:schemeClr val="tx1"/>
                    </a:solidFill>
                    <a:effectLst/>
                    <a:latin typeface="+mn-lt"/>
                    <a:ea typeface="+mn-ea"/>
                    <a:cs typeface="+mn-cs"/>
                  </a:rPr>
                  <a:t>3-Step Roadmap:</a:t>
                </a:r>
                <a:r>
                  <a:rPr lang="en-US" sz="1200" kern="1200" dirty="0">
                    <a:solidFill>
                      <a:schemeClr val="tx1"/>
                    </a:solidFill>
                    <a:effectLst/>
                    <a:latin typeface="+mn-lt"/>
                    <a:ea typeface="+mn-ea"/>
                    <a:cs typeface="+mn-cs"/>
                  </a:rPr>
                  <a:t> Log symptoms for 60 days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Seek an informed evaluation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Build your personalized toolkit combining therapy, routines, and optional medication. </a:t>
                </a:r>
              </a:p>
              <a:p>
                <a:pPr lvl="0"/>
                <a:r>
                  <a:rPr lang="en-US" sz="1200" kern="1200" dirty="0">
                    <a:solidFill>
                      <a:schemeClr val="tx1"/>
                    </a:solidFill>
                    <a:effectLst/>
                    <a:latin typeface="+mn-lt"/>
                    <a:ea typeface="+mn-ea"/>
                    <a:cs typeface="+mn-cs"/>
                  </a:rPr>
                  <a:t>Thank you for taking time to better understand your brain today. </a:t>
                </a:r>
              </a:p>
              <a:p>
                <a:pPr lvl="1"/>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Delivery Tip:</a:t>
                </a:r>
                <a:r>
                  <a:rPr lang="en-US" sz="1200" kern="1200" dirty="0">
                    <a:solidFill>
                      <a:schemeClr val="tx1"/>
                    </a:solidFill>
                    <a:effectLst/>
                    <a:latin typeface="+mn-lt"/>
                    <a:ea typeface="+mn-ea"/>
                    <a:cs typeface="+mn-cs"/>
                  </a:rPr>
                  <a:t> Conclude with confidence, inviting questions and open discussion.</a:t>
                </a:r>
              </a:p>
              <a:p>
                <a:endParaRPr lang="en-US" dirty="0"/>
              </a:p>
            </p:txBody>
          </p:sp>
        </mc:Fallback>
      </mc:AlternateContent>
      <p:sp>
        <p:nvSpPr>
          <p:cNvPr id="4" name="Slide Number Placeholder 3"/>
          <p:cNvSpPr>
            <a:spLocks noGrp="1"/>
          </p:cNvSpPr>
          <p:nvPr>
            <p:ph type="sldNum" sz="quarter" idx="5"/>
          </p:nvPr>
        </p:nvSpPr>
        <p:spPr/>
        <p:txBody>
          <a:bodyPr/>
          <a:lstStyle/>
          <a:p>
            <a:fld id="{6089523F-C9BA-484B-8581-1A0F975CD456}" type="slidenum">
              <a:rPr lang="en-US" smtClean="0"/>
              <a:t>16</a:t>
            </a:fld>
            <a:endParaRPr lang="en-US"/>
          </a:p>
        </p:txBody>
      </p:sp>
    </p:spTree>
    <p:extLst>
      <p:ext uri="{BB962C8B-B14F-4D97-AF65-F5344CB8AC3E}">
        <p14:creationId xmlns:p14="http://schemas.microsoft.com/office/powerpoint/2010/main" val="4058661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EBC5F-C11C-73DA-DA68-C097F19D09F2}"/>
              </a:ext>
            </a:extLst>
          </p:cNvPr>
          <p:cNvSpPr>
            <a:spLocks noGrp="1"/>
          </p:cNvSpPr>
          <p:nvPr>
            <p:ph type="dt" sz="half" idx="10"/>
          </p:nvPr>
        </p:nvSpPr>
        <p:spPr/>
        <p:txBody>
          <a:bodyPr/>
          <a:lstStyle/>
          <a:p>
            <a:fld id="{B3C8677A-2E87-4D65-94D1-26A2D0205397}" type="datetimeFigureOut">
              <a:rPr lang="en-US" smtClean="0"/>
              <a:t>10/19/2026</a:t>
            </a:fld>
            <a:endParaRPr lang="en-US"/>
          </a:p>
        </p:txBody>
      </p:sp>
      <p:sp>
        <p:nvSpPr>
          <p:cNvPr id="3" name="Footer Placeholder 2">
            <a:extLst>
              <a:ext uri="{FF2B5EF4-FFF2-40B4-BE49-F238E27FC236}">
                <a16:creationId xmlns:a16="http://schemas.microsoft.com/office/drawing/2014/main" id="{B073B1FB-9E79-87A4-30F6-3765275242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FA6E65-B9E9-F732-49A1-BC6C1611C4B2}"/>
              </a:ext>
            </a:extLst>
          </p:cNvPr>
          <p:cNvSpPr>
            <a:spLocks noGrp="1"/>
          </p:cNvSpPr>
          <p:nvPr>
            <p:ph type="sldNum" sz="quarter" idx="12"/>
          </p:nvPr>
        </p:nvSpPr>
        <p:spPr/>
        <p:txBody>
          <a:bodyPr/>
          <a:lstStyle/>
          <a:p>
            <a:fld id="{302B299D-56D6-4CA0-99C1-C91DEDBC567C}" type="slidenum">
              <a:rPr lang="en-US" smtClean="0"/>
              <a:t>‹#›</a:t>
            </a:fld>
            <a:endParaRPr lang="en-US"/>
          </a:p>
        </p:txBody>
      </p:sp>
    </p:spTree>
    <p:extLst>
      <p:ext uri="{BB962C8B-B14F-4D97-AF65-F5344CB8AC3E}">
        <p14:creationId xmlns:p14="http://schemas.microsoft.com/office/powerpoint/2010/main" val="1853847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066487-F26E-BB62-A94E-1ACF5F7716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425098-5632-40B8-CD4C-5D481AE589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963436-E298-D662-ADFA-47C4EBFCBD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C8677A-2E87-4D65-94D1-26A2D0205397}" type="datetimeFigureOut">
              <a:rPr lang="en-US" smtClean="0"/>
              <a:t>10/19/2026</a:t>
            </a:fld>
            <a:endParaRPr lang="en-US"/>
          </a:p>
        </p:txBody>
      </p:sp>
      <p:sp>
        <p:nvSpPr>
          <p:cNvPr id="5" name="Footer Placeholder 4">
            <a:extLst>
              <a:ext uri="{FF2B5EF4-FFF2-40B4-BE49-F238E27FC236}">
                <a16:creationId xmlns:a16="http://schemas.microsoft.com/office/drawing/2014/main" id="{0BBBEA79-9E8B-F9C0-7FC7-6C336800C4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74EFA7-7FD4-B68B-168F-9EBA75CE3A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2B299D-56D6-4CA0-99C1-C91DEDBC567C}" type="slidenum">
              <a:rPr lang="en-US" smtClean="0"/>
              <a:t>‹#›</a:t>
            </a:fld>
            <a:endParaRPr lang="en-US"/>
          </a:p>
        </p:txBody>
      </p:sp>
    </p:spTree>
    <p:extLst>
      <p:ext uri="{BB962C8B-B14F-4D97-AF65-F5344CB8AC3E}">
        <p14:creationId xmlns:p14="http://schemas.microsoft.com/office/powerpoint/2010/main" val="397566067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CE1AF1-2FF7-361C-C4A4-B7F210C5A5DA}"/>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3438BD-F718-BB87-3B34-74C6B1624E54}"/>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D2EC15-D2FE-3321-83ED-3F82933041E2}"/>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F00D66-F669-3773-E39A-8364C025A10C}"/>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A10B99-AE8F-8B0E-00E3-C702F67D5078}"/>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34809E-663F-5636-8AD7-A1BF4EBA6736}"/>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61781F-F29E-101A-A29E-6CE7F843CFF9}"/>
              </a:ext>
            </a:extLst>
          </p:cNvPr>
          <p:cNvPicPr>
            <a:picLocks noChangeAspect="1"/>
          </p:cNvPicPr>
          <p:nvPr/>
        </p:nvPicPr>
        <p:blipFill>
          <a:blip r:embed="rId3"/>
          <a:stretch>
            <a:fillRect/>
          </a:stretch>
        </p:blipFill>
        <p:spPr>
          <a:xfrm>
            <a:off x="2381" y="28575"/>
            <a:ext cx="12187238"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01B362D-1376-BA59-E1A3-407F6D1B567E}"/>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E89688-9312-A962-4AEC-623446D40180}"/>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DD92A8-5BE0-A510-C4BD-BEA49052DE65}"/>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BF6F91-EB18-BB32-7608-CA43E1A5B64B}"/>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E877AD-4B3F-E63C-E8F0-F8129726595D}"/>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E26EF9-4DC8-92BF-6699-1283EEB16D99}"/>
              </a:ext>
            </a:extLst>
          </p:cNvPr>
          <p:cNvPicPr>
            <a:picLocks noChangeAspect="1"/>
          </p:cNvPicPr>
          <p:nvPr/>
        </p:nvPicPr>
        <p:blipFill>
          <a:blip r:embed="rId3"/>
          <a:stretch>
            <a:fillRect/>
          </a:stretch>
        </p:blipFill>
        <p:spPr>
          <a:xfrm>
            <a:off x="2381" y="28575"/>
            <a:ext cx="12187238"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EE21C4-5533-ABF3-B0CF-E54B03C38037}"/>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501182-231F-8E93-758A-DB80FA306D02}"/>
              </a:ext>
            </a:extLst>
          </p:cNvPr>
          <p:cNvPicPr>
            <a:picLocks noChangeAspect="1"/>
          </p:cNvPicPr>
          <p:nvPr/>
        </p:nvPicPr>
        <p:blipFill>
          <a:blip r:embed="rId3"/>
          <a:stretch>
            <a:fillRect/>
          </a:stretch>
        </p:blipFill>
        <p:spPr>
          <a:xfrm>
            <a:off x="0" y="29239"/>
            <a:ext cx="12192000" cy="679952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C768C2-90D6-B45E-0233-71D111247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2"/>
            <a:ext cx="12192000" cy="6804837"/>
          </a:xfrm>
          <a:prstGeom prst="rect">
            <a:avLst/>
          </a:prstGeom>
        </p:spPr>
      </p:pic>
    </p:spTree>
    <p:extLst>
      <p:ext uri="{BB962C8B-B14F-4D97-AF65-F5344CB8AC3E}">
        <p14:creationId xmlns:p14="http://schemas.microsoft.com/office/powerpoint/2010/main" val="2523944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1803</Words>
  <Application>Microsoft Office PowerPoint</Application>
  <PresentationFormat>寬螢幕</PresentationFormat>
  <Paragraphs>116</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2026-08-30T03:07:34Z</dcterms:created>
  <dcterms:modified xsi:type="dcterms:W3CDTF">2026-10-19T15:39:22Z</dcterms:modified>
</cp:coreProperties>
</file>