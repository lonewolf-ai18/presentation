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9278B4-BB45-49F3-B5A4-38D27F82B77B}" v="19" dt="2026-08-08T00:15:09.7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4" autoAdjust="0"/>
    <p:restoredTop sz="79345"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delSld modSld">
      <pc:chgData name="Lai, Wilson" userId="2840974a-0d84-4886-90a9-9a3ed79f3a48" providerId="ADAL" clId="{9F23B798-9E84-4552-BA63-E776E805C424}" dt="2026-08-08T00:15:56.887" v="69" actId="166"/>
      <pc:docMkLst>
        <pc:docMk/>
      </pc:docMkLst>
      <pc:sldChg chg="addSp delSp modSp mod modAnim modNotesTx">
        <pc:chgData name="Lai, Wilson" userId="2840974a-0d84-4886-90a9-9a3ed79f3a48" providerId="ADAL" clId="{9F23B798-9E84-4552-BA63-E776E805C424}" dt="2026-08-08T00:15:56.887" v="69" actId="166"/>
        <pc:sldMkLst>
          <pc:docMk/>
          <pc:sldMk cId="0" sldId="257"/>
        </pc:sldMkLst>
        <pc:spChg chg="add mod">
          <ac:chgData name="Lai, Wilson" userId="2840974a-0d84-4886-90a9-9a3ed79f3a48" providerId="ADAL" clId="{9F23B798-9E84-4552-BA63-E776E805C424}" dt="2026-08-08T00:01:51.310" v="13" actId="164"/>
          <ac:spMkLst>
            <pc:docMk/>
            <pc:sldMk cId="0" sldId="257"/>
            <ac:spMk id="5" creationId="{4F3DC6A5-FFF9-8506-8C23-66D5432FBE72}"/>
          </ac:spMkLst>
        </pc:spChg>
        <pc:grpChg chg="add mod">
          <ac:chgData name="Lai, Wilson" userId="2840974a-0d84-4886-90a9-9a3ed79f3a48" providerId="ADAL" clId="{9F23B798-9E84-4552-BA63-E776E805C424}" dt="2026-08-08T00:01:51.310" v="13" actId="164"/>
          <ac:grpSpMkLst>
            <pc:docMk/>
            <pc:sldMk cId="0" sldId="257"/>
            <ac:grpSpMk id="6" creationId="{48192C21-2457-45C4-E77E-8E1F6C221DB9}"/>
          </ac:grpSpMkLst>
        </pc:grpChg>
        <pc:picChg chg="del mod">
          <ac:chgData name="Lai, Wilson" userId="2840974a-0d84-4886-90a9-9a3ed79f3a48" providerId="ADAL" clId="{9F23B798-9E84-4552-BA63-E776E805C424}" dt="2026-08-08T00:02:21.289" v="14" actId="21"/>
          <ac:picMkLst>
            <pc:docMk/>
            <pc:sldMk cId="0" sldId="257"/>
            <ac:picMk id="2" creationId="{00000000-0000-0000-0000-000000000000}"/>
          </ac:picMkLst>
        </pc:picChg>
        <pc:picChg chg="add mod">
          <ac:chgData name="Lai, Wilson" userId="2840974a-0d84-4886-90a9-9a3ed79f3a48" providerId="ADAL" clId="{9F23B798-9E84-4552-BA63-E776E805C424}" dt="2026-08-08T00:01:51.310" v="13" actId="164"/>
          <ac:picMkLst>
            <pc:docMk/>
            <pc:sldMk cId="0" sldId="257"/>
            <ac:picMk id="3" creationId="{D2A624B5-7F91-3841-184D-A51EE1D25974}"/>
          </ac:picMkLst>
        </pc:picChg>
        <pc:picChg chg="add ord">
          <ac:chgData name="Lai, Wilson" userId="2840974a-0d84-4886-90a9-9a3ed79f3a48" providerId="ADAL" clId="{9F23B798-9E84-4552-BA63-E776E805C424}" dt="2026-08-08T00:15:56.887" v="69" actId="166"/>
          <ac:picMkLst>
            <pc:docMk/>
            <pc:sldMk cId="0" sldId="257"/>
            <ac:picMk id="8" creationId="{4113C2D7-4249-BEFD-ED1D-978DF45F24EE}"/>
          </ac:picMkLst>
        </pc:picChg>
      </pc:sldChg>
      <pc:sldChg chg="addSp delSp mod modNotesTx">
        <pc:chgData name="Lai, Wilson" userId="2840974a-0d84-4886-90a9-9a3ed79f3a48" providerId="ADAL" clId="{9F23B798-9E84-4552-BA63-E776E805C424}" dt="2026-08-08T00:12:25.205" v="57" actId="14"/>
        <pc:sldMkLst>
          <pc:docMk/>
          <pc:sldMk cId="0" sldId="258"/>
        </pc:sldMkLst>
        <pc:picChg chg="del">
          <ac:chgData name="Lai, Wilson" userId="2840974a-0d84-4886-90a9-9a3ed79f3a48" providerId="ADAL" clId="{9F23B798-9E84-4552-BA63-E776E805C424}" dt="2026-08-08T00:02:41.685" v="17" actId="21"/>
          <ac:picMkLst>
            <pc:docMk/>
            <pc:sldMk cId="0" sldId="258"/>
            <ac:picMk id="2" creationId="{00000000-0000-0000-0000-000000000000}"/>
          </ac:picMkLst>
        </pc:picChg>
        <pc:picChg chg="add">
          <ac:chgData name="Lai, Wilson" userId="2840974a-0d84-4886-90a9-9a3ed79f3a48" providerId="ADAL" clId="{9F23B798-9E84-4552-BA63-E776E805C424}" dt="2026-08-08T00:02:51.161" v="18" actId="22"/>
          <ac:picMkLst>
            <pc:docMk/>
            <pc:sldMk cId="0" sldId="258"/>
            <ac:picMk id="4" creationId="{C6EA36C3-19B9-75F5-31AF-B0A628B512AE}"/>
          </ac:picMkLst>
        </pc:picChg>
      </pc:sldChg>
      <pc:sldChg chg="addSp delSp mod">
        <pc:chgData name="Lai, Wilson" userId="2840974a-0d84-4886-90a9-9a3ed79f3a48" providerId="ADAL" clId="{9F23B798-9E84-4552-BA63-E776E805C424}" dt="2026-08-08T00:03:03.414" v="20" actId="22"/>
        <pc:sldMkLst>
          <pc:docMk/>
          <pc:sldMk cId="0" sldId="259"/>
        </pc:sldMkLst>
        <pc:picChg chg="del">
          <ac:chgData name="Lai, Wilson" userId="2840974a-0d84-4886-90a9-9a3ed79f3a48" providerId="ADAL" clId="{9F23B798-9E84-4552-BA63-E776E805C424}" dt="2026-08-08T00:02:54.049" v="19" actId="21"/>
          <ac:picMkLst>
            <pc:docMk/>
            <pc:sldMk cId="0" sldId="259"/>
            <ac:picMk id="2" creationId="{00000000-0000-0000-0000-000000000000}"/>
          </ac:picMkLst>
        </pc:picChg>
        <pc:picChg chg="add">
          <ac:chgData name="Lai, Wilson" userId="2840974a-0d84-4886-90a9-9a3ed79f3a48" providerId="ADAL" clId="{9F23B798-9E84-4552-BA63-E776E805C424}" dt="2026-08-08T00:03:03.414" v="20" actId="22"/>
          <ac:picMkLst>
            <pc:docMk/>
            <pc:sldMk cId="0" sldId="259"/>
            <ac:picMk id="4" creationId="{8FAE47E0-059F-2093-F61E-4905C8DD99C9}"/>
          </ac:picMkLst>
        </pc:picChg>
      </pc:sldChg>
      <pc:sldChg chg="addSp delSp mod">
        <pc:chgData name="Lai, Wilson" userId="2840974a-0d84-4886-90a9-9a3ed79f3a48" providerId="ADAL" clId="{9F23B798-9E84-4552-BA63-E776E805C424}" dt="2026-08-08T00:03:15.717" v="22" actId="22"/>
        <pc:sldMkLst>
          <pc:docMk/>
          <pc:sldMk cId="0" sldId="260"/>
        </pc:sldMkLst>
        <pc:picChg chg="del">
          <ac:chgData name="Lai, Wilson" userId="2840974a-0d84-4886-90a9-9a3ed79f3a48" providerId="ADAL" clId="{9F23B798-9E84-4552-BA63-E776E805C424}" dt="2026-08-08T00:03:06.995" v="21" actId="21"/>
          <ac:picMkLst>
            <pc:docMk/>
            <pc:sldMk cId="0" sldId="260"/>
            <ac:picMk id="2" creationId="{00000000-0000-0000-0000-000000000000}"/>
          </ac:picMkLst>
        </pc:picChg>
        <pc:picChg chg="add">
          <ac:chgData name="Lai, Wilson" userId="2840974a-0d84-4886-90a9-9a3ed79f3a48" providerId="ADAL" clId="{9F23B798-9E84-4552-BA63-E776E805C424}" dt="2026-08-08T00:03:15.717" v="22" actId="22"/>
          <ac:picMkLst>
            <pc:docMk/>
            <pc:sldMk cId="0" sldId="260"/>
            <ac:picMk id="4" creationId="{2B150ED3-72BE-8C39-FA38-6231AB3C1F94}"/>
          </ac:picMkLst>
        </pc:picChg>
      </pc:sldChg>
      <pc:sldChg chg="addSp delSp mod">
        <pc:chgData name="Lai, Wilson" userId="2840974a-0d84-4886-90a9-9a3ed79f3a48" providerId="ADAL" clId="{9F23B798-9E84-4552-BA63-E776E805C424}" dt="2026-08-08T00:03:27.385" v="24" actId="22"/>
        <pc:sldMkLst>
          <pc:docMk/>
          <pc:sldMk cId="0" sldId="261"/>
        </pc:sldMkLst>
        <pc:picChg chg="del">
          <ac:chgData name="Lai, Wilson" userId="2840974a-0d84-4886-90a9-9a3ed79f3a48" providerId="ADAL" clId="{9F23B798-9E84-4552-BA63-E776E805C424}" dt="2026-08-08T00:03:19.057" v="23" actId="21"/>
          <ac:picMkLst>
            <pc:docMk/>
            <pc:sldMk cId="0" sldId="261"/>
            <ac:picMk id="2" creationId="{00000000-0000-0000-0000-000000000000}"/>
          </ac:picMkLst>
        </pc:picChg>
        <pc:picChg chg="add">
          <ac:chgData name="Lai, Wilson" userId="2840974a-0d84-4886-90a9-9a3ed79f3a48" providerId="ADAL" clId="{9F23B798-9E84-4552-BA63-E776E805C424}" dt="2026-08-08T00:03:27.385" v="24" actId="22"/>
          <ac:picMkLst>
            <pc:docMk/>
            <pc:sldMk cId="0" sldId="261"/>
            <ac:picMk id="4" creationId="{FEB20676-6071-CB08-FA0D-BCB3BA646A66}"/>
          </ac:picMkLst>
        </pc:picChg>
      </pc:sldChg>
      <pc:sldChg chg="addSp delSp mod modNotesTx">
        <pc:chgData name="Lai, Wilson" userId="2840974a-0d84-4886-90a9-9a3ed79f3a48" providerId="ADAL" clId="{9F23B798-9E84-4552-BA63-E776E805C424}" dt="2026-08-08T00:13:14.049" v="58" actId="12"/>
        <pc:sldMkLst>
          <pc:docMk/>
          <pc:sldMk cId="0" sldId="262"/>
        </pc:sldMkLst>
        <pc:picChg chg="del">
          <ac:chgData name="Lai, Wilson" userId="2840974a-0d84-4886-90a9-9a3ed79f3a48" providerId="ADAL" clId="{9F23B798-9E84-4552-BA63-E776E805C424}" dt="2026-08-08T00:03:30.889" v="25" actId="21"/>
          <ac:picMkLst>
            <pc:docMk/>
            <pc:sldMk cId="0" sldId="262"/>
            <ac:picMk id="2" creationId="{00000000-0000-0000-0000-000000000000}"/>
          </ac:picMkLst>
        </pc:picChg>
        <pc:picChg chg="add">
          <ac:chgData name="Lai, Wilson" userId="2840974a-0d84-4886-90a9-9a3ed79f3a48" providerId="ADAL" clId="{9F23B798-9E84-4552-BA63-E776E805C424}" dt="2026-08-08T00:04:03.453" v="26" actId="22"/>
          <ac:picMkLst>
            <pc:docMk/>
            <pc:sldMk cId="0" sldId="262"/>
            <ac:picMk id="4" creationId="{8A38420B-CC64-4373-BC36-5D0ED3FCA22E}"/>
          </ac:picMkLst>
        </pc:picChg>
      </pc:sldChg>
      <pc:sldChg chg="addSp delSp add del mod modNotesTx">
        <pc:chgData name="Lai, Wilson" userId="2840974a-0d84-4886-90a9-9a3ed79f3a48" providerId="ADAL" clId="{9F23B798-9E84-4552-BA63-E776E805C424}" dt="2026-08-08T00:13:28.833" v="59" actId="12"/>
        <pc:sldMkLst>
          <pc:docMk/>
          <pc:sldMk cId="0" sldId="263"/>
        </pc:sldMkLst>
        <pc:picChg chg="del">
          <ac:chgData name="Lai, Wilson" userId="2840974a-0d84-4886-90a9-9a3ed79f3a48" providerId="ADAL" clId="{9F23B798-9E84-4552-BA63-E776E805C424}" dt="2026-08-08T00:04:16.371" v="29" actId="21"/>
          <ac:picMkLst>
            <pc:docMk/>
            <pc:sldMk cId="0" sldId="263"/>
            <ac:picMk id="2" creationId="{00000000-0000-0000-0000-000000000000}"/>
          </ac:picMkLst>
        </pc:picChg>
        <pc:picChg chg="add">
          <ac:chgData name="Lai, Wilson" userId="2840974a-0d84-4886-90a9-9a3ed79f3a48" providerId="ADAL" clId="{9F23B798-9E84-4552-BA63-E776E805C424}" dt="2026-08-08T00:04:26.898" v="30" actId="22"/>
          <ac:picMkLst>
            <pc:docMk/>
            <pc:sldMk cId="0" sldId="263"/>
            <ac:picMk id="4" creationId="{88A02B9F-C28F-5EE2-0B52-7125FEB2B5EB}"/>
          </ac:picMkLst>
        </pc:picChg>
      </pc:sldChg>
      <pc:sldChg chg="addSp delSp mod">
        <pc:chgData name="Lai, Wilson" userId="2840974a-0d84-4886-90a9-9a3ed79f3a48" providerId="ADAL" clId="{9F23B798-9E84-4552-BA63-E776E805C424}" dt="2026-08-08T00:04:40.271" v="32" actId="22"/>
        <pc:sldMkLst>
          <pc:docMk/>
          <pc:sldMk cId="0" sldId="264"/>
        </pc:sldMkLst>
        <pc:picChg chg="del">
          <ac:chgData name="Lai, Wilson" userId="2840974a-0d84-4886-90a9-9a3ed79f3a48" providerId="ADAL" clId="{9F23B798-9E84-4552-BA63-E776E805C424}" dt="2026-08-08T00:04:28.878" v="31" actId="21"/>
          <ac:picMkLst>
            <pc:docMk/>
            <pc:sldMk cId="0" sldId="264"/>
            <ac:picMk id="2" creationId="{00000000-0000-0000-0000-000000000000}"/>
          </ac:picMkLst>
        </pc:picChg>
        <pc:picChg chg="add">
          <ac:chgData name="Lai, Wilson" userId="2840974a-0d84-4886-90a9-9a3ed79f3a48" providerId="ADAL" clId="{9F23B798-9E84-4552-BA63-E776E805C424}" dt="2026-08-08T00:04:40.271" v="32" actId="22"/>
          <ac:picMkLst>
            <pc:docMk/>
            <pc:sldMk cId="0" sldId="264"/>
            <ac:picMk id="4" creationId="{6B222A38-FC1B-5FBB-8B06-1199B05802AC}"/>
          </ac:picMkLst>
        </pc:picChg>
      </pc:sldChg>
      <pc:sldChg chg="addSp delSp mod">
        <pc:chgData name="Lai, Wilson" userId="2840974a-0d84-4886-90a9-9a3ed79f3a48" providerId="ADAL" clId="{9F23B798-9E84-4552-BA63-E776E805C424}" dt="2026-08-08T00:05:30.409" v="34" actId="22"/>
        <pc:sldMkLst>
          <pc:docMk/>
          <pc:sldMk cId="0" sldId="265"/>
        </pc:sldMkLst>
        <pc:picChg chg="del">
          <ac:chgData name="Lai, Wilson" userId="2840974a-0d84-4886-90a9-9a3ed79f3a48" providerId="ADAL" clId="{9F23B798-9E84-4552-BA63-E776E805C424}" dt="2026-08-08T00:04:43.272" v="33" actId="21"/>
          <ac:picMkLst>
            <pc:docMk/>
            <pc:sldMk cId="0" sldId="265"/>
            <ac:picMk id="2" creationId="{00000000-0000-0000-0000-000000000000}"/>
          </ac:picMkLst>
        </pc:picChg>
        <pc:picChg chg="add">
          <ac:chgData name="Lai, Wilson" userId="2840974a-0d84-4886-90a9-9a3ed79f3a48" providerId="ADAL" clId="{9F23B798-9E84-4552-BA63-E776E805C424}" dt="2026-08-08T00:05:30.409" v="34" actId="22"/>
          <ac:picMkLst>
            <pc:docMk/>
            <pc:sldMk cId="0" sldId="265"/>
            <ac:picMk id="4" creationId="{364D87AA-FEC6-4D1F-BF7F-69D39B6A26EA}"/>
          </ac:picMkLst>
        </pc:picChg>
      </pc:sldChg>
      <pc:sldChg chg="addSp delSp mod">
        <pc:chgData name="Lai, Wilson" userId="2840974a-0d84-4886-90a9-9a3ed79f3a48" providerId="ADAL" clId="{9F23B798-9E84-4552-BA63-E776E805C424}" dt="2026-08-08T00:05:42.503" v="36" actId="22"/>
        <pc:sldMkLst>
          <pc:docMk/>
          <pc:sldMk cId="0" sldId="266"/>
        </pc:sldMkLst>
        <pc:picChg chg="del">
          <ac:chgData name="Lai, Wilson" userId="2840974a-0d84-4886-90a9-9a3ed79f3a48" providerId="ADAL" clId="{9F23B798-9E84-4552-BA63-E776E805C424}" dt="2026-08-08T00:05:33.398" v="35" actId="21"/>
          <ac:picMkLst>
            <pc:docMk/>
            <pc:sldMk cId="0" sldId="266"/>
            <ac:picMk id="2" creationId="{00000000-0000-0000-0000-000000000000}"/>
          </ac:picMkLst>
        </pc:picChg>
        <pc:picChg chg="add">
          <ac:chgData name="Lai, Wilson" userId="2840974a-0d84-4886-90a9-9a3ed79f3a48" providerId="ADAL" clId="{9F23B798-9E84-4552-BA63-E776E805C424}" dt="2026-08-08T00:05:42.503" v="36" actId="22"/>
          <ac:picMkLst>
            <pc:docMk/>
            <pc:sldMk cId="0" sldId="266"/>
            <ac:picMk id="4" creationId="{0F22584A-A561-B097-E378-BD26C009BC6A}"/>
          </ac:picMkLst>
        </pc:picChg>
      </pc:sldChg>
      <pc:sldChg chg="addSp delSp mod modNotesTx">
        <pc:chgData name="Lai, Wilson" userId="2840974a-0d84-4886-90a9-9a3ed79f3a48" providerId="ADAL" clId="{9F23B798-9E84-4552-BA63-E776E805C424}" dt="2026-08-08T00:14:12.050" v="62" actId="12"/>
        <pc:sldMkLst>
          <pc:docMk/>
          <pc:sldMk cId="0" sldId="267"/>
        </pc:sldMkLst>
        <pc:picChg chg="del">
          <ac:chgData name="Lai, Wilson" userId="2840974a-0d84-4886-90a9-9a3ed79f3a48" providerId="ADAL" clId="{9F23B798-9E84-4552-BA63-E776E805C424}" dt="2026-08-08T00:05:46.488" v="37" actId="21"/>
          <ac:picMkLst>
            <pc:docMk/>
            <pc:sldMk cId="0" sldId="267"/>
            <ac:picMk id="2" creationId="{00000000-0000-0000-0000-000000000000}"/>
          </ac:picMkLst>
        </pc:picChg>
        <pc:picChg chg="add">
          <ac:chgData name="Lai, Wilson" userId="2840974a-0d84-4886-90a9-9a3ed79f3a48" providerId="ADAL" clId="{9F23B798-9E84-4552-BA63-E776E805C424}" dt="2026-08-08T00:05:55.857" v="38" actId="22"/>
          <ac:picMkLst>
            <pc:docMk/>
            <pc:sldMk cId="0" sldId="267"/>
            <ac:picMk id="4" creationId="{16E3CDBC-0F29-A215-0E35-4EB731665993}"/>
          </ac:picMkLst>
        </pc:picChg>
      </pc:sldChg>
      <pc:sldChg chg="addSp delSp mod">
        <pc:chgData name="Lai, Wilson" userId="2840974a-0d84-4886-90a9-9a3ed79f3a48" providerId="ADAL" clId="{9F23B798-9E84-4552-BA63-E776E805C424}" dt="2026-08-08T00:06:06.808" v="40" actId="22"/>
        <pc:sldMkLst>
          <pc:docMk/>
          <pc:sldMk cId="0" sldId="268"/>
        </pc:sldMkLst>
        <pc:picChg chg="del">
          <ac:chgData name="Lai, Wilson" userId="2840974a-0d84-4886-90a9-9a3ed79f3a48" providerId="ADAL" clId="{9F23B798-9E84-4552-BA63-E776E805C424}" dt="2026-08-08T00:05:58.160" v="39" actId="21"/>
          <ac:picMkLst>
            <pc:docMk/>
            <pc:sldMk cId="0" sldId="268"/>
            <ac:picMk id="2" creationId="{00000000-0000-0000-0000-000000000000}"/>
          </ac:picMkLst>
        </pc:picChg>
        <pc:picChg chg="add">
          <ac:chgData name="Lai, Wilson" userId="2840974a-0d84-4886-90a9-9a3ed79f3a48" providerId="ADAL" clId="{9F23B798-9E84-4552-BA63-E776E805C424}" dt="2026-08-08T00:06:06.808" v="40" actId="22"/>
          <ac:picMkLst>
            <pc:docMk/>
            <pc:sldMk cId="0" sldId="268"/>
            <ac:picMk id="4" creationId="{B7D169A5-F1D0-2F77-59AB-6757CFE29AEE}"/>
          </ac:picMkLst>
        </pc:picChg>
      </pc:sldChg>
      <pc:sldChg chg="addSp delSp mod">
        <pc:chgData name="Lai, Wilson" userId="2840974a-0d84-4886-90a9-9a3ed79f3a48" providerId="ADAL" clId="{9F23B798-9E84-4552-BA63-E776E805C424}" dt="2026-08-08T00:06:17.622" v="42" actId="22"/>
        <pc:sldMkLst>
          <pc:docMk/>
          <pc:sldMk cId="0" sldId="269"/>
        </pc:sldMkLst>
        <pc:picChg chg="del">
          <ac:chgData name="Lai, Wilson" userId="2840974a-0d84-4886-90a9-9a3ed79f3a48" providerId="ADAL" clId="{9F23B798-9E84-4552-BA63-E776E805C424}" dt="2026-08-08T00:06:08.569" v="41" actId="21"/>
          <ac:picMkLst>
            <pc:docMk/>
            <pc:sldMk cId="0" sldId="269"/>
            <ac:picMk id="2" creationId="{00000000-0000-0000-0000-000000000000}"/>
          </ac:picMkLst>
        </pc:picChg>
        <pc:picChg chg="add">
          <ac:chgData name="Lai, Wilson" userId="2840974a-0d84-4886-90a9-9a3ed79f3a48" providerId="ADAL" clId="{9F23B798-9E84-4552-BA63-E776E805C424}" dt="2026-08-08T00:06:17.622" v="42" actId="22"/>
          <ac:picMkLst>
            <pc:docMk/>
            <pc:sldMk cId="0" sldId="269"/>
            <ac:picMk id="4" creationId="{193C81F7-9F6B-0647-2369-03EA7823F42C}"/>
          </ac:picMkLst>
        </pc:picChg>
      </pc:sldChg>
      <pc:sldChg chg="addSp delSp mod modNotesTx">
        <pc:chgData name="Lai, Wilson" userId="2840974a-0d84-4886-90a9-9a3ed79f3a48" providerId="ADAL" clId="{9F23B798-9E84-4552-BA63-E776E805C424}" dt="2026-08-08T00:14:51.367" v="64" actId="12"/>
        <pc:sldMkLst>
          <pc:docMk/>
          <pc:sldMk cId="0" sldId="270"/>
        </pc:sldMkLst>
        <pc:picChg chg="del">
          <ac:chgData name="Lai, Wilson" userId="2840974a-0d84-4886-90a9-9a3ed79f3a48" providerId="ADAL" clId="{9F23B798-9E84-4552-BA63-E776E805C424}" dt="2026-08-08T00:06:19.543" v="43" actId="21"/>
          <ac:picMkLst>
            <pc:docMk/>
            <pc:sldMk cId="0" sldId="270"/>
            <ac:picMk id="2" creationId="{00000000-0000-0000-0000-000000000000}"/>
          </ac:picMkLst>
        </pc:picChg>
        <pc:picChg chg="add">
          <ac:chgData name="Lai, Wilson" userId="2840974a-0d84-4886-90a9-9a3ed79f3a48" providerId="ADAL" clId="{9F23B798-9E84-4552-BA63-E776E805C424}" dt="2026-08-08T00:06:30.228" v="44" actId="22"/>
          <ac:picMkLst>
            <pc:docMk/>
            <pc:sldMk cId="0" sldId="270"/>
            <ac:picMk id="4" creationId="{80A1110A-327A-404C-71BD-0396F49774C6}"/>
          </ac:picMkLst>
        </pc:picChg>
      </pc:sldChg>
      <pc:sldChg chg="addSp delSp modSp mod">
        <pc:chgData name="Lai, Wilson" userId="2840974a-0d84-4886-90a9-9a3ed79f3a48" providerId="ADAL" clId="{9F23B798-9E84-4552-BA63-E776E805C424}" dt="2026-08-08T00:06:44.737" v="47" actId="22"/>
        <pc:sldMkLst>
          <pc:docMk/>
          <pc:sldMk cId="0" sldId="271"/>
        </pc:sldMkLst>
        <pc:picChg chg="del mod">
          <ac:chgData name="Lai, Wilson" userId="2840974a-0d84-4886-90a9-9a3ed79f3a48" providerId="ADAL" clId="{9F23B798-9E84-4552-BA63-E776E805C424}" dt="2026-08-08T00:06:33.279" v="46" actId="21"/>
          <ac:picMkLst>
            <pc:docMk/>
            <pc:sldMk cId="0" sldId="271"/>
            <ac:picMk id="2" creationId="{00000000-0000-0000-0000-000000000000}"/>
          </ac:picMkLst>
        </pc:picChg>
        <pc:picChg chg="add">
          <ac:chgData name="Lai, Wilson" userId="2840974a-0d84-4886-90a9-9a3ed79f3a48" providerId="ADAL" clId="{9F23B798-9E84-4552-BA63-E776E805C424}" dt="2026-08-08T00:06:44.737" v="47" actId="22"/>
          <ac:picMkLst>
            <pc:docMk/>
            <pc:sldMk cId="0" sldId="271"/>
            <ac:picMk id="4" creationId="{6DDB88EE-22D7-8C17-C0AB-0AED9A6CC781}"/>
          </ac:picMkLst>
        </pc:picChg>
      </pc:sldChg>
      <pc:sldChg chg="modNotesTx">
        <pc:chgData name="Lai, Wilson" userId="2840974a-0d84-4886-90a9-9a3ed79f3a48" providerId="ADAL" clId="{9F23B798-9E84-4552-BA63-E776E805C424}" dt="2026-08-08T00:15:24.043" v="67" actId="12"/>
        <pc:sldMkLst>
          <pc:docMk/>
          <pc:sldMk cId="4271007327"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F51D98-2EDA-4B3D-A80D-3728F279679C}"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79E6B5-4DF7-49BA-8E27-4FBB9A2FF061}" type="slidenum">
              <a:rPr lang="en-US" smtClean="0"/>
              <a:t>‹#›</a:t>
            </a:fld>
            <a:endParaRPr lang="en-US"/>
          </a:p>
        </p:txBody>
      </p:sp>
    </p:spTree>
    <p:extLst>
      <p:ext uri="{BB962C8B-B14F-4D97-AF65-F5344CB8AC3E}">
        <p14:creationId xmlns:p14="http://schemas.microsoft.com/office/powerpoint/2010/main" val="561298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Opening Hook:</a:t>
            </a:r>
            <a:r>
              <a:rPr lang="en-US" dirty="0"/>
              <a:t> Welcome, everyone. Today we are conducting a system diagnostic on what I call "The Great Decoupling"—unmasking the elite reality and navigating the current landscape of billionaire nihilism, geopolitical instability, and artificial intelligence hype.</a:t>
            </a:r>
          </a:p>
          <a:p>
            <a:r>
              <a:rPr lang="en-US" b="1" dirty="0"/>
              <a:t>Setting the Tone:</a:t>
            </a:r>
            <a:r>
              <a:rPr lang="en-US" dirty="0"/>
              <a:t> In the current market, it is easy to get caught up in existential dread or speculative bubbles. Tech founders and Silicon Valley executives tell a story of rapid transformation, but behind the rhetoric lies a very specific economic engine.</a:t>
            </a:r>
          </a:p>
          <a:p>
            <a:r>
              <a:rPr lang="en-US" b="1" dirty="0"/>
              <a:t>Core Goal:</a:t>
            </a:r>
            <a:r>
              <a:rPr lang="en-US" dirty="0"/>
              <a:t> Over the next 16 slides, we will navigate four distinct altitudes—from macro geopolitics down to individual playbooks for career, wealth, and purpose. By the end of this presentation, you will have a framework to cut through tech hype, understand economic decoupling, and build personal resilience in a chaotic market</a:t>
            </a:r>
          </a:p>
          <a:p>
            <a:endParaRPr lang="en-US" dirty="0"/>
          </a:p>
          <a:p>
            <a:r>
              <a:rPr lang="en-US" dirty="0"/>
              <a:t>https://www.youtube.com/watch?v=PoXoZCQ8sD0</a:t>
            </a:r>
          </a:p>
        </p:txBody>
      </p:sp>
      <p:sp>
        <p:nvSpPr>
          <p:cNvPr id="4" name="Slide Number Placeholder 3"/>
          <p:cNvSpPr>
            <a:spLocks noGrp="1"/>
          </p:cNvSpPr>
          <p:nvPr>
            <p:ph type="sldNum" sz="quarter" idx="5"/>
          </p:nvPr>
        </p:nvSpPr>
        <p:spPr/>
        <p:txBody>
          <a:bodyPr/>
          <a:lstStyle/>
          <a:p>
            <a:fld id="{1179E6B5-4DF7-49BA-8E27-4FBB9A2FF061}" type="slidenum">
              <a:rPr lang="en-US" smtClean="0"/>
              <a:t>1</a:t>
            </a:fld>
            <a:endParaRPr lang="en-US"/>
          </a:p>
        </p:txBody>
      </p:sp>
    </p:spTree>
    <p:extLst>
      <p:ext uri="{BB962C8B-B14F-4D97-AF65-F5344CB8AC3E}">
        <p14:creationId xmlns:p14="http://schemas.microsoft.com/office/powerpoint/2010/main" val="918331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Framework Overview:</a:t>
            </a:r>
            <a:r>
              <a:rPr lang="en-US" sz="1200" kern="1200" dirty="0">
                <a:solidFill>
                  <a:schemeClr val="tx1"/>
                </a:solidFill>
                <a:effectLst/>
                <a:latin typeface="+mn-lt"/>
                <a:ea typeface="+mn-ea"/>
                <a:cs typeface="+mn-cs"/>
              </a:rPr>
              <a:t> To understand where you stand as an individual or business leader, you have to analyze the environment at four distinct altitudes: </a:t>
            </a:r>
          </a:p>
          <a:p>
            <a:pPr marL="228600" lvl="0" indent="-228600">
              <a:buFont typeface="+mj-lt"/>
              <a:buAutoNum type="arabicPeriod"/>
            </a:pPr>
            <a:r>
              <a:rPr lang="en-US" sz="1200" b="1" kern="1200" dirty="0">
                <a:solidFill>
                  <a:schemeClr val="tx1"/>
                </a:solidFill>
                <a:effectLst/>
                <a:latin typeface="+mn-lt"/>
                <a:ea typeface="+mn-ea"/>
                <a:cs typeface="+mn-cs"/>
              </a:rPr>
              <a:t>Altitude 1 (Macro): The Global Chessboard.</a:t>
            </a:r>
            <a:r>
              <a:rPr lang="en-US" sz="1200" kern="1200" dirty="0">
                <a:solidFill>
                  <a:schemeClr val="tx1"/>
                </a:solidFill>
                <a:effectLst/>
                <a:latin typeface="+mn-lt"/>
                <a:ea typeface="+mn-ea"/>
                <a:cs typeface="+mn-cs"/>
              </a:rPr>
              <a:t> We will look at US brand erosion, international relations, and AI-driven information warfare. </a:t>
            </a:r>
          </a:p>
          <a:p>
            <a:pPr marL="228600" lvl="0" indent="-228600">
              <a:buFont typeface="+mj-lt"/>
              <a:buAutoNum type="arabicPeriod"/>
            </a:pPr>
            <a:r>
              <a:rPr lang="en-US" sz="1200" b="1" kern="1200" dirty="0">
                <a:solidFill>
                  <a:schemeClr val="tx1"/>
                </a:solidFill>
                <a:effectLst/>
                <a:latin typeface="+mn-lt"/>
                <a:ea typeface="+mn-ea"/>
                <a:cs typeface="+mn-cs"/>
              </a:rPr>
              <a:t>Altitude 2 (Industry): The Tech Illusion.</a:t>
            </a:r>
            <a:r>
              <a:rPr lang="en-US" sz="1200" kern="1200" dirty="0">
                <a:solidFill>
                  <a:schemeClr val="tx1"/>
                </a:solidFill>
                <a:effectLst/>
                <a:latin typeface="+mn-lt"/>
                <a:ea typeface="+mn-ea"/>
                <a:cs typeface="+mn-cs"/>
              </a:rPr>
              <a:t> Examining the fundraising catastrophizing flywheel, valuation bubbles, and where real technological disruption actually lives. </a:t>
            </a:r>
          </a:p>
          <a:p>
            <a:pPr marL="228600" lvl="0" indent="-228600">
              <a:buFont typeface="+mj-lt"/>
              <a:buAutoNum type="arabicPeriod"/>
            </a:pPr>
            <a:r>
              <a:rPr lang="en-US" sz="1200" b="1" kern="1200" dirty="0">
                <a:solidFill>
                  <a:schemeClr val="tx1"/>
                </a:solidFill>
                <a:effectLst/>
                <a:latin typeface="+mn-lt"/>
                <a:ea typeface="+mn-ea"/>
                <a:cs typeface="+mn-cs"/>
              </a:rPr>
              <a:t>Altitude 3 (Socio-Economic): The Two Societies.</a:t>
            </a:r>
            <a:r>
              <a:rPr lang="en-US" sz="1200" kern="1200" dirty="0">
                <a:solidFill>
                  <a:schemeClr val="tx1"/>
                </a:solidFill>
                <a:effectLst/>
                <a:latin typeface="+mn-lt"/>
                <a:ea typeface="+mn-ea"/>
                <a:cs typeface="+mn-cs"/>
              </a:rPr>
              <a:t> Deconstructing the decoupling between the top 0.1% and the rest of society, from private security to billionaire "go-bags". </a:t>
            </a:r>
          </a:p>
          <a:p>
            <a:pPr marL="228600" lvl="0" indent="-228600">
              <a:buFont typeface="+mj-lt"/>
              <a:buAutoNum type="arabicPeriod"/>
            </a:pPr>
            <a:r>
              <a:rPr lang="en-US" sz="1200" b="1" kern="1200" dirty="0">
                <a:solidFill>
                  <a:schemeClr val="tx1"/>
                </a:solidFill>
                <a:effectLst/>
                <a:latin typeface="+mn-lt"/>
                <a:ea typeface="+mn-ea"/>
                <a:cs typeface="+mn-cs"/>
              </a:rPr>
              <a:t>Altitude 4 (Micro): The Individual Playbook.</a:t>
            </a:r>
            <a:r>
              <a:rPr lang="en-US" sz="1200" kern="1200" dirty="0">
                <a:solidFill>
                  <a:schemeClr val="tx1"/>
                </a:solidFill>
                <a:effectLst/>
                <a:latin typeface="+mn-lt"/>
                <a:ea typeface="+mn-ea"/>
                <a:cs typeface="+mn-cs"/>
              </a:rPr>
              <a:t> Practical, actionable tactics focusing on rejection endurance, the "Second Screen Protocol," and non-transactional purpose. </a:t>
            </a: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As noted at the bottom of the terminal: </a:t>
            </a:r>
            <a:r>
              <a:rPr lang="en-US" sz="1200" i="1" kern="1200" dirty="0">
                <a:solidFill>
                  <a:schemeClr val="tx1"/>
                </a:solidFill>
                <a:effectLst/>
                <a:latin typeface="+mn-lt"/>
                <a:ea typeface="+mn-ea"/>
                <a:cs typeface="+mn-cs"/>
              </a:rPr>
              <a:t>To win the micro game, you must first decode the macro game the elite are playing</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2</a:t>
            </a:fld>
            <a:endParaRPr lang="en-US"/>
          </a:p>
        </p:txBody>
      </p:sp>
    </p:spTree>
    <p:extLst>
      <p:ext uri="{BB962C8B-B14F-4D97-AF65-F5344CB8AC3E}">
        <p14:creationId xmlns:p14="http://schemas.microsoft.com/office/powerpoint/2010/main" val="193796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US Brand Abroad:</a:t>
            </a:r>
            <a:r>
              <a:rPr lang="en-US" sz="1200" kern="1200" dirty="0">
                <a:solidFill>
                  <a:schemeClr val="tx1"/>
                </a:solidFill>
                <a:effectLst/>
                <a:latin typeface="+mn-lt"/>
                <a:ea typeface="+mn-ea"/>
                <a:cs typeface="+mn-cs"/>
              </a:rPr>
              <a:t> Over the last 18 months, the US brand abroad has suffered severe erosion. Historically, the US was viewed as the enforcer of the global operating system that kept rogue actors in check. Today, perception has shifted dramatically; for the first time in history, global polling shows more people view China as a force for good than the United States. </a:t>
            </a:r>
          </a:p>
          <a:p>
            <a:r>
              <a:rPr lang="en-US" sz="1200" b="1" kern="1200" dirty="0">
                <a:solidFill>
                  <a:schemeClr val="tx1"/>
                </a:solidFill>
                <a:effectLst/>
                <a:latin typeface="+mn-lt"/>
                <a:ea typeface="+mn-ea"/>
                <a:cs typeface="+mn-cs"/>
              </a:rPr>
              <a:t>The AI Brand Collapse:</a:t>
            </a:r>
            <a:r>
              <a:rPr lang="en-US" sz="1200" kern="1200" dirty="0">
                <a:solidFill>
                  <a:schemeClr val="tx1"/>
                </a:solidFill>
                <a:effectLst/>
                <a:latin typeface="+mn-lt"/>
                <a:ea typeface="+mn-ea"/>
                <a:cs typeface="+mn-cs"/>
              </a:rPr>
              <a:t> Simultaneously, public perception of Artificial Intelligence has severed into a class divide. Sentiment toward AI is now directly correlated with net worth. The only demographic cohort rating AI positively is individuals earning over $200,000 per year. </a:t>
            </a:r>
          </a:p>
          <a:p>
            <a:r>
              <a:rPr lang="en-US" sz="1200" b="1" kern="1200" dirty="0">
                <a:solidFill>
                  <a:schemeClr val="tx1"/>
                </a:solidFill>
                <a:effectLst/>
                <a:latin typeface="+mn-lt"/>
                <a:ea typeface="+mn-ea"/>
                <a:cs typeface="+mn-cs"/>
              </a:rPr>
              <a:t>Why the Split Exists:</a:t>
            </a:r>
            <a:r>
              <a:rPr lang="en-US" sz="1200" kern="1200" dirty="0">
                <a:solidFill>
                  <a:schemeClr val="tx1"/>
                </a:solidFill>
                <a:effectLst/>
                <a:latin typeface="+mn-lt"/>
                <a:ea typeface="+mn-ea"/>
                <a:cs typeface="+mn-cs"/>
              </a:rPr>
              <a:t> High earners see AI as a portfolio-pumper driving S&amp;P growth and personal productivity. The middle class views AI as a threat to job security and a cause for rising utility and electricity bills to power massive data centers.</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3</a:t>
            </a:fld>
            <a:endParaRPr lang="en-US"/>
          </a:p>
        </p:txBody>
      </p:sp>
    </p:spTree>
    <p:extLst>
      <p:ext uri="{BB962C8B-B14F-4D97-AF65-F5344CB8AC3E}">
        <p14:creationId xmlns:p14="http://schemas.microsoft.com/office/powerpoint/2010/main" val="75730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Operational vs. Strategic Disconnect:</a:t>
            </a:r>
            <a:r>
              <a:rPr lang="en-US" sz="1200" kern="1200" dirty="0">
                <a:solidFill>
                  <a:schemeClr val="tx1"/>
                </a:solidFill>
                <a:effectLst/>
                <a:latin typeface="+mn-lt"/>
                <a:ea typeface="+mn-ea"/>
                <a:cs typeface="+mn-cs"/>
              </a:rPr>
              <a:t> On paper, tactical execution remains high—drone strikes, targeted eliminations, and extraction operations demonstrate operational mastery. However, at the strategic level, diplomacy has withered. Key allies are often sidelined, base locations in the Gulf become reactive targets, and supply chain vulnerabilities persist. </a:t>
            </a:r>
          </a:p>
          <a:p>
            <a:r>
              <a:rPr lang="en-US" sz="1200" b="1" kern="1200" dirty="0">
                <a:solidFill>
                  <a:schemeClr val="tx1"/>
                </a:solidFill>
                <a:effectLst/>
                <a:latin typeface="+mn-lt"/>
                <a:ea typeface="+mn-ea"/>
                <a:cs typeface="+mn-cs"/>
              </a:rPr>
              <a:t>Information Warfare &amp; "</a:t>
            </a:r>
            <a:r>
              <a:rPr lang="en-US" sz="1200" b="1" kern="1200" dirty="0" err="1">
                <a:solidFill>
                  <a:schemeClr val="tx1"/>
                </a:solidFill>
                <a:effectLst/>
                <a:latin typeface="+mn-lt"/>
                <a:ea typeface="+mn-ea"/>
                <a:cs typeface="+mn-cs"/>
              </a:rPr>
              <a:t>Slapaganda</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battle for public support is no longer fought through traditional media. While US political figures rely on traditional social media memes, adversary forces utilize sophisticated, AI-generated propaganda ("Iranian </a:t>
            </a:r>
            <a:r>
              <a:rPr lang="en-US" sz="1200" kern="1200" dirty="0" err="1">
                <a:solidFill>
                  <a:schemeClr val="tx1"/>
                </a:solidFill>
                <a:effectLst/>
                <a:latin typeface="+mn-lt"/>
                <a:ea typeface="+mn-ea"/>
                <a:cs typeface="+mn-cs"/>
              </a:rPr>
              <a:t>Slapaganda</a:t>
            </a:r>
            <a:r>
              <a:rPr lang="en-US" sz="1200" kern="1200" dirty="0">
                <a:solidFill>
                  <a:schemeClr val="tx1"/>
                </a:solidFill>
                <a:effectLst/>
                <a:latin typeface="+mn-lt"/>
                <a:ea typeface="+mn-ea"/>
                <a:cs typeface="+mn-cs"/>
              </a:rPr>
              <a:t>") created by youth demographics targeting cultural fracture lines in the West. </a:t>
            </a:r>
          </a:p>
          <a:p>
            <a:r>
              <a:rPr lang="en-US" sz="1200" b="1" kern="1200" dirty="0">
                <a:solidFill>
                  <a:schemeClr val="tx1"/>
                </a:solidFill>
                <a:effectLst/>
                <a:latin typeface="+mn-lt"/>
                <a:ea typeface="+mn-ea"/>
                <a:cs typeface="+mn-cs"/>
              </a:rPr>
              <a:t>Strategic Reality:</a:t>
            </a:r>
            <a:r>
              <a:rPr lang="en-US" sz="1200" kern="1200" dirty="0">
                <a:solidFill>
                  <a:schemeClr val="tx1"/>
                </a:solidFill>
                <a:effectLst/>
                <a:latin typeface="+mn-lt"/>
                <a:ea typeface="+mn-ea"/>
                <a:cs typeface="+mn-cs"/>
              </a:rPr>
              <a:t> Military power is ineffective without public trust and diplomatic alignment. In the modern information ecosystem, narrative control is a primary operational theater. </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4</a:t>
            </a:fld>
            <a:endParaRPr lang="en-US"/>
          </a:p>
        </p:txBody>
      </p:sp>
    </p:spTree>
    <p:extLst>
      <p:ext uri="{BB962C8B-B14F-4D97-AF65-F5344CB8AC3E}">
        <p14:creationId xmlns:p14="http://schemas.microsoft.com/office/powerpoint/2010/main" val="2265101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S&amp;P 500 Concentration:</a:t>
            </a:r>
            <a:r>
              <a:rPr lang="en-US" sz="1200" kern="1200" dirty="0">
                <a:solidFill>
                  <a:schemeClr val="tx1"/>
                </a:solidFill>
                <a:effectLst/>
                <a:latin typeface="+mn-lt"/>
                <a:ea typeface="+mn-ea"/>
                <a:cs typeface="+mn-cs"/>
              </a:rPr>
              <a:t> Approximately 40% of the S&amp;P 500 value is tied directly or tangentially to massive AI capital expenditures. Tech giants are pouring hundreds of billions into infrastructure, GPUs, and data centers. </a:t>
            </a:r>
          </a:p>
          <a:p>
            <a:r>
              <a:rPr lang="en-US" sz="1200" b="1" kern="1200" dirty="0">
                <a:solidFill>
                  <a:schemeClr val="tx1"/>
                </a:solidFill>
                <a:effectLst/>
                <a:latin typeface="+mn-lt"/>
                <a:ea typeface="+mn-ea"/>
                <a:cs typeface="+mn-cs"/>
              </a:rPr>
              <a:t>The Steel-Dumping Playbook:</a:t>
            </a:r>
            <a:r>
              <a:rPr lang="en-US" sz="1200" kern="1200" dirty="0">
                <a:solidFill>
                  <a:schemeClr val="tx1"/>
                </a:solidFill>
                <a:effectLst/>
                <a:latin typeface="+mn-lt"/>
                <a:ea typeface="+mn-ea"/>
                <a:cs typeface="+mn-cs"/>
              </a:rPr>
              <a:t> China is employing a strategy similar to 1980s industrial commoditization. By releasing highly capable, low-cost or free open-weight models, they undermine the pricing power of proprietary US models. </a:t>
            </a:r>
          </a:p>
          <a:p>
            <a:r>
              <a:rPr lang="en-US" sz="1200" b="1" kern="1200" dirty="0">
                <a:solidFill>
                  <a:schemeClr val="tx1"/>
                </a:solidFill>
                <a:effectLst/>
                <a:latin typeface="+mn-lt"/>
                <a:ea typeface="+mn-ea"/>
                <a:cs typeface="+mn-cs"/>
              </a:rPr>
              <a:t>Enterprise Defection:</a:t>
            </a:r>
            <a:r>
              <a:rPr lang="en-US" sz="1200" kern="1200" dirty="0">
                <a:solidFill>
                  <a:schemeClr val="tx1"/>
                </a:solidFill>
                <a:effectLst/>
                <a:latin typeface="+mn-lt"/>
                <a:ea typeface="+mn-ea"/>
                <a:cs typeface="+mn-cs"/>
              </a:rPr>
              <a:t> If enterprises realize they can fine-tune open-weight models at a fraction of the cost, multi-million-dollar SaaS site licenses will be canceled. </a:t>
            </a:r>
          </a:p>
          <a:p>
            <a:r>
              <a:rPr lang="en-US" sz="1200" b="1" kern="1200" dirty="0">
                <a:solidFill>
                  <a:schemeClr val="tx1"/>
                </a:solidFill>
                <a:effectLst/>
                <a:latin typeface="+mn-lt"/>
                <a:ea typeface="+mn-ea"/>
                <a:cs typeface="+mn-cs"/>
              </a:rPr>
              <a:t>Valuation Shock:</a:t>
            </a:r>
            <a:r>
              <a:rPr lang="en-US" sz="1200" kern="1200" dirty="0">
                <a:solidFill>
                  <a:schemeClr val="tx1"/>
                </a:solidFill>
                <a:effectLst/>
                <a:latin typeface="+mn-lt"/>
                <a:ea typeface="+mn-ea"/>
                <a:cs typeface="+mn-cs"/>
              </a:rPr>
              <a:t> To sustain current market valuations, the US tech ecosystem needs roughly $1 Trillion in incremental revenue. If enterprise capital flows elsewhere, a severe valuation contraction across tech equities could follow. </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5</a:t>
            </a:fld>
            <a:endParaRPr lang="en-US"/>
          </a:p>
        </p:txBody>
      </p:sp>
    </p:spTree>
    <p:extLst>
      <p:ext uri="{BB962C8B-B14F-4D97-AF65-F5344CB8AC3E}">
        <p14:creationId xmlns:p14="http://schemas.microsoft.com/office/powerpoint/2010/main" val="1107451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Flywheel Dynamics:</a:t>
            </a:r>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The Catastrophic Claim:</a:t>
            </a:r>
            <a:r>
              <a:rPr lang="en-US" sz="1200" kern="1200" dirty="0">
                <a:solidFill>
                  <a:schemeClr val="tx1"/>
                </a:solidFill>
                <a:effectLst/>
                <a:latin typeface="+mn-lt"/>
                <a:ea typeface="+mn-ea"/>
                <a:cs typeface="+mn-cs"/>
              </a:rPr>
              <a:t> AI executives claim their technology is so powerful it will break society or cause total job destruction. </a:t>
            </a:r>
          </a:p>
          <a:p>
            <a:pPr marL="228600" indent="-228600">
              <a:buFont typeface="+mj-lt"/>
              <a:buAutoNum type="arabicPeriod"/>
            </a:pPr>
            <a:r>
              <a:rPr lang="en-US" sz="1200" b="1" kern="1200" dirty="0">
                <a:solidFill>
                  <a:schemeClr val="tx1"/>
                </a:solidFill>
                <a:effectLst/>
                <a:latin typeface="+mn-lt"/>
                <a:ea typeface="+mn-ea"/>
                <a:cs typeface="+mn-cs"/>
              </a:rPr>
              <a:t>Hype &amp; Mystique:</a:t>
            </a:r>
            <a:r>
              <a:rPr lang="en-US" sz="1200" kern="1200" dirty="0">
                <a:solidFill>
                  <a:schemeClr val="tx1"/>
                </a:solidFill>
                <a:effectLst/>
                <a:latin typeface="+mn-lt"/>
                <a:ea typeface="+mn-ea"/>
                <a:cs typeface="+mn-cs"/>
              </a:rPr>
              <a:t> By framing themselves as dangerous visionaries holding unprecedented power, they elevate the perceived value of their models. </a:t>
            </a:r>
          </a:p>
          <a:p>
            <a:pPr marL="228600" indent="-228600">
              <a:buFont typeface="+mj-lt"/>
              <a:buAutoNum type="arabicPeriod"/>
            </a:pPr>
            <a:r>
              <a:rPr lang="en-US" sz="1200" b="1" kern="1200" dirty="0">
                <a:solidFill>
                  <a:schemeClr val="tx1"/>
                </a:solidFill>
                <a:effectLst/>
                <a:latin typeface="+mn-lt"/>
                <a:ea typeface="+mn-ea"/>
                <a:cs typeface="+mn-cs"/>
              </a:rPr>
              <a:t>Unlocking Cheap Capital:</a:t>
            </a:r>
            <a:r>
              <a:rPr lang="en-US" sz="1200" kern="1200" dirty="0">
                <a:solidFill>
                  <a:schemeClr val="tx1"/>
                </a:solidFill>
                <a:effectLst/>
                <a:latin typeface="+mn-lt"/>
                <a:ea typeface="+mn-ea"/>
                <a:cs typeface="+mn-cs"/>
              </a:rPr>
              <a:t> This mystique justifies astronomical valuations (e.g., 155x earnings) and secures massive investment capital. </a:t>
            </a:r>
          </a:p>
          <a:p>
            <a:pPr marL="228600" indent="-228600">
              <a:buFont typeface="+mj-lt"/>
              <a:buAutoNum type="arabicPeriod"/>
            </a:pPr>
            <a:r>
              <a:rPr lang="en-US" sz="1200" b="1" kern="1200" dirty="0">
                <a:solidFill>
                  <a:schemeClr val="tx1"/>
                </a:solidFill>
                <a:effectLst/>
                <a:latin typeface="+mn-lt"/>
                <a:ea typeface="+mn-ea"/>
                <a:cs typeface="+mn-cs"/>
              </a:rPr>
              <a:t>Secondary Liquidity:</a:t>
            </a:r>
            <a:r>
              <a:rPr lang="en-US" sz="1200" kern="1200" dirty="0">
                <a:solidFill>
                  <a:schemeClr val="tx1"/>
                </a:solidFill>
                <a:effectLst/>
                <a:latin typeface="+mn-lt"/>
                <a:ea typeface="+mn-ea"/>
                <a:cs typeface="+mn-cs"/>
              </a:rPr>
              <a:t> Founders take secondary sales during early funding rounds, securing personal wealth regardless of long-term economic returns. </a:t>
            </a:r>
          </a:p>
          <a:p>
            <a:r>
              <a:rPr lang="en-US" sz="1200" b="1" kern="1200" dirty="0">
                <a:solidFill>
                  <a:schemeClr val="tx1"/>
                </a:solidFill>
                <a:effectLst/>
                <a:latin typeface="+mn-lt"/>
                <a:ea typeface="+mn-ea"/>
                <a:cs typeface="+mn-cs"/>
              </a:rPr>
              <a:t>The Math Problem:</a:t>
            </a:r>
            <a:r>
              <a:rPr lang="en-US" sz="1200" kern="1200" dirty="0">
                <a:solidFill>
                  <a:schemeClr val="tx1"/>
                </a:solidFill>
                <a:effectLst/>
                <a:latin typeface="+mn-lt"/>
                <a:ea typeface="+mn-ea"/>
                <a:cs typeface="+mn-cs"/>
              </a:rPr>
              <a:t> AI companies must either deliver $1 Trillion in brand-new product revenue or orchestrate massive corporate cost-cutting through labor reduction to justify current prices. The "doomsday narrative" functions in part as a justification for corporate restructuring. </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6</a:t>
            </a:fld>
            <a:endParaRPr lang="en-US"/>
          </a:p>
        </p:txBody>
      </p:sp>
    </p:spTree>
    <p:extLst>
      <p:ext uri="{BB962C8B-B14F-4D97-AF65-F5344CB8AC3E}">
        <p14:creationId xmlns:p14="http://schemas.microsoft.com/office/powerpoint/2010/main" val="2973598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Narrative vs. Reality Breakdown:</a:t>
            </a:r>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Claim 1: The Job Apocalypse (100% Unemployment).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US unemployment sits near 4.5%, and job listings for software developers/coders have risen year-over-year. AI automates routine syntax, but demand for high-level architecture remains. </a:t>
            </a:r>
          </a:p>
          <a:p>
            <a:pPr marL="228600" indent="-228600">
              <a:buFont typeface="+mj-lt"/>
              <a:buAutoNum type="arabicPeriod"/>
            </a:pPr>
            <a:r>
              <a:rPr lang="en-US" sz="1200" b="1" kern="1200" dirty="0">
                <a:solidFill>
                  <a:schemeClr val="tx1"/>
                </a:solidFill>
                <a:effectLst/>
                <a:latin typeface="+mn-lt"/>
                <a:ea typeface="+mn-ea"/>
                <a:cs typeface="+mn-cs"/>
              </a:rPr>
              <a:t>Claim 2: The Radiologist Myth.</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Despite predictions that image recognition would render radiologists obsolete, job postings for radiologists are up. Image analysis is only one component of medical care; diagnosis integration, patient care, and treatment execution require human oversight. </a:t>
            </a:r>
          </a:p>
          <a:p>
            <a:pPr marL="228600" indent="-228600">
              <a:buFont typeface="+mj-lt"/>
              <a:buAutoNum type="arabicPeriod"/>
            </a:pPr>
            <a:r>
              <a:rPr lang="en-US" sz="1200" b="1" kern="1200" dirty="0">
                <a:solidFill>
                  <a:schemeClr val="tx1"/>
                </a:solidFill>
                <a:effectLst/>
                <a:latin typeface="+mn-lt"/>
                <a:ea typeface="+mn-ea"/>
                <a:cs typeface="+mn-cs"/>
              </a:rPr>
              <a:t>Claim 3: Humanoid Butlers.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Consumer humanoid robots serving drinks in homes remain impractical marketing concepts. Real technological adoption is occurring in industrial automation—such as automated logistics and warehouse management.</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7</a:t>
            </a:fld>
            <a:endParaRPr lang="en-US"/>
          </a:p>
        </p:txBody>
      </p:sp>
    </p:spTree>
    <p:extLst>
      <p:ext uri="{BB962C8B-B14F-4D97-AF65-F5344CB8AC3E}">
        <p14:creationId xmlns:p14="http://schemas.microsoft.com/office/powerpoint/2010/main" val="3593012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Historical Precedent:</a:t>
            </a:r>
            <a:r>
              <a:rPr lang="en-US" sz="1200" kern="1200" dirty="0">
                <a:solidFill>
                  <a:schemeClr val="tx1"/>
                </a:solidFill>
                <a:effectLst/>
                <a:latin typeface="+mn-lt"/>
                <a:ea typeface="+mn-ea"/>
                <a:cs typeface="+mn-cs"/>
              </a:rPr>
              <a:t> Consider commercial jet aviation. Jet transportation transformed global commerce, connectivity, and societal well-being. Yet, historically, the aggregate airline manufacturing and airline carrier sector has generated near net-zero cumulative economic profit due to intense competition and capital intensity. </a:t>
            </a:r>
          </a:p>
          <a:p>
            <a:r>
              <a:rPr lang="en-US" sz="1200" b="1" kern="1200" dirty="0">
                <a:solidFill>
                  <a:schemeClr val="tx1"/>
                </a:solidFill>
                <a:effectLst/>
                <a:latin typeface="+mn-lt"/>
                <a:ea typeface="+mn-ea"/>
                <a:cs typeface="+mn-cs"/>
              </a:rPr>
              <a:t>Value Creation vs. Value Capture:</a:t>
            </a:r>
            <a:r>
              <a:rPr lang="en-US" sz="1200" kern="1200" dirty="0">
                <a:solidFill>
                  <a:schemeClr val="tx1"/>
                </a:solidFill>
                <a:effectLst/>
                <a:latin typeface="+mn-lt"/>
                <a:ea typeface="+mn-ea"/>
                <a:cs typeface="+mn-cs"/>
              </a:rPr>
              <a:t> Similar patterns appear across railroads, personal computing hardware, and vaccines. Essential innovations create widespread public utility, but competition prevents single actors from capturing all economic rent. </a:t>
            </a:r>
          </a:p>
          <a:p>
            <a:r>
              <a:rPr lang="en-US" sz="1200" b="1" kern="1200" dirty="0">
                <a:solidFill>
                  <a:schemeClr val="tx1"/>
                </a:solidFill>
                <a:effectLst/>
                <a:latin typeface="+mn-lt"/>
                <a:ea typeface="+mn-ea"/>
                <a:cs typeface="+mn-cs"/>
              </a:rPr>
              <a:t>The AI Convergence:</a:t>
            </a:r>
            <a:r>
              <a:rPr lang="en-US" sz="1200" kern="1200" dirty="0">
                <a:solidFill>
                  <a:schemeClr val="tx1"/>
                </a:solidFill>
                <a:effectLst/>
                <a:latin typeface="+mn-lt"/>
                <a:ea typeface="+mn-ea"/>
                <a:cs typeface="+mn-cs"/>
              </a:rPr>
              <a:t> As open-weight models improve, baseline LLMs commoditize. AI will drive immense societal productivity, but open-source access will distribute that value to society rather than concentrating trillions into a handful of closed software monopolies.</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8</a:t>
            </a:fld>
            <a:endParaRPr lang="en-US"/>
          </a:p>
        </p:txBody>
      </p:sp>
    </p:spTree>
    <p:extLst>
      <p:ext uri="{BB962C8B-B14F-4D97-AF65-F5344CB8AC3E}">
        <p14:creationId xmlns:p14="http://schemas.microsoft.com/office/powerpoint/2010/main" val="863658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Digital Hype vs. Physical Reality:</a:t>
            </a:r>
            <a:r>
              <a:rPr lang="en-US" sz="1200" kern="1200" dirty="0">
                <a:solidFill>
                  <a:schemeClr val="tx1"/>
                </a:solidFill>
                <a:effectLst/>
                <a:latin typeface="+mn-lt"/>
                <a:ea typeface="+mn-ea"/>
                <a:cs typeface="+mn-cs"/>
              </a:rPr>
              <a:t> While headlines focus on consumer chatbots and LLM wrappers, the most transformative technological shifts are occurring in hardware logistics and human biology. </a:t>
            </a:r>
          </a:p>
          <a:p>
            <a:r>
              <a:rPr lang="en-US" sz="1200" b="1" kern="1200" dirty="0">
                <a:solidFill>
                  <a:schemeClr val="tx1"/>
                </a:solidFill>
                <a:effectLst/>
                <a:latin typeface="+mn-lt"/>
                <a:ea typeface="+mn-ea"/>
                <a:cs typeface="+mn-cs"/>
              </a:rPr>
              <a:t>Industrialized Robotics:</a:t>
            </a:r>
            <a:r>
              <a:rPr lang="en-US" sz="1200" kern="1200" dirty="0">
                <a:solidFill>
                  <a:schemeClr val="tx1"/>
                </a:solidFill>
                <a:effectLst/>
                <a:latin typeface="+mn-lt"/>
                <a:ea typeface="+mn-ea"/>
                <a:cs typeface="+mn-cs"/>
              </a:rPr>
              <a:t> Amazon currently deploys over 1,000,000 industrial warehouse robots—representing more automated units than the rest of the US private sector combined. The operational goal is scaling output without linear headcount growth. </a:t>
            </a:r>
          </a:p>
          <a:p>
            <a:r>
              <a:rPr lang="en-US" sz="1200" b="1" kern="1200" dirty="0">
                <a:solidFill>
                  <a:schemeClr val="tx1"/>
                </a:solidFill>
                <a:effectLst/>
                <a:latin typeface="+mn-lt"/>
                <a:ea typeface="+mn-ea"/>
                <a:cs typeface="+mn-cs"/>
              </a:rPr>
              <a:t>GLP-1 Agonists &amp; Biological Tech:</a:t>
            </a:r>
            <a:r>
              <a:rPr lang="en-US" sz="1200" kern="1200" dirty="0">
                <a:solidFill>
                  <a:schemeClr val="tx1"/>
                </a:solidFill>
                <a:effectLst/>
                <a:latin typeface="+mn-lt"/>
                <a:ea typeface="+mn-ea"/>
                <a:cs typeface="+mn-cs"/>
              </a:rPr>
              <a:t> Metabolic drugs (e.g., Ozempic, Wegovy) represent an immediate behavioral shift. They alter consumer spending, food consumption, addiction pathways, and long-term healthcare dynamics faster and more directly than generative writing tools. </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9</a:t>
            </a:fld>
            <a:endParaRPr lang="en-US"/>
          </a:p>
        </p:txBody>
      </p:sp>
    </p:spTree>
    <p:extLst>
      <p:ext uri="{BB962C8B-B14F-4D97-AF65-F5344CB8AC3E}">
        <p14:creationId xmlns:p14="http://schemas.microsoft.com/office/powerpoint/2010/main" val="1300416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Archetype Cycle:</a:t>
            </a:r>
            <a:r>
              <a:rPr lang="en-US" sz="1200" kern="1200" dirty="0">
                <a:solidFill>
                  <a:schemeClr val="tx1"/>
                </a:solidFill>
                <a:effectLst/>
                <a:latin typeface="+mn-lt"/>
                <a:ea typeface="+mn-ea"/>
                <a:cs typeface="+mn-cs"/>
              </a:rPr>
              <a:t> Society frequently elevates tech founders into celebrated figures promised to solve complex human challenges. </a:t>
            </a:r>
          </a:p>
          <a:p>
            <a:r>
              <a:rPr lang="en-US" sz="1200" b="1" kern="1200" dirty="0">
                <a:solidFill>
                  <a:schemeClr val="tx1"/>
                </a:solidFill>
                <a:effectLst/>
                <a:latin typeface="+mn-lt"/>
                <a:ea typeface="+mn-ea"/>
                <a:cs typeface="+mn-cs"/>
              </a:rPr>
              <a:t>The Fiduciary Mandate:</a:t>
            </a:r>
            <a:r>
              <a:rPr lang="en-US" sz="1200" kern="1200" dirty="0">
                <a:solidFill>
                  <a:schemeClr val="tx1"/>
                </a:solidFill>
                <a:effectLst/>
                <a:latin typeface="+mn-lt"/>
                <a:ea typeface="+mn-ea"/>
                <a:cs typeface="+mn-cs"/>
              </a:rPr>
              <a:t> Public and venture-backed corporate structures legally compel executives to maximize shareholder value. Incremental business decisions prioritize engagement, monetization, and market expansion. </a:t>
            </a:r>
          </a:p>
          <a:p>
            <a:r>
              <a:rPr lang="en-US" sz="1200" b="1" kern="1200" dirty="0">
                <a:solidFill>
                  <a:schemeClr val="tx1"/>
                </a:solidFill>
                <a:effectLst/>
                <a:latin typeface="+mn-lt"/>
                <a:ea typeface="+mn-ea"/>
                <a:cs typeface="+mn-cs"/>
              </a:rPr>
              <a:t>Tragedy of the Commons:</a:t>
            </a:r>
            <a:r>
              <a:rPr lang="en-US" sz="1200" kern="1200" dirty="0">
                <a:solidFill>
                  <a:schemeClr val="tx1"/>
                </a:solidFill>
                <a:effectLst/>
                <a:latin typeface="+mn-lt"/>
                <a:ea typeface="+mn-ea"/>
                <a:cs typeface="+mn-cs"/>
              </a:rPr>
              <a:t> Systemic externalities—such as algorithmic polarization or mental health impacts on adolescents—are often treated as acceptable trade-offs for corporate growth. </a:t>
            </a:r>
          </a:p>
          <a:p>
            <a:r>
              <a:rPr lang="en-US" sz="1200" b="1" kern="1200" dirty="0">
                <a:solidFill>
                  <a:schemeClr val="tx1"/>
                </a:solidFill>
                <a:effectLst/>
                <a:latin typeface="+mn-lt"/>
                <a:ea typeface="+mn-ea"/>
                <a:cs typeface="+mn-cs"/>
              </a:rPr>
              <a:t>Systemic Solution:</a:t>
            </a:r>
            <a:r>
              <a:rPr lang="en-US" sz="1200" kern="1200" dirty="0">
                <a:solidFill>
                  <a:schemeClr val="tx1"/>
                </a:solidFill>
                <a:effectLst/>
                <a:latin typeface="+mn-lt"/>
                <a:ea typeface="+mn-ea"/>
                <a:cs typeface="+mn-cs"/>
              </a:rPr>
              <a:t> Individual tech executives act according to corporate incentives. The issue is not individual intent, but the absence of regulatory frameworks ("an EPA for technology") to guard public welfare. </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10</a:t>
            </a:fld>
            <a:endParaRPr lang="en-US"/>
          </a:p>
        </p:txBody>
      </p:sp>
    </p:spTree>
    <p:extLst>
      <p:ext uri="{BB962C8B-B14F-4D97-AF65-F5344CB8AC3E}">
        <p14:creationId xmlns:p14="http://schemas.microsoft.com/office/powerpoint/2010/main" val="4184433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Divergence Across Daily Life: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Security:</a:t>
            </a:r>
            <a:r>
              <a:rPr lang="en-US" sz="1200" kern="1200" dirty="0">
                <a:solidFill>
                  <a:schemeClr val="tx1"/>
                </a:solidFill>
                <a:effectLst/>
                <a:latin typeface="+mn-lt"/>
                <a:ea typeface="+mn-ea"/>
                <a:cs typeface="+mn-cs"/>
              </a:rPr>
              <a:t> Public law enforcement faces budget constraints, while private security networks and monitored enclaves protect affluent urban corridors.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Healthcare:</a:t>
            </a:r>
            <a:r>
              <a:rPr lang="en-US" sz="1200" kern="1200" dirty="0">
                <a:solidFill>
                  <a:schemeClr val="tx1"/>
                </a:solidFill>
                <a:effectLst/>
                <a:latin typeface="+mn-lt"/>
                <a:ea typeface="+mn-ea"/>
                <a:cs typeface="+mn-cs"/>
              </a:rPr>
              <a:t> Navigating complex, underinsured public health systems versus private concierge medicine, localized diagnostics, and specialized therapies.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Transportation:</a:t>
            </a:r>
            <a:r>
              <a:rPr lang="en-US" sz="1200" kern="1200" dirty="0">
                <a:solidFill>
                  <a:schemeClr val="tx1"/>
                </a:solidFill>
                <a:effectLst/>
                <a:latin typeface="+mn-lt"/>
                <a:ea typeface="+mn-ea"/>
                <a:cs typeface="+mn-cs"/>
              </a:rPr>
              <a:t> Commercial air travel friction versus private aviation and dedicated transport infrastructure. </a:t>
            </a:r>
          </a:p>
          <a:p>
            <a:r>
              <a:rPr lang="en-US" sz="1200" b="1" kern="1200" dirty="0">
                <a:solidFill>
                  <a:schemeClr val="tx1"/>
                </a:solidFill>
                <a:effectLst/>
                <a:latin typeface="+mn-lt"/>
                <a:ea typeface="+mn-ea"/>
                <a:cs typeface="+mn-cs"/>
              </a:rPr>
              <a:t>The Structural Risk:</a:t>
            </a:r>
            <a:r>
              <a:rPr lang="en-US" sz="1200" kern="1200" dirty="0">
                <a:solidFill>
                  <a:schemeClr val="tx1"/>
                </a:solidFill>
                <a:effectLst/>
                <a:latin typeface="+mn-lt"/>
                <a:ea typeface="+mn-ea"/>
                <a:cs typeface="+mn-cs"/>
              </a:rPr>
              <a:t> When the top tier of wealth can bypass shared public infrastructure, systemic commitment to maintaining civic services declines. The broader population is treated primarily as a user base to be monetized.</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11</a:t>
            </a:fld>
            <a:endParaRPr lang="en-US"/>
          </a:p>
        </p:txBody>
      </p:sp>
    </p:spTree>
    <p:extLst>
      <p:ext uri="{BB962C8B-B14F-4D97-AF65-F5344CB8AC3E}">
        <p14:creationId xmlns:p14="http://schemas.microsoft.com/office/powerpoint/2010/main" val="3018329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Go-Plan Trend:</a:t>
            </a:r>
            <a:r>
              <a:rPr lang="en-US" sz="1200" kern="1200" dirty="0">
                <a:solidFill>
                  <a:schemeClr val="tx1"/>
                </a:solidFill>
                <a:effectLst/>
                <a:latin typeface="+mn-lt"/>
                <a:ea typeface="+mn-ea"/>
                <a:cs typeface="+mn-cs"/>
              </a:rPr>
              <a:t> Roughly one-third of ultra-high-net-worth individuals maintain active contingency plans—including remote real estate, private flight arrangements, and specialized residency provisions. </a:t>
            </a:r>
          </a:p>
          <a:p>
            <a:r>
              <a:rPr lang="en-US" sz="1200" b="1" kern="1200" dirty="0">
                <a:solidFill>
                  <a:schemeClr val="tx1"/>
                </a:solidFill>
                <a:effectLst/>
                <a:latin typeface="+mn-lt"/>
                <a:ea typeface="+mn-ea"/>
                <a:cs typeface="+mn-cs"/>
              </a:rPr>
              <a:t>The Logical Flaw:</a:t>
            </a:r>
            <a:r>
              <a:rPr lang="en-US" sz="1200" kern="1200" dirty="0">
                <a:solidFill>
                  <a:schemeClr val="tx1"/>
                </a:solidFill>
                <a:effectLst/>
                <a:latin typeface="+mn-lt"/>
                <a:ea typeface="+mn-ea"/>
                <a:cs typeface="+mn-cs"/>
              </a:rPr>
              <a:t> Contingency plans relying on private staff or isolated shelters assume institutional structures remain intact during severe collapse. In real systemic breakdowns, contract enforcement and loyalty disintegrate. </a:t>
            </a:r>
          </a:p>
          <a:p>
            <a:r>
              <a:rPr lang="en-US" sz="1200" b="1" kern="1200" dirty="0">
                <a:solidFill>
                  <a:schemeClr val="tx1"/>
                </a:solidFill>
                <a:effectLst/>
                <a:latin typeface="+mn-lt"/>
                <a:ea typeface="+mn-ea"/>
                <a:cs typeface="+mn-cs"/>
              </a:rPr>
              <a:t>Elite Nihilism:</a:t>
            </a:r>
            <a:r>
              <a:rPr lang="en-US" sz="1200" kern="1200" dirty="0">
                <a:solidFill>
                  <a:schemeClr val="tx1"/>
                </a:solidFill>
                <a:effectLst/>
                <a:latin typeface="+mn-lt"/>
                <a:ea typeface="+mn-ea"/>
                <a:cs typeface="+mn-cs"/>
              </a:rPr>
              <a:t> Allocating capital toward off-grid survivalism or speculative off-planet migration reflects a retreat from civic investment. Capital spent preparing for collapse is capital diverted from maintaining stable, functioning societies on Earth. </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12</a:t>
            </a:fld>
            <a:endParaRPr lang="en-US"/>
          </a:p>
        </p:txBody>
      </p:sp>
    </p:spTree>
    <p:extLst>
      <p:ext uri="{BB962C8B-B14F-4D97-AF65-F5344CB8AC3E}">
        <p14:creationId xmlns:p14="http://schemas.microsoft.com/office/powerpoint/2010/main" val="2304723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Isolation Friction:</a:t>
            </a:r>
            <a:r>
              <a:rPr lang="en-US" sz="1200" kern="1200" dirty="0">
                <a:solidFill>
                  <a:schemeClr val="tx1"/>
                </a:solidFill>
                <a:effectLst/>
                <a:latin typeface="+mn-lt"/>
                <a:ea typeface="+mn-ea"/>
                <a:cs typeface="+mn-cs"/>
              </a:rPr>
              <a:t> Digital algorithms provide simulated interaction without social friction. Over 40% of young men aged 18–24 report never initiating an in-person romantic conversation. </a:t>
            </a:r>
          </a:p>
          <a:p>
            <a:r>
              <a:rPr lang="en-US" sz="1200" b="1" kern="1200" dirty="0">
                <a:solidFill>
                  <a:schemeClr val="tx1"/>
                </a:solidFill>
                <a:effectLst/>
                <a:latin typeface="+mn-lt"/>
                <a:ea typeface="+mn-ea"/>
                <a:cs typeface="+mn-cs"/>
              </a:rPr>
              <a:t>The Power of Rejection:</a:t>
            </a:r>
            <a:r>
              <a:rPr lang="en-US" sz="1200" kern="1200" dirty="0">
                <a:solidFill>
                  <a:schemeClr val="tx1"/>
                </a:solidFill>
                <a:effectLst/>
                <a:latin typeface="+mn-lt"/>
                <a:ea typeface="+mn-ea"/>
                <a:cs typeface="+mn-cs"/>
              </a:rPr>
              <a:t> Professional and personal growth requires willingness to encounter rejection. Applying for challenging positions, pitching ideas, and engaging directly with strangers builds emotional tolerance. </a:t>
            </a:r>
          </a:p>
          <a:p>
            <a:r>
              <a:rPr lang="en-US" sz="1200" b="1" kern="1200" dirty="0">
                <a:solidFill>
                  <a:schemeClr val="tx1"/>
                </a:solidFill>
                <a:effectLst/>
                <a:latin typeface="+mn-lt"/>
                <a:ea typeface="+mn-ea"/>
                <a:cs typeface="+mn-cs"/>
              </a:rPr>
              <a:t>Core Takeaway:</a:t>
            </a:r>
            <a:r>
              <a:rPr lang="en-US" sz="1200" kern="1200" dirty="0">
                <a:solidFill>
                  <a:schemeClr val="tx1"/>
                </a:solidFill>
                <a:effectLst/>
                <a:latin typeface="+mn-lt"/>
                <a:ea typeface="+mn-ea"/>
                <a:cs typeface="+mn-cs"/>
              </a:rPr>
              <a:t> Career trajectories are built on resilience—the capacity to process setbacks, adapt, and proceed. </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13</a:t>
            </a:fld>
            <a:endParaRPr lang="en-US"/>
          </a:p>
        </p:txBody>
      </p:sp>
    </p:spTree>
    <p:extLst>
      <p:ext uri="{BB962C8B-B14F-4D97-AF65-F5344CB8AC3E}">
        <p14:creationId xmlns:p14="http://schemas.microsoft.com/office/powerpoint/2010/main" val="1344751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Career Architecture &amp; The Second Screen Protocol:</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AI tools will not eliminate professionals automatically; rather, professionals who leverage AI will outperform those who do not.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Establish a "second screen" workspace running local or cloud LLMs to streamline routine tasks, data processing, and research.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Focus on communication, narrative design, and tech integration rather than purely technical coding syntax. </a:t>
            </a:r>
          </a:p>
          <a:p>
            <a:r>
              <a:rPr lang="en-US" sz="1200" b="1" kern="1200" dirty="0">
                <a:solidFill>
                  <a:schemeClr val="tx1"/>
                </a:solidFill>
                <a:effectLst/>
                <a:latin typeface="+mn-lt"/>
                <a:ea typeface="+mn-ea"/>
                <a:cs typeface="+mn-cs"/>
              </a:rPr>
              <a:t>Wealth Architecture: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Patience:</a:t>
            </a:r>
            <a:r>
              <a:rPr lang="en-US" sz="1200" kern="1200" dirty="0">
                <a:solidFill>
                  <a:schemeClr val="tx1"/>
                </a:solidFill>
                <a:effectLst/>
                <a:latin typeface="+mn-lt"/>
                <a:ea typeface="+mn-ea"/>
                <a:cs typeface="+mn-cs"/>
              </a:rPr>
              <a:t> Build wealth steadily through disciplined, low-cost index investing.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Risk Mitigation:</a:t>
            </a:r>
            <a:r>
              <a:rPr lang="en-US" sz="1200" kern="1200" dirty="0">
                <a:solidFill>
                  <a:schemeClr val="tx1"/>
                </a:solidFill>
                <a:effectLst/>
                <a:latin typeface="+mn-lt"/>
                <a:ea typeface="+mn-ea"/>
                <a:cs typeface="+mn-cs"/>
              </a:rPr>
              <a:t> Maintain broad diversification, limiting single-asset exposure.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Capital Utilization:</a:t>
            </a:r>
            <a:r>
              <a:rPr lang="en-US" sz="1200" kern="1200" dirty="0">
                <a:solidFill>
                  <a:schemeClr val="tx1"/>
                </a:solidFill>
                <a:effectLst/>
                <a:latin typeface="+mn-lt"/>
                <a:ea typeface="+mn-ea"/>
                <a:cs typeface="+mn-cs"/>
              </a:rPr>
              <a:t> Treat market downturns as acquisition opportunities rather than reasons for panic. </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14</a:t>
            </a:fld>
            <a:endParaRPr lang="en-US"/>
          </a:p>
        </p:txBody>
      </p:sp>
    </p:spTree>
    <p:extLst>
      <p:ext uri="{BB962C8B-B14F-4D97-AF65-F5344CB8AC3E}">
        <p14:creationId xmlns:p14="http://schemas.microsoft.com/office/powerpoint/2010/main" val="4263490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he Transactional Illusion:</a:t>
            </a:r>
            <a:r>
              <a:rPr lang="en-US" sz="1200" kern="1200" dirty="0">
                <a:solidFill>
                  <a:schemeClr val="tx1"/>
                </a:solidFill>
                <a:effectLst/>
                <a:latin typeface="+mn-lt"/>
                <a:ea typeface="+mn-ea"/>
                <a:cs typeface="+mn-cs"/>
              </a:rPr>
              <a:t> Modern market culture measures activities through immediate return on investment. Applying strict transactional metrics to personal relationships leads to isolation. </a:t>
            </a:r>
          </a:p>
          <a:p>
            <a:r>
              <a:rPr lang="en-US" sz="1200" b="1" kern="1200" dirty="0">
                <a:solidFill>
                  <a:schemeClr val="tx1"/>
                </a:solidFill>
                <a:effectLst/>
                <a:latin typeface="+mn-lt"/>
                <a:ea typeface="+mn-ea"/>
                <a:cs typeface="+mn-cs"/>
              </a:rPr>
              <a:t>Non-Transactional Purpose:</a:t>
            </a:r>
            <a:r>
              <a:rPr lang="en-US" sz="1200" kern="1200" dirty="0">
                <a:solidFill>
                  <a:schemeClr val="tx1"/>
                </a:solidFill>
                <a:effectLst/>
                <a:latin typeface="+mn-lt"/>
                <a:ea typeface="+mn-ea"/>
                <a:cs typeface="+mn-cs"/>
              </a:rPr>
              <a:t> Meaningful commitments—raising families, mentoring others, sustaining long-term partnerships, or contributing to civic causes—do not yield standard financial metrics. </a:t>
            </a:r>
          </a:p>
          <a:p>
            <a:r>
              <a:rPr lang="en-US" sz="1200" b="1" kern="1200" dirty="0">
                <a:solidFill>
                  <a:schemeClr val="tx1"/>
                </a:solidFill>
                <a:effectLst/>
                <a:latin typeface="+mn-lt"/>
                <a:ea typeface="+mn-ea"/>
                <a:cs typeface="+mn-cs"/>
              </a:rPr>
              <a:t>Closing Perspective:</a:t>
            </a:r>
            <a:r>
              <a:rPr lang="en-US" sz="1200" kern="1200" dirty="0">
                <a:solidFill>
                  <a:schemeClr val="tx1"/>
                </a:solidFill>
                <a:effectLst/>
                <a:latin typeface="+mn-lt"/>
                <a:ea typeface="+mn-ea"/>
                <a:cs typeface="+mn-cs"/>
              </a:rPr>
              <a:t> Emotional attachment carries inherent vulnerability. Experiencing profound grief or loss is evidence of deep engagement with life and meaningful connections with others.</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15</a:t>
            </a:fld>
            <a:endParaRPr lang="en-US"/>
          </a:p>
        </p:txBody>
      </p:sp>
    </p:spTree>
    <p:extLst>
      <p:ext uri="{BB962C8B-B14F-4D97-AF65-F5344CB8AC3E}">
        <p14:creationId xmlns:p14="http://schemas.microsoft.com/office/powerpoint/2010/main" val="574612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Market Perception vs. Operational Reality:</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Tech executives often leverage elevated predictions to secure capital and sustain high multiples.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High earners view AI as an equity driver, while middle-income workers encounter rising costs and operational changes. </a:t>
            </a:r>
          </a:p>
          <a:p>
            <a:r>
              <a:rPr lang="en-US" sz="1200" b="1" kern="1200" dirty="0">
                <a:solidFill>
                  <a:schemeClr val="tx1"/>
                </a:solidFill>
                <a:effectLst/>
                <a:latin typeface="+mn-lt"/>
                <a:ea typeface="+mn-ea"/>
                <a:cs typeface="+mn-cs"/>
              </a:rPr>
              <a:t>Professional Evolution:</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Accountants &amp; Analysts:</a:t>
            </a:r>
            <a:r>
              <a:rPr lang="en-US" sz="1200" kern="1200" dirty="0">
                <a:solidFill>
                  <a:schemeClr val="tx1"/>
                </a:solidFill>
                <a:effectLst/>
                <a:latin typeface="+mn-lt"/>
                <a:ea typeface="+mn-ea"/>
                <a:cs typeface="+mn-cs"/>
              </a:rPr>
              <a:t> Shifting from manual record-keeping to strategic planning and advisory services.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Radiologists:</a:t>
            </a:r>
            <a:r>
              <a:rPr lang="en-US" sz="1200" kern="1200" dirty="0">
                <a:solidFill>
                  <a:schemeClr val="tx1"/>
                </a:solidFill>
                <a:effectLst/>
                <a:latin typeface="+mn-lt"/>
                <a:ea typeface="+mn-ea"/>
                <a:cs typeface="+mn-cs"/>
              </a:rPr>
              <a:t> Utilizing automation for initial image screening while concentrating on diagnostic synthesis and patient care.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Developers:</a:t>
            </a:r>
            <a:r>
              <a:rPr lang="en-US" sz="1200" kern="1200" dirty="0">
                <a:solidFill>
                  <a:schemeClr val="tx1"/>
                </a:solidFill>
                <a:effectLst/>
                <a:latin typeface="+mn-lt"/>
                <a:ea typeface="+mn-ea"/>
                <a:cs typeface="+mn-cs"/>
              </a:rPr>
              <a:t> Expanding from writing line-by-line syntax to managing system architecture, prompt structures, and integration. </a:t>
            </a:r>
          </a:p>
          <a:p>
            <a:r>
              <a:rPr lang="en-US" sz="1200" b="1" kern="1200" dirty="0">
                <a:solidFill>
                  <a:schemeClr val="tx1"/>
                </a:solidFill>
                <a:effectLst/>
                <a:latin typeface="+mn-lt"/>
                <a:ea typeface="+mn-ea"/>
                <a:cs typeface="+mn-cs"/>
              </a:rPr>
              <a:t>The Core Human Skillset:</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AI Fluency:</a:t>
            </a:r>
            <a:r>
              <a:rPr lang="en-US" sz="1200" kern="1200" dirty="0">
                <a:solidFill>
                  <a:schemeClr val="tx1"/>
                </a:solidFill>
                <a:effectLst/>
                <a:latin typeface="+mn-lt"/>
                <a:ea typeface="+mn-ea"/>
                <a:cs typeface="+mn-cs"/>
              </a:rPr>
              <a:t> Fluency with modern technical tools is a baseline requirement.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Narrative &amp; Communication:</a:t>
            </a:r>
            <a:r>
              <a:rPr lang="en-US" sz="1200" kern="1200" dirty="0">
                <a:solidFill>
                  <a:schemeClr val="tx1"/>
                </a:solidFill>
                <a:effectLst/>
                <a:latin typeface="+mn-lt"/>
                <a:ea typeface="+mn-ea"/>
                <a:cs typeface="+mn-cs"/>
              </a:rPr>
              <a:t> As technical capabilities democratize, clear storytelling and persuasive framing remain high-value skills.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Resilience:</a:t>
            </a:r>
            <a:r>
              <a:rPr lang="en-US" sz="1200" kern="1200" dirty="0">
                <a:solidFill>
                  <a:schemeClr val="tx1"/>
                </a:solidFill>
                <a:effectLst/>
                <a:latin typeface="+mn-lt"/>
                <a:ea typeface="+mn-ea"/>
                <a:cs typeface="+mn-cs"/>
              </a:rPr>
              <a:t> The capacity to endure rejections and adapt through structural changes remains the definitive competitive advantage.</a:t>
            </a:r>
          </a:p>
          <a:p>
            <a:endParaRPr lang="en-US" dirty="0"/>
          </a:p>
        </p:txBody>
      </p:sp>
      <p:sp>
        <p:nvSpPr>
          <p:cNvPr id="4" name="Slide Number Placeholder 3"/>
          <p:cNvSpPr>
            <a:spLocks noGrp="1"/>
          </p:cNvSpPr>
          <p:nvPr>
            <p:ph type="sldNum" sz="quarter" idx="5"/>
          </p:nvPr>
        </p:nvSpPr>
        <p:spPr/>
        <p:txBody>
          <a:bodyPr/>
          <a:lstStyle/>
          <a:p>
            <a:fld id="{1179E6B5-4DF7-49BA-8E27-4FBB9A2FF061}" type="slidenum">
              <a:rPr lang="en-US" smtClean="0"/>
              <a:t>16</a:t>
            </a:fld>
            <a:endParaRPr lang="en-US"/>
          </a:p>
        </p:txBody>
      </p:sp>
    </p:spTree>
    <p:extLst>
      <p:ext uri="{BB962C8B-B14F-4D97-AF65-F5344CB8AC3E}">
        <p14:creationId xmlns:p14="http://schemas.microsoft.com/office/powerpoint/2010/main" val="3058822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D4A4FC-A66F-B1CB-2577-835C500387F2}"/>
              </a:ext>
            </a:extLst>
          </p:cNvPr>
          <p:cNvSpPr>
            <a:spLocks noGrp="1"/>
          </p:cNvSpPr>
          <p:nvPr>
            <p:ph type="dt" sz="half" idx="10"/>
          </p:nvPr>
        </p:nvSpPr>
        <p:spPr/>
        <p:txBody>
          <a:bodyPr/>
          <a:lstStyle/>
          <a:p>
            <a:fld id="{1005F22D-D25B-4F54-A75C-735205FB0D60}" type="datetimeFigureOut">
              <a:rPr lang="en-US" smtClean="0"/>
              <a:t>10/19/2026</a:t>
            </a:fld>
            <a:endParaRPr lang="en-US"/>
          </a:p>
        </p:txBody>
      </p:sp>
      <p:sp>
        <p:nvSpPr>
          <p:cNvPr id="3" name="Footer Placeholder 2">
            <a:extLst>
              <a:ext uri="{FF2B5EF4-FFF2-40B4-BE49-F238E27FC236}">
                <a16:creationId xmlns:a16="http://schemas.microsoft.com/office/drawing/2014/main" id="{56C34F6B-3798-14C3-3BFD-212A008219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892048-7471-2598-43EC-2F4694AF7294}"/>
              </a:ext>
            </a:extLst>
          </p:cNvPr>
          <p:cNvSpPr>
            <a:spLocks noGrp="1"/>
          </p:cNvSpPr>
          <p:nvPr>
            <p:ph type="sldNum" sz="quarter" idx="12"/>
          </p:nvPr>
        </p:nvSpPr>
        <p:spPr/>
        <p:txBody>
          <a:bodyPr/>
          <a:lstStyle/>
          <a:p>
            <a:fld id="{A1AA2BB1-2734-4ED6-BCBD-351065954EAB}" type="slidenum">
              <a:rPr lang="en-US" smtClean="0"/>
              <a:t>‹#›</a:t>
            </a:fld>
            <a:endParaRPr lang="en-US"/>
          </a:p>
        </p:txBody>
      </p:sp>
    </p:spTree>
    <p:extLst>
      <p:ext uri="{BB962C8B-B14F-4D97-AF65-F5344CB8AC3E}">
        <p14:creationId xmlns:p14="http://schemas.microsoft.com/office/powerpoint/2010/main" val="324509221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B31DDE-952B-57F0-6831-8E116FD2F1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2A9C3F-097E-1D82-7C2B-5338FE781A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011379-411C-8E7A-FB18-6A95615CD5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05F22D-D25B-4F54-A75C-735205FB0D60}" type="datetimeFigureOut">
              <a:rPr lang="en-US" smtClean="0"/>
              <a:t>10/19/2026</a:t>
            </a:fld>
            <a:endParaRPr lang="en-US"/>
          </a:p>
        </p:txBody>
      </p:sp>
      <p:sp>
        <p:nvSpPr>
          <p:cNvPr id="5" name="Footer Placeholder 4">
            <a:extLst>
              <a:ext uri="{FF2B5EF4-FFF2-40B4-BE49-F238E27FC236}">
                <a16:creationId xmlns:a16="http://schemas.microsoft.com/office/drawing/2014/main" id="{9A463A4A-3609-D177-853E-DE767F4AE8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2E1AC6D-42A0-44CA-9B37-D138815C1B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AA2BB1-2734-4ED6-BCBD-351065954EAB}" type="slidenum">
              <a:rPr lang="en-US" smtClean="0"/>
              <a:t>‹#›</a:t>
            </a:fld>
            <a:endParaRPr lang="en-US"/>
          </a:p>
        </p:txBody>
      </p:sp>
    </p:spTree>
    <p:extLst>
      <p:ext uri="{BB962C8B-B14F-4D97-AF65-F5344CB8AC3E}">
        <p14:creationId xmlns:p14="http://schemas.microsoft.com/office/powerpoint/2010/main" val="311526334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113C2D7-4249-BEFD-ED1D-978DF45F24E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EA36C3-19B9-75F5-31AF-B0A628B512A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AE47E0-059F-2093-F61E-4905C8DD99C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150ED3-72BE-8C39-FA38-6231AB3C1F9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20676-6071-CB08-FA0D-BCB3BA646A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38420B-CC64-4373-BC36-5D0ED3FCA2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A02B9F-C28F-5EE2-0B52-7125FEB2B5E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222A38-FC1B-5FBB-8B06-1199B05802A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4D87AA-FEC6-4D1F-BF7F-69D39B6A26E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22584A-A561-B097-E378-BD26C009BC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E3CDBC-0F29-A215-0E35-4EB73166599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D169A5-F1D0-2F77-59AB-6757CFE29AE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3C81F7-9F6B-0647-2369-03EA7823F4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A1110A-327A-404C-71BD-0396F49774C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DB88EE-22D7-8C17-C0AB-0AED9A6CC7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C2813C-1720-983D-9931-ED3728134D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4271007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2039</Words>
  <Application>Microsoft Office PowerPoint</Application>
  <PresentationFormat>寬螢幕</PresentationFormat>
  <Paragraphs>90</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2026-08-07T17:00:23Z</dcterms:created>
  <dcterms:modified xsi:type="dcterms:W3CDTF">2026-10-19T15:42:51Z</dcterms:modified>
</cp:coreProperties>
</file>