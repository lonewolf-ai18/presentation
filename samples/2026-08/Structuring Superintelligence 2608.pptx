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F567A6-259C-44A4-9323-F41265DC2C19}" v="21" dt="2026-08-26T06:37:56.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8404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6T06:38:56.357" v="64" actId="166"/>
      <pc:docMkLst>
        <pc:docMk/>
      </pc:docMkLst>
      <pc:sldChg chg="addSp delSp modSp mod modAnim modNotesTx">
        <pc:chgData name="Lai, Wilson" userId="2840974a-0d84-4886-90a9-9a3ed79f3a48" providerId="ADAL" clId="{9F23B798-9E84-4552-BA63-E776E805C424}" dt="2026-08-26T06:38:56.357" v="64" actId="166"/>
        <pc:sldMkLst>
          <pc:docMk/>
          <pc:sldMk cId="0" sldId="257"/>
        </pc:sldMkLst>
        <pc:spChg chg="add mod">
          <ac:chgData name="Lai, Wilson" userId="2840974a-0d84-4886-90a9-9a3ed79f3a48" providerId="ADAL" clId="{9F23B798-9E84-4552-BA63-E776E805C424}" dt="2026-08-26T03:34:05.785" v="11" actId="164"/>
          <ac:spMkLst>
            <pc:docMk/>
            <pc:sldMk cId="0" sldId="257"/>
            <ac:spMk id="5" creationId="{D903B5A9-6D78-A800-E2AE-1E8A9A7A37B6}"/>
          </ac:spMkLst>
        </pc:spChg>
        <pc:grpChg chg="add mod">
          <ac:chgData name="Lai, Wilson" userId="2840974a-0d84-4886-90a9-9a3ed79f3a48" providerId="ADAL" clId="{9F23B798-9E84-4552-BA63-E776E805C424}" dt="2026-08-26T03:34:05.785" v="11" actId="164"/>
          <ac:grpSpMkLst>
            <pc:docMk/>
            <pc:sldMk cId="0" sldId="257"/>
            <ac:grpSpMk id="6" creationId="{90EBEA66-83E4-827B-91D3-A3D557D80C16}"/>
          </ac:grpSpMkLst>
        </pc:grpChg>
        <pc:picChg chg="del">
          <ac:chgData name="Lai, Wilson" userId="2840974a-0d84-4886-90a9-9a3ed79f3a48" providerId="ADAL" clId="{9F23B798-9E84-4552-BA63-E776E805C424}" dt="2026-08-26T03:58:43.237" v="12" actId="21"/>
          <ac:picMkLst>
            <pc:docMk/>
            <pc:sldMk cId="0" sldId="257"/>
            <ac:picMk id="2" creationId="{00000000-0000-0000-0000-000000000000}"/>
          </ac:picMkLst>
        </pc:picChg>
        <pc:picChg chg="add mod">
          <ac:chgData name="Lai, Wilson" userId="2840974a-0d84-4886-90a9-9a3ed79f3a48" providerId="ADAL" clId="{9F23B798-9E84-4552-BA63-E776E805C424}" dt="2026-08-26T03:34:05.785" v="11" actId="164"/>
          <ac:picMkLst>
            <pc:docMk/>
            <pc:sldMk cId="0" sldId="257"/>
            <ac:picMk id="3" creationId="{B3E1FEB1-C314-9F11-485A-219CB58E3DCF}"/>
          </ac:picMkLst>
        </pc:picChg>
        <pc:picChg chg="add ord">
          <ac:chgData name="Lai, Wilson" userId="2840974a-0d84-4886-90a9-9a3ed79f3a48" providerId="ADAL" clId="{9F23B798-9E84-4552-BA63-E776E805C424}" dt="2026-08-26T06:38:56.357" v="64" actId="166"/>
          <ac:picMkLst>
            <pc:docMk/>
            <pc:sldMk cId="0" sldId="257"/>
            <ac:picMk id="7" creationId="{253A7492-19B1-34DB-0B38-2B8750AD213A}"/>
          </ac:picMkLst>
        </pc:picChg>
      </pc:sldChg>
      <pc:sldChg chg="addSp delSp mod modNotesTx">
        <pc:chgData name="Lai, Wilson" userId="2840974a-0d84-4886-90a9-9a3ed79f3a48" providerId="ADAL" clId="{9F23B798-9E84-4552-BA63-E776E805C424}" dt="2026-08-26T06:35:17.496" v="47" actId="14"/>
        <pc:sldMkLst>
          <pc:docMk/>
          <pc:sldMk cId="0" sldId="258"/>
        </pc:sldMkLst>
        <pc:picChg chg="del">
          <ac:chgData name="Lai, Wilson" userId="2840974a-0d84-4886-90a9-9a3ed79f3a48" providerId="ADAL" clId="{9F23B798-9E84-4552-BA63-E776E805C424}" dt="2026-08-26T03:58:58.973" v="14" actId="21"/>
          <ac:picMkLst>
            <pc:docMk/>
            <pc:sldMk cId="0" sldId="258"/>
            <ac:picMk id="2" creationId="{00000000-0000-0000-0000-000000000000}"/>
          </ac:picMkLst>
        </pc:picChg>
        <pc:picChg chg="add">
          <ac:chgData name="Lai, Wilson" userId="2840974a-0d84-4886-90a9-9a3ed79f3a48" providerId="ADAL" clId="{9F23B798-9E84-4552-BA63-E776E805C424}" dt="2026-08-26T03:59:07.118" v="15" actId="22"/>
          <ac:picMkLst>
            <pc:docMk/>
            <pc:sldMk cId="0" sldId="258"/>
            <ac:picMk id="4" creationId="{62E2A804-2589-7688-F155-CE3EDF83C36F}"/>
          </ac:picMkLst>
        </pc:picChg>
      </pc:sldChg>
      <pc:sldChg chg="addSp delSp mod modNotesTx">
        <pc:chgData name="Lai, Wilson" userId="2840974a-0d84-4886-90a9-9a3ed79f3a48" providerId="ADAL" clId="{9F23B798-9E84-4552-BA63-E776E805C424}" dt="2026-08-26T06:35:31.419" v="49" actId="14"/>
        <pc:sldMkLst>
          <pc:docMk/>
          <pc:sldMk cId="0" sldId="259"/>
        </pc:sldMkLst>
        <pc:picChg chg="del">
          <ac:chgData name="Lai, Wilson" userId="2840974a-0d84-4886-90a9-9a3ed79f3a48" providerId="ADAL" clId="{9F23B798-9E84-4552-BA63-E776E805C424}" dt="2026-08-26T03:59:09.110" v="16" actId="21"/>
          <ac:picMkLst>
            <pc:docMk/>
            <pc:sldMk cId="0" sldId="259"/>
            <ac:picMk id="2" creationId="{00000000-0000-0000-0000-000000000000}"/>
          </ac:picMkLst>
        </pc:picChg>
        <pc:picChg chg="add">
          <ac:chgData name="Lai, Wilson" userId="2840974a-0d84-4886-90a9-9a3ed79f3a48" providerId="ADAL" clId="{9F23B798-9E84-4552-BA63-E776E805C424}" dt="2026-08-26T03:59:25.897" v="17" actId="22"/>
          <ac:picMkLst>
            <pc:docMk/>
            <pc:sldMk cId="0" sldId="259"/>
            <ac:picMk id="4" creationId="{7EECCF70-30FC-55CB-F750-86E2151ABB6E}"/>
          </ac:picMkLst>
        </pc:picChg>
      </pc:sldChg>
      <pc:sldChg chg="addSp delSp mod modNotesTx">
        <pc:chgData name="Lai, Wilson" userId="2840974a-0d84-4886-90a9-9a3ed79f3a48" providerId="ADAL" clId="{9F23B798-9E84-4552-BA63-E776E805C424}" dt="2026-08-26T06:35:43.388" v="51" actId="14"/>
        <pc:sldMkLst>
          <pc:docMk/>
          <pc:sldMk cId="0" sldId="260"/>
        </pc:sldMkLst>
        <pc:picChg chg="del">
          <ac:chgData name="Lai, Wilson" userId="2840974a-0d84-4886-90a9-9a3ed79f3a48" providerId="ADAL" clId="{9F23B798-9E84-4552-BA63-E776E805C424}" dt="2026-08-26T03:59:29.999" v="18" actId="21"/>
          <ac:picMkLst>
            <pc:docMk/>
            <pc:sldMk cId="0" sldId="260"/>
            <ac:picMk id="2" creationId="{00000000-0000-0000-0000-000000000000}"/>
          </ac:picMkLst>
        </pc:picChg>
        <pc:picChg chg="add">
          <ac:chgData name="Lai, Wilson" userId="2840974a-0d84-4886-90a9-9a3ed79f3a48" providerId="ADAL" clId="{9F23B798-9E84-4552-BA63-E776E805C424}" dt="2026-08-26T03:59:38.326" v="19" actId="22"/>
          <ac:picMkLst>
            <pc:docMk/>
            <pc:sldMk cId="0" sldId="260"/>
            <ac:picMk id="4" creationId="{01F6DB7F-89AD-FD36-489F-DC52CE9F2720}"/>
          </ac:picMkLst>
        </pc:picChg>
      </pc:sldChg>
      <pc:sldChg chg="addSp delSp mod modNotesTx">
        <pc:chgData name="Lai, Wilson" userId="2840974a-0d84-4886-90a9-9a3ed79f3a48" providerId="ADAL" clId="{9F23B798-9E84-4552-BA63-E776E805C424}" dt="2026-08-26T06:35:58.288" v="53" actId="14"/>
        <pc:sldMkLst>
          <pc:docMk/>
          <pc:sldMk cId="0" sldId="261"/>
        </pc:sldMkLst>
        <pc:picChg chg="del">
          <ac:chgData name="Lai, Wilson" userId="2840974a-0d84-4886-90a9-9a3ed79f3a48" providerId="ADAL" clId="{9F23B798-9E84-4552-BA63-E776E805C424}" dt="2026-08-26T03:59:40.300" v="20" actId="21"/>
          <ac:picMkLst>
            <pc:docMk/>
            <pc:sldMk cId="0" sldId="261"/>
            <ac:picMk id="2" creationId="{00000000-0000-0000-0000-000000000000}"/>
          </ac:picMkLst>
        </pc:picChg>
        <pc:picChg chg="add">
          <ac:chgData name="Lai, Wilson" userId="2840974a-0d84-4886-90a9-9a3ed79f3a48" providerId="ADAL" clId="{9F23B798-9E84-4552-BA63-E776E805C424}" dt="2026-08-26T03:59:52.052" v="21" actId="22"/>
          <ac:picMkLst>
            <pc:docMk/>
            <pc:sldMk cId="0" sldId="261"/>
            <ac:picMk id="4" creationId="{49CCBAA0-5BBB-1B76-E877-770A7EEE1DF0}"/>
          </ac:picMkLst>
        </pc:picChg>
      </pc:sldChg>
      <pc:sldChg chg="addSp delSp mod">
        <pc:chgData name="Lai, Wilson" userId="2840974a-0d84-4886-90a9-9a3ed79f3a48" providerId="ADAL" clId="{9F23B798-9E84-4552-BA63-E776E805C424}" dt="2026-08-26T04:00:02.926" v="23" actId="22"/>
        <pc:sldMkLst>
          <pc:docMk/>
          <pc:sldMk cId="0" sldId="262"/>
        </pc:sldMkLst>
        <pc:picChg chg="del">
          <ac:chgData name="Lai, Wilson" userId="2840974a-0d84-4886-90a9-9a3ed79f3a48" providerId="ADAL" clId="{9F23B798-9E84-4552-BA63-E776E805C424}" dt="2026-08-26T03:59:53.839" v="22" actId="21"/>
          <ac:picMkLst>
            <pc:docMk/>
            <pc:sldMk cId="0" sldId="262"/>
            <ac:picMk id="2" creationId="{00000000-0000-0000-0000-000000000000}"/>
          </ac:picMkLst>
        </pc:picChg>
        <pc:picChg chg="add">
          <ac:chgData name="Lai, Wilson" userId="2840974a-0d84-4886-90a9-9a3ed79f3a48" providerId="ADAL" clId="{9F23B798-9E84-4552-BA63-E776E805C424}" dt="2026-08-26T04:00:02.926" v="23" actId="22"/>
          <ac:picMkLst>
            <pc:docMk/>
            <pc:sldMk cId="0" sldId="262"/>
            <ac:picMk id="4" creationId="{0624A4E6-EE96-69E7-1C3C-46EBDAA2A72D}"/>
          </ac:picMkLst>
        </pc:picChg>
      </pc:sldChg>
      <pc:sldChg chg="addSp delSp mod modNotesTx">
        <pc:chgData name="Lai, Wilson" userId="2840974a-0d84-4886-90a9-9a3ed79f3a48" providerId="ADAL" clId="{9F23B798-9E84-4552-BA63-E776E805C424}" dt="2026-08-26T06:36:20.509" v="55" actId="14"/>
        <pc:sldMkLst>
          <pc:docMk/>
          <pc:sldMk cId="0" sldId="263"/>
        </pc:sldMkLst>
        <pc:picChg chg="del">
          <ac:chgData name="Lai, Wilson" userId="2840974a-0d84-4886-90a9-9a3ed79f3a48" providerId="ADAL" clId="{9F23B798-9E84-4552-BA63-E776E805C424}" dt="2026-08-26T04:00:05.185" v="24" actId="21"/>
          <ac:picMkLst>
            <pc:docMk/>
            <pc:sldMk cId="0" sldId="263"/>
            <ac:picMk id="2" creationId="{00000000-0000-0000-0000-000000000000}"/>
          </ac:picMkLst>
        </pc:picChg>
        <pc:picChg chg="add">
          <ac:chgData name="Lai, Wilson" userId="2840974a-0d84-4886-90a9-9a3ed79f3a48" providerId="ADAL" clId="{9F23B798-9E84-4552-BA63-E776E805C424}" dt="2026-08-26T04:00:13.362" v="25" actId="22"/>
          <ac:picMkLst>
            <pc:docMk/>
            <pc:sldMk cId="0" sldId="263"/>
            <ac:picMk id="4" creationId="{16E10A7A-14F4-AEDB-5084-12D0E196CDA8}"/>
          </ac:picMkLst>
        </pc:picChg>
      </pc:sldChg>
      <pc:sldChg chg="addSp delSp mod modNotesTx">
        <pc:chgData name="Lai, Wilson" userId="2840974a-0d84-4886-90a9-9a3ed79f3a48" providerId="ADAL" clId="{9F23B798-9E84-4552-BA63-E776E805C424}" dt="2026-08-26T06:36:38.941" v="57" actId="14"/>
        <pc:sldMkLst>
          <pc:docMk/>
          <pc:sldMk cId="0" sldId="264"/>
        </pc:sldMkLst>
        <pc:picChg chg="del">
          <ac:chgData name="Lai, Wilson" userId="2840974a-0d84-4886-90a9-9a3ed79f3a48" providerId="ADAL" clId="{9F23B798-9E84-4552-BA63-E776E805C424}" dt="2026-08-26T04:00:15.159" v="26" actId="21"/>
          <ac:picMkLst>
            <pc:docMk/>
            <pc:sldMk cId="0" sldId="264"/>
            <ac:picMk id="2" creationId="{00000000-0000-0000-0000-000000000000}"/>
          </ac:picMkLst>
        </pc:picChg>
        <pc:picChg chg="add">
          <ac:chgData name="Lai, Wilson" userId="2840974a-0d84-4886-90a9-9a3ed79f3a48" providerId="ADAL" clId="{9F23B798-9E84-4552-BA63-E776E805C424}" dt="2026-08-26T04:00:23.326" v="27" actId="22"/>
          <ac:picMkLst>
            <pc:docMk/>
            <pc:sldMk cId="0" sldId="264"/>
            <ac:picMk id="4" creationId="{D2745B4A-2BAC-97AC-3868-254E217FC505}"/>
          </ac:picMkLst>
        </pc:picChg>
      </pc:sldChg>
      <pc:sldChg chg="addSp delSp mod">
        <pc:chgData name="Lai, Wilson" userId="2840974a-0d84-4886-90a9-9a3ed79f3a48" providerId="ADAL" clId="{9F23B798-9E84-4552-BA63-E776E805C424}" dt="2026-08-26T04:00:32.738" v="29" actId="22"/>
        <pc:sldMkLst>
          <pc:docMk/>
          <pc:sldMk cId="0" sldId="265"/>
        </pc:sldMkLst>
        <pc:picChg chg="del">
          <ac:chgData name="Lai, Wilson" userId="2840974a-0d84-4886-90a9-9a3ed79f3a48" providerId="ADAL" clId="{9F23B798-9E84-4552-BA63-E776E805C424}" dt="2026-08-26T04:00:25.424" v="28" actId="21"/>
          <ac:picMkLst>
            <pc:docMk/>
            <pc:sldMk cId="0" sldId="265"/>
            <ac:picMk id="2" creationId="{00000000-0000-0000-0000-000000000000}"/>
          </ac:picMkLst>
        </pc:picChg>
        <pc:picChg chg="add">
          <ac:chgData name="Lai, Wilson" userId="2840974a-0d84-4886-90a9-9a3ed79f3a48" providerId="ADAL" clId="{9F23B798-9E84-4552-BA63-E776E805C424}" dt="2026-08-26T04:00:32.738" v="29" actId="22"/>
          <ac:picMkLst>
            <pc:docMk/>
            <pc:sldMk cId="0" sldId="265"/>
            <ac:picMk id="4" creationId="{98EAC808-2E94-665B-1BDF-5FBA44434692}"/>
          </ac:picMkLst>
        </pc:picChg>
      </pc:sldChg>
      <pc:sldChg chg="addSp delSp mod">
        <pc:chgData name="Lai, Wilson" userId="2840974a-0d84-4886-90a9-9a3ed79f3a48" providerId="ADAL" clId="{9F23B798-9E84-4552-BA63-E776E805C424}" dt="2026-08-26T04:00:41.132" v="31" actId="22"/>
        <pc:sldMkLst>
          <pc:docMk/>
          <pc:sldMk cId="0" sldId="266"/>
        </pc:sldMkLst>
        <pc:picChg chg="del">
          <ac:chgData name="Lai, Wilson" userId="2840974a-0d84-4886-90a9-9a3ed79f3a48" providerId="ADAL" clId="{9F23B798-9E84-4552-BA63-E776E805C424}" dt="2026-08-26T04:00:34.635" v="30" actId="21"/>
          <ac:picMkLst>
            <pc:docMk/>
            <pc:sldMk cId="0" sldId="266"/>
            <ac:picMk id="2" creationId="{00000000-0000-0000-0000-000000000000}"/>
          </ac:picMkLst>
        </pc:picChg>
        <pc:picChg chg="add">
          <ac:chgData name="Lai, Wilson" userId="2840974a-0d84-4886-90a9-9a3ed79f3a48" providerId="ADAL" clId="{9F23B798-9E84-4552-BA63-E776E805C424}" dt="2026-08-26T04:00:41.132" v="31" actId="22"/>
          <ac:picMkLst>
            <pc:docMk/>
            <pc:sldMk cId="0" sldId="266"/>
            <ac:picMk id="4" creationId="{AE545C63-083A-5463-1229-4CC31B7C8574}"/>
          </ac:picMkLst>
        </pc:picChg>
      </pc:sldChg>
      <pc:sldChg chg="addSp delSp mod">
        <pc:chgData name="Lai, Wilson" userId="2840974a-0d84-4886-90a9-9a3ed79f3a48" providerId="ADAL" clId="{9F23B798-9E84-4552-BA63-E776E805C424}" dt="2026-08-26T04:00:53.257" v="33" actId="22"/>
        <pc:sldMkLst>
          <pc:docMk/>
          <pc:sldMk cId="0" sldId="267"/>
        </pc:sldMkLst>
        <pc:picChg chg="del">
          <ac:chgData name="Lai, Wilson" userId="2840974a-0d84-4886-90a9-9a3ed79f3a48" providerId="ADAL" clId="{9F23B798-9E84-4552-BA63-E776E805C424}" dt="2026-08-26T04:00:43.205" v="32" actId="21"/>
          <ac:picMkLst>
            <pc:docMk/>
            <pc:sldMk cId="0" sldId="267"/>
            <ac:picMk id="2" creationId="{00000000-0000-0000-0000-000000000000}"/>
          </ac:picMkLst>
        </pc:picChg>
        <pc:picChg chg="add">
          <ac:chgData name="Lai, Wilson" userId="2840974a-0d84-4886-90a9-9a3ed79f3a48" providerId="ADAL" clId="{9F23B798-9E84-4552-BA63-E776E805C424}" dt="2026-08-26T04:00:53.257" v="33" actId="22"/>
          <ac:picMkLst>
            <pc:docMk/>
            <pc:sldMk cId="0" sldId="267"/>
            <ac:picMk id="4" creationId="{0EC7DA2C-B973-6B33-84C5-0EDA9D1922CA}"/>
          </ac:picMkLst>
        </pc:picChg>
      </pc:sldChg>
      <pc:sldChg chg="addSp delSp mod">
        <pc:chgData name="Lai, Wilson" userId="2840974a-0d84-4886-90a9-9a3ed79f3a48" providerId="ADAL" clId="{9F23B798-9E84-4552-BA63-E776E805C424}" dt="2026-08-26T04:01:01.911" v="35" actId="22"/>
        <pc:sldMkLst>
          <pc:docMk/>
          <pc:sldMk cId="0" sldId="268"/>
        </pc:sldMkLst>
        <pc:picChg chg="del">
          <ac:chgData name="Lai, Wilson" userId="2840974a-0d84-4886-90a9-9a3ed79f3a48" providerId="ADAL" clId="{9F23B798-9E84-4552-BA63-E776E805C424}" dt="2026-08-26T04:00:55.009" v="34" actId="21"/>
          <ac:picMkLst>
            <pc:docMk/>
            <pc:sldMk cId="0" sldId="268"/>
            <ac:picMk id="2" creationId="{00000000-0000-0000-0000-000000000000}"/>
          </ac:picMkLst>
        </pc:picChg>
        <pc:picChg chg="add">
          <ac:chgData name="Lai, Wilson" userId="2840974a-0d84-4886-90a9-9a3ed79f3a48" providerId="ADAL" clId="{9F23B798-9E84-4552-BA63-E776E805C424}" dt="2026-08-26T04:01:01.911" v="35" actId="22"/>
          <ac:picMkLst>
            <pc:docMk/>
            <pc:sldMk cId="0" sldId="268"/>
            <ac:picMk id="4" creationId="{2A559444-42F8-FCD3-C124-F58D264D05E6}"/>
          </ac:picMkLst>
        </pc:picChg>
      </pc:sldChg>
      <pc:sldChg chg="addSp delSp mod">
        <pc:chgData name="Lai, Wilson" userId="2840974a-0d84-4886-90a9-9a3ed79f3a48" providerId="ADAL" clId="{9F23B798-9E84-4552-BA63-E776E805C424}" dt="2026-08-26T04:01:10.529" v="37" actId="22"/>
        <pc:sldMkLst>
          <pc:docMk/>
          <pc:sldMk cId="0" sldId="269"/>
        </pc:sldMkLst>
        <pc:picChg chg="del">
          <ac:chgData name="Lai, Wilson" userId="2840974a-0d84-4886-90a9-9a3ed79f3a48" providerId="ADAL" clId="{9F23B798-9E84-4552-BA63-E776E805C424}" dt="2026-08-26T04:01:03.709" v="36" actId="21"/>
          <ac:picMkLst>
            <pc:docMk/>
            <pc:sldMk cId="0" sldId="269"/>
            <ac:picMk id="2" creationId="{00000000-0000-0000-0000-000000000000}"/>
          </ac:picMkLst>
        </pc:picChg>
        <pc:picChg chg="add">
          <ac:chgData name="Lai, Wilson" userId="2840974a-0d84-4886-90a9-9a3ed79f3a48" providerId="ADAL" clId="{9F23B798-9E84-4552-BA63-E776E805C424}" dt="2026-08-26T04:01:10.529" v="37" actId="22"/>
          <ac:picMkLst>
            <pc:docMk/>
            <pc:sldMk cId="0" sldId="269"/>
            <ac:picMk id="4" creationId="{E5C7DC54-5B4D-794D-489B-28CCA0D30D32}"/>
          </ac:picMkLst>
        </pc:picChg>
      </pc:sldChg>
      <pc:sldChg chg="addSp delSp mod modNotesTx">
        <pc:chgData name="Lai, Wilson" userId="2840974a-0d84-4886-90a9-9a3ed79f3a48" providerId="ADAL" clId="{9F23B798-9E84-4552-BA63-E776E805C424}" dt="2026-08-26T06:37:39.838" v="59" actId="14"/>
        <pc:sldMkLst>
          <pc:docMk/>
          <pc:sldMk cId="0" sldId="270"/>
        </pc:sldMkLst>
        <pc:picChg chg="del">
          <ac:chgData name="Lai, Wilson" userId="2840974a-0d84-4886-90a9-9a3ed79f3a48" providerId="ADAL" clId="{9F23B798-9E84-4552-BA63-E776E805C424}" dt="2026-08-26T04:01:12.449" v="38" actId="21"/>
          <ac:picMkLst>
            <pc:docMk/>
            <pc:sldMk cId="0" sldId="270"/>
            <ac:picMk id="2" creationId="{00000000-0000-0000-0000-000000000000}"/>
          </ac:picMkLst>
        </pc:picChg>
        <pc:picChg chg="add">
          <ac:chgData name="Lai, Wilson" userId="2840974a-0d84-4886-90a9-9a3ed79f3a48" providerId="ADAL" clId="{9F23B798-9E84-4552-BA63-E776E805C424}" dt="2026-08-26T04:01:20.289" v="39" actId="22"/>
          <ac:picMkLst>
            <pc:docMk/>
            <pc:sldMk cId="0" sldId="270"/>
            <ac:picMk id="4" creationId="{EC12DFBA-3779-8D5F-5939-4067E15D2FDA}"/>
          </ac:picMkLst>
        </pc:picChg>
      </pc:sldChg>
      <pc:sldChg chg="addSp delSp mod">
        <pc:chgData name="Lai, Wilson" userId="2840974a-0d84-4886-90a9-9a3ed79f3a48" providerId="ADAL" clId="{9F23B798-9E84-4552-BA63-E776E805C424}" dt="2026-08-26T04:01:35.196" v="41" actId="22"/>
        <pc:sldMkLst>
          <pc:docMk/>
          <pc:sldMk cId="0" sldId="271"/>
        </pc:sldMkLst>
        <pc:picChg chg="del">
          <ac:chgData name="Lai, Wilson" userId="2840974a-0d84-4886-90a9-9a3ed79f3a48" providerId="ADAL" clId="{9F23B798-9E84-4552-BA63-E776E805C424}" dt="2026-08-26T04:01:24.680" v="40" actId="21"/>
          <ac:picMkLst>
            <pc:docMk/>
            <pc:sldMk cId="0" sldId="271"/>
            <ac:picMk id="2" creationId="{00000000-0000-0000-0000-000000000000}"/>
          </ac:picMkLst>
        </pc:picChg>
        <pc:picChg chg="add">
          <ac:chgData name="Lai, Wilson" userId="2840974a-0d84-4886-90a9-9a3ed79f3a48" providerId="ADAL" clId="{9F23B798-9E84-4552-BA63-E776E805C424}" dt="2026-08-26T04:01:35.196" v="41" actId="22"/>
          <ac:picMkLst>
            <pc:docMk/>
            <pc:sldMk cId="0" sldId="271"/>
            <ac:picMk id="4" creationId="{43DDB168-E861-B098-B9B8-FEA39A5B9AF3}"/>
          </ac:picMkLst>
        </pc:picChg>
      </pc:sldChg>
      <pc:sldChg chg="addSp delSp mod modNotesTx">
        <pc:chgData name="Lai, Wilson" userId="2840974a-0d84-4886-90a9-9a3ed79f3a48" providerId="ADAL" clId="{9F23B798-9E84-4552-BA63-E776E805C424}" dt="2026-08-26T06:38:07.541" v="62" actId="12"/>
        <pc:sldMkLst>
          <pc:docMk/>
          <pc:sldMk cId="2789883764" sldId="272"/>
        </pc:sldMkLst>
        <pc:picChg chg="del">
          <ac:chgData name="Lai, Wilson" userId="2840974a-0d84-4886-90a9-9a3ed79f3a48" providerId="ADAL" clId="{9F23B798-9E84-4552-BA63-E776E805C424}" dt="2026-08-26T04:01:37.851" v="42" actId="21"/>
          <ac:picMkLst>
            <pc:docMk/>
            <pc:sldMk cId="2789883764" sldId="272"/>
            <ac:picMk id="3" creationId="{717B98F9-2083-5947-67CB-9786CCEAFD41}"/>
          </ac:picMkLst>
        </pc:picChg>
        <pc:picChg chg="add">
          <ac:chgData name="Lai, Wilson" userId="2840974a-0d84-4886-90a9-9a3ed79f3a48" providerId="ADAL" clId="{9F23B798-9E84-4552-BA63-E776E805C424}" dt="2026-08-26T04:01:49.592" v="43" actId="22"/>
          <ac:picMkLst>
            <pc:docMk/>
            <pc:sldMk cId="2789883764" sldId="272"/>
            <ac:picMk id="4" creationId="{61467F9C-00A5-C848-D4E4-8C6A8C0E22B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DD010B-8D3C-4B1B-8442-14C1D5A01E3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9CB729-0E9C-4AE4-8FEE-3AC87000EF87}" type="slidenum">
              <a:rPr lang="en-US" smtClean="0"/>
              <a:t>‹#›</a:t>
            </a:fld>
            <a:endParaRPr lang="en-US"/>
          </a:p>
        </p:txBody>
      </p:sp>
    </p:spTree>
    <p:extLst>
      <p:ext uri="{BB962C8B-B14F-4D97-AF65-F5344CB8AC3E}">
        <p14:creationId xmlns:p14="http://schemas.microsoft.com/office/powerpoint/2010/main" val="238365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r>
              <a:rPr lang="en-US" sz="1200" kern="1200" dirty="0">
                <a:solidFill>
                  <a:schemeClr val="tx1"/>
                </a:solidFill>
                <a:effectLst/>
                <a:latin typeface="+mn-lt"/>
                <a:ea typeface="+mn-ea"/>
                <a:cs typeface="+mn-cs"/>
              </a:rPr>
              <a:t> Welcome, everyone. Today we are tackling a fundamental architectural question: </a:t>
            </a:r>
            <a:r>
              <a:rPr lang="en-US" sz="1200" i="1" kern="1200" dirty="0">
                <a:solidFill>
                  <a:schemeClr val="tx1"/>
                </a:solidFill>
                <a:effectLst/>
                <a:latin typeface="+mn-lt"/>
                <a:ea typeface="+mn-ea"/>
                <a:cs typeface="+mn-cs"/>
              </a:rPr>
              <a:t>In an era dominated by large language models, agentic workflows, and the push toward superintelligence, do traditional database systems still have a future?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Context &amp; Core Debate:</a:t>
            </a:r>
            <a:r>
              <a:rPr lang="en-US" sz="1200" kern="1200" dirty="0">
                <a:solidFill>
                  <a:schemeClr val="tx1"/>
                </a:solidFill>
                <a:effectLst/>
                <a:latin typeface="+mn-lt"/>
                <a:ea typeface="+mn-ea"/>
                <a:cs typeface="+mn-cs"/>
              </a:rPr>
              <a:t> Many in AI argue that end-to-end differentiable neural models will simply compress and absorb all human knowledge, rendering structured relational storage obsolete. However, Turing Award Laureate Mike Stonebraker argues that real-world enterprise operations cannot function on probabilistic text alone. </a:t>
            </a:r>
          </a:p>
          <a:p>
            <a:pPr lvl="0"/>
            <a:r>
              <a:rPr lang="en-US" sz="1200" b="1" kern="1200" dirty="0">
                <a:solidFill>
                  <a:schemeClr val="tx1"/>
                </a:solidFill>
                <a:effectLst/>
                <a:latin typeface="+mn-lt"/>
                <a:ea typeface="+mn-ea"/>
                <a:cs typeface="+mn-cs"/>
              </a:rPr>
              <a:t>Roadmap:</a:t>
            </a:r>
            <a:r>
              <a:rPr lang="en-US" sz="1200" kern="1200" dirty="0">
                <a:solidFill>
                  <a:schemeClr val="tx1"/>
                </a:solidFill>
                <a:effectLst/>
                <a:latin typeface="+mn-lt"/>
                <a:ea typeface="+mn-ea"/>
                <a:cs typeface="+mn-cs"/>
              </a:rPr>
              <a:t> Over the next 16 slides, we will examine the collision between relational architecture and foundation models. We will explore the "Dark Matter" of enterprise data, why current AI agents fail in production, how database principles like ACID durability and Sagas save agentic systems, and how superintelligence might finally realize OS-level database integration.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The question isn't whether databases will survive, but how database theory must form the bedrock of reliable AI infrastructure. </a:t>
            </a:r>
          </a:p>
          <a:p>
            <a:endParaRPr lang="en-US" dirty="0"/>
          </a:p>
          <a:p>
            <a:endParaRPr lang="en-US" dirty="0"/>
          </a:p>
          <a:p>
            <a:r>
              <a:rPr lang="en-US" dirty="0"/>
              <a:t>https://www.youtube.com/watch?v=kgtZKAVWVEs</a:t>
            </a:r>
          </a:p>
        </p:txBody>
      </p:sp>
      <p:sp>
        <p:nvSpPr>
          <p:cNvPr id="4" name="Slide Number Placeholder 3"/>
          <p:cNvSpPr>
            <a:spLocks noGrp="1"/>
          </p:cNvSpPr>
          <p:nvPr>
            <p:ph type="sldNum" sz="quarter" idx="5"/>
          </p:nvPr>
        </p:nvSpPr>
        <p:spPr/>
        <p:txBody>
          <a:bodyPr/>
          <a:lstStyle/>
          <a:p>
            <a:fld id="{FEE15F04-F89F-4AD2-8176-F17BAB0006A2}" type="slidenum">
              <a:rPr lang="en-US" smtClean="0"/>
              <a:t>1</a:t>
            </a:fld>
            <a:endParaRPr lang="en-US"/>
          </a:p>
        </p:txBody>
      </p:sp>
    </p:spTree>
    <p:extLst>
      <p:ext uri="{BB962C8B-B14F-4D97-AF65-F5344CB8AC3E}">
        <p14:creationId xmlns:p14="http://schemas.microsoft.com/office/powerpoint/2010/main" val="3544278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 Breakdown:</a:t>
            </a:r>
            <a:r>
              <a:rPr lang="en-US" sz="1200" kern="1200" dirty="0">
                <a:solidFill>
                  <a:schemeClr val="tx1"/>
                </a:solidFill>
                <a:effectLst/>
                <a:latin typeface="+mn-lt"/>
                <a:ea typeface="+mn-ea"/>
                <a:cs typeface="+mn-cs"/>
              </a:rPr>
              <a:t> On the left, we have the </a:t>
            </a:r>
            <a:r>
              <a:rPr lang="en-US" sz="1200" i="1" kern="1200" dirty="0">
                <a:solidFill>
                  <a:schemeClr val="tx1"/>
                </a:solidFill>
                <a:effectLst/>
                <a:latin typeface="+mn-lt"/>
                <a:ea typeface="+mn-ea"/>
                <a:cs typeface="+mn-cs"/>
              </a:rPr>
              <a:t>Database Pragmatist</a:t>
            </a:r>
            <a:r>
              <a:rPr lang="en-US" sz="1200" kern="1200" dirty="0">
                <a:solidFill>
                  <a:schemeClr val="tx1"/>
                </a:solidFill>
                <a:effectLst/>
                <a:latin typeface="+mn-lt"/>
                <a:ea typeface="+mn-ea"/>
                <a:cs typeface="+mn-cs"/>
              </a:rPr>
              <a:t> worldview—a clean, deterministic relational matrix with immutable schemas, ACID guarantees, and precise relational joins. On the right, we have the </a:t>
            </a:r>
            <a:r>
              <a:rPr lang="en-US" sz="1200" i="1" kern="1200" dirty="0">
                <a:solidFill>
                  <a:schemeClr val="tx1"/>
                </a:solidFill>
                <a:effectLst/>
                <a:latin typeface="+mn-lt"/>
                <a:ea typeface="+mn-ea"/>
                <a:cs typeface="+mn-cs"/>
              </a:rPr>
              <a:t>AI Maximalist</a:t>
            </a:r>
            <a:r>
              <a:rPr lang="en-US" sz="1200" kern="1200" dirty="0">
                <a:solidFill>
                  <a:schemeClr val="tx1"/>
                </a:solidFill>
                <a:effectLst/>
                <a:latin typeface="+mn-lt"/>
                <a:ea typeface="+mn-ea"/>
                <a:cs typeface="+mn-cs"/>
              </a:rPr>
              <a:t> worldview—a high-dimensional, fluid web of compressible strings, </a:t>
            </a:r>
            <a:r>
              <a:rPr lang="en-US" sz="1200" kern="1200" dirty="0" err="1">
                <a:solidFill>
                  <a:schemeClr val="tx1"/>
                </a:solidFill>
                <a:effectLst/>
                <a:latin typeface="+mn-lt"/>
                <a:ea typeface="+mn-ea"/>
                <a:cs typeface="+mn-cs"/>
              </a:rPr>
              <a:t>subword</a:t>
            </a:r>
            <a:r>
              <a:rPr lang="en-US" sz="1200" kern="1200" dirty="0">
                <a:solidFill>
                  <a:schemeClr val="tx1"/>
                </a:solidFill>
                <a:effectLst/>
                <a:latin typeface="+mn-lt"/>
                <a:ea typeface="+mn-ea"/>
                <a:cs typeface="+mn-cs"/>
              </a:rPr>
              <a:t> tokens, and statistical correlations. </a:t>
            </a:r>
          </a:p>
          <a:p>
            <a:pPr lvl="0"/>
            <a:r>
              <a:rPr lang="en-US" sz="1200" b="1" kern="1200" dirty="0">
                <a:solidFill>
                  <a:schemeClr val="tx1"/>
                </a:solidFill>
                <a:effectLst/>
                <a:latin typeface="+mn-lt"/>
                <a:ea typeface="+mn-ea"/>
                <a:cs typeface="+mn-cs"/>
              </a:rPr>
              <a:t>The Philosophical Rift: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AI Maximalist View (Wissner-Gross):</a:t>
            </a:r>
            <a:r>
              <a:rPr lang="en-US" sz="1200" kern="1200" dirty="0">
                <a:solidFill>
                  <a:schemeClr val="tx1"/>
                </a:solidFill>
                <a:effectLst/>
                <a:latin typeface="+mn-lt"/>
                <a:ea typeface="+mn-ea"/>
                <a:cs typeface="+mn-cs"/>
              </a:rPr>
              <a:t> Intelligence is compressed knowledge. Foundation models process plain-text strings (Unicode/BPE tokens), treating all data as fluid, differentiable streams.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Database Pragmatist View (Stonebraker):</a:t>
            </a:r>
            <a:r>
              <a:rPr lang="en-US" sz="1200" kern="1200" dirty="0">
                <a:solidFill>
                  <a:schemeClr val="tx1"/>
                </a:solidFill>
                <a:effectLst/>
                <a:latin typeface="+mn-lt"/>
                <a:ea typeface="+mn-ea"/>
                <a:cs typeface="+mn-cs"/>
              </a:rPr>
              <a:t> Real-world business logic—financial ledgers, supply chains, user permissions—inherently demands rigid relational structure. Converting tables into flat text streams destroys their essential mathematical properties. </a:t>
            </a:r>
          </a:p>
          <a:p>
            <a:pPr lvl="0"/>
            <a:r>
              <a:rPr lang="en-US" sz="1200" b="1" kern="1200" dirty="0">
                <a:solidFill>
                  <a:schemeClr val="tx1"/>
                </a:solidFill>
                <a:effectLst/>
                <a:latin typeface="+mn-lt"/>
                <a:ea typeface="+mn-ea"/>
                <a:cs typeface="+mn-cs"/>
              </a:rPr>
              <a:t>The Technical Danger:</a:t>
            </a:r>
            <a:r>
              <a:rPr lang="en-US" sz="1200" kern="1200" dirty="0">
                <a:solidFill>
                  <a:schemeClr val="tx1"/>
                </a:solidFill>
                <a:effectLst/>
                <a:latin typeface="+mn-lt"/>
                <a:ea typeface="+mn-ea"/>
                <a:cs typeface="+mn-cs"/>
              </a:rPr>
              <a:t> When AI harnesses attempt to perform "joins" by feeding raw tabular data into an LLM context window, it conducts a </a:t>
            </a:r>
            <a:r>
              <a:rPr lang="en-US" sz="1200" b="1" kern="1200" dirty="0">
                <a:solidFill>
                  <a:schemeClr val="tx1"/>
                </a:solidFill>
                <a:effectLst/>
                <a:latin typeface="+mn-lt"/>
                <a:ea typeface="+mn-ea"/>
                <a:cs typeface="+mn-cs"/>
              </a:rPr>
              <a:t>text-to-text join</a:t>
            </a:r>
            <a:r>
              <a:rPr lang="en-US" sz="1200" kern="1200" dirty="0">
                <a:solidFill>
                  <a:schemeClr val="tx1"/>
                </a:solidFill>
                <a:effectLst/>
                <a:latin typeface="+mn-lt"/>
                <a:ea typeface="+mn-ea"/>
                <a:cs typeface="+mn-cs"/>
              </a:rPr>
              <a:t>. This process is inherently lossy, probabilistic, and vulnerable to hallucination. </a:t>
            </a:r>
          </a:p>
          <a:p>
            <a:pPr lvl="0"/>
            <a:r>
              <a:rPr lang="en-US" sz="1200" b="1" kern="1200" dirty="0">
                <a:solidFill>
                  <a:schemeClr val="tx1"/>
                </a:solidFill>
                <a:effectLst/>
                <a:latin typeface="+mn-lt"/>
                <a:ea typeface="+mn-ea"/>
                <a:cs typeface="+mn-cs"/>
              </a:rPr>
              <a:t>Call to Action/Transition:</a:t>
            </a:r>
            <a:r>
              <a:rPr lang="en-US" sz="1200" kern="1200" dirty="0">
                <a:solidFill>
                  <a:schemeClr val="tx1"/>
                </a:solidFill>
                <a:effectLst/>
                <a:latin typeface="+mn-lt"/>
                <a:ea typeface="+mn-ea"/>
                <a:cs typeface="+mn-cs"/>
              </a:rPr>
              <a:t> To understand why flat text fails for complex systems, we must look below the surface of public web data.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2</a:t>
            </a:fld>
            <a:endParaRPr lang="en-US"/>
          </a:p>
        </p:txBody>
      </p:sp>
    </p:spTree>
    <p:extLst>
      <p:ext uri="{BB962C8B-B14F-4D97-AF65-F5344CB8AC3E}">
        <p14:creationId xmlns:p14="http://schemas.microsoft.com/office/powerpoint/2010/main" val="2976322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Iceberg Metaphor:</a:t>
            </a:r>
            <a:r>
              <a:rPr lang="en-US" sz="1200" kern="1200" dirty="0">
                <a:solidFill>
                  <a:schemeClr val="tx1"/>
                </a:solidFill>
                <a:effectLst/>
                <a:latin typeface="+mn-lt"/>
                <a:ea typeface="+mn-ea"/>
                <a:cs typeface="+mn-cs"/>
              </a:rPr>
              <a:t> Public internet data—Reddit, Wikipedia, GitHub—is just the tip of the iceberg that trains foundation models like Claude or GPT. The vast majority of global data is "Dark Matter"—closely held, firewalled enterprise data warehouses. </a:t>
            </a:r>
          </a:p>
          <a:p>
            <a:pPr lvl="0"/>
            <a:r>
              <a:rPr lang="en-US" sz="1200" b="1" kern="1200" dirty="0">
                <a:solidFill>
                  <a:schemeClr val="tx1"/>
                </a:solidFill>
                <a:effectLst/>
                <a:latin typeface="+mn-lt"/>
                <a:ea typeface="+mn-ea"/>
                <a:cs typeface="+mn-cs"/>
              </a:rPr>
              <a:t>Four Core Enterprise Obstacles: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Firewalled Environments:</a:t>
            </a:r>
            <a:r>
              <a:rPr lang="en-US" sz="1200" kern="1200" dirty="0">
                <a:solidFill>
                  <a:schemeClr val="tx1"/>
                </a:solidFill>
                <a:effectLst/>
                <a:latin typeface="+mn-lt"/>
                <a:ea typeface="+mn-ea"/>
                <a:cs typeface="+mn-cs"/>
              </a:rPr>
              <a:t> Proprietary data is never exposed to public internet scrapers for LLM pre-training. </a:t>
            </a:r>
          </a:p>
          <a:p>
            <a:pPr marL="228600" lvl="0" indent="-228600">
              <a:buFont typeface="+mj-lt"/>
              <a:buAutoNum type="arabicPeriod"/>
            </a:pPr>
            <a:r>
              <a:rPr lang="en-US" sz="1200" b="1" kern="1200" dirty="0">
                <a:solidFill>
                  <a:schemeClr val="tx1"/>
                </a:solidFill>
                <a:effectLst/>
                <a:latin typeface="+mn-lt"/>
                <a:ea typeface="+mn-ea"/>
                <a:cs typeface="+mn-cs"/>
              </a:rPr>
              <a:t>Severe Schema Rot:</a:t>
            </a:r>
            <a:r>
              <a:rPr lang="en-US" sz="1200" kern="1200" dirty="0">
                <a:solidFill>
                  <a:schemeClr val="tx1"/>
                </a:solidFill>
                <a:effectLst/>
                <a:latin typeface="+mn-lt"/>
                <a:ea typeface="+mn-ea"/>
                <a:cs typeface="+mn-cs"/>
              </a:rPr>
              <a:t> Legacy production tables do not use neat names like employee or salary. They use non-mnemonic names like col_xyz_7 or tbl_p_q4, reflecting decades of technical debt. </a:t>
            </a:r>
          </a:p>
          <a:p>
            <a:pPr marL="228600" lvl="0" indent="-228600">
              <a:buFont typeface="+mj-lt"/>
              <a:buAutoNum type="arabicPeriod"/>
            </a:pPr>
            <a:r>
              <a:rPr lang="en-US" sz="1200" b="1" kern="1200" dirty="0">
                <a:solidFill>
                  <a:schemeClr val="tx1"/>
                </a:solidFill>
                <a:effectLst/>
                <a:latin typeface="+mn-lt"/>
                <a:ea typeface="+mn-ea"/>
                <a:cs typeface="+mn-cs"/>
              </a:rPr>
              <a:t>Idiosyncratic Semantics:</a:t>
            </a:r>
            <a:r>
              <a:rPr lang="en-US" sz="1200" kern="1200" dirty="0">
                <a:solidFill>
                  <a:schemeClr val="tx1"/>
                </a:solidFill>
                <a:effectLst/>
                <a:latin typeface="+mn-lt"/>
                <a:ea typeface="+mn-ea"/>
                <a:cs typeface="+mn-cs"/>
              </a:rPr>
              <a:t> Organizations rely on hyper-local domain knowledge. (e.g., MIT identifying buildings by numbers rather than names, or using terms like "J-term"). </a:t>
            </a:r>
          </a:p>
          <a:p>
            <a:pPr marL="228600" lvl="0" indent="-228600">
              <a:buFont typeface="+mj-lt"/>
              <a:buAutoNum type="arabicPeriod"/>
            </a:pPr>
            <a:r>
              <a:rPr lang="en-US" sz="1200" b="1" kern="1200" dirty="0">
                <a:solidFill>
                  <a:schemeClr val="tx1"/>
                </a:solidFill>
                <a:effectLst/>
                <a:latin typeface="+mn-lt"/>
                <a:ea typeface="+mn-ea"/>
                <a:cs typeface="+mn-cs"/>
              </a:rPr>
              <a:t>Extreme Structural Complexity:</a:t>
            </a:r>
            <a:r>
              <a:rPr lang="en-US" sz="1200" kern="1200" dirty="0">
                <a:solidFill>
                  <a:schemeClr val="tx1"/>
                </a:solidFill>
                <a:effectLst/>
                <a:latin typeface="+mn-lt"/>
                <a:ea typeface="+mn-ea"/>
                <a:cs typeface="+mn-cs"/>
              </a:rPr>
              <a:t> Benchmark tests like Spider or Bird use simple student queries. Enterprise systems routinely execute 4- to 5-way joins across thousands of tables.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Foundation models cannot reliably navigate enterprise data off-the-shelf because they lack exposure to this dark matter during pre-training.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3</a:t>
            </a:fld>
            <a:endParaRPr lang="en-US"/>
          </a:p>
        </p:txBody>
      </p:sp>
    </p:spTree>
    <p:extLst>
      <p:ext uri="{BB962C8B-B14F-4D97-AF65-F5344CB8AC3E}">
        <p14:creationId xmlns:p14="http://schemas.microsoft.com/office/powerpoint/2010/main" val="2319832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Comparative Breakdown:</a:t>
            </a:r>
            <a:r>
              <a:rPr lang="en-US" sz="1200" kern="1200" dirty="0">
                <a:solidFill>
                  <a:schemeClr val="tx1"/>
                </a:solidFill>
                <a:effectLst/>
                <a:latin typeface="+mn-lt"/>
                <a:ea typeface="+mn-ea"/>
                <a:cs typeface="+mn-cs"/>
              </a:rPr>
              <a:t> Let's compare Foundation Models and Relational Database Management Systems across four core dimensions: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Training/Source:</a:t>
            </a:r>
            <a:r>
              <a:rPr lang="en-US" sz="1200" kern="1200" dirty="0">
                <a:solidFill>
                  <a:schemeClr val="tx1"/>
                </a:solidFill>
                <a:effectLst/>
                <a:latin typeface="+mn-lt"/>
                <a:ea typeface="+mn-ea"/>
                <a:cs typeface="+mn-cs"/>
              </a:rPr>
              <a:t> LLMs rely on public internet text and open-source code; RDBMSs hold internal enterprise facts behind firewalls.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Semantic Clarity:</a:t>
            </a:r>
            <a:r>
              <a:rPr lang="en-US" sz="1200" kern="1200" dirty="0">
                <a:solidFill>
                  <a:schemeClr val="tx1"/>
                </a:solidFill>
                <a:effectLst/>
                <a:latin typeface="+mn-lt"/>
                <a:ea typeface="+mn-ea"/>
                <a:cs typeface="+mn-cs"/>
              </a:rPr>
              <a:t> LLMs infer meaning probabilistically (what token comes next?); RDBMSs enforce strictly defined, deterministic constraints.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Join Mechanism:</a:t>
            </a:r>
            <a:r>
              <a:rPr lang="en-US" sz="1200" kern="1200" dirty="0">
                <a:solidFill>
                  <a:schemeClr val="tx1"/>
                </a:solidFill>
                <a:effectLst/>
                <a:latin typeface="+mn-lt"/>
                <a:ea typeface="+mn-ea"/>
                <a:cs typeface="+mn-cs"/>
              </a:rPr>
              <a:t> LLMs perform lossy text-to-text synthesis; RDBMSs execute exact table-to-table relational operations.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Transactional State:</a:t>
            </a:r>
            <a:r>
              <a:rPr lang="en-US" sz="1200" kern="1200" dirty="0">
                <a:solidFill>
                  <a:schemeClr val="tx1"/>
                </a:solidFill>
                <a:effectLst/>
                <a:latin typeface="+mn-lt"/>
                <a:ea typeface="+mn-ea"/>
                <a:cs typeface="+mn-cs"/>
              </a:rPr>
              <a:t> LLMs operate within an ephemeral context window; RDBMSs maintain durable, ACID-compliant state. </a:t>
            </a:r>
          </a:p>
          <a:p>
            <a:pPr lvl="0"/>
            <a:r>
              <a:rPr lang="en-US" sz="1200" b="1" kern="1200" dirty="0">
                <a:solidFill>
                  <a:schemeClr val="tx1"/>
                </a:solidFill>
                <a:effectLst/>
                <a:latin typeface="+mn-lt"/>
                <a:ea typeface="+mn-ea"/>
                <a:cs typeface="+mn-cs"/>
              </a:rPr>
              <a:t>Strategic Insight:</a:t>
            </a:r>
            <a:r>
              <a:rPr lang="en-US" sz="1200" kern="1200" dirty="0">
                <a:solidFill>
                  <a:schemeClr val="tx1"/>
                </a:solidFill>
                <a:effectLst/>
                <a:latin typeface="+mn-lt"/>
                <a:ea typeface="+mn-ea"/>
                <a:cs typeface="+mn-cs"/>
              </a:rPr>
              <a:t> You cannot replace a deterministic ACID state engine with a probabilistic token predictor when accuracy and transactional safety are paramount.</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4</a:t>
            </a:fld>
            <a:endParaRPr lang="en-US"/>
          </a:p>
        </p:txBody>
      </p:sp>
    </p:spTree>
    <p:extLst>
      <p:ext uri="{BB962C8B-B14F-4D97-AF65-F5344CB8AC3E}">
        <p14:creationId xmlns:p14="http://schemas.microsoft.com/office/powerpoint/2010/main" val="34439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Real-World Case Study:</a:t>
            </a:r>
            <a:r>
              <a:rPr lang="en-US" sz="1200" kern="1200" dirty="0">
                <a:solidFill>
                  <a:schemeClr val="tx1"/>
                </a:solidFill>
                <a:effectLst/>
                <a:latin typeface="+mn-lt"/>
                <a:ea typeface="+mn-ea"/>
                <a:cs typeface="+mn-cs"/>
              </a:rPr>
              <a:t> To illustrate this structural divide, consider a real project from the City of Munich’s Department of Transportation. They attempted to build an AI agent system to answer citizen complaints regarding crosswalk timing. </a:t>
            </a:r>
          </a:p>
          <a:p>
            <a:pPr lvl="0"/>
            <a:r>
              <a:rPr lang="en-US" sz="1200" b="1" kern="1200" dirty="0">
                <a:solidFill>
                  <a:schemeClr val="tx1"/>
                </a:solidFill>
                <a:effectLst/>
                <a:latin typeface="+mn-lt"/>
                <a:ea typeface="+mn-ea"/>
                <a:cs typeface="+mn-cs"/>
              </a:rPr>
              <a:t>The Data Heterogeneity Problem:</a:t>
            </a:r>
            <a:r>
              <a:rPr lang="en-US" sz="1200" kern="1200" dirty="0">
                <a:solidFill>
                  <a:schemeClr val="tx1"/>
                </a:solidFill>
                <a:effectLst/>
                <a:latin typeface="+mn-lt"/>
                <a:ea typeface="+mn-ea"/>
                <a:cs typeface="+mn-cs"/>
              </a:rPr>
              <a:t> Answering a simple complaint ("I don't have enough time to cross") requires merging 5 disparate data modalities: </a:t>
            </a:r>
          </a:p>
          <a:p>
            <a:pPr marL="228600" lvl="0" indent="-228600">
              <a:buFont typeface="+mj-lt"/>
              <a:buAutoNum type="arabicPeriod"/>
            </a:pPr>
            <a:r>
              <a:rPr lang="en-US" sz="1200" i="1" kern="1200" dirty="0">
                <a:solidFill>
                  <a:schemeClr val="tx1"/>
                </a:solidFill>
                <a:effectLst/>
                <a:latin typeface="+mn-lt"/>
                <a:ea typeface="+mn-ea"/>
                <a:cs typeface="+mn-cs"/>
              </a:rPr>
              <a:t>City/State Rules &amp; Regulations</a:t>
            </a:r>
            <a:r>
              <a:rPr lang="en-US" sz="1200" kern="1200" dirty="0">
                <a:solidFill>
                  <a:schemeClr val="tx1"/>
                </a:solidFill>
                <a:effectLst/>
                <a:latin typeface="+mn-lt"/>
                <a:ea typeface="+mn-ea"/>
                <a:cs typeface="+mn-cs"/>
              </a:rPr>
              <a:t> (Unstructured Text). </a:t>
            </a:r>
          </a:p>
          <a:p>
            <a:pPr marL="228600" lvl="0" indent="-228600">
              <a:buFont typeface="+mj-lt"/>
              <a:buAutoNum type="arabicPeriod"/>
            </a:pPr>
            <a:r>
              <a:rPr lang="en-US" sz="1200" i="1" kern="1200" dirty="0">
                <a:solidFill>
                  <a:schemeClr val="tx1"/>
                </a:solidFill>
                <a:effectLst/>
                <a:latin typeface="+mn-lt"/>
                <a:ea typeface="+mn-ea"/>
                <a:cs typeface="+mn-cs"/>
              </a:rPr>
              <a:t>Intersection Blueprints</a:t>
            </a:r>
            <a:r>
              <a:rPr lang="en-US" sz="1200" kern="1200" dirty="0">
                <a:solidFill>
                  <a:schemeClr val="tx1"/>
                </a:solidFill>
                <a:effectLst/>
                <a:latin typeface="+mn-lt"/>
                <a:ea typeface="+mn-ea"/>
                <a:cs typeface="+mn-cs"/>
              </a:rPr>
              <a:t> (Spatial/CAD Geometry). </a:t>
            </a:r>
          </a:p>
          <a:p>
            <a:pPr marL="228600" lvl="0" indent="-228600">
              <a:buFont typeface="+mj-lt"/>
              <a:buAutoNum type="arabicPeriod"/>
            </a:pPr>
            <a:r>
              <a:rPr lang="en-US" sz="1200" i="1" kern="1200" dirty="0">
                <a:solidFill>
                  <a:schemeClr val="tx1"/>
                </a:solidFill>
                <a:effectLst/>
                <a:latin typeface="+mn-lt"/>
                <a:ea typeface="+mn-ea"/>
                <a:cs typeface="+mn-cs"/>
              </a:rPr>
              <a:t>Trolley Schedules</a:t>
            </a:r>
            <a:r>
              <a:rPr lang="en-US" sz="1200" kern="1200" dirty="0">
                <a:solidFill>
                  <a:schemeClr val="tx1"/>
                </a:solidFill>
                <a:effectLst/>
                <a:latin typeface="+mn-lt"/>
                <a:ea typeface="+mn-ea"/>
                <a:cs typeface="+mn-cs"/>
              </a:rPr>
              <a:t> (Time-Series). </a:t>
            </a:r>
          </a:p>
          <a:p>
            <a:pPr marL="228600" lvl="0" indent="-228600">
              <a:buFont typeface="+mj-lt"/>
              <a:buAutoNum type="arabicPeriod"/>
            </a:pPr>
            <a:r>
              <a:rPr lang="en-US" sz="1200" i="1" kern="1200" dirty="0">
                <a:solidFill>
                  <a:schemeClr val="tx1"/>
                </a:solidFill>
                <a:effectLst/>
                <a:latin typeface="+mn-lt"/>
                <a:ea typeface="+mn-ea"/>
                <a:cs typeface="+mn-cs"/>
              </a:rPr>
              <a:t>City Maps &amp; Locations</a:t>
            </a:r>
            <a:r>
              <a:rPr lang="en-US" sz="1200" kern="1200" dirty="0">
                <a:solidFill>
                  <a:schemeClr val="tx1"/>
                </a:solidFill>
                <a:effectLst/>
                <a:latin typeface="+mn-lt"/>
                <a:ea typeface="+mn-ea"/>
                <a:cs typeface="+mn-cs"/>
              </a:rPr>
              <a:t> (GIS Data). </a:t>
            </a:r>
          </a:p>
          <a:p>
            <a:pPr marL="228600" lvl="0" indent="-228600">
              <a:buFont typeface="+mj-lt"/>
              <a:buAutoNum type="arabicPeriod"/>
            </a:pPr>
            <a:r>
              <a:rPr lang="en-US" sz="1200" i="1" kern="1200" dirty="0">
                <a:solidFill>
                  <a:schemeClr val="tx1"/>
                </a:solidFill>
                <a:effectLst/>
                <a:latin typeface="+mn-lt"/>
                <a:ea typeface="+mn-ea"/>
                <a:cs typeface="+mn-cs"/>
              </a:rPr>
              <a:t>School Opening Times</a:t>
            </a:r>
            <a:r>
              <a:rPr lang="en-US" sz="1200" kern="1200" dirty="0">
                <a:solidFill>
                  <a:schemeClr val="tx1"/>
                </a:solidFill>
                <a:effectLst/>
                <a:latin typeface="+mn-lt"/>
                <a:ea typeface="+mn-ea"/>
                <a:cs typeface="+mn-cs"/>
              </a:rPr>
              <a:t> (Rule-Based Timetables). </a:t>
            </a:r>
          </a:p>
          <a:p>
            <a:pPr lvl="0"/>
            <a:r>
              <a:rPr lang="en-US" sz="1200" b="1" kern="1200" dirty="0">
                <a:solidFill>
                  <a:schemeClr val="tx1"/>
                </a:solidFill>
                <a:effectLst/>
                <a:latin typeface="+mn-lt"/>
                <a:ea typeface="+mn-ea"/>
                <a:cs typeface="+mn-cs"/>
              </a:rPr>
              <a:t>Why Traditional LLM Agents Failed:</a:t>
            </a:r>
            <a:r>
              <a:rPr lang="en-US" sz="1200" kern="1200" dirty="0">
                <a:solidFill>
                  <a:schemeClr val="tx1"/>
                </a:solidFill>
                <a:effectLst/>
                <a:latin typeface="+mn-lt"/>
                <a:ea typeface="+mn-ea"/>
                <a:cs typeface="+mn-cs"/>
              </a:rPr>
              <a:t> The agent framework converted spatial CAD, time-series, and GIS data into flat text strings to feed the LLM. Flattening multi-modal geometric and temporal data destroyed the structural integrity needed to compute the correct light sequence. </a:t>
            </a:r>
          </a:p>
          <a:p>
            <a:pPr lvl="0"/>
            <a:r>
              <a:rPr lang="en-US" sz="1200" b="1" kern="1200" dirty="0">
                <a:solidFill>
                  <a:schemeClr val="tx1"/>
                </a:solidFill>
                <a:effectLst/>
                <a:latin typeface="+mn-lt"/>
                <a:ea typeface="+mn-ea"/>
                <a:cs typeface="+mn-cs"/>
              </a:rPr>
              <a:t>Lesson:</a:t>
            </a:r>
            <a:r>
              <a:rPr lang="en-US" sz="1200" kern="1200" dirty="0">
                <a:solidFill>
                  <a:schemeClr val="tx1"/>
                </a:solidFill>
                <a:effectLst/>
                <a:latin typeface="+mn-lt"/>
                <a:ea typeface="+mn-ea"/>
                <a:cs typeface="+mn-cs"/>
              </a:rPr>
              <a:t> Enterprise AI cannot flatten structured data into plain text. It must retain relational and spatial representations natively.</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5</a:t>
            </a:fld>
            <a:endParaRPr lang="en-US"/>
          </a:p>
        </p:txBody>
      </p:sp>
    </p:spTree>
    <p:extLst>
      <p:ext uri="{BB962C8B-B14F-4D97-AF65-F5344CB8AC3E}">
        <p14:creationId xmlns:p14="http://schemas.microsoft.com/office/powerpoint/2010/main" val="1961022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Industry Reality:</a:t>
            </a:r>
            <a:r>
              <a:rPr lang="en-US" sz="1200" kern="1200" dirty="0">
                <a:solidFill>
                  <a:schemeClr val="tx1"/>
                </a:solidFill>
                <a:effectLst/>
                <a:latin typeface="+mn-lt"/>
                <a:ea typeface="+mn-ea"/>
                <a:cs typeface="+mn-cs"/>
              </a:rPr>
              <a:t> Today, everyone claims to be building "Agentic AI." In practice, most current agents are merely fragile, read-only scaffolding wrapped around an LLM core. </a:t>
            </a:r>
          </a:p>
          <a:p>
            <a:pPr lvl="0"/>
            <a:r>
              <a:rPr lang="en-US" sz="1200" b="1" kern="1200" dirty="0">
                <a:solidFill>
                  <a:schemeClr val="tx1"/>
                </a:solidFill>
                <a:effectLst/>
                <a:latin typeface="+mn-lt"/>
                <a:ea typeface="+mn-ea"/>
                <a:cs typeface="+mn-cs"/>
              </a:rPr>
              <a:t>Visual Critique:</a:t>
            </a:r>
            <a:r>
              <a:rPr lang="en-US" sz="1200" kern="1200" dirty="0">
                <a:solidFill>
                  <a:schemeClr val="tx1"/>
                </a:solidFill>
                <a:effectLst/>
                <a:latin typeface="+mn-lt"/>
                <a:ea typeface="+mn-ea"/>
                <a:cs typeface="+mn-cs"/>
              </a:rPr>
              <a:t> The graphic illustrates the reality: a central LLM core surrounded by makeshift "junk and harnesses"—prompt templates, API wrappers, and ad-hoc retries. </a:t>
            </a:r>
          </a:p>
          <a:p>
            <a:pPr lvl="0"/>
            <a:r>
              <a:rPr lang="en-US" sz="1200" b="1" kern="1200" dirty="0">
                <a:solidFill>
                  <a:schemeClr val="tx1"/>
                </a:solidFill>
                <a:effectLst/>
                <a:latin typeface="+mn-lt"/>
                <a:ea typeface="+mn-ea"/>
                <a:cs typeface="+mn-cs"/>
              </a:rPr>
              <a:t>The Computational Bottleneck:</a:t>
            </a:r>
            <a:r>
              <a:rPr lang="en-US" sz="1200" kern="1200" dirty="0">
                <a:solidFill>
                  <a:schemeClr val="tx1"/>
                </a:solidFill>
                <a:effectLst/>
                <a:latin typeface="+mn-lt"/>
                <a:ea typeface="+mn-ea"/>
                <a:cs typeface="+mn-cs"/>
              </a:rPr>
              <a:t> LLMs are computationally expensive and lack native state management. When an agent executes a multi-step, long-running workflow, a single network timeout, rate limit, or model hallucination causes the entire system to crash without a recovery mechanism. </a:t>
            </a:r>
          </a:p>
          <a:p>
            <a:pPr lvl="0"/>
            <a:r>
              <a:rPr lang="en-US" sz="1200" b="1" kern="1200" dirty="0">
                <a:solidFill>
                  <a:schemeClr val="tx1"/>
                </a:solidFill>
                <a:effectLst/>
                <a:latin typeface="+mn-lt"/>
                <a:ea typeface="+mn-ea"/>
                <a:cs typeface="+mn-cs"/>
              </a:rPr>
              <a:t>The Missing Architecture:</a:t>
            </a:r>
            <a:r>
              <a:rPr lang="en-US" sz="1200" kern="1200" dirty="0">
                <a:solidFill>
                  <a:schemeClr val="tx1"/>
                </a:solidFill>
                <a:effectLst/>
                <a:latin typeface="+mn-lt"/>
                <a:ea typeface="+mn-ea"/>
                <a:cs typeface="+mn-cs"/>
              </a:rPr>
              <a:t> Reliable agentic systems require </a:t>
            </a:r>
            <a:r>
              <a:rPr lang="en-US" sz="1200" b="1" kern="1200" dirty="0">
                <a:solidFill>
                  <a:schemeClr val="tx1"/>
                </a:solidFill>
                <a:effectLst/>
                <a:latin typeface="+mn-lt"/>
                <a:ea typeface="+mn-ea"/>
                <a:cs typeface="+mn-cs"/>
              </a:rPr>
              <a:t>Durable Execution</a:t>
            </a:r>
            <a:r>
              <a:rPr lang="en-US" sz="1200" kern="1200" dirty="0">
                <a:solidFill>
                  <a:schemeClr val="tx1"/>
                </a:solidFill>
                <a:effectLst/>
                <a:latin typeface="+mn-lt"/>
                <a:ea typeface="+mn-ea"/>
                <a:cs typeface="+mn-cs"/>
              </a:rPr>
              <a:t>: State Management, Deterministic Logic, Durable Execution, Transaction Commits, and Result Verification.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6</a:t>
            </a:fld>
            <a:endParaRPr lang="en-US"/>
          </a:p>
        </p:txBody>
      </p:sp>
    </p:spTree>
    <p:extLst>
      <p:ext uri="{BB962C8B-B14F-4D97-AF65-F5344CB8AC3E}">
        <p14:creationId xmlns:p14="http://schemas.microsoft.com/office/powerpoint/2010/main" val="200482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Write Problem:</a:t>
                </a:r>
                <a:r>
                  <a:rPr lang="en-US" sz="1200" kern="1200" dirty="0">
                    <a:solidFill>
                      <a:schemeClr val="tx1"/>
                    </a:solidFill>
                    <a:effectLst/>
                    <a:latin typeface="+mn-lt"/>
                    <a:ea typeface="+mn-ea"/>
                    <a:cs typeface="+mn-cs"/>
                  </a:rPr>
                  <a:t> Read-only agents are safe, but useful agents must </a:t>
                </a:r>
                <a:r>
                  <a:rPr lang="en-US" sz="1200" i="1" kern="1200" dirty="0">
                    <a:solidFill>
                      <a:schemeClr val="tx1"/>
                    </a:solidFill>
                    <a:effectLst/>
                    <a:latin typeface="+mn-lt"/>
                    <a:ea typeface="+mn-ea"/>
                    <a:cs typeface="+mn-cs"/>
                  </a:rPr>
                  <a:t>write</a:t>
                </a:r>
                <a:r>
                  <a:rPr lang="en-US" sz="1200" kern="1200" dirty="0">
                    <a:solidFill>
                      <a:schemeClr val="tx1"/>
                    </a:solidFill>
                    <a:effectLst/>
                    <a:latin typeface="+mn-lt"/>
                    <a:ea typeface="+mn-ea"/>
                    <a:cs typeface="+mn-cs"/>
                  </a:rPr>
                  <a:t> to the real world—updating payroll, placing orders, and modifying inventory. What happens when an agent mid-workflow errors out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committing a step? </a:t>
                </a:r>
              </a:p>
              <a:p>
                <a:pPr lvl="0"/>
                <a:r>
                  <a:rPr lang="en-US" sz="1200" b="1" kern="1200" dirty="0">
                    <a:solidFill>
                      <a:schemeClr val="tx1"/>
                    </a:solidFill>
                    <a:effectLst/>
                    <a:latin typeface="+mn-lt"/>
                    <a:ea typeface="+mn-ea"/>
                    <a:cs typeface="+mn-cs"/>
                  </a:rPr>
                  <a:t>Why Standard Rollbacks Fail:</a:t>
                </a:r>
                <a:r>
                  <a:rPr lang="en-US" sz="1200" kern="1200" dirty="0">
                    <a:solidFill>
                      <a:schemeClr val="tx1"/>
                    </a:solidFill>
                    <a:effectLst/>
                    <a:latin typeface="+mn-lt"/>
                    <a:ea typeface="+mn-ea"/>
                    <a:cs typeface="+mn-cs"/>
                  </a:rPr>
                  <a:t> You cannot simply overwrite the database state to "undo" step 2. In an active enterprise system, another process or user may have updated that exact row in the interim. </a:t>
                </a:r>
              </a:p>
              <a:p>
                <a:pPr lvl="0"/>
                <a:r>
                  <a:rPr lang="en-US" sz="1200" b="1" kern="1200" dirty="0">
                    <a:solidFill>
                      <a:schemeClr val="tx1"/>
                    </a:solidFill>
                    <a:effectLst/>
                    <a:latin typeface="+mn-lt"/>
                    <a:ea typeface="+mn-ea"/>
                    <a:cs typeface="+mn-cs"/>
                  </a:rPr>
                  <a:t>The Solution — Sagas (Garcia-Molina &amp; Salem, 1985):</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Decades ago, database theorists solved distributed long-running operations using </a:t>
                </a:r>
                <a:r>
                  <a:rPr lang="en-US" sz="1200" b="1" kern="1200" dirty="0">
                    <a:solidFill>
                      <a:schemeClr val="tx1"/>
                    </a:solidFill>
                    <a:effectLst/>
                    <a:latin typeface="+mn-lt"/>
                    <a:ea typeface="+mn-ea"/>
                    <a:cs typeface="+mn-cs"/>
                  </a:rPr>
                  <a:t>Sagas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Saga manages a sequence of local transactions. If a downstream step fails, it executes a series of </a:t>
                </a:r>
                <a:r>
                  <a:rPr lang="en-US" sz="1200" b="1" kern="1200" dirty="0">
                    <a:solidFill>
                      <a:schemeClr val="tx1"/>
                    </a:solidFill>
                    <a:effectLst/>
                    <a:latin typeface="+mn-lt"/>
                    <a:ea typeface="+mn-ea"/>
                    <a:cs typeface="+mn-cs"/>
                  </a:rPr>
                  <a:t>Logical </a:t>
                </a:r>
                <a:r>
                  <a:rPr lang="en-US" sz="1200" b="1" kern="1200" dirty="0" err="1">
                    <a:solidFill>
                      <a:schemeClr val="tx1"/>
                    </a:solidFill>
                    <a:effectLst/>
                    <a:latin typeface="+mn-lt"/>
                    <a:ea typeface="+mn-ea"/>
                    <a:cs typeface="+mn-cs"/>
                  </a:rPr>
                  <a:t>Undos</a:t>
                </a:r>
                <a:r>
                  <a:rPr lang="en-US" sz="1200" kern="1200" dirty="0">
                    <a:solidFill>
                      <a:schemeClr val="tx1"/>
                    </a:solidFill>
                    <a:effectLst/>
                    <a:latin typeface="+mn-lt"/>
                    <a:ea typeface="+mn-ea"/>
                    <a:cs typeface="+mn-cs"/>
                  </a:rPr>
                  <a:t> (compensating transactions) in reverse order. </a:t>
                </a:r>
              </a:p>
              <a:p>
                <a:pPr lvl="0"/>
                <a:r>
                  <a:rPr lang="en-US" sz="1200" b="1" kern="1200" dirty="0">
                    <a:solidFill>
                      <a:schemeClr val="tx1"/>
                    </a:solidFill>
                    <a:effectLst/>
                    <a:latin typeface="+mn-lt"/>
                    <a:ea typeface="+mn-ea"/>
                    <a:cs typeface="+mn-cs"/>
                  </a:rPr>
                  <a:t>The E-Commerce Bicycle Example: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Stock Check</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2. </a:t>
                </a:r>
                <a:r>
                  <a:rPr lang="en-US" sz="1200" i="1" kern="1200" dirty="0">
                    <a:solidFill>
                      <a:schemeClr val="tx1"/>
                    </a:solidFill>
                    <a:effectLst/>
                    <a:latin typeface="+mn-lt"/>
                    <a:ea typeface="+mn-ea"/>
                    <a:cs typeface="+mn-cs"/>
                  </a:rPr>
                  <a:t>Credit Check</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3. </a:t>
                </a:r>
                <a:r>
                  <a:rPr lang="en-US" sz="1200" i="1" kern="1200" dirty="0">
                    <a:solidFill>
                      <a:schemeClr val="tx1"/>
                    </a:solidFill>
                    <a:effectLst/>
                    <a:latin typeface="+mn-lt"/>
                    <a:ea typeface="+mn-ea"/>
                    <a:cs typeface="+mn-cs"/>
                  </a:rPr>
                  <a:t>Process Payment</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4. </a:t>
                </a:r>
                <a:r>
                  <a:rPr lang="en-US" sz="1200" i="1" kern="1200" dirty="0">
                    <a:solidFill>
                      <a:schemeClr val="tx1"/>
                    </a:solidFill>
                    <a:effectLst/>
                    <a:latin typeface="+mn-lt"/>
                    <a:ea typeface="+mn-ea"/>
                    <a:cs typeface="+mn-cs"/>
                  </a:rPr>
                  <a:t>Fulfillment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t>
                </a:r>
                <a:r>
                  <a:rPr lang="en-US" sz="1200" i="1" kern="1200" dirty="0">
                    <a:solidFill>
                      <a:schemeClr val="tx1"/>
                    </a:solidFill>
                    <a:effectLst/>
                    <a:latin typeface="+mn-lt"/>
                    <a:ea typeface="+mn-ea"/>
                    <a:cs typeface="+mn-cs"/>
                  </a:rPr>
                  <a:t>Fulfillment</a:t>
                </a:r>
                <a:r>
                  <a:rPr lang="en-US" sz="1200" kern="1200" dirty="0">
                    <a:solidFill>
                      <a:schemeClr val="tx1"/>
                    </a:solidFill>
                    <a:effectLst/>
                    <a:latin typeface="+mn-lt"/>
                    <a:ea typeface="+mn-ea"/>
                    <a:cs typeface="+mn-cs"/>
                  </a:rPr>
                  <a:t> fails due to an invalid shipping address, the agent cannot just crash. It must trigger a compensating transaction (Logical Undo) to refund the credit card charge. </a:t>
                </a:r>
              </a:p>
              <a:p>
                <a:pPr lvl="0"/>
                <a:r>
                  <a:rPr lang="en-US" sz="1200" b="1" kern="1200" dirty="0">
                    <a:solidFill>
                      <a:schemeClr val="tx1"/>
                    </a:solidFill>
                    <a:effectLst/>
                    <a:latin typeface="+mn-lt"/>
                    <a:ea typeface="+mn-ea"/>
                    <a:cs typeface="+mn-cs"/>
                  </a:rPr>
                  <a:t>Core Principle:</a:t>
                </a:r>
                <a:r>
                  <a:rPr lang="en-US" sz="1200" kern="1200" dirty="0">
                    <a:solidFill>
                      <a:schemeClr val="tx1"/>
                    </a:solidFill>
                    <a:effectLst/>
                    <a:latin typeface="+mn-lt"/>
                    <a:ea typeface="+mn-ea"/>
                    <a:cs typeface="+mn-cs"/>
                  </a:rPr>
                  <a:t> Workflows must be </a:t>
                </a:r>
                <a:r>
                  <a:rPr lang="en-US" sz="1200" b="1" kern="1200" dirty="0">
                    <a:solidFill>
                      <a:schemeClr val="tx1"/>
                    </a:solidFill>
                    <a:effectLst/>
                    <a:latin typeface="+mn-lt"/>
                    <a:ea typeface="+mn-ea"/>
                    <a:cs typeface="+mn-cs"/>
                  </a:rPr>
                  <a:t>Atomic</a:t>
                </a:r>
                <a:r>
                  <a:rPr lang="en-US" sz="1200" kern="1200" dirty="0">
                    <a:solidFill>
                      <a:schemeClr val="tx1"/>
                    </a:solidFill>
                    <a:effectLst/>
                    <a:latin typeface="+mn-lt"/>
                    <a:ea typeface="+mn-ea"/>
                    <a:cs typeface="+mn-cs"/>
                  </a:rPr>
                  <a:t>—they run fully to completion or leave the system as if they never happened.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Write Problem:</a:t>
                </a:r>
                <a:r>
                  <a:rPr lang="en-US" sz="1200" kern="1200" dirty="0">
                    <a:solidFill>
                      <a:schemeClr val="tx1"/>
                    </a:solidFill>
                    <a:effectLst/>
                    <a:latin typeface="+mn-lt"/>
                    <a:ea typeface="+mn-ea"/>
                    <a:cs typeface="+mn-cs"/>
                  </a:rPr>
                  <a:t> Read-only agents are safe, but useful agents must </a:t>
                </a:r>
                <a:r>
                  <a:rPr lang="en-US" sz="1200" i="1" kern="1200" dirty="0">
                    <a:solidFill>
                      <a:schemeClr val="tx1"/>
                    </a:solidFill>
                    <a:effectLst/>
                    <a:latin typeface="+mn-lt"/>
                    <a:ea typeface="+mn-ea"/>
                    <a:cs typeface="+mn-cs"/>
                  </a:rPr>
                  <a:t>write</a:t>
                </a:r>
                <a:r>
                  <a:rPr lang="en-US" sz="1200" kern="1200" dirty="0">
                    <a:solidFill>
                      <a:schemeClr val="tx1"/>
                    </a:solidFill>
                    <a:effectLst/>
                    <a:latin typeface="+mn-lt"/>
                    <a:ea typeface="+mn-ea"/>
                    <a:cs typeface="+mn-cs"/>
                  </a:rPr>
                  <a:t> to the real world—updating payroll, placing orders, and modifying inventory. What happens when an agent mid-workflow errors out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committing a step? </a:t>
                </a:r>
              </a:p>
              <a:p>
                <a:pPr lvl="0"/>
                <a:r>
                  <a:rPr lang="en-US" sz="1200" b="1" kern="1200" dirty="0">
                    <a:solidFill>
                      <a:schemeClr val="tx1"/>
                    </a:solidFill>
                    <a:effectLst/>
                    <a:latin typeface="+mn-lt"/>
                    <a:ea typeface="+mn-ea"/>
                    <a:cs typeface="+mn-cs"/>
                  </a:rPr>
                  <a:t>Why Standard Rollbacks Fail:</a:t>
                </a:r>
                <a:r>
                  <a:rPr lang="en-US" sz="1200" kern="1200" dirty="0">
                    <a:solidFill>
                      <a:schemeClr val="tx1"/>
                    </a:solidFill>
                    <a:effectLst/>
                    <a:latin typeface="+mn-lt"/>
                    <a:ea typeface="+mn-ea"/>
                    <a:cs typeface="+mn-cs"/>
                  </a:rPr>
                  <a:t> You cannot simply overwrite the database state to "undo" step 2. In an active enterprise system, another process or user may have updated that exact row in the interim. </a:t>
                </a:r>
              </a:p>
              <a:p>
                <a:pPr lvl="0"/>
                <a:r>
                  <a:rPr lang="en-US" sz="1200" b="1" kern="1200" dirty="0">
                    <a:solidFill>
                      <a:schemeClr val="tx1"/>
                    </a:solidFill>
                    <a:effectLst/>
                    <a:latin typeface="+mn-lt"/>
                    <a:ea typeface="+mn-ea"/>
                    <a:cs typeface="+mn-cs"/>
                  </a:rPr>
                  <a:t>The Solution — Sagas (Garcia-Molina &amp; Salem, 1985):</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Decades ago, database theorists solved distributed long-running operations using </a:t>
                </a:r>
                <a:r>
                  <a:rPr lang="en-US" sz="1200" b="1" kern="1200" dirty="0">
                    <a:solidFill>
                      <a:schemeClr val="tx1"/>
                    </a:solidFill>
                    <a:effectLst/>
                    <a:latin typeface="+mn-lt"/>
                    <a:ea typeface="+mn-ea"/>
                    <a:cs typeface="+mn-cs"/>
                  </a:rPr>
                  <a:t>Sagas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Saga manages a sequence of local transactions. If a downstream step fails, it executes a series of </a:t>
                </a:r>
                <a:r>
                  <a:rPr lang="en-US" sz="1200" b="1" kern="1200" dirty="0">
                    <a:solidFill>
                      <a:schemeClr val="tx1"/>
                    </a:solidFill>
                    <a:effectLst/>
                    <a:latin typeface="+mn-lt"/>
                    <a:ea typeface="+mn-ea"/>
                    <a:cs typeface="+mn-cs"/>
                  </a:rPr>
                  <a:t>Logical </a:t>
                </a:r>
                <a:r>
                  <a:rPr lang="en-US" sz="1200" b="1" kern="1200" dirty="0" err="1">
                    <a:solidFill>
                      <a:schemeClr val="tx1"/>
                    </a:solidFill>
                    <a:effectLst/>
                    <a:latin typeface="+mn-lt"/>
                    <a:ea typeface="+mn-ea"/>
                    <a:cs typeface="+mn-cs"/>
                  </a:rPr>
                  <a:t>Undos</a:t>
                </a:r>
                <a:r>
                  <a:rPr lang="en-US" sz="1200" kern="1200" dirty="0">
                    <a:solidFill>
                      <a:schemeClr val="tx1"/>
                    </a:solidFill>
                    <a:effectLst/>
                    <a:latin typeface="+mn-lt"/>
                    <a:ea typeface="+mn-ea"/>
                    <a:cs typeface="+mn-cs"/>
                  </a:rPr>
                  <a:t> (compensating transactions) in reverse order. </a:t>
                </a:r>
              </a:p>
              <a:p>
                <a:pPr lvl="0"/>
                <a:r>
                  <a:rPr lang="en-US" sz="1200" b="1" kern="1200" dirty="0">
                    <a:solidFill>
                      <a:schemeClr val="tx1"/>
                    </a:solidFill>
                    <a:effectLst/>
                    <a:latin typeface="+mn-lt"/>
                    <a:ea typeface="+mn-ea"/>
                    <a:cs typeface="+mn-cs"/>
                  </a:rPr>
                  <a:t>The E-Commerce Bicycle Example: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Stock Check</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2. </a:t>
                </a:r>
                <a:r>
                  <a:rPr lang="en-US" sz="1200" i="1" kern="1200" dirty="0">
                    <a:solidFill>
                      <a:schemeClr val="tx1"/>
                    </a:solidFill>
                    <a:effectLst/>
                    <a:latin typeface="+mn-lt"/>
                    <a:ea typeface="+mn-ea"/>
                    <a:cs typeface="+mn-cs"/>
                  </a:rPr>
                  <a:t>Credit Check</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3. </a:t>
                </a:r>
                <a:r>
                  <a:rPr lang="en-US" sz="1200" i="1" kern="1200" dirty="0">
                    <a:solidFill>
                      <a:schemeClr val="tx1"/>
                    </a:solidFill>
                    <a:effectLst/>
                    <a:latin typeface="+mn-lt"/>
                    <a:ea typeface="+mn-ea"/>
                    <a:cs typeface="+mn-cs"/>
                  </a:rPr>
                  <a:t>Process Payment</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4. </a:t>
                </a:r>
                <a:r>
                  <a:rPr lang="en-US" sz="1200" i="1" kern="1200" dirty="0">
                    <a:solidFill>
                      <a:schemeClr val="tx1"/>
                    </a:solidFill>
                    <a:effectLst/>
                    <a:latin typeface="+mn-lt"/>
                    <a:ea typeface="+mn-ea"/>
                    <a:cs typeface="+mn-cs"/>
                  </a:rPr>
                  <a:t>Fulfillment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t>
                </a:r>
                <a:r>
                  <a:rPr lang="en-US" sz="1200" i="1" kern="1200" dirty="0">
                    <a:solidFill>
                      <a:schemeClr val="tx1"/>
                    </a:solidFill>
                    <a:effectLst/>
                    <a:latin typeface="+mn-lt"/>
                    <a:ea typeface="+mn-ea"/>
                    <a:cs typeface="+mn-cs"/>
                  </a:rPr>
                  <a:t>Fulfillment</a:t>
                </a:r>
                <a:r>
                  <a:rPr lang="en-US" sz="1200" kern="1200" dirty="0">
                    <a:solidFill>
                      <a:schemeClr val="tx1"/>
                    </a:solidFill>
                    <a:effectLst/>
                    <a:latin typeface="+mn-lt"/>
                    <a:ea typeface="+mn-ea"/>
                    <a:cs typeface="+mn-cs"/>
                  </a:rPr>
                  <a:t> fails due to an invalid shipping address, the agent cannot just crash. It must trigger a compensating transaction (Logical Undo) to refund the credit card charge. </a:t>
                </a:r>
              </a:p>
              <a:p>
                <a:pPr lvl="0"/>
                <a:r>
                  <a:rPr lang="en-US" sz="1200" b="1" kern="1200" dirty="0">
                    <a:solidFill>
                      <a:schemeClr val="tx1"/>
                    </a:solidFill>
                    <a:effectLst/>
                    <a:latin typeface="+mn-lt"/>
                    <a:ea typeface="+mn-ea"/>
                    <a:cs typeface="+mn-cs"/>
                  </a:rPr>
                  <a:t>Core Principle:</a:t>
                </a:r>
                <a:r>
                  <a:rPr lang="en-US" sz="1200" kern="1200" dirty="0">
                    <a:solidFill>
                      <a:schemeClr val="tx1"/>
                    </a:solidFill>
                    <a:effectLst/>
                    <a:latin typeface="+mn-lt"/>
                    <a:ea typeface="+mn-ea"/>
                    <a:cs typeface="+mn-cs"/>
                  </a:rPr>
                  <a:t> Workflows must be </a:t>
                </a:r>
                <a:r>
                  <a:rPr lang="en-US" sz="1200" b="1" kern="1200" dirty="0">
                    <a:solidFill>
                      <a:schemeClr val="tx1"/>
                    </a:solidFill>
                    <a:effectLst/>
                    <a:latin typeface="+mn-lt"/>
                    <a:ea typeface="+mn-ea"/>
                    <a:cs typeface="+mn-cs"/>
                  </a:rPr>
                  <a:t>Atomic</a:t>
                </a:r>
                <a:r>
                  <a:rPr lang="en-US" sz="1200" kern="1200" dirty="0">
                    <a:solidFill>
                      <a:schemeClr val="tx1"/>
                    </a:solidFill>
                    <a:effectLst/>
                    <a:latin typeface="+mn-lt"/>
                    <a:ea typeface="+mn-ea"/>
                    <a:cs typeface="+mn-cs"/>
                  </a:rPr>
                  <a:t>—they run fully to completion or leave the system as if they never happened. </a:t>
                </a:r>
              </a:p>
              <a:p>
                <a:endParaRPr lang="en-US" dirty="0"/>
              </a:p>
            </p:txBody>
          </p:sp>
        </mc:Fallback>
      </mc:AlternateContent>
      <p:sp>
        <p:nvSpPr>
          <p:cNvPr id="4" name="Slide Number Placeholder 3"/>
          <p:cNvSpPr>
            <a:spLocks noGrp="1"/>
          </p:cNvSpPr>
          <p:nvPr>
            <p:ph type="sldNum" sz="quarter" idx="5"/>
          </p:nvPr>
        </p:nvSpPr>
        <p:spPr/>
        <p:txBody>
          <a:bodyPr/>
          <a:lstStyle/>
          <a:p>
            <a:fld id="{7C9CB729-0E9C-4AE4-8FEE-3AC87000EF87}" type="slidenum">
              <a:rPr lang="en-US" smtClean="0"/>
              <a:t>7</a:t>
            </a:fld>
            <a:endParaRPr lang="en-US"/>
          </a:p>
        </p:txBody>
      </p:sp>
    </p:spTree>
    <p:extLst>
      <p:ext uri="{BB962C8B-B14F-4D97-AF65-F5344CB8AC3E}">
        <p14:creationId xmlns:p14="http://schemas.microsoft.com/office/powerpoint/2010/main" val="3611486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Traditional Architecture:</a:t>
            </a:r>
            <a:r>
              <a:rPr lang="en-US" sz="1200" kern="1200" dirty="0">
                <a:solidFill>
                  <a:schemeClr val="tx1"/>
                </a:solidFill>
                <a:effectLst/>
                <a:latin typeface="+mn-lt"/>
                <a:ea typeface="+mn-ea"/>
                <a:cs typeface="+mn-cs"/>
              </a:rPr>
              <a:t> Traditionally, operating systems (e.g., Linux) sit at the base, running databases as user-space applications. </a:t>
            </a:r>
          </a:p>
          <a:p>
            <a:pPr lvl="0"/>
            <a:r>
              <a:rPr lang="en-US" sz="1200" b="1" kern="1200" dirty="0">
                <a:solidFill>
                  <a:schemeClr val="tx1"/>
                </a:solidFill>
                <a:effectLst/>
                <a:latin typeface="+mn-lt"/>
                <a:ea typeface="+mn-ea"/>
                <a:cs typeface="+mn-cs"/>
              </a:rPr>
              <a:t>The DBOS Paradigm Shift:</a:t>
            </a:r>
            <a:r>
              <a:rPr lang="en-US" sz="1200" kern="1200" dirty="0">
                <a:solidFill>
                  <a:schemeClr val="tx1"/>
                </a:solidFill>
                <a:effectLst/>
                <a:latin typeface="+mn-lt"/>
                <a:ea typeface="+mn-ea"/>
                <a:cs typeface="+mn-cs"/>
              </a:rPr>
              <a:t> DBOS (Database Operating System) inverts this stack. The Operating System itself becomes an application running on top of a high-performance database kernel. </a:t>
            </a:r>
          </a:p>
          <a:p>
            <a:pPr lvl="0"/>
            <a:r>
              <a:rPr lang="en-US" sz="1200" b="1" kern="1200" dirty="0">
                <a:solidFill>
                  <a:schemeClr val="tx1"/>
                </a:solidFill>
                <a:effectLst/>
                <a:latin typeface="+mn-lt"/>
                <a:ea typeface="+mn-ea"/>
                <a:cs typeface="+mn-cs"/>
              </a:rPr>
              <a:t>Why Invert the Stack?</a:t>
            </a:r>
            <a:r>
              <a:rPr lang="en-US" sz="1200" kern="1200" dirty="0">
                <a:solidFill>
                  <a:schemeClr val="tx1"/>
                </a:solidFill>
                <a:effectLst/>
                <a:latin typeface="+mn-lt"/>
                <a:ea typeface="+mn-ea"/>
                <a:cs typeface="+mn-cs"/>
              </a:rPr>
              <a:t> By storing OS state, thread scheduling, file metadata, and process states inside a database, the operating system natively inherits: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Native state durability.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Fault tolerance and effortless recovery.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High-scalability distributed scheduling. </a:t>
            </a:r>
          </a:p>
          <a:p>
            <a:pPr lvl="0"/>
            <a:r>
              <a:rPr lang="en-US" sz="1200" b="1" kern="1200" dirty="0">
                <a:solidFill>
                  <a:schemeClr val="tx1"/>
                </a:solidFill>
                <a:effectLst/>
                <a:latin typeface="+mn-lt"/>
                <a:ea typeface="+mn-ea"/>
                <a:cs typeface="+mn-cs"/>
              </a:rPr>
              <a:t>Relevance to AI:</a:t>
            </a:r>
            <a:r>
              <a:rPr lang="en-US" sz="1200" kern="1200" dirty="0">
                <a:solidFill>
                  <a:schemeClr val="tx1"/>
                </a:solidFill>
                <a:effectLst/>
                <a:latin typeface="+mn-lt"/>
                <a:ea typeface="+mn-ea"/>
                <a:cs typeface="+mn-cs"/>
              </a:rPr>
              <a:t> This delivers the exact </a:t>
            </a:r>
            <a:r>
              <a:rPr lang="en-US" sz="1200" b="1" kern="1200" dirty="0">
                <a:solidFill>
                  <a:schemeClr val="tx1"/>
                </a:solidFill>
                <a:effectLst/>
                <a:latin typeface="+mn-lt"/>
                <a:ea typeface="+mn-ea"/>
                <a:cs typeface="+mn-cs"/>
              </a:rPr>
              <a:t>Durable Execution layer</a:t>
            </a:r>
            <a:r>
              <a:rPr lang="en-US" sz="1200" kern="1200" dirty="0">
                <a:solidFill>
                  <a:schemeClr val="tx1"/>
                </a:solidFill>
                <a:effectLst/>
                <a:latin typeface="+mn-lt"/>
                <a:ea typeface="+mn-ea"/>
                <a:cs typeface="+mn-cs"/>
              </a:rPr>
              <a:t> (the 'D' in ACID) required for long-running, computationally expensive agentic AI workflows.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8</a:t>
            </a:fld>
            <a:endParaRPr lang="en-US"/>
          </a:p>
        </p:txBody>
      </p:sp>
    </p:spTree>
    <p:extLst>
      <p:ext uri="{BB962C8B-B14F-4D97-AF65-F5344CB8AC3E}">
        <p14:creationId xmlns:p14="http://schemas.microsoft.com/office/powerpoint/2010/main" val="2427655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 (Microsoft Longhorn):</a:t>
            </a:r>
            <a:r>
              <a:rPr lang="en-US" sz="1200" kern="1200" dirty="0">
                <a:solidFill>
                  <a:schemeClr val="tx1"/>
                </a:solidFill>
                <a:effectLst/>
                <a:latin typeface="+mn-lt"/>
                <a:ea typeface="+mn-ea"/>
                <a:cs typeface="+mn-cs"/>
              </a:rPr>
              <a:t> In the early 2000s, Microsoft attempted to rebuild Windows (Longhorn) on a relational storage engine. It failed due to feature creep, management challenges, and the burden of maintaining thousands of hardware device drivers. </a:t>
            </a:r>
          </a:p>
          <a:p>
            <a:pPr lvl="0"/>
            <a:r>
              <a:rPr lang="en-US" sz="1200" b="1" kern="1200" dirty="0">
                <a:solidFill>
                  <a:schemeClr val="tx1"/>
                </a:solidFill>
                <a:effectLst/>
                <a:latin typeface="+mn-lt"/>
                <a:ea typeface="+mn-ea"/>
                <a:cs typeface="+mn-cs"/>
              </a:rPr>
              <a:t>The Present Opportunity:</a:t>
            </a:r>
            <a:r>
              <a:rPr lang="en-US" sz="1200" kern="1200" dirty="0">
                <a:solidFill>
                  <a:schemeClr val="tx1"/>
                </a:solidFill>
                <a:effectLst/>
                <a:latin typeface="+mn-lt"/>
                <a:ea typeface="+mn-ea"/>
                <a:cs typeface="+mn-cs"/>
              </a:rPr>
              <a:t> Frontier AI models shift the engineering economics. Rewriting monolithic legacy kernels (like Linux) into memory-safe languages (like Rust) with a database core was once a multi-decade impossible project. </a:t>
            </a:r>
          </a:p>
          <a:p>
            <a:pPr lvl="0"/>
            <a:r>
              <a:rPr lang="en-US" sz="1200" b="1" kern="1200" dirty="0">
                <a:solidFill>
                  <a:schemeClr val="tx1"/>
                </a:solidFill>
                <a:effectLst/>
                <a:latin typeface="+mn-lt"/>
                <a:ea typeface="+mn-ea"/>
                <a:cs typeface="+mn-cs"/>
              </a:rPr>
              <a:t>AI-Assisted Kernel Development:</a:t>
            </a:r>
            <a:r>
              <a:rPr lang="en-US" sz="1200" kern="1200" dirty="0">
                <a:solidFill>
                  <a:schemeClr val="tx1"/>
                </a:solidFill>
                <a:effectLst/>
                <a:latin typeface="+mn-lt"/>
                <a:ea typeface="+mn-ea"/>
                <a:cs typeface="+mn-cs"/>
              </a:rPr>
              <a:t> AI can systematically refactor legacy code bases step-by-step, wrapping state changes inside explicit database transactions (as shown in the code snippet).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AI transforms the realization of a database-backed operating system from a pipe dream into a feasible engineering endeavor.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9</a:t>
            </a:fld>
            <a:endParaRPr lang="en-US"/>
          </a:p>
        </p:txBody>
      </p:sp>
    </p:spTree>
    <p:extLst>
      <p:ext uri="{BB962C8B-B14F-4D97-AF65-F5344CB8AC3E}">
        <p14:creationId xmlns:p14="http://schemas.microsoft.com/office/powerpoint/2010/main" val="1607329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Enterprise Burden:</a:t>
            </a:r>
            <a:r>
              <a:rPr lang="en-US" sz="1200" kern="1200" dirty="0">
                <a:solidFill>
                  <a:schemeClr val="tx1"/>
                </a:solidFill>
                <a:effectLst/>
                <a:latin typeface="+mn-lt"/>
                <a:ea typeface="+mn-ea"/>
                <a:cs typeface="+mn-cs"/>
              </a:rPr>
              <a:t> Major enterprises allocate up to 95% of their IT budgets toward maintaining legacy code bases (COBOL, outdated mainframes) and gluing together disparate data silos from past acquisitions. </a:t>
            </a:r>
          </a:p>
          <a:p>
            <a:pPr lvl="0"/>
            <a:r>
              <a:rPr lang="en-US" sz="1200" b="1" kern="1200" dirty="0">
                <a:solidFill>
                  <a:schemeClr val="tx1"/>
                </a:solidFill>
                <a:effectLst/>
                <a:latin typeface="+mn-lt"/>
                <a:ea typeface="+mn-ea"/>
                <a:cs typeface="+mn-cs"/>
              </a:rPr>
              <a:t>Silo Accumulation:</a:t>
            </a:r>
            <a:r>
              <a:rPr lang="en-US" sz="1200" kern="1200" dirty="0">
                <a:solidFill>
                  <a:schemeClr val="tx1"/>
                </a:solidFill>
                <a:effectLst/>
                <a:latin typeface="+mn-lt"/>
                <a:ea typeface="+mn-ea"/>
                <a:cs typeface="+mn-cs"/>
              </a:rPr>
              <a:t> When an enterprise acquires a company, integrating its systems is often deemed too expensive. Instead, they build another data silo around it, compounding technical debt. </a:t>
            </a:r>
          </a:p>
          <a:p>
            <a:pPr lvl="0"/>
            <a:r>
              <a:rPr lang="en-US" sz="1200" b="1" kern="1200" dirty="0">
                <a:solidFill>
                  <a:schemeClr val="tx1"/>
                </a:solidFill>
                <a:effectLst/>
                <a:latin typeface="+mn-lt"/>
                <a:ea typeface="+mn-ea"/>
                <a:cs typeface="+mn-cs"/>
              </a:rPr>
              <a:t>The Holy Grail for AI:</a:t>
            </a:r>
            <a:r>
              <a:rPr lang="en-US" sz="1200" kern="1200" dirty="0">
                <a:solidFill>
                  <a:schemeClr val="tx1"/>
                </a:solidFill>
                <a:effectLst/>
                <a:latin typeface="+mn-lt"/>
                <a:ea typeface="+mn-ea"/>
                <a:cs typeface="+mn-cs"/>
              </a:rPr>
              <a:t> The highest-value enterprise application for foundation models is not generating basic marketing copy or simple chat interfaces. It is executing </a:t>
            </a:r>
            <a:r>
              <a:rPr lang="en-US" sz="1200" b="1" kern="1200" dirty="0">
                <a:solidFill>
                  <a:schemeClr val="tx1"/>
                </a:solidFill>
                <a:effectLst/>
                <a:latin typeface="+mn-lt"/>
                <a:ea typeface="+mn-ea"/>
                <a:cs typeface="+mn-cs"/>
              </a:rPr>
              <a:t>upfront, systematic code refactoring and data integration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"Technical Debt Holiday":</a:t>
            </a:r>
            <a:r>
              <a:rPr lang="en-US" sz="1200" kern="1200" dirty="0">
                <a:solidFill>
                  <a:schemeClr val="tx1"/>
                </a:solidFill>
                <a:effectLst/>
                <a:latin typeface="+mn-lt"/>
                <a:ea typeface="+mn-ea"/>
                <a:cs typeface="+mn-cs"/>
              </a:rPr>
              <a:t> AI agents can automate the retirement of legacy COBOL and siloing code, freeing up enterprise capital for genuine innovation.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10</a:t>
            </a:fld>
            <a:endParaRPr lang="en-US"/>
          </a:p>
        </p:txBody>
      </p:sp>
    </p:spTree>
    <p:extLst>
      <p:ext uri="{BB962C8B-B14F-4D97-AF65-F5344CB8AC3E}">
        <p14:creationId xmlns:p14="http://schemas.microsoft.com/office/powerpoint/2010/main" val="3998266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Myth:</a:t>
            </a:r>
            <a:r>
              <a:rPr lang="en-US" sz="1200" kern="1200" dirty="0">
                <a:solidFill>
                  <a:schemeClr val="tx1"/>
                </a:solidFill>
                <a:effectLst/>
                <a:latin typeface="+mn-lt"/>
                <a:ea typeface="+mn-ea"/>
                <a:cs typeface="+mn-cs"/>
              </a:rPr>
              <a:t> Graph databases (e.g., Neo4j) are inherently superior for handling complex, interconnected networks. </a:t>
            </a:r>
          </a:p>
          <a:p>
            <a:pPr lvl="0"/>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As shown in database research ("What Goes Around Comes Around"), representing a graph via flat relational tables—a Nodes table and an Edges table—consistently outperforms native graph engines for general queries. Systems like Amazon Neptune even implement relational table structures under the hood. </a:t>
            </a:r>
          </a:p>
          <a:p>
            <a:pPr lvl="0"/>
            <a:r>
              <a:rPr lang="en-US" sz="1200" b="1" kern="1200" dirty="0">
                <a:solidFill>
                  <a:schemeClr val="tx1"/>
                </a:solidFill>
                <a:effectLst/>
                <a:latin typeface="+mn-lt"/>
                <a:ea typeface="+mn-ea"/>
                <a:cs typeface="+mn-cs"/>
              </a:rPr>
              <a:t>The Performance Exception:</a:t>
            </a:r>
            <a:r>
              <a:rPr lang="en-US" sz="1200" kern="1200" dirty="0">
                <a:solidFill>
                  <a:schemeClr val="tx1"/>
                </a:solidFill>
                <a:effectLst/>
                <a:latin typeface="+mn-lt"/>
                <a:ea typeface="+mn-ea"/>
                <a:cs typeface="+mn-cs"/>
              </a:rPr>
              <a:t> Native graph/specialized structures only win in niche edge cases—such as main-memory algorithmic routing (e.g., computing shortest paths).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Relational tabular representations remain the most efficient general-purpose abstraction for interconnected data. </a:t>
            </a:r>
          </a:p>
        </p:txBody>
      </p:sp>
      <p:sp>
        <p:nvSpPr>
          <p:cNvPr id="4" name="Slide Number Placeholder 3"/>
          <p:cNvSpPr>
            <a:spLocks noGrp="1"/>
          </p:cNvSpPr>
          <p:nvPr>
            <p:ph type="sldNum" sz="quarter" idx="5"/>
          </p:nvPr>
        </p:nvSpPr>
        <p:spPr/>
        <p:txBody>
          <a:bodyPr/>
          <a:lstStyle/>
          <a:p>
            <a:fld id="{7C9CB729-0E9C-4AE4-8FEE-3AC87000EF87}" type="slidenum">
              <a:rPr lang="en-US" smtClean="0"/>
              <a:t>11</a:t>
            </a:fld>
            <a:endParaRPr lang="en-US"/>
          </a:p>
        </p:txBody>
      </p:sp>
    </p:spTree>
    <p:extLst>
      <p:ext uri="{BB962C8B-B14F-4D97-AF65-F5344CB8AC3E}">
        <p14:creationId xmlns:p14="http://schemas.microsoft.com/office/powerpoint/2010/main" val="877838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Strategy:</a:t>
            </a:r>
            <a:r>
              <a:rPr lang="en-US" sz="1200" kern="1200" dirty="0">
                <a:solidFill>
                  <a:schemeClr val="tx1"/>
                </a:solidFill>
                <a:effectLst/>
                <a:latin typeface="+mn-lt"/>
                <a:ea typeface="+mn-ea"/>
                <a:cs typeface="+mn-cs"/>
              </a:rPr>
              <a:t> Mike Stonebraker released the original Postgres source code into the public domain at UC Berkeley to encourage adoption. A volunteer community added SQL support, giving rise to PostgreSQL. </a:t>
            </a:r>
          </a:p>
          <a:p>
            <a:pPr lvl="0"/>
            <a:r>
              <a:rPr lang="en-US" sz="1200" b="1" kern="1200" dirty="0">
                <a:solidFill>
                  <a:schemeClr val="tx1"/>
                </a:solidFill>
                <a:effectLst/>
                <a:latin typeface="+mn-lt"/>
                <a:ea typeface="+mn-ea"/>
                <a:cs typeface="+mn-cs"/>
              </a:rPr>
              <a:t>The Victory of Neutral Infrastructure:</a:t>
            </a:r>
            <a:r>
              <a:rPr lang="en-US" sz="1200" kern="1200" dirty="0">
                <a:solidFill>
                  <a:schemeClr val="tx1"/>
                </a:solidFill>
                <a:effectLst/>
                <a:latin typeface="+mn-lt"/>
                <a:ea typeface="+mn-ea"/>
                <a:cs typeface="+mn-cs"/>
              </a:rPr>
              <a:t> PostgreSQL dominates modern software development precisely because </a:t>
            </a:r>
            <a:r>
              <a:rPr lang="en-US" sz="1200" b="1" kern="1200" dirty="0">
                <a:solidFill>
                  <a:schemeClr val="tx1"/>
                </a:solidFill>
                <a:effectLst/>
                <a:latin typeface="+mn-lt"/>
                <a:ea typeface="+mn-ea"/>
                <a:cs typeface="+mn-cs"/>
              </a:rPr>
              <a:t>no single corporate entity owns it</a:t>
            </a:r>
            <a:r>
              <a:rPr lang="en-US" sz="1200" kern="1200" dirty="0">
                <a:solidFill>
                  <a:schemeClr val="tx1"/>
                </a:solidFill>
                <a:effectLst/>
                <a:latin typeface="+mn-lt"/>
                <a:ea typeface="+mn-ea"/>
                <a:cs typeface="+mn-cs"/>
              </a:rPr>
              <a:t>. When Oracle acquired MySQL, developers migrated toward PostgreSQL as a safe, neutral standard. </a:t>
            </a:r>
          </a:p>
          <a:p>
            <a:pPr lvl="0"/>
            <a:r>
              <a:rPr lang="en-US" sz="1200" b="1" kern="1200" dirty="0">
                <a:solidFill>
                  <a:schemeClr val="tx1"/>
                </a:solidFill>
                <a:effectLst/>
                <a:latin typeface="+mn-lt"/>
                <a:ea typeface="+mn-ea"/>
                <a:cs typeface="+mn-cs"/>
              </a:rPr>
              <a:t>The Open Source Lesson:</a:t>
            </a:r>
            <a:r>
              <a:rPr lang="en-US" sz="1200" kern="1200" dirty="0">
                <a:solidFill>
                  <a:schemeClr val="tx1"/>
                </a:solidFill>
                <a:effectLst/>
                <a:latin typeface="+mn-lt"/>
                <a:ea typeface="+mn-ea"/>
                <a:cs typeface="+mn-cs"/>
              </a:rPr>
              <a:t> Proprietary ecosystem lock-in eventually drives developers toward un-owned, community-driven infrastructure.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12</a:t>
            </a:fld>
            <a:endParaRPr lang="en-US"/>
          </a:p>
        </p:txBody>
      </p:sp>
    </p:spTree>
    <p:extLst>
      <p:ext uri="{BB962C8B-B14F-4D97-AF65-F5344CB8AC3E}">
        <p14:creationId xmlns:p14="http://schemas.microsoft.com/office/powerpoint/2010/main" val="3041550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Model Convergence:</a:t>
            </a:r>
            <a:r>
              <a:rPr lang="en-US" sz="1200" kern="1200" dirty="0">
                <a:solidFill>
                  <a:schemeClr val="tx1"/>
                </a:solidFill>
                <a:effectLst/>
                <a:latin typeface="+mn-lt"/>
                <a:ea typeface="+mn-ea"/>
                <a:cs typeface="+mn-cs"/>
              </a:rPr>
              <a:t> Closed frontier models are rapidly converging in benchmark performance within narrow margins. </a:t>
            </a:r>
          </a:p>
          <a:p>
            <a:pPr lvl="0"/>
            <a:r>
              <a:rPr lang="en-US" sz="1200" b="1" kern="1200" dirty="0">
                <a:solidFill>
                  <a:schemeClr val="tx1"/>
                </a:solidFill>
                <a:effectLst/>
                <a:latin typeface="+mn-lt"/>
                <a:ea typeface="+mn-ea"/>
                <a:cs typeface="+mn-cs"/>
              </a:rPr>
              <a:t>The New Evaluation Metric:</a:t>
            </a:r>
            <a:r>
              <a:rPr lang="en-US" sz="1200" kern="1200" dirty="0">
                <a:solidFill>
                  <a:schemeClr val="tx1"/>
                </a:solidFill>
                <a:effectLst/>
                <a:latin typeface="+mn-lt"/>
                <a:ea typeface="+mn-ea"/>
                <a:cs typeface="+mn-cs"/>
              </a:rPr>
              <a:t> The industry is shifting from asking </a:t>
            </a:r>
            <a:r>
              <a:rPr lang="en-US" sz="1200" i="1" kern="1200" dirty="0">
                <a:solidFill>
                  <a:schemeClr val="tx1"/>
                </a:solidFill>
                <a:effectLst/>
                <a:latin typeface="+mn-lt"/>
                <a:ea typeface="+mn-ea"/>
                <a:cs typeface="+mn-cs"/>
              </a:rPr>
              <a:t>"Which model yields the highest benchmark score?"</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"Which model yields the most accurate answers per dollar?"</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Prediction:</a:t>
            </a:r>
            <a:r>
              <a:rPr lang="en-US" sz="1200" kern="1200" dirty="0">
                <a:solidFill>
                  <a:schemeClr val="tx1"/>
                </a:solidFill>
                <a:effectLst/>
                <a:latin typeface="+mn-lt"/>
                <a:ea typeface="+mn-ea"/>
                <a:cs typeface="+mn-cs"/>
              </a:rPr>
              <a:t> Just as PostgreSQL won the database wars, open-source AI models (and low-cost open architectures) will undercut closed API providers. Developers naturally gravitate toward significantly cheaper, customizable, and un-owned infrastructure.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13</a:t>
            </a:fld>
            <a:endParaRPr lang="en-US"/>
          </a:p>
        </p:txBody>
      </p:sp>
    </p:spTree>
    <p:extLst>
      <p:ext uri="{BB962C8B-B14F-4D97-AF65-F5344CB8AC3E}">
        <p14:creationId xmlns:p14="http://schemas.microsoft.com/office/powerpoint/2010/main" val="2543610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Shifting Academic Dominance:</a:t>
            </a:r>
            <a:r>
              <a:rPr lang="en-US" sz="1200" kern="1200" dirty="0">
                <a:solidFill>
                  <a:schemeClr val="tx1"/>
                </a:solidFill>
                <a:effectLst/>
                <a:latin typeface="+mn-lt"/>
                <a:ea typeface="+mn-ea"/>
                <a:cs typeface="+mn-cs"/>
              </a:rPr>
              <a:t> Conference authorship (e.g., SIGMOD, </a:t>
            </a:r>
            <a:r>
              <a:rPr lang="en-US" sz="1200" kern="1200" dirty="0" err="1">
                <a:solidFill>
                  <a:schemeClr val="tx1"/>
                </a:solidFill>
                <a:effectLst/>
                <a:latin typeface="+mn-lt"/>
                <a:ea typeface="+mn-ea"/>
                <a:cs typeface="+mn-cs"/>
              </a:rPr>
              <a:t>NeurIPS</a:t>
            </a:r>
            <a:r>
              <a:rPr lang="en-US" sz="1200" kern="1200" dirty="0">
                <a:solidFill>
                  <a:schemeClr val="tx1"/>
                </a:solidFill>
                <a:effectLst/>
                <a:latin typeface="+mn-lt"/>
                <a:ea typeface="+mn-ea"/>
                <a:cs typeface="+mn-cs"/>
              </a:rPr>
              <a:t>) acts as a primary leading indicator for future technological capabilities. </a:t>
            </a:r>
          </a:p>
          <a:p>
            <a:pPr lvl="0"/>
            <a:r>
              <a:rPr lang="en-US" sz="1200" b="1" kern="1200" dirty="0">
                <a:solidFill>
                  <a:schemeClr val="tx1"/>
                </a:solidFill>
                <a:effectLst/>
                <a:latin typeface="+mn-lt"/>
                <a:ea typeface="+mn-ea"/>
                <a:cs typeface="+mn-cs"/>
              </a:rPr>
              <a:t>The 20-Year Shift: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20 Years Ago:</a:t>
            </a:r>
            <a:r>
              <a:rPr lang="en-US" sz="1200" kern="1200" dirty="0">
                <a:solidFill>
                  <a:schemeClr val="tx1"/>
                </a:solidFill>
                <a:effectLst/>
                <a:latin typeface="+mn-lt"/>
                <a:ea typeface="+mn-ea"/>
                <a:cs typeface="+mn-cs"/>
              </a:rPr>
              <a:t> ~80% of SIGMOD research papers originated from US institutions, with 10% from Europe and 10% from Asia.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Today:</a:t>
            </a:r>
            <a:r>
              <a:rPr lang="en-US" sz="1200" kern="1200" dirty="0">
                <a:solidFill>
                  <a:schemeClr val="tx1"/>
                </a:solidFill>
                <a:effectLst/>
                <a:latin typeface="+mn-lt"/>
                <a:ea typeface="+mn-ea"/>
                <a:cs typeface="+mn-cs"/>
              </a:rPr>
              <a:t> Over two-thirds of published papers originate from Asian institutions. </a:t>
            </a:r>
          </a:p>
          <a:p>
            <a:pPr lvl="0"/>
            <a:r>
              <a:rPr lang="en-US" sz="1200" b="1" kern="1200" dirty="0">
                <a:solidFill>
                  <a:schemeClr val="tx1"/>
                </a:solidFill>
                <a:effectLst/>
                <a:latin typeface="+mn-lt"/>
                <a:ea typeface="+mn-ea"/>
                <a:cs typeface="+mn-cs"/>
              </a:rPr>
              <a:t>The Provocation:</a:t>
            </a:r>
            <a:r>
              <a:rPr lang="en-US" sz="1200" kern="1200" dirty="0">
                <a:solidFill>
                  <a:schemeClr val="tx1"/>
                </a:solidFill>
                <a:effectLst/>
                <a:latin typeface="+mn-lt"/>
                <a:ea typeface="+mn-ea"/>
                <a:cs typeface="+mn-cs"/>
              </a:rPr>
              <a:t> Without significant reinvestment in STEM pipelines, western technological leadership faces erosion. Furthermore, as AI automates routine coding, university Computer Science departments face an identity crisis over what and how to teach.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14</a:t>
            </a:fld>
            <a:endParaRPr lang="en-US"/>
          </a:p>
        </p:txBody>
      </p:sp>
    </p:spTree>
    <p:extLst>
      <p:ext uri="{BB962C8B-B14F-4D97-AF65-F5344CB8AC3E}">
        <p14:creationId xmlns:p14="http://schemas.microsoft.com/office/powerpoint/2010/main" val="841645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Whether future platforms run on relational tables or probabilistic text streams, AI models have drastically lowered the friction of creating software. </a:t>
            </a:r>
          </a:p>
          <a:p>
            <a:pPr lvl="0"/>
            <a:r>
              <a:rPr lang="en-US" sz="1200" b="1" kern="1200" dirty="0">
                <a:solidFill>
                  <a:schemeClr val="tx1"/>
                </a:solidFill>
                <a:effectLst/>
                <a:latin typeface="+mn-lt"/>
                <a:ea typeface="+mn-ea"/>
                <a:cs typeface="+mn-cs"/>
              </a:rPr>
              <a:t>The Call to Action:</a:t>
            </a:r>
            <a:r>
              <a:rPr lang="en-US" sz="1200" kern="1200" dirty="0">
                <a:solidFill>
                  <a:schemeClr val="tx1"/>
                </a:solidFill>
                <a:effectLst/>
                <a:latin typeface="+mn-lt"/>
                <a:ea typeface="+mn-ea"/>
                <a:cs typeface="+mn-cs"/>
              </a:rPr>
              <a:t> Software development barriers that once required decades of effort are disappearing. </a:t>
            </a:r>
          </a:p>
          <a:p>
            <a:pPr lvl="0"/>
            <a:r>
              <a:rPr lang="en-US" sz="1200" b="1" kern="1200" dirty="0">
                <a:solidFill>
                  <a:schemeClr val="tx1"/>
                </a:solidFill>
                <a:effectLst/>
                <a:latin typeface="+mn-lt"/>
                <a:ea typeface="+mn-ea"/>
                <a:cs typeface="+mn-cs"/>
              </a:rPr>
              <a:t>Closing Challenge:</a:t>
            </a:r>
            <a:r>
              <a:rPr lang="en-US" sz="1200" kern="1200" dirty="0">
                <a:solidFill>
                  <a:schemeClr val="tx1"/>
                </a:solidFill>
                <a:effectLst/>
                <a:latin typeface="+mn-lt"/>
                <a:ea typeface="+mn-ea"/>
                <a:cs typeface="+mn-cs"/>
              </a:rPr>
              <a:t> The tools to realize previously "impossible" engineering concepts exist today. Developers and researchers should use superintelligence to bring ambitious concepts straight out of science fiction into reality. </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15</a:t>
            </a:fld>
            <a:endParaRPr lang="en-US"/>
          </a:p>
        </p:txBody>
      </p:sp>
    </p:spTree>
    <p:extLst>
      <p:ext uri="{BB962C8B-B14F-4D97-AF65-F5344CB8AC3E}">
        <p14:creationId xmlns:p14="http://schemas.microsoft.com/office/powerpoint/2010/main" val="1462568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Executive Overview:</a:t>
            </a:r>
            <a:r>
              <a:rPr lang="en-US" sz="1200" kern="1200" dirty="0">
                <a:solidFill>
                  <a:schemeClr val="tx1"/>
                </a:solidFill>
                <a:effectLst/>
                <a:latin typeface="+mn-lt"/>
                <a:ea typeface="+mn-ea"/>
                <a:cs typeface="+mn-cs"/>
              </a:rPr>
              <a:t> Let me summarize our core findings: </a:t>
            </a:r>
          </a:p>
          <a:p>
            <a:pPr marL="228600" lvl="0" indent="-228600">
              <a:buFont typeface="+mj-lt"/>
              <a:buAutoNum type="arabicPeriod"/>
            </a:pPr>
            <a:r>
              <a:rPr lang="en-US" sz="1200" b="1" kern="1200" dirty="0">
                <a:solidFill>
                  <a:schemeClr val="tx1"/>
                </a:solidFill>
                <a:effectLst/>
                <a:latin typeface="+mn-lt"/>
                <a:ea typeface="+mn-ea"/>
                <a:cs typeface="+mn-cs"/>
              </a:rPr>
              <a:t>Why LLMs Struggle with Enterprise Data:</a:t>
            </a:r>
            <a:r>
              <a:rPr lang="en-US" sz="1200" kern="1200" dirty="0">
                <a:solidFill>
                  <a:schemeClr val="tx1"/>
                </a:solidFill>
                <a:effectLst/>
                <a:latin typeface="+mn-lt"/>
                <a:ea typeface="+mn-ea"/>
                <a:cs typeface="+mn-cs"/>
              </a:rPr>
              <a:t> Enterprise data is hidden behind firewalls, suffers from schema rot, and requires complex multi-way joins that flat text streams ruin. </a:t>
            </a:r>
          </a:p>
          <a:p>
            <a:pPr marL="228600" lvl="0" indent="-228600">
              <a:buFont typeface="+mj-lt"/>
              <a:buAutoNum type="arabicPeriod"/>
            </a:pPr>
            <a:r>
              <a:rPr lang="en-US" sz="1200" b="1" kern="1200" dirty="0">
                <a:solidFill>
                  <a:schemeClr val="tx1"/>
                </a:solidFill>
                <a:effectLst/>
                <a:latin typeface="+mn-lt"/>
                <a:ea typeface="+mn-ea"/>
                <a:cs typeface="+mn-cs"/>
              </a:rPr>
              <a:t>Building Durable AI Agents:</a:t>
            </a:r>
            <a:r>
              <a:rPr lang="en-US" sz="1200" kern="1200" dirty="0">
                <a:solidFill>
                  <a:schemeClr val="tx1"/>
                </a:solidFill>
                <a:effectLst/>
                <a:latin typeface="+mn-lt"/>
                <a:ea typeface="+mn-ea"/>
                <a:cs typeface="+mn-cs"/>
              </a:rPr>
              <a:t> Moving agents from read-only prototypes to reliable production systems requires database fundamentals: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ACID Durability:</a:t>
            </a:r>
            <a:r>
              <a:rPr lang="en-US" sz="1200" kern="1200" dirty="0">
                <a:solidFill>
                  <a:schemeClr val="tx1"/>
                </a:solidFill>
                <a:effectLst/>
                <a:latin typeface="+mn-lt"/>
                <a:ea typeface="+mn-ea"/>
                <a:cs typeface="+mn-cs"/>
              </a:rPr>
              <a:t> Saving state at each step so agents can recover from failures.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Sagas &amp; Logical </a:t>
            </a:r>
            <a:r>
              <a:rPr lang="en-US" sz="1200" b="1" kern="1200" dirty="0" err="1">
                <a:solidFill>
                  <a:schemeClr val="tx1"/>
                </a:solidFill>
                <a:effectLst/>
                <a:latin typeface="+mn-lt"/>
                <a:ea typeface="+mn-ea"/>
                <a:cs typeface="+mn-cs"/>
              </a:rPr>
              <a:t>Undos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Safely rewinding committed actions when downstream steps fail. </a:t>
            </a:r>
          </a:p>
          <a:p>
            <a:pPr marL="228600" lvl="0" indent="-228600">
              <a:buFont typeface="+mj-lt"/>
              <a:buAutoNum type="arabicPeriod"/>
            </a:pPr>
            <a:r>
              <a:rPr lang="en-US" sz="1200" b="1" kern="1200" dirty="0">
                <a:solidFill>
                  <a:schemeClr val="tx1"/>
                </a:solidFill>
                <a:effectLst/>
                <a:latin typeface="+mn-lt"/>
                <a:ea typeface="+mn-ea"/>
                <a:cs typeface="+mn-cs"/>
              </a:rPr>
              <a:t>Closing the Production Gap:</a:t>
            </a:r>
            <a:r>
              <a:rPr lang="en-US" sz="1200" kern="1200" dirty="0">
                <a:solidFill>
                  <a:schemeClr val="tx1"/>
                </a:solidFill>
                <a:effectLst/>
                <a:latin typeface="+mn-lt"/>
                <a:ea typeface="+mn-ea"/>
                <a:cs typeface="+mn-cs"/>
              </a:rPr>
              <a:t> Today, only ~20% of enterprise AI pilots reach production due to failures in state management and durability. By incorporating relational database principles, we can bridge this gap and build production-grade agentic systems.</a:t>
            </a:r>
          </a:p>
          <a:p>
            <a:endParaRPr lang="en-US" dirty="0"/>
          </a:p>
        </p:txBody>
      </p:sp>
      <p:sp>
        <p:nvSpPr>
          <p:cNvPr id="4" name="Slide Number Placeholder 3"/>
          <p:cNvSpPr>
            <a:spLocks noGrp="1"/>
          </p:cNvSpPr>
          <p:nvPr>
            <p:ph type="sldNum" sz="quarter" idx="5"/>
          </p:nvPr>
        </p:nvSpPr>
        <p:spPr/>
        <p:txBody>
          <a:bodyPr/>
          <a:lstStyle/>
          <a:p>
            <a:fld id="{7C9CB729-0E9C-4AE4-8FEE-3AC87000EF87}" type="slidenum">
              <a:rPr lang="en-US" smtClean="0"/>
              <a:t>16</a:t>
            </a:fld>
            <a:endParaRPr lang="en-US"/>
          </a:p>
        </p:txBody>
      </p:sp>
    </p:spTree>
    <p:extLst>
      <p:ext uri="{BB962C8B-B14F-4D97-AF65-F5344CB8AC3E}">
        <p14:creationId xmlns:p14="http://schemas.microsoft.com/office/powerpoint/2010/main" val="575763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9FE343-C1B4-BA1B-7589-56BAE8A9B265}"/>
              </a:ext>
            </a:extLst>
          </p:cNvPr>
          <p:cNvSpPr>
            <a:spLocks noGrp="1"/>
          </p:cNvSpPr>
          <p:nvPr>
            <p:ph type="dt" sz="half" idx="10"/>
          </p:nvPr>
        </p:nvSpPr>
        <p:spPr/>
        <p:txBody>
          <a:bodyPr/>
          <a:lstStyle/>
          <a:p>
            <a:fld id="{B8773328-D8AE-4408-8D82-029414664FA1}" type="datetimeFigureOut">
              <a:rPr lang="en-US" smtClean="0"/>
              <a:t>10/19/2026</a:t>
            </a:fld>
            <a:endParaRPr lang="en-US"/>
          </a:p>
        </p:txBody>
      </p:sp>
      <p:sp>
        <p:nvSpPr>
          <p:cNvPr id="3" name="Footer Placeholder 2">
            <a:extLst>
              <a:ext uri="{FF2B5EF4-FFF2-40B4-BE49-F238E27FC236}">
                <a16:creationId xmlns:a16="http://schemas.microsoft.com/office/drawing/2014/main" id="{5F51063F-4161-BA6D-515D-521DBD4ABB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7645A-9EA5-CE58-386F-24B9A6737985}"/>
              </a:ext>
            </a:extLst>
          </p:cNvPr>
          <p:cNvSpPr>
            <a:spLocks noGrp="1"/>
          </p:cNvSpPr>
          <p:nvPr>
            <p:ph type="sldNum" sz="quarter" idx="12"/>
          </p:nvPr>
        </p:nvSpPr>
        <p:spPr/>
        <p:txBody>
          <a:bodyPr/>
          <a:lstStyle/>
          <a:p>
            <a:fld id="{1C49C307-E54C-4851-9BC7-B50835AF1CE0}" type="slidenum">
              <a:rPr lang="en-US" smtClean="0"/>
              <a:t>‹#›</a:t>
            </a:fld>
            <a:endParaRPr lang="en-US"/>
          </a:p>
        </p:txBody>
      </p:sp>
    </p:spTree>
    <p:extLst>
      <p:ext uri="{BB962C8B-B14F-4D97-AF65-F5344CB8AC3E}">
        <p14:creationId xmlns:p14="http://schemas.microsoft.com/office/powerpoint/2010/main" val="463480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7DF0D8-2808-7757-1C7B-4D063B3D48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E2CE2C-EF97-8DA0-B2F4-D829D031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7D751-77FE-C9EE-E0CB-485B369C89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773328-D8AE-4408-8D82-029414664FA1}" type="datetimeFigureOut">
              <a:rPr lang="en-US" smtClean="0"/>
              <a:t>10/19/2026</a:t>
            </a:fld>
            <a:endParaRPr lang="en-US"/>
          </a:p>
        </p:txBody>
      </p:sp>
      <p:sp>
        <p:nvSpPr>
          <p:cNvPr id="5" name="Footer Placeholder 4">
            <a:extLst>
              <a:ext uri="{FF2B5EF4-FFF2-40B4-BE49-F238E27FC236}">
                <a16:creationId xmlns:a16="http://schemas.microsoft.com/office/drawing/2014/main" id="{5A28EC23-4AA8-B4E8-1520-95634DAF47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26677E-292B-428D-F1FA-6F88CA35DA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49C307-E54C-4851-9BC7-B50835AF1CE0}" type="slidenum">
              <a:rPr lang="en-US" smtClean="0"/>
              <a:t>‹#›</a:t>
            </a:fld>
            <a:endParaRPr lang="en-US"/>
          </a:p>
        </p:txBody>
      </p:sp>
    </p:spTree>
    <p:extLst>
      <p:ext uri="{BB962C8B-B14F-4D97-AF65-F5344CB8AC3E}">
        <p14:creationId xmlns:p14="http://schemas.microsoft.com/office/powerpoint/2010/main" val="28211502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3A7492-19B1-34DB-0B38-2B8750AD21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E2A804-2589-7688-F155-CE3EDF83C3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ECCF70-30FC-55CB-F750-86E2151ABB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F6DB7F-89AD-FD36-489F-DC52CE9F27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CCBAA0-5BBB-1B76-E877-770A7EEE1D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24A4E6-EE96-69E7-1C3C-46EBDAA2A7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10A7A-14F4-AEDB-5084-12D0E196CD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745B4A-2BAC-97AC-3868-254E217FC5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EAC808-2E94-665B-1BDF-5FBA444346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545C63-083A-5463-1229-4CC31B7C85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C7DA2C-B973-6B33-84C5-0EDA9D1922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559444-42F8-FCD3-C124-F58D264D05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C7DC54-5B4D-794D-489B-28CCA0D30D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12DFBA-3779-8D5F-5939-4067E15D2F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DDB168-E861-B098-B9B8-FEA39A5B9A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467F9C-00A5-C848-D4E4-8C6A8C0E22B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789883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2234</Words>
  <Application>Microsoft Office PowerPoint</Application>
  <PresentationFormat>寬螢幕</PresentationFormat>
  <Paragraphs>103</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2026-08-26T03:32:06Z</dcterms:created>
  <dcterms:modified xsi:type="dcterms:W3CDTF">2026-10-19T15:38:19Z</dcterms:modified>
</cp:coreProperties>
</file>