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5BC36-184B-452E-8AF3-7970A60EFB9C}" v="19" dt="2026-08-03T14:20:19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8-03T14:20:33.873" v="74" actId="16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8-03T14:20:33.873" v="74" actId="166"/>
        <pc:sldMkLst>
          <pc:docMk/>
          <pc:sldMk cId="0" sldId="257"/>
        </pc:sldMkLst>
        <pc:spChg chg="add mod topLvl">
          <ac:chgData name="Lai, Wilson" userId="2840974a-0d84-4886-90a9-9a3ed79f3a48" providerId="ADAL" clId="{9F23B798-9E84-4552-BA63-E776E805C424}" dt="2026-08-03T01:36:14.518" v="23" actId="164"/>
          <ac:spMkLst>
            <pc:docMk/>
            <pc:sldMk cId="0" sldId="257"/>
            <ac:spMk id="5" creationId="{D4C1B4EB-FECC-4AE6-43A4-061B730EA02F}"/>
          </ac:spMkLst>
        </pc:spChg>
        <pc:grpChg chg="add del mod">
          <ac:chgData name="Lai, Wilson" userId="2840974a-0d84-4886-90a9-9a3ed79f3a48" providerId="ADAL" clId="{9F23B798-9E84-4552-BA63-E776E805C424}" dt="2026-08-03T01:36:10.362" v="22" actId="165"/>
          <ac:grpSpMkLst>
            <pc:docMk/>
            <pc:sldMk cId="0" sldId="257"/>
            <ac:grpSpMk id="6" creationId="{1F9DE5BE-1FE4-DEB2-2D56-154A5DC7F035}"/>
          </ac:grpSpMkLst>
        </pc:grpChg>
        <pc:grpChg chg="add mod">
          <ac:chgData name="Lai, Wilson" userId="2840974a-0d84-4886-90a9-9a3ed79f3a48" providerId="ADAL" clId="{9F23B798-9E84-4552-BA63-E776E805C424}" dt="2026-08-03T01:36:17.133" v="24" actId="1076"/>
          <ac:grpSpMkLst>
            <pc:docMk/>
            <pc:sldMk cId="0" sldId="257"/>
            <ac:grpSpMk id="7" creationId="{85279935-57E5-0F90-043C-9BC489F53DED}"/>
          </ac:grpSpMkLst>
        </pc:grpChg>
        <pc:picChg chg="del mod topLvl">
          <ac:chgData name="Lai, Wilson" userId="2840974a-0d84-4886-90a9-9a3ed79f3a48" providerId="ADAL" clId="{9F23B798-9E84-4552-BA63-E776E805C424}" dt="2026-08-03T04:24:23.034" v="25" actId="21"/>
          <ac:picMkLst>
            <pc:docMk/>
            <pc:sldMk cId="0" sldId="257"/>
            <ac:picMk id="2" creationId="{00000000-0000-0000-0000-000000000000}"/>
          </ac:picMkLst>
        </pc:picChg>
        <pc:picChg chg="add mod topLvl">
          <ac:chgData name="Lai, Wilson" userId="2840974a-0d84-4886-90a9-9a3ed79f3a48" providerId="ADAL" clId="{9F23B798-9E84-4552-BA63-E776E805C424}" dt="2026-08-03T01:36:14.518" v="23" actId="164"/>
          <ac:picMkLst>
            <pc:docMk/>
            <pc:sldMk cId="0" sldId="257"/>
            <ac:picMk id="3" creationId="{957C4DA5-92E3-ED26-0317-22169F616768}"/>
          </ac:picMkLst>
        </pc:picChg>
        <pc:picChg chg="add ord">
          <ac:chgData name="Lai, Wilson" userId="2840974a-0d84-4886-90a9-9a3ed79f3a48" providerId="ADAL" clId="{9F23B798-9E84-4552-BA63-E776E805C424}" dt="2026-08-03T14:20:33.873" v="74" actId="166"/>
          <ac:picMkLst>
            <pc:docMk/>
            <pc:sldMk cId="0" sldId="257"/>
            <ac:picMk id="6" creationId="{D978C346-2C72-01C0-7563-615A9C83026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7:40.334" v="61" actId="1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03T04:26:02.624" v="28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6:17.772" v="29" actId="22"/>
          <ac:picMkLst>
            <pc:docMk/>
            <pc:sldMk cId="0" sldId="258"/>
            <ac:picMk id="4" creationId="{752FE4DE-8739-150C-D7EA-E2764E7E497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7:50.444" v="62" actId="1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03T04:26:19.920" v="30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6:28.202" v="31" actId="22"/>
          <ac:picMkLst>
            <pc:docMk/>
            <pc:sldMk cId="0" sldId="259"/>
            <ac:picMk id="4" creationId="{6A07A83C-B021-6344-0DFC-6EFC0D3ACBB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8:16.693" v="63" actId="1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03T04:26:31.042" v="32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7:17.807" v="33" actId="22"/>
          <ac:picMkLst>
            <pc:docMk/>
            <pc:sldMk cId="0" sldId="260"/>
            <ac:picMk id="4" creationId="{A775395A-871F-BD76-3065-1AE185ED787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8:27.252" v="64" actId="1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03T04:27:22.350" v="34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7:32.676" v="35" actId="22"/>
          <ac:picMkLst>
            <pc:docMk/>
            <pc:sldMk cId="0" sldId="261"/>
            <ac:picMk id="4" creationId="{B09874A8-33A9-DB6F-0048-FD1CCA9F7F3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8:41.468" v="65" actId="1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03T04:27:36.898" v="36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7:44.687" v="37" actId="22"/>
          <ac:picMkLst>
            <pc:docMk/>
            <pc:sldMk cId="0" sldId="262"/>
            <ac:picMk id="4" creationId="{E9D6FB8D-06E4-3CCC-F00F-A6F9CFC1D2F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8:53.169" v="66" actId="1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03T04:27:46.737" v="38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7:57.557" v="39" actId="22"/>
          <ac:picMkLst>
            <pc:docMk/>
            <pc:sldMk cId="0" sldId="263"/>
            <ac:picMk id="4" creationId="{840728B2-4668-2381-6CEA-BF4F3B4792A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9:05.936" v="67" actId="1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03T04:28:00.026" v="40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8:07.786" v="41" actId="22"/>
          <ac:picMkLst>
            <pc:docMk/>
            <pc:sldMk cId="0" sldId="264"/>
            <ac:picMk id="4" creationId="{D7AC16A4-273C-0AF7-DCF4-20406E06326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9:15.249" v="68" actId="1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03T04:28:10.163" v="42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8:23.776" v="43" actId="22"/>
          <ac:picMkLst>
            <pc:docMk/>
            <pc:sldMk cId="0" sldId="265"/>
            <ac:picMk id="4" creationId="{3C54F654-0FC6-A1C9-5029-27C79F39376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9:27.325" v="69" actId="1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03T04:28:28.176" v="44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9:01.994" v="45" actId="22"/>
          <ac:picMkLst>
            <pc:docMk/>
            <pc:sldMk cId="0" sldId="266"/>
            <ac:picMk id="4" creationId="{CDC88D93-4CB1-F25B-CE05-D46CF7C7C50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9:38.239" v="70" actId="1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03T04:29:05.242" v="46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9:25.510" v="47" actId="22"/>
          <ac:picMkLst>
            <pc:docMk/>
            <pc:sldMk cId="0" sldId="267"/>
            <ac:picMk id="4" creationId="{F89D0A4A-F9B8-AF61-7D84-7295FE2707C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19:51.189" v="71" actId="1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03T04:29:28.700" v="48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29:54.398" v="49" actId="22"/>
          <ac:picMkLst>
            <pc:docMk/>
            <pc:sldMk cId="0" sldId="268"/>
            <ac:picMk id="4" creationId="{5687EA56-68DB-5EAF-CD31-25FC569A485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20:07.994" v="72" actId="1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03T04:29:57.697" v="50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4:30:17.043" v="51" actId="22"/>
          <ac:picMkLst>
            <pc:docMk/>
            <pc:sldMk cId="0" sldId="269"/>
            <ac:picMk id="4" creationId="{E70933A3-CDD7-2827-F71D-D244DB857DD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4:20:21.768" v="73" actId="12"/>
        <pc:sldMkLst>
          <pc:docMk/>
          <pc:sldMk cId="2991996881" sldId="270"/>
        </pc:sldMkLst>
        <pc:picChg chg="del">
          <ac:chgData name="Lai, Wilson" userId="2840974a-0d84-4886-90a9-9a3ed79f3a48" providerId="ADAL" clId="{9F23B798-9E84-4552-BA63-E776E805C424}" dt="2026-08-03T04:30:19.904" v="52" actId="21"/>
          <ac:picMkLst>
            <pc:docMk/>
            <pc:sldMk cId="2991996881" sldId="270"/>
            <ac:picMk id="3" creationId="{559B8C47-E1E3-D20F-BD4E-EBF5AFE656C8}"/>
          </ac:picMkLst>
        </pc:picChg>
        <pc:picChg chg="add">
          <ac:chgData name="Lai, Wilson" userId="2840974a-0d84-4886-90a9-9a3ed79f3a48" providerId="ADAL" clId="{9F23B798-9E84-4552-BA63-E776E805C424}" dt="2026-08-03T04:30:31.684" v="53" actId="22"/>
          <ac:picMkLst>
            <pc:docMk/>
            <pc:sldMk cId="2991996881" sldId="270"/>
            <ac:picMk id="4" creationId="{05DFD36C-E8C4-CD6F-3AC5-29BF76395C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62B72-E687-4876-B04E-6AF41165635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F4860-E947-49B7-AD24-E306F5619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https://www.youtube.com/watch?v=O70Ff5xBnYo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morning/afternoon, everyone. Today, we are taking a deep dive into the accelerating convergence of artificial intelligence, physical technology, and macroeconomics—what we call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Singularity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"As discussed in recent industry briefings and podcasts, we are no longer talking about a distant future 10 or 20 years away. The structural shifts are unfolding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now in 2026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"Over the next few minutes, we will break down how geopolitical tensions, open-weight models, BCI breakthroughs, and hyper-deflationary economics are reshaping the global market landscape. Let’s explore the three core frontiers driving this supersonic tsunami.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64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where value is migrating, we need to view the world through three distinct yet interconnected frontiers:"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Intelligence Frontier: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the high-stakes battle between open and closed weights, the emerging global AI diplomacy between the US and China, and architectural shifts beyond the standard Transformer."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Physical Frontier: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software logic manifests in the real world. We are seeing space launch costs demonetize by orders of magnitude alongside rapid advances in Brain-Computer Interfaces (BCIs)."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Economic Endgame: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macro-level impact where hyper-deflationary technology collides with debt-heavy fiat systems, pointing towards a post-capitalist paradigm shift by the mid-2030s.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0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major ideological and commercial divide has emerged between two camps in the AI landscape:"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"On the left, we have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Secure AI Alliance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championed by Jensen Huang (Nvidia) and over 70 partner companies. Their core argument is that 'intelligence wants to be free' and open-weights act as a defensive capability. Jensen’s strategy is clear: commoditize the model layer to drive massive demand for compute and GPUs."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"On the right, we see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Closed Frontier Regulation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camp, backed by labs like Anthropic and OpenAI. Citing catastrophic bioweapon and cyber risks, they advocate for 30-day government review periods and restrictions on open weights."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"Critics point out that this closed approach risks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regulatory capture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—using Washington lobbying to lock out open-weight competitors.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07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does value sit across the AI stack? Let’s examine this 5-tier pyramid:"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0 (Compute &amp; Infrastructure):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TSMC, energy, memory, and specialized hardware. This is the ultimate bottleneck and currently captures the highest margins."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 (Wild Stallions):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Unreleased, internal frontier models (e.g., GPT-6 level) used directly by labs for material science and biology breakthroughs."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2 &amp; 3 (Frontier APIs &amp; Open-Source Weights):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Commercial APIs (Claude Opus 5) and free open weights (Kimmy K3). Open weights are aggressively driving down intelligence costs by over 99.9%."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4 (App &amp; Ecosystem Layer):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Platforms that own daily consumer/enterprise workflows and distribution channels.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1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has moved beyond commercial competition to become the core pillar of national security and soft power."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the United States over-regulates open-source models to protect domestic incumbents, it risks driving the Global South straight into China’s ecosystem."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"Under its 'Pax Silica' approach, China is actively exporting AI infrastructure and open models to developing nations, supplying their digital nervous system."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Openness is no longer just a philosophy—it is an essential instrument of geopolitical soft power.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71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foundational 2017 Transformer architecture is undergoing a complete transformation."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"Modern open-weight models like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Kimmy K3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swapping out core components:"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Elimination of Position Embeddings: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Moving away from standard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 Position Embeddings) unlocks near-infinite context windows without linear memory degradation.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0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 model intelligence is only half the battle; the real enterprise moat comes from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Scaffolding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"Standard baseline models scoring around 30% on complex logic benchmarks (like ARC AGI3) can reach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100x performance leap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wrapped in programmatic loops, context reframing, and algebraic mappings."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"For enterprises over the next 5 years, competitive advantage won't come from building proprietary LLMs from scratch, but from integrating open models into proprietary data loops and custom execution scaffolding.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6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from bits to atoms: space launch costs are experiencing an unprecedented cost curve collapse."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Space Shuttle cost approximately $54,000 per kilogram to low Earth orbit. Falcon 9 brought that down to $2,000/kg."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"With Starship reaching operational milestones, cost targets drop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$10–$100 per kg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radical cost reduction unlocks previously impossible industries: orbital manufacturing, space-based data centers, and global gigabit internet via Starlink V3.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64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Human-computer interaction is advancing beyond touchscreens and keyboards via two distinct Brain-Computer Interface strategies:"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Science Corp (Prima):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Focuses on near-term commercial viability with retinal implants that restore central vision for macular degeneration patients, delivering clear clinical and revenue milestones."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Neuralink: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Targets direct motor cortex implants to translate imagined thoughts into action, allowing paralyzed patients to operate digital devices and wheelchairs."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"Both approaches demonstrate that human input/output bandwidth is expanding rapidly to match super-intelligent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6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witnessing the intersection of three major technological vectors:"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Super-Intelligence (The Brain):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Logic, code generation, and synthetic reasoning."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Locomotion (The Muscle):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Humanoid robotics like Optimus navigating physical spaces."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High-Bandwidth Control (The Nervous System):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BCIs and satellite constellations like Starlink."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"When these three domains converge simultaneously, sci-fi concepts transition into everyday reality.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61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happens when AI and robotics generate more goods and services than humans can consume?"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Fiat Dilemma: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legacy financial system relies on scarcity and debt expansion ($4 of debt created per $1 of GDP)."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Technological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and autonomous labor are hyper-deflationary."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"When production costs drop toward zero, fiat debt cycles break down, forcing a transition toward post-scarcity economic models by 2036.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13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framework summarizes the transition to radical abundance:"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$$\text{Cost of Intelligence } (\to \$0) + \text{Cost of Action } (\to \$0) = \text{Radical Abundance}$$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"As software intelligence costs fall 99.9% and physical execution costs drop exponentially, the baseline standard of living rises globally."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"Historical precedent supports this shift: extreme poverty fell from 94% in 1820 to under 9% today, and technology continues to raise the baseline floor.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47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key principles for navigating this landscape:"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Survive to Intercept Luck: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Timing is critical. Build near-term revenue streams to maintain cash flow while waiting for exponential curves to mature."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Scaffolded Data Loops: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Avoid relying solely on public APIs. Secure proprietary data and pair it with open-weight models for 10x–100x efficiency gains."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2–4 Hops Ahead: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Identify exponential cost drops (e.g., Starship launch costs or cheap compute) and design business models built for future price points today.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05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wrap up our briefing, this comprehensive landscape summary links our main themes:"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debate between open-weight security alliances and closed regulatory frameworks will shape global policy and market structure."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"As intelligence costs trend toward zero, value shifts from raw base models toward scaffolding, execution, and distribution ecosystems."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"Thank you for your time. I welcome any questions or discussion.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860-E947-49B7-AD24-E306F5619A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5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AB6302-CF92-AD05-10CB-77711DA9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1C11-F578-44C0-AF2B-9EEA9E98A3F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5FE53-7CC5-9062-B297-85944547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FD445-3E18-9C1C-0123-E52CF351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AD99-B81C-430F-B6D4-36613DD2B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6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2106BB-3DFD-6AA4-23B5-B7E49068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C4BC0-00D5-6B97-1551-72389FEBF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3509C-94F5-FB92-08F6-90DB4756B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61C11-F578-44C0-AF2B-9EEA9E98A3F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E4630-93B4-EAD6-C8C1-45F483FAF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0AD84-3384-0BDE-1C1D-E18B710A0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CAD99-B81C-430F-B6D4-36613DD2B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1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78C346-2C72-01C0-7563-615A9C830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2FE4DE-8739-150C-D7EA-E2764E7E4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07A83C-B021-6344-0DFC-6EFC0D3AC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75395A-871F-BD76-3065-1AE185ED7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874A8-33A9-DB6F-0048-FD1CCA9F7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D6FB8D-06E4-3CCC-F00F-A6F9CFC1D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0728B2-4668-2381-6CEA-BF4F3B47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AC16A4-273C-0AF7-DCF4-20406E063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54F654-0FC6-A1C9-5029-27C79F39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C88D93-4CB1-F25B-CE05-D46CF7C7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9D0A4A-F9B8-AF61-7D84-7295FE27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87EA56-68DB-5EAF-CD31-25FC569A4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0933A3-CDD7-2827-F71D-D244DB857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DFD36C-E8C4-CD6F-3AC5-29BF76395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96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1366</Words>
  <Application>Microsoft Office PowerPoint</Application>
  <PresentationFormat>寬螢幕</PresentationFormat>
  <Paragraphs>73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2026-08-02T23:59:36Z</dcterms:created>
  <dcterms:modified xsi:type="dcterms:W3CDTF">2026-10-19T15:36:14Z</dcterms:modified>
</cp:coreProperties>
</file>