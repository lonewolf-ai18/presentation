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15628F-E4B6-4E0B-AC62-2EDAD77653E9}" v="19" dt="2026-08-08T05:21:10.7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4" autoAdjust="0"/>
    <p:restoredTop sz="87322"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08T05:21:35.609" v="66" actId="166"/>
      <pc:docMkLst>
        <pc:docMk/>
      </pc:docMkLst>
      <pc:sldChg chg="addSp delSp modSp mod modAnim modNotesTx">
        <pc:chgData name="Lai, Wilson" userId="2840974a-0d84-4886-90a9-9a3ed79f3a48" providerId="ADAL" clId="{9F23B798-9E84-4552-BA63-E776E805C424}" dt="2026-08-08T05:21:35.609" v="66" actId="166"/>
        <pc:sldMkLst>
          <pc:docMk/>
          <pc:sldMk cId="0" sldId="257"/>
        </pc:sldMkLst>
        <pc:spChg chg="add mod">
          <ac:chgData name="Lai, Wilson" userId="2840974a-0d84-4886-90a9-9a3ed79f3a48" providerId="ADAL" clId="{9F23B798-9E84-4552-BA63-E776E805C424}" dt="2026-08-08T02:31:43.562" v="15" actId="20577"/>
          <ac:spMkLst>
            <pc:docMk/>
            <pc:sldMk cId="0" sldId="257"/>
            <ac:spMk id="5" creationId="{E490F2F7-B397-FCFD-EA10-7A737B88E37F}"/>
          </ac:spMkLst>
        </pc:spChg>
        <pc:grpChg chg="add mod">
          <ac:chgData name="Lai, Wilson" userId="2840974a-0d84-4886-90a9-9a3ed79f3a48" providerId="ADAL" clId="{9F23B798-9E84-4552-BA63-E776E805C424}" dt="2026-08-08T02:31:37.156" v="13" actId="164"/>
          <ac:grpSpMkLst>
            <pc:docMk/>
            <pc:sldMk cId="0" sldId="257"/>
            <ac:grpSpMk id="6" creationId="{AF3DA66D-34CF-ADBD-3AA6-8C43E2BBDB5F}"/>
          </ac:grpSpMkLst>
        </pc:grpChg>
        <pc:picChg chg="del mod">
          <ac:chgData name="Lai, Wilson" userId="2840974a-0d84-4886-90a9-9a3ed79f3a48" providerId="ADAL" clId="{9F23B798-9E84-4552-BA63-E776E805C424}" dt="2026-08-08T04:16:06.707" v="18" actId="21"/>
          <ac:picMkLst>
            <pc:docMk/>
            <pc:sldMk cId="0" sldId="257"/>
            <ac:picMk id="2" creationId="{00000000-0000-0000-0000-000000000000}"/>
          </ac:picMkLst>
        </pc:picChg>
        <pc:picChg chg="add mod">
          <ac:chgData name="Lai, Wilson" userId="2840974a-0d84-4886-90a9-9a3ed79f3a48" providerId="ADAL" clId="{9F23B798-9E84-4552-BA63-E776E805C424}" dt="2026-08-08T02:31:37.156" v="13" actId="164"/>
          <ac:picMkLst>
            <pc:docMk/>
            <pc:sldMk cId="0" sldId="257"/>
            <ac:picMk id="3" creationId="{B37D949A-60E1-1FA8-24A8-83B53422CF03}"/>
          </ac:picMkLst>
        </pc:picChg>
        <pc:picChg chg="add ord">
          <ac:chgData name="Lai, Wilson" userId="2840974a-0d84-4886-90a9-9a3ed79f3a48" providerId="ADAL" clId="{9F23B798-9E84-4552-BA63-E776E805C424}" dt="2026-08-08T05:21:35.609" v="66" actId="166"/>
          <ac:picMkLst>
            <pc:docMk/>
            <pc:sldMk cId="0" sldId="257"/>
            <ac:picMk id="7" creationId="{8548BCF7-3894-6EE7-11B3-C243458B6F08}"/>
          </ac:picMkLst>
        </pc:picChg>
      </pc:sldChg>
      <pc:sldChg chg="addSp delSp mod">
        <pc:chgData name="Lai, Wilson" userId="2840974a-0d84-4886-90a9-9a3ed79f3a48" providerId="ADAL" clId="{9F23B798-9E84-4552-BA63-E776E805C424}" dt="2026-08-08T04:19:31.178" v="22" actId="22"/>
        <pc:sldMkLst>
          <pc:docMk/>
          <pc:sldMk cId="0" sldId="258"/>
        </pc:sldMkLst>
        <pc:picChg chg="del">
          <ac:chgData name="Lai, Wilson" userId="2840974a-0d84-4886-90a9-9a3ed79f3a48" providerId="ADAL" clId="{9F23B798-9E84-4552-BA63-E776E805C424}" dt="2026-08-08T04:17:37.767" v="21" actId="21"/>
          <ac:picMkLst>
            <pc:docMk/>
            <pc:sldMk cId="0" sldId="258"/>
            <ac:picMk id="2" creationId="{00000000-0000-0000-0000-000000000000}"/>
          </ac:picMkLst>
        </pc:picChg>
        <pc:picChg chg="add">
          <ac:chgData name="Lai, Wilson" userId="2840974a-0d84-4886-90a9-9a3ed79f3a48" providerId="ADAL" clId="{9F23B798-9E84-4552-BA63-E776E805C424}" dt="2026-08-08T04:19:31.178" v="22" actId="22"/>
          <ac:picMkLst>
            <pc:docMk/>
            <pc:sldMk cId="0" sldId="258"/>
            <ac:picMk id="4" creationId="{11BDCFEC-20BD-23CC-78BA-B997502A93EC}"/>
          </ac:picMkLst>
        </pc:picChg>
      </pc:sldChg>
      <pc:sldChg chg="addSp delSp mod">
        <pc:chgData name="Lai, Wilson" userId="2840974a-0d84-4886-90a9-9a3ed79f3a48" providerId="ADAL" clId="{9F23B798-9E84-4552-BA63-E776E805C424}" dt="2026-08-08T04:19:42.327" v="24" actId="22"/>
        <pc:sldMkLst>
          <pc:docMk/>
          <pc:sldMk cId="0" sldId="259"/>
        </pc:sldMkLst>
        <pc:picChg chg="del">
          <ac:chgData name="Lai, Wilson" userId="2840974a-0d84-4886-90a9-9a3ed79f3a48" providerId="ADAL" clId="{9F23B798-9E84-4552-BA63-E776E805C424}" dt="2026-08-08T04:19:34.623" v="23" actId="21"/>
          <ac:picMkLst>
            <pc:docMk/>
            <pc:sldMk cId="0" sldId="259"/>
            <ac:picMk id="2" creationId="{00000000-0000-0000-0000-000000000000}"/>
          </ac:picMkLst>
        </pc:picChg>
        <pc:picChg chg="add">
          <ac:chgData name="Lai, Wilson" userId="2840974a-0d84-4886-90a9-9a3ed79f3a48" providerId="ADAL" clId="{9F23B798-9E84-4552-BA63-E776E805C424}" dt="2026-08-08T04:19:42.327" v="24" actId="22"/>
          <ac:picMkLst>
            <pc:docMk/>
            <pc:sldMk cId="0" sldId="259"/>
            <ac:picMk id="4" creationId="{CFF56B9F-83CE-CDC0-0C88-BAE847F31442}"/>
          </ac:picMkLst>
        </pc:picChg>
      </pc:sldChg>
      <pc:sldChg chg="addSp delSp mod">
        <pc:chgData name="Lai, Wilson" userId="2840974a-0d84-4886-90a9-9a3ed79f3a48" providerId="ADAL" clId="{9F23B798-9E84-4552-BA63-E776E805C424}" dt="2026-08-08T04:20:12.583" v="26" actId="22"/>
        <pc:sldMkLst>
          <pc:docMk/>
          <pc:sldMk cId="0" sldId="260"/>
        </pc:sldMkLst>
        <pc:picChg chg="del">
          <ac:chgData name="Lai, Wilson" userId="2840974a-0d84-4886-90a9-9a3ed79f3a48" providerId="ADAL" clId="{9F23B798-9E84-4552-BA63-E776E805C424}" dt="2026-08-08T04:19:47.373" v="25" actId="21"/>
          <ac:picMkLst>
            <pc:docMk/>
            <pc:sldMk cId="0" sldId="260"/>
            <ac:picMk id="2" creationId="{00000000-0000-0000-0000-000000000000}"/>
          </ac:picMkLst>
        </pc:picChg>
        <pc:picChg chg="add">
          <ac:chgData name="Lai, Wilson" userId="2840974a-0d84-4886-90a9-9a3ed79f3a48" providerId="ADAL" clId="{9F23B798-9E84-4552-BA63-E776E805C424}" dt="2026-08-08T04:20:12.583" v="26" actId="22"/>
          <ac:picMkLst>
            <pc:docMk/>
            <pc:sldMk cId="0" sldId="260"/>
            <ac:picMk id="4" creationId="{AC0F909F-DB0A-9878-F7A5-CA662F2A6D92}"/>
          </ac:picMkLst>
        </pc:picChg>
      </pc:sldChg>
      <pc:sldChg chg="addSp delSp mod">
        <pc:chgData name="Lai, Wilson" userId="2840974a-0d84-4886-90a9-9a3ed79f3a48" providerId="ADAL" clId="{9F23B798-9E84-4552-BA63-E776E805C424}" dt="2026-08-08T04:20:53.851" v="28" actId="22"/>
        <pc:sldMkLst>
          <pc:docMk/>
          <pc:sldMk cId="0" sldId="261"/>
        </pc:sldMkLst>
        <pc:picChg chg="del">
          <ac:chgData name="Lai, Wilson" userId="2840974a-0d84-4886-90a9-9a3ed79f3a48" providerId="ADAL" clId="{9F23B798-9E84-4552-BA63-E776E805C424}" dt="2026-08-08T04:20:15.223" v="27" actId="21"/>
          <ac:picMkLst>
            <pc:docMk/>
            <pc:sldMk cId="0" sldId="261"/>
            <ac:picMk id="2" creationId="{00000000-0000-0000-0000-000000000000}"/>
          </ac:picMkLst>
        </pc:picChg>
        <pc:picChg chg="add">
          <ac:chgData name="Lai, Wilson" userId="2840974a-0d84-4886-90a9-9a3ed79f3a48" providerId="ADAL" clId="{9F23B798-9E84-4552-BA63-E776E805C424}" dt="2026-08-08T04:20:53.851" v="28" actId="22"/>
          <ac:picMkLst>
            <pc:docMk/>
            <pc:sldMk cId="0" sldId="261"/>
            <ac:picMk id="4" creationId="{D6D7F290-8BD3-25FA-306E-5260066F58AA}"/>
          </ac:picMkLst>
        </pc:picChg>
      </pc:sldChg>
      <pc:sldChg chg="addSp delSp mod">
        <pc:chgData name="Lai, Wilson" userId="2840974a-0d84-4886-90a9-9a3ed79f3a48" providerId="ADAL" clId="{9F23B798-9E84-4552-BA63-E776E805C424}" dt="2026-08-08T04:21:39.509" v="30" actId="22"/>
        <pc:sldMkLst>
          <pc:docMk/>
          <pc:sldMk cId="0" sldId="262"/>
        </pc:sldMkLst>
        <pc:picChg chg="del">
          <ac:chgData name="Lai, Wilson" userId="2840974a-0d84-4886-90a9-9a3ed79f3a48" providerId="ADAL" clId="{9F23B798-9E84-4552-BA63-E776E805C424}" dt="2026-08-08T04:20:55.893" v="29" actId="21"/>
          <ac:picMkLst>
            <pc:docMk/>
            <pc:sldMk cId="0" sldId="262"/>
            <ac:picMk id="2" creationId="{00000000-0000-0000-0000-000000000000}"/>
          </ac:picMkLst>
        </pc:picChg>
        <pc:picChg chg="add">
          <ac:chgData name="Lai, Wilson" userId="2840974a-0d84-4886-90a9-9a3ed79f3a48" providerId="ADAL" clId="{9F23B798-9E84-4552-BA63-E776E805C424}" dt="2026-08-08T04:21:39.509" v="30" actId="22"/>
          <ac:picMkLst>
            <pc:docMk/>
            <pc:sldMk cId="0" sldId="262"/>
            <ac:picMk id="4" creationId="{5BF1C74A-9982-3AE9-622E-D6BF83D3F096}"/>
          </ac:picMkLst>
        </pc:picChg>
      </pc:sldChg>
      <pc:sldChg chg="addSp delSp mod">
        <pc:chgData name="Lai, Wilson" userId="2840974a-0d84-4886-90a9-9a3ed79f3a48" providerId="ADAL" clId="{9F23B798-9E84-4552-BA63-E776E805C424}" dt="2026-08-08T04:22:36.200" v="32" actId="22"/>
        <pc:sldMkLst>
          <pc:docMk/>
          <pc:sldMk cId="0" sldId="263"/>
        </pc:sldMkLst>
        <pc:picChg chg="del">
          <ac:chgData name="Lai, Wilson" userId="2840974a-0d84-4886-90a9-9a3ed79f3a48" providerId="ADAL" clId="{9F23B798-9E84-4552-BA63-E776E805C424}" dt="2026-08-08T04:21:43.528" v="31" actId="21"/>
          <ac:picMkLst>
            <pc:docMk/>
            <pc:sldMk cId="0" sldId="263"/>
            <ac:picMk id="2" creationId="{00000000-0000-0000-0000-000000000000}"/>
          </ac:picMkLst>
        </pc:picChg>
        <pc:picChg chg="add">
          <ac:chgData name="Lai, Wilson" userId="2840974a-0d84-4886-90a9-9a3ed79f3a48" providerId="ADAL" clId="{9F23B798-9E84-4552-BA63-E776E805C424}" dt="2026-08-08T04:22:36.200" v="32" actId="22"/>
          <ac:picMkLst>
            <pc:docMk/>
            <pc:sldMk cId="0" sldId="263"/>
            <ac:picMk id="4" creationId="{62BB70CE-7DED-1A07-95E0-CF7309A52283}"/>
          </ac:picMkLst>
        </pc:picChg>
      </pc:sldChg>
      <pc:sldChg chg="addSp delSp mod modNotesTx">
        <pc:chgData name="Lai, Wilson" userId="2840974a-0d84-4886-90a9-9a3ed79f3a48" providerId="ADAL" clId="{9F23B798-9E84-4552-BA63-E776E805C424}" dt="2026-08-08T05:19:33.093" v="60" actId="12"/>
        <pc:sldMkLst>
          <pc:docMk/>
          <pc:sldMk cId="0" sldId="264"/>
        </pc:sldMkLst>
        <pc:picChg chg="del">
          <ac:chgData name="Lai, Wilson" userId="2840974a-0d84-4886-90a9-9a3ed79f3a48" providerId="ADAL" clId="{9F23B798-9E84-4552-BA63-E776E805C424}" dt="2026-08-08T04:22:39.116" v="33" actId="21"/>
          <ac:picMkLst>
            <pc:docMk/>
            <pc:sldMk cId="0" sldId="264"/>
            <ac:picMk id="2" creationId="{00000000-0000-0000-0000-000000000000}"/>
          </ac:picMkLst>
        </pc:picChg>
        <pc:picChg chg="add">
          <ac:chgData name="Lai, Wilson" userId="2840974a-0d84-4886-90a9-9a3ed79f3a48" providerId="ADAL" clId="{9F23B798-9E84-4552-BA63-E776E805C424}" dt="2026-08-08T04:23:23.524" v="34" actId="22"/>
          <ac:picMkLst>
            <pc:docMk/>
            <pc:sldMk cId="0" sldId="264"/>
            <ac:picMk id="4" creationId="{3E8D2B3D-16CC-8D07-C4D4-51889A9A80A6}"/>
          </ac:picMkLst>
        </pc:picChg>
      </pc:sldChg>
      <pc:sldChg chg="addSp delSp mod">
        <pc:chgData name="Lai, Wilson" userId="2840974a-0d84-4886-90a9-9a3ed79f3a48" providerId="ADAL" clId="{9F23B798-9E84-4552-BA63-E776E805C424}" dt="2026-08-08T04:24:20.151" v="36" actId="22"/>
        <pc:sldMkLst>
          <pc:docMk/>
          <pc:sldMk cId="0" sldId="265"/>
        </pc:sldMkLst>
        <pc:picChg chg="del">
          <ac:chgData name="Lai, Wilson" userId="2840974a-0d84-4886-90a9-9a3ed79f3a48" providerId="ADAL" clId="{9F23B798-9E84-4552-BA63-E776E805C424}" dt="2026-08-08T04:24:19.665" v="35" actId="478"/>
          <ac:picMkLst>
            <pc:docMk/>
            <pc:sldMk cId="0" sldId="265"/>
            <ac:picMk id="2" creationId="{00000000-0000-0000-0000-000000000000}"/>
          </ac:picMkLst>
        </pc:picChg>
        <pc:picChg chg="add">
          <ac:chgData name="Lai, Wilson" userId="2840974a-0d84-4886-90a9-9a3ed79f3a48" providerId="ADAL" clId="{9F23B798-9E84-4552-BA63-E776E805C424}" dt="2026-08-08T04:24:20.151" v="36" actId="22"/>
          <ac:picMkLst>
            <pc:docMk/>
            <pc:sldMk cId="0" sldId="265"/>
            <ac:picMk id="4" creationId="{96565657-F9C7-AC1F-F0A4-804CBFA08D6A}"/>
          </ac:picMkLst>
        </pc:picChg>
      </pc:sldChg>
      <pc:sldChg chg="addSp delSp mod">
        <pc:chgData name="Lai, Wilson" userId="2840974a-0d84-4886-90a9-9a3ed79f3a48" providerId="ADAL" clId="{9F23B798-9E84-4552-BA63-E776E805C424}" dt="2026-08-08T04:24:57.107" v="38" actId="22"/>
        <pc:sldMkLst>
          <pc:docMk/>
          <pc:sldMk cId="0" sldId="266"/>
        </pc:sldMkLst>
        <pc:picChg chg="del">
          <ac:chgData name="Lai, Wilson" userId="2840974a-0d84-4886-90a9-9a3ed79f3a48" providerId="ADAL" clId="{9F23B798-9E84-4552-BA63-E776E805C424}" dt="2026-08-08T04:24:23.388" v="37" actId="21"/>
          <ac:picMkLst>
            <pc:docMk/>
            <pc:sldMk cId="0" sldId="266"/>
            <ac:picMk id="2" creationId="{00000000-0000-0000-0000-000000000000}"/>
          </ac:picMkLst>
        </pc:picChg>
        <pc:picChg chg="add">
          <ac:chgData name="Lai, Wilson" userId="2840974a-0d84-4886-90a9-9a3ed79f3a48" providerId="ADAL" clId="{9F23B798-9E84-4552-BA63-E776E805C424}" dt="2026-08-08T04:24:57.107" v="38" actId="22"/>
          <ac:picMkLst>
            <pc:docMk/>
            <pc:sldMk cId="0" sldId="266"/>
            <ac:picMk id="4" creationId="{CC9E9996-7F81-A3B7-843E-1584CD8E0388}"/>
          </ac:picMkLst>
        </pc:picChg>
      </pc:sldChg>
      <pc:sldChg chg="addSp delSp mod">
        <pc:chgData name="Lai, Wilson" userId="2840974a-0d84-4886-90a9-9a3ed79f3a48" providerId="ADAL" clId="{9F23B798-9E84-4552-BA63-E776E805C424}" dt="2026-08-08T04:25:46.309" v="40" actId="22"/>
        <pc:sldMkLst>
          <pc:docMk/>
          <pc:sldMk cId="0" sldId="267"/>
        </pc:sldMkLst>
        <pc:picChg chg="del">
          <ac:chgData name="Lai, Wilson" userId="2840974a-0d84-4886-90a9-9a3ed79f3a48" providerId="ADAL" clId="{9F23B798-9E84-4552-BA63-E776E805C424}" dt="2026-08-08T04:25:00.859" v="39" actId="21"/>
          <ac:picMkLst>
            <pc:docMk/>
            <pc:sldMk cId="0" sldId="267"/>
            <ac:picMk id="2" creationId="{00000000-0000-0000-0000-000000000000}"/>
          </ac:picMkLst>
        </pc:picChg>
        <pc:picChg chg="add">
          <ac:chgData name="Lai, Wilson" userId="2840974a-0d84-4886-90a9-9a3ed79f3a48" providerId="ADAL" clId="{9F23B798-9E84-4552-BA63-E776E805C424}" dt="2026-08-08T04:25:46.309" v="40" actId="22"/>
          <ac:picMkLst>
            <pc:docMk/>
            <pc:sldMk cId="0" sldId="267"/>
            <ac:picMk id="4" creationId="{3D27D5ED-2DFF-ECCF-2CE2-AF8251CCB7FE}"/>
          </ac:picMkLst>
        </pc:picChg>
      </pc:sldChg>
      <pc:sldChg chg="addSp delSp mod">
        <pc:chgData name="Lai, Wilson" userId="2840974a-0d84-4886-90a9-9a3ed79f3a48" providerId="ADAL" clId="{9F23B798-9E84-4552-BA63-E776E805C424}" dt="2026-08-08T04:26:37.608" v="42" actId="22"/>
        <pc:sldMkLst>
          <pc:docMk/>
          <pc:sldMk cId="0" sldId="268"/>
        </pc:sldMkLst>
        <pc:picChg chg="del">
          <ac:chgData name="Lai, Wilson" userId="2840974a-0d84-4886-90a9-9a3ed79f3a48" providerId="ADAL" clId="{9F23B798-9E84-4552-BA63-E776E805C424}" dt="2026-08-08T04:25:49.338" v="41" actId="21"/>
          <ac:picMkLst>
            <pc:docMk/>
            <pc:sldMk cId="0" sldId="268"/>
            <ac:picMk id="2" creationId="{00000000-0000-0000-0000-000000000000}"/>
          </ac:picMkLst>
        </pc:picChg>
        <pc:picChg chg="add">
          <ac:chgData name="Lai, Wilson" userId="2840974a-0d84-4886-90a9-9a3ed79f3a48" providerId="ADAL" clId="{9F23B798-9E84-4552-BA63-E776E805C424}" dt="2026-08-08T04:26:37.608" v="42" actId="22"/>
          <ac:picMkLst>
            <pc:docMk/>
            <pc:sldMk cId="0" sldId="268"/>
            <ac:picMk id="4" creationId="{638DA0D6-6357-2022-C7E1-F64702791059}"/>
          </ac:picMkLst>
        </pc:picChg>
      </pc:sldChg>
      <pc:sldChg chg="addSp delSp mod">
        <pc:chgData name="Lai, Wilson" userId="2840974a-0d84-4886-90a9-9a3ed79f3a48" providerId="ADAL" clId="{9F23B798-9E84-4552-BA63-E776E805C424}" dt="2026-08-08T04:26:57.438" v="44" actId="22"/>
        <pc:sldMkLst>
          <pc:docMk/>
          <pc:sldMk cId="0" sldId="269"/>
        </pc:sldMkLst>
        <pc:picChg chg="del">
          <ac:chgData name="Lai, Wilson" userId="2840974a-0d84-4886-90a9-9a3ed79f3a48" providerId="ADAL" clId="{9F23B798-9E84-4552-BA63-E776E805C424}" dt="2026-08-08T04:26:41.979" v="43" actId="21"/>
          <ac:picMkLst>
            <pc:docMk/>
            <pc:sldMk cId="0" sldId="269"/>
            <ac:picMk id="2" creationId="{00000000-0000-0000-0000-000000000000}"/>
          </ac:picMkLst>
        </pc:picChg>
        <pc:picChg chg="add">
          <ac:chgData name="Lai, Wilson" userId="2840974a-0d84-4886-90a9-9a3ed79f3a48" providerId="ADAL" clId="{9F23B798-9E84-4552-BA63-E776E805C424}" dt="2026-08-08T04:26:57.438" v="44" actId="22"/>
          <ac:picMkLst>
            <pc:docMk/>
            <pc:sldMk cId="0" sldId="269"/>
            <ac:picMk id="4" creationId="{C965CE3D-E607-196C-C125-1E1707A0A8DA}"/>
          </ac:picMkLst>
        </pc:picChg>
      </pc:sldChg>
      <pc:sldChg chg="addSp delSp mod modNotesTx">
        <pc:chgData name="Lai, Wilson" userId="2840974a-0d84-4886-90a9-9a3ed79f3a48" providerId="ADAL" clId="{9F23B798-9E84-4552-BA63-E776E805C424}" dt="2026-08-08T05:20:40.931" v="62" actId="20577"/>
        <pc:sldMkLst>
          <pc:docMk/>
          <pc:sldMk cId="0" sldId="270"/>
        </pc:sldMkLst>
        <pc:picChg chg="del">
          <ac:chgData name="Lai, Wilson" userId="2840974a-0d84-4886-90a9-9a3ed79f3a48" providerId="ADAL" clId="{9F23B798-9E84-4552-BA63-E776E805C424}" dt="2026-08-08T04:26:59.868" v="45" actId="21"/>
          <ac:picMkLst>
            <pc:docMk/>
            <pc:sldMk cId="0" sldId="270"/>
            <ac:picMk id="2" creationId="{00000000-0000-0000-0000-000000000000}"/>
          </ac:picMkLst>
        </pc:picChg>
        <pc:picChg chg="add">
          <ac:chgData name="Lai, Wilson" userId="2840974a-0d84-4886-90a9-9a3ed79f3a48" providerId="ADAL" clId="{9F23B798-9E84-4552-BA63-E776E805C424}" dt="2026-08-08T04:27:08.413" v="46" actId="22"/>
          <ac:picMkLst>
            <pc:docMk/>
            <pc:sldMk cId="0" sldId="270"/>
            <ac:picMk id="4" creationId="{DD10F92E-16F3-4228-5DDA-9EC0078419AD}"/>
          </ac:picMkLst>
        </pc:picChg>
      </pc:sldChg>
      <pc:sldChg chg="addSp delSp mod modNotesTx">
        <pc:chgData name="Lai, Wilson" userId="2840974a-0d84-4886-90a9-9a3ed79f3a48" providerId="ADAL" clId="{9F23B798-9E84-4552-BA63-E776E805C424}" dt="2026-08-08T05:20:59.464" v="63" actId="12"/>
        <pc:sldMkLst>
          <pc:docMk/>
          <pc:sldMk cId="0" sldId="271"/>
        </pc:sldMkLst>
        <pc:picChg chg="del">
          <ac:chgData name="Lai, Wilson" userId="2840974a-0d84-4886-90a9-9a3ed79f3a48" providerId="ADAL" clId="{9F23B798-9E84-4552-BA63-E776E805C424}" dt="2026-08-08T04:27:10.242" v="47" actId="21"/>
          <ac:picMkLst>
            <pc:docMk/>
            <pc:sldMk cId="0" sldId="271"/>
            <ac:picMk id="2" creationId="{00000000-0000-0000-0000-000000000000}"/>
          </ac:picMkLst>
        </pc:picChg>
        <pc:picChg chg="add">
          <ac:chgData name="Lai, Wilson" userId="2840974a-0d84-4886-90a9-9a3ed79f3a48" providerId="ADAL" clId="{9F23B798-9E84-4552-BA63-E776E805C424}" dt="2026-08-08T04:27:19.077" v="48" actId="22"/>
          <ac:picMkLst>
            <pc:docMk/>
            <pc:sldMk cId="0" sldId="271"/>
            <ac:picMk id="4" creationId="{7689E7D9-A6B7-618E-D298-7C95CBD02C66}"/>
          </ac:picMkLst>
        </pc:picChg>
      </pc:sldChg>
      <pc:sldChg chg="modNotesTx">
        <pc:chgData name="Lai, Wilson" userId="2840974a-0d84-4886-90a9-9a3ed79f3a48" providerId="ADAL" clId="{9F23B798-9E84-4552-BA63-E776E805C424}" dt="2026-08-08T05:21:12.702" v="65" actId="20577"/>
        <pc:sldMkLst>
          <pc:docMk/>
          <pc:sldMk cId="2749222861"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F51181-FDAA-4634-A6FF-996E802C152A}"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B24837-0333-4C6A-8207-E078C289E797}" type="slidenum">
              <a:rPr lang="en-US" smtClean="0"/>
              <a:t>‹#›</a:t>
            </a:fld>
            <a:endParaRPr lang="en-US"/>
          </a:p>
        </p:txBody>
      </p:sp>
    </p:spTree>
    <p:extLst>
      <p:ext uri="{BB962C8B-B14F-4D97-AF65-F5344CB8AC3E}">
        <p14:creationId xmlns:p14="http://schemas.microsoft.com/office/powerpoint/2010/main" val="2446383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Introduction:</a:t>
            </a:r>
            <a:r>
              <a:rPr lang="en-US" sz="1200" kern="1200" dirty="0">
                <a:solidFill>
                  <a:schemeClr val="tx1"/>
                </a:solidFill>
                <a:effectLst/>
                <a:latin typeface="+mn-lt"/>
                <a:ea typeface="+mn-ea"/>
                <a:cs typeface="+mn-cs"/>
              </a:rPr>
              <a:t> "Welcome everyone. Today we’re talking about building AI systems from first principles—literally from the physics of silicon all the way up to human taste." </a:t>
            </a:r>
          </a:p>
          <a:p>
            <a:pPr lvl="0"/>
            <a:r>
              <a:rPr lang="en-US" sz="1200" b="1" kern="1200" dirty="0">
                <a:solidFill>
                  <a:schemeClr val="tx1"/>
                </a:solidFill>
                <a:effectLst/>
                <a:latin typeface="+mn-lt"/>
                <a:ea typeface="+mn-ea"/>
                <a:cs typeface="+mn-cs"/>
              </a:rPr>
              <a:t>Connecting to the Talk:</a:t>
            </a:r>
            <a:r>
              <a:rPr lang="en-US" sz="1200" kern="1200" dirty="0">
                <a:solidFill>
                  <a:schemeClr val="tx1"/>
                </a:solidFill>
                <a:effectLst/>
                <a:latin typeface="+mn-lt"/>
                <a:ea typeface="+mn-ea"/>
                <a:cs typeface="+mn-cs"/>
              </a:rPr>
              <a:t> "As Jeff Dean recently highlighted at YC, the landscape of AI engineering is shifting rapidly. We are moving beyond just training bigger models to thinking about the entire full-stack system."</a:t>
            </a:r>
          </a:p>
          <a:p>
            <a:pPr lvl="0"/>
            <a:r>
              <a:rPr lang="en-US" sz="1200" b="1" kern="1200" dirty="0">
                <a:solidFill>
                  <a:schemeClr val="tx1"/>
                </a:solidFill>
                <a:effectLst/>
                <a:latin typeface="+mn-lt"/>
                <a:ea typeface="+mn-ea"/>
                <a:cs typeface="+mn-cs"/>
              </a:rPr>
              <a:t>4-Layer Framework Overview:</a:t>
            </a:r>
            <a:endParaRPr lang="en-US" sz="1200" kern="1200" dirty="0">
              <a:solidFill>
                <a:schemeClr val="tx1"/>
              </a:solidFill>
              <a:effectLst/>
              <a:latin typeface="+mn-lt"/>
              <a:ea typeface="+mn-ea"/>
              <a:cs typeface="+mn-cs"/>
            </a:endParaRPr>
          </a:p>
          <a:p>
            <a:pPr marL="685800" lvl="1" indent="-228600">
              <a:buFont typeface="+mj-lt"/>
              <a:buAutoNum type="arabicPeriod"/>
            </a:pPr>
            <a:r>
              <a:rPr lang="en-US" sz="1200" b="1" kern="1200" dirty="0">
                <a:solidFill>
                  <a:schemeClr val="tx1"/>
                </a:solidFill>
                <a:effectLst/>
                <a:latin typeface="+mn-lt"/>
                <a:ea typeface="+mn-ea"/>
                <a:cs typeface="+mn-cs"/>
              </a:rPr>
              <a:t>Physical Layer:</a:t>
            </a:r>
            <a:r>
              <a:rPr lang="en-US" sz="1200" kern="1200" dirty="0">
                <a:solidFill>
                  <a:schemeClr val="tx1"/>
                </a:solidFill>
                <a:effectLst/>
                <a:latin typeface="+mn-lt"/>
                <a:ea typeface="+mn-ea"/>
                <a:cs typeface="+mn-cs"/>
              </a:rPr>
              <a:t> The fundamental constraints of physics, hardware energy, data movement, and chip architectures. </a:t>
            </a:r>
          </a:p>
          <a:p>
            <a:pPr marL="685800" lvl="1" indent="-228600">
              <a:buFont typeface="+mj-lt"/>
              <a:buAutoNum type="arabicPeriod"/>
            </a:pPr>
            <a:r>
              <a:rPr lang="en-US" sz="1200" b="1" kern="1200" dirty="0">
                <a:solidFill>
                  <a:schemeClr val="tx1"/>
                </a:solidFill>
                <a:effectLst/>
                <a:latin typeface="+mn-lt"/>
                <a:ea typeface="+mn-ea"/>
                <a:cs typeface="+mn-cs"/>
              </a:rPr>
              <a:t>Orchestration Layer:</a:t>
            </a:r>
            <a:r>
              <a:rPr lang="en-US" sz="1200" kern="1200" dirty="0">
                <a:solidFill>
                  <a:schemeClr val="tx1"/>
                </a:solidFill>
                <a:effectLst/>
                <a:latin typeface="+mn-lt"/>
                <a:ea typeface="+mn-ea"/>
                <a:cs typeface="+mn-cs"/>
              </a:rPr>
              <a:t> Context engineering, agent workflows, and multi-agent search systems. </a:t>
            </a:r>
          </a:p>
          <a:p>
            <a:pPr marL="685800" lvl="1" indent="-228600">
              <a:buFont typeface="+mj-lt"/>
              <a:buAutoNum type="arabicPeriod"/>
            </a:pPr>
            <a:r>
              <a:rPr lang="en-US" sz="1200" b="1" kern="1200" dirty="0">
                <a:solidFill>
                  <a:schemeClr val="tx1"/>
                </a:solidFill>
                <a:effectLst/>
                <a:latin typeface="+mn-lt"/>
                <a:ea typeface="+mn-ea"/>
                <a:cs typeface="+mn-cs"/>
              </a:rPr>
              <a:t>Meta Layer:</a:t>
            </a:r>
            <a:r>
              <a:rPr lang="en-US" sz="1200" kern="1200" dirty="0">
                <a:solidFill>
                  <a:schemeClr val="tx1"/>
                </a:solidFill>
                <a:effectLst/>
                <a:latin typeface="+mn-lt"/>
                <a:ea typeface="+mn-ea"/>
                <a:cs typeface="+mn-cs"/>
              </a:rPr>
              <a:t> Automated scientific experimentation and self-improving loops. </a:t>
            </a:r>
          </a:p>
          <a:p>
            <a:pPr marL="685800" lvl="1" indent="-228600">
              <a:buFont typeface="+mj-lt"/>
              <a:buAutoNum type="arabicPeriod"/>
            </a:pPr>
            <a:r>
              <a:rPr lang="en-US" sz="1200" b="1" kern="1200" dirty="0">
                <a:solidFill>
                  <a:schemeClr val="tx1"/>
                </a:solidFill>
                <a:effectLst/>
                <a:latin typeface="+mn-lt"/>
                <a:ea typeface="+mn-ea"/>
                <a:cs typeface="+mn-cs"/>
              </a:rPr>
              <a:t>Human Layer:</a:t>
            </a:r>
            <a:r>
              <a:rPr lang="en-US" sz="1200" kern="1200" dirty="0">
                <a:solidFill>
                  <a:schemeClr val="tx1"/>
                </a:solidFill>
                <a:effectLst/>
                <a:latin typeface="+mn-lt"/>
                <a:ea typeface="+mn-ea"/>
                <a:cs typeface="+mn-cs"/>
              </a:rPr>
              <a:t> Founder problem selection, writing precise specifications, and cultivating taste. </a:t>
            </a:r>
          </a:p>
          <a:p>
            <a:pPr lvl="0"/>
            <a:r>
              <a:rPr lang="en-US" sz="1200" b="1" kern="1200" dirty="0">
                <a:solidFill>
                  <a:schemeClr val="tx1"/>
                </a:solidFill>
                <a:effectLst/>
                <a:latin typeface="+mn-lt"/>
                <a:ea typeface="+mn-ea"/>
                <a:cs typeface="+mn-cs"/>
              </a:rPr>
              <a:t>Transition:</a:t>
            </a:r>
            <a:r>
              <a:rPr lang="en-US" sz="1200" kern="1200" dirty="0">
                <a:solidFill>
                  <a:schemeClr val="tx1"/>
                </a:solidFill>
                <a:effectLst/>
                <a:latin typeface="+mn-lt"/>
                <a:ea typeface="+mn-ea"/>
                <a:cs typeface="+mn-cs"/>
              </a:rPr>
              <a:t> "Let’s start at the bottom of the stack—the Physical Layer—and look at how historical shifts in computer engineering inform where AI hardware is going today.</a:t>
            </a:r>
            <a:endParaRPr lang="en-US" dirty="0"/>
          </a:p>
          <a:p>
            <a:endParaRPr lang="en-US" dirty="0"/>
          </a:p>
          <a:p>
            <a:r>
              <a:rPr lang="en-US" dirty="0"/>
              <a:t>https://www.youtube.com/watch?v=CxXgV54KzpQ</a:t>
            </a:r>
          </a:p>
        </p:txBody>
      </p:sp>
      <p:sp>
        <p:nvSpPr>
          <p:cNvPr id="4" name="Slide Number Placeholder 3"/>
          <p:cNvSpPr>
            <a:spLocks noGrp="1"/>
          </p:cNvSpPr>
          <p:nvPr>
            <p:ph type="sldNum" sz="quarter" idx="5"/>
          </p:nvPr>
        </p:nvSpPr>
        <p:spPr/>
        <p:txBody>
          <a:bodyPr/>
          <a:lstStyle/>
          <a:p>
            <a:fld id="{B8B24837-0333-4C6A-8207-E078C289E797}" type="slidenum">
              <a:rPr lang="en-US" smtClean="0"/>
              <a:t>1</a:t>
            </a:fld>
            <a:endParaRPr lang="en-US"/>
          </a:p>
        </p:txBody>
      </p:sp>
    </p:spTree>
    <p:extLst>
      <p:ext uri="{BB962C8B-B14F-4D97-AF65-F5344CB8AC3E}">
        <p14:creationId xmlns:p14="http://schemas.microsoft.com/office/powerpoint/2010/main" val="652130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Historical Parallel (2001):</a:t>
            </a:r>
            <a:r>
              <a:rPr lang="en-US" sz="1200" kern="1200" dirty="0">
                <a:solidFill>
                  <a:schemeClr val="tx1"/>
                </a:solidFill>
                <a:effectLst/>
                <a:latin typeface="+mn-lt"/>
                <a:ea typeface="+mn-ea"/>
                <a:cs typeface="+mn-cs"/>
              </a:rPr>
              <a:t> "Back in 2001, Google Search was bottlenecked by disk seek time. Jeff Dean and Sanjay Ghemawat realized that if they loaded the entire search index directly into RAM across all machines, they could eliminate hard drive latency and transform web search forever." </a:t>
            </a:r>
          </a:p>
          <a:p>
            <a:r>
              <a:rPr lang="en-US" sz="1200" b="1" kern="1200" dirty="0">
                <a:solidFill>
                  <a:schemeClr val="tx1"/>
                </a:solidFill>
                <a:effectLst/>
                <a:latin typeface="+mn-lt"/>
                <a:ea typeface="+mn-ea"/>
                <a:cs typeface="+mn-cs"/>
              </a:rPr>
              <a:t>The 2026 Shift (Inference Era):</a:t>
            </a:r>
            <a:r>
              <a:rPr lang="en-US" sz="1200" kern="1200" dirty="0">
                <a:solidFill>
                  <a:schemeClr val="tx1"/>
                </a:solidFill>
                <a:effectLst/>
                <a:latin typeface="+mn-lt"/>
                <a:ea typeface="+mn-ea"/>
                <a:cs typeface="+mn-cs"/>
              </a:rPr>
              <a:t> "Fast forward 25 years: our bottleneck today is </a:t>
            </a:r>
            <a:r>
              <a:rPr lang="en-US" sz="1200" b="1" kern="1200" dirty="0">
                <a:solidFill>
                  <a:schemeClr val="tx1"/>
                </a:solidFill>
                <a:effectLst/>
                <a:latin typeface="+mn-lt"/>
                <a:ea typeface="+mn-ea"/>
                <a:cs typeface="+mn-cs"/>
              </a:rPr>
              <a:t>inference latency</a:t>
            </a:r>
            <a:r>
              <a:rPr lang="en-US" sz="1200" kern="1200" dirty="0">
                <a:solidFill>
                  <a:schemeClr val="tx1"/>
                </a:solidFill>
                <a:effectLst/>
                <a:latin typeface="+mn-lt"/>
                <a:ea typeface="+mn-ea"/>
                <a:cs typeface="+mn-cs"/>
              </a:rPr>
              <a:t> and energy cost. Everyone in AI is used to waiting for model responses, but waiting kills agency." </a:t>
            </a:r>
          </a:p>
          <a:p>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"To unlock true agentic systems—agents that run continuously for days or even weeks without stopping—we need specialized, low-energy hardware designed purely for inference. When latency drops by 50x, user experience and agent capabilities undergo a phase change.</a:t>
            </a:r>
          </a:p>
          <a:p>
            <a:endParaRPr lang="en-US" dirty="0"/>
          </a:p>
        </p:txBody>
      </p:sp>
      <p:sp>
        <p:nvSpPr>
          <p:cNvPr id="4" name="Slide Number Placeholder 3"/>
          <p:cNvSpPr>
            <a:spLocks noGrp="1"/>
          </p:cNvSpPr>
          <p:nvPr>
            <p:ph type="sldNum" sz="quarter" idx="5"/>
          </p:nvPr>
        </p:nvSpPr>
        <p:spPr/>
        <p:txBody>
          <a:bodyPr/>
          <a:lstStyle/>
          <a:p>
            <a:fld id="{B8B24837-0333-4C6A-8207-E078C289E797}" type="slidenum">
              <a:rPr lang="en-US" smtClean="0"/>
              <a:t>2</a:t>
            </a:fld>
            <a:endParaRPr lang="en-US"/>
          </a:p>
        </p:txBody>
      </p:sp>
    </p:spTree>
    <p:extLst>
      <p:ext uri="{BB962C8B-B14F-4D97-AF65-F5344CB8AC3E}">
        <p14:creationId xmlns:p14="http://schemas.microsoft.com/office/powerpoint/2010/main" val="3084330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Core Physics Principle:</a:t>
            </a:r>
            <a:r>
              <a:rPr lang="en-US" sz="1200" kern="1200" dirty="0">
                <a:solidFill>
                  <a:schemeClr val="tx1"/>
                </a:solidFill>
                <a:effectLst/>
                <a:latin typeface="+mn-lt"/>
                <a:ea typeface="+mn-ea"/>
                <a:cs typeface="+mn-cs"/>
              </a:rPr>
              <a:t> "Here is the quiet physics constraint behind all modern AI software: doing a single math multiplication takes about 1 picojoule of energy. But bringing that data from High Bandwidth Memory into the processor chip costs </a:t>
            </a:r>
            <a:r>
              <a:rPr lang="en-US" sz="1200" b="1" kern="1200" dirty="0">
                <a:solidFill>
                  <a:schemeClr val="tx1"/>
                </a:solidFill>
                <a:effectLst/>
                <a:latin typeface="+mn-lt"/>
                <a:ea typeface="+mn-ea"/>
                <a:cs typeface="+mn-cs"/>
              </a:rPr>
              <a:t>1,000 times more energy</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Implications for AI Algorithms:</a:t>
            </a:r>
            <a:r>
              <a:rPr lang="en-US" sz="1200" kern="1200" dirty="0">
                <a:solidFill>
                  <a:schemeClr val="tx1"/>
                </a:solidFill>
                <a:effectLst/>
                <a:latin typeface="+mn-lt"/>
                <a:ea typeface="+mn-ea"/>
                <a:cs typeface="+mn-cs"/>
              </a:rPr>
              <a:t> "Why do we use large batch sizes during training and inference? Not because the model requires it mathematically, but because systems need to amortize that 1,000x energy penalty of data movement across multiple tokens or examples." </a:t>
            </a:r>
          </a:p>
          <a:p>
            <a:r>
              <a:rPr lang="en-US" sz="1200" b="1" kern="1200" dirty="0">
                <a:solidFill>
                  <a:schemeClr val="tx1"/>
                </a:solidFill>
                <a:effectLst/>
                <a:latin typeface="+mn-lt"/>
                <a:ea typeface="+mn-ea"/>
                <a:cs typeface="+mn-cs"/>
              </a:rPr>
              <a:t>Founder/Builder Takeaway:</a:t>
            </a:r>
            <a:r>
              <a:rPr lang="en-US" sz="1200" kern="1200" dirty="0">
                <a:solidFill>
                  <a:schemeClr val="tx1"/>
                </a:solidFill>
                <a:effectLst/>
                <a:latin typeface="+mn-lt"/>
                <a:ea typeface="+mn-ea"/>
                <a:cs typeface="+mn-cs"/>
              </a:rPr>
              <a:t> "Many problems that engineers call 'model problems' or 'algorithm problems' are actually data I/O and energy movement problems. As Jeff Dean points out, minimizing data movement and designing around batch-size constraints is how you achieve radical hardware efficiency.</a:t>
            </a:r>
          </a:p>
          <a:p>
            <a:endParaRPr lang="en-US" dirty="0"/>
          </a:p>
        </p:txBody>
      </p:sp>
      <p:sp>
        <p:nvSpPr>
          <p:cNvPr id="4" name="Slide Number Placeholder 3"/>
          <p:cNvSpPr>
            <a:spLocks noGrp="1"/>
          </p:cNvSpPr>
          <p:nvPr>
            <p:ph type="sldNum" sz="quarter" idx="5"/>
          </p:nvPr>
        </p:nvSpPr>
        <p:spPr/>
        <p:txBody>
          <a:bodyPr/>
          <a:lstStyle/>
          <a:p>
            <a:fld id="{B8B24837-0333-4C6A-8207-E078C289E797}" type="slidenum">
              <a:rPr lang="en-US" smtClean="0"/>
              <a:t>3</a:t>
            </a:fld>
            <a:endParaRPr lang="en-US"/>
          </a:p>
        </p:txBody>
      </p:sp>
    </p:spTree>
    <p:extLst>
      <p:ext uri="{BB962C8B-B14F-4D97-AF65-F5344CB8AC3E}">
        <p14:creationId xmlns:p14="http://schemas.microsoft.com/office/powerpoint/2010/main" val="1348268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Origin Story:</a:t>
            </a:r>
            <a:r>
              <a:rPr lang="en-US" sz="1200" kern="1200" dirty="0">
                <a:solidFill>
                  <a:schemeClr val="tx1"/>
                </a:solidFill>
                <a:effectLst/>
                <a:latin typeface="+mn-lt"/>
                <a:ea typeface="+mn-ea"/>
                <a:cs typeface="+mn-cs"/>
              </a:rPr>
              <a:t> "In 2013, Google introduced deep learning for speech recognition. It halved error rates—the equivalent of 20 years of research overnight. But Jeff Dean ran a quick back-of-the-envelope calculation: if every Android user spoke to their phone for just 3 minutes a day, Google would have to double its entire global server footprint." </a:t>
            </a:r>
          </a:p>
          <a:p>
            <a:r>
              <a:rPr lang="en-US" sz="1200" b="1" kern="1200" dirty="0">
                <a:solidFill>
                  <a:schemeClr val="tx1"/>
                </a:solidFill>
                <a:effectLst/>
                <a:latin typeface="+mn-lt"/>
                <a:ea typeface="+mn-ea"/>
                <a:cs typeface="+mn-cs"/>
              </a:rPr>
              <a:t>First-Principles Solution:</a:t>
            </a:r>
            <a:r>
              <a:rPr lang="en-US" sz="1200" kern="1200" dirty="0">
                <a:solidFill>
                  <a:schemeClr val="tx1"/>
                </a:solidFill>
                <a:effectLst/>
                <a:latin typeface="+mn-lt"/>
                <a:ea typeface="+mn-ea"/>
                <a:cs typeface="+mn-cs"/>
              </a:rPr>
              <a:t> "Instead of buying millions of CPUs, they built a specialized custom chip: the TPU (Tensor Processing Unit). By specializing solely in low-precision dense linear algebra—and removing the ability to run general software like Chrome or Word—they achieved </a:t>
            </a:r>
            <a:r>
              <a:rPr lang="en-US" sz="1200" b="1" kern="1200" dirty="0">
                <a:solidFill>
                  <a:schemeClr val="tx1"/>
                </a:solidFill>
                <a:effectLst/>
                <a:latin typeface="+mn-lt"/>
                <a:ea typeface="+mn-ea"/>
                <a:cs typeface="+mn-cs"/>
              </a:rPr>
              <a:t>30x to 80x better energy efficiency</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20x to 30x lower latency</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Lesson for Founders:</a:t>
            </a:r>
            <a:r>
              <a:rPr lang="en-US" sz="1200" kern="1200" dirty="0">
                <a:solidFill>
                  <a:schemeClr val="tx1"/>
                </a:solidFill>
                <a:effectLst/>
                <a:latin typeface="+mn-lt"/>
                <a:ea typeface="+mn-ea"/>
                <a:cs typeface="+mn-cs"/>
              </a:rPr>
              <a:t> "Do not anchor on how problems are solved today. Do napkin math from first principles. Specialize enough to gain order-of-magnitude performance benefits without over-specializing before algorithms evolve.</a:t>
            </a:r>
          </a:p>
          <a:p>
            <a:endParaRPr lang="en-US" dirty="0"/>
          </a:p>
        </p:txBody>
      </p:sp>
      <p:sp>
        <p:nvSpPr>
          <p:cNvPr id="4" name="Slide Number Placeholder 3"/>
          <p:cNvSpPr>
            <a:spLocks noGrp="1"/>
          </p:cNvSpPr>
          <p:nvPr>
            <p:ph type="sldNum" sz="quarter" idx="5"/>
          </p:nvPr>
        </p:nvSpPr>
        <p:spPr/>
        <p:txBody>
          <a:bodyPr/>
          <a:lstStyle/>
          <a:p>
            <a:fld id="{B8B24837-0333-4C6A-8207-E078C289E797}" type="slidenum">
              <a:rPr lang="en-US" smtClean="0"/>
              <a:t>4</a:t>
            </a:fld>
            <a:endParaRPr lang="en-US"/>
          </a:p>
        </p:txBody>
      </p:sp>
    </p:spTree>
    <p:extLst>
      <p:ext uri="{BB962C8B-B14F-4D97-AF65-F5344CB8AC3E}">
        <p14:creationId xmlns:p14="http://schemas.microsoft.com/office/powerpoint/2010/main" val="1650933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Moving Beyond Parameter Scaling:</a:t>
            </a:r>
            <a:r>
              <a:rPr lang="en-US" sz="1200" kern="1200" dirty="0">
                <a:solidFill>
                  <a:schemeClr val="tx1"/>
                </a:solidFill>
                <a:effectLst/>
                <a:latin typeface="+mn-lt"/>
                <a:ea typeface="+mn-ea"/>
                <a:cs typeface="+mn-cs"/>
              </a:rPr>
              <a:t> "AI progress is no longer just about making models bigger or throwing trillions more tokens into pre-training. Today, the foundation model acts as a central reasoning engine inside a broader system." </a:t>
            </a:r>
          </a:p>
          <a:p>
            <a:r>
              <a:rPr lang="en-US" sz="1200" b="1" kern="1200" dirty="0">
                <a:solidFill>
                  <a:schemeClr val="tx1"/>
                </a:solidFill>
                <a:effectLst/>
                <a:latin typeface="+mn-lt"/>
                <a:ea typeface="+mn-ea"/>
                <a:cs typeface="+mn-cs"/>
              </a:rPr>
              <a:t>The 'Stirred Soup' Analogy:</a:t>
            </a:r>
            <a:r>
              <a:rPr lang="en-US" sz="1200" kern="1200" dirty="0">
                <a:solidFill>
                  <a:schemeClr val="tx1"/>
                </a:solidFill>
                <a:effectLst/>
                <a:latin typeface="+mn-lt"/>
                <a:ea typeface="+mn-ea"/>
                <a:cs typeface="+mn-cs"/>
              </a:rPr>
              <a:t> "When a model learns during pre-training, trillions of tokens are stirred together into a parameter soup. That knowledge can be fuzzy or implicit. But when you perform </a:t>
            </a:r>
            <a:r>
              <a:rPr lang="en-US" sz="1200" b="1" kern="1200" dirty="0">
                <a:solidFill>
                  <a:schemeClr val="tx1"/>
                </a:solidFill>
                <a:effectLst/>
                <a:latin typeface="+mn-lt"/>
                <a:ea typeface="+mn-ea"/>
                <a:cs typeface="+mn-cs"/>
              </a:rPr>
              <a:t>Context Engineering</a:t>
            </a:r>
            <a:r>
              <a:rPr lang="en-US" sz="1200" kern="1200" dirty="0">
                <a:solidFill>
                  <a:schemeClr val="tx1"/>
                </a:solidFill>
                <a:effectLst/>
                <a:latin typeface="+mn-lt"/>
                <a:ea typeface="+mn-ea"/>
                <a:cs typeface="+mn-cs"/>
              </a:rPr>
              <a:t>—injecting precise, real-time data directly into the context window via RAG, tools, or memory—the model receives direct, razor-sharp clarity." </a:t>
            </a:r>
          </a:p>
          <a:p>
            <a:r>
              <a:rPr lang="en-US" sz="1200" b="1" kern="1200" dirty="0">
                <a:solidFill>
                  <a:schemeClr val="tx1"/>
                </a:solidFill>
                <a:effectLst/>
                <a:latin typeface="+mn-lt"/>
                <a:ea typeface="+mn-ea"/>
                <a:cs typeface="+mn-cs"/>
              </a:rPr>
              <a:t>Democratization for Startups:</a:t>
            </a:r>
            <a:r>
              <a:rPr lang="en-US" sz="1200" kern="1200" dirty="0">
                <a:solidFill>
                  <a:schemeClr val="tx1"/>
                </a:solidFill>
                <a:effectLst/>
                <a:latin typeface="+mn-lt"/>
                <a:ea typeface="+mn-ea"/>
                <a:cs typeface="+mn-cs"/>
              </a:rPr>
              <a:t> "This is where small teams win. You don't need $100M of GPUs to pre-train models. You can use standard model APIs and excel at context engineering, tool integration, and agentic workflows.</a:t>
            </a:r>
          </a:p>
          <a:p>
            <a:endParaRPr lang="en-US" dirty="0"/>
          </a:p>
        </p:txBody>
      </p:sp>
      <p:sp>
        <p:nvSpPr>
          <p:cNvPr id="4" name="Slide Number Placeholder 3"/>
          <p:cNvSpPr>
            <a:spLocks noGrp="1"/>
          </p:cNvSpPr>
          <p:nvPr>
            <p:ph type="sldNum" sz="quarter" idx="5"/>
          </p:nvPr>
        </p:nvSpPr>
        <p:spPr/>
        <p:txBody>
          <a:bodyPr/>
          <a:lstStyle/>
          <a:p>
            <a:fld id="{B8B24837-0333-4C6A-8207-E078C289E797}" type="slidenum">
              <a:rPr lang="en-US" smtClean="0"/>
              <a:t>5</a:t>
            </a:fld>
            <a:endParaRPr lang="en-US"/>
          </a:p>
        </p:txBody>
      </p:sp>
    </p:spTree>
    <p:extLst>
      <p:ext uri="{BB962C8B-B14F-4D97-AF65-F5344CB8AC3E}">
        <p14:creationId xmlns:p14="http://schemas.microsoft.com/office/powerpoint/2010/main" val="2500956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Problem with Long-Running Agents:</a:t>
            </a:r>
            <a:r>
              <a:rPr lang="en-US" sz="1200" kern="1200" dirty="0">
                <a:solidFill>
                  <a:schemeClr val="tx1"/>
                </a:solidFill>
                <a:effectLst/>
                <a:latin typeface="+mn-lt"/>
                <a:ea typeface="+mn-ea"/>
                <a:cs typeface="+mn-cs"/>
              </a:rPr>
              <a:t> "Have you ever built an AI agent that works great for 5 steps, but goes completely off the rails by step 30 or 50? Why does that happen? Because as the execution sequence grows, the agent drifts outside its highly trained training distribution." </a:t>
            </a:r>
          </a:p>
          <a:p>
            <a:r>
              <a:rPr lang="en-US" sz="1200" b="1" kern="1200" dirty="0">
                <a:solidFill>
                  <a:schemeClr val="tx1"/>
                </a:solidFill>
                <a:effectLst/>
                <a:latin typeface="+mn-lt"/>
                <a:ea typeface="+mn-ea"/>
                <a:cs typeface="+mn-cs"/>
              </a:rPr>
              <a:t>Inference-Time Compute &amp; Search:</a:t>
            </a:r>
            <a:r>
              <a:rPr lang="en-US" sz="1200" kern="1200" dirty="0">
                <a:solidFill>
                  <a:schemeClr val="tx1"/>
                </a:solidFill>
                <a:effectLst/>
                <a:latin typeface="+mn-lt"/>
                <a:ea typeface="+mn-ea"/>
                <a:cs typeface="+mn-cs"/>
              </a:rPr>
              <a:t> "To fix this, we move from single-threaded agent loops to </a:t>
            </a:r>
            <a:r>
              <a:rPr lang="en-US" sz="1200" b="1" kern="1200" dirty="0">
                <a:solidFill>
                  <a:schemeClr val="tx1"/>
                </a:solidFill>
                <a:effectLst/>
                <a:latin typeface="+mn-lt"/>
                <a:ea typeface="+mn-ea"/>
                <a:cs typeface="+mn-cs"/>
              </a:rPr>
              <a:t>multi-agent search systems</a:t>
            </a:r>
            <a:r>
              <a:rPr lang="en-US" sz="1200" kern="1200" dirty="0">
                <a:solidFill>
                  <a:schemeClr val="tx1"/>
                </a:solidFill>
                <a:effectLst/>
                <a:latin typeface="+mn-lt"/>
                <a:ea typeface="+mn-ea"/>
                <a:cs typeface="+mn-cs"/>
              </a:rPr>
              <a:t> using inference-time compute." </a:t>
            </a:r>
          </a:p>
          <a:p>
            <a:r>
              <a:rPr lang="en-US" sz="1200" b="1" kern="1200" dirty="0">
                <a:solidFill>
                  <a:schemeClr val="tx1"/>
                </a:solidFill>
                <a:effectLst/>
                <a:latin typeface="+mn-lt"/>
                <a:ea typeface="+mn-ea"/>
                <a:cs typeface="+mn-cs"/>
              </a:rPr>
              <a:t>How It Works:</a:t>
            </a:r>
            <a:r>
              <a:rPr lang="en-US" sz="1200" kern="1200" dirty="0">
                <a:solidFill>
                  <a:schemeClr val="tx1"/>
                </a:solidFill>
                <a:effectLst/>
                <a:latin typeface="+mn-lt"/>
                <a:ea typeface="+mn-ea"/>
                <a:cs typeface="+mn-cs"/>
              </a:rPr>
              <a:t> "Instead of hoping one agent gets it right across 50 steps, deploy multiple sub-agents in parallel. A supervisor node evaluates progress, prunes hallucinated or failing paths, and doubles down on successful trajectories.</a:t>
            </a:r>
          </a:p>
          <a:p>
            <a:endParaRPr lang="en-US" dirty="0"/>
          </a:p>
        </p:txBody>
      </p:sp>
      <p:sp>
        <p:nvSpPr>
          <p:cNvPr id="4" name="Slide Number Placeholder 3"/>
          <p:cNvSpPr>
            <a:spLocks noGrp="1"/>
          </p:cNvSpPr>
          <p:nvPr>
            <p:ph type="sldNum" sz="quarter" idx="5"/>
          </p:nvPr>
        </p:nvSpPr>
        <p:spPr/>
        <p:txBody>
          <a:bodyPr/>
          <a:lstStyle/>
          <a:p>
            <a:fld id="{B8B24837-0333-4C6A-8207-E078C289E797}" type="slidenum">
              <a:rPr lang="en-US" smtClean="0"/>
              <a:t>6</a:t>
            </a:fld>
            <a:endParaRPr lang="en-US"/>
          </a:p>
        </p:txBody>
      </p:sp>
    </p:spTree>
    <p:extLst>
      <p:ext uri="{BB962C8B-B14F-4D97-AF65-F5344CB8AC3E}">
        <p14:creationId xmlns:p14="http://schemas.microsoft.com/office/powerpoint/2010/main" val="3989918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How to Teach Agents Complex Skills:</a:t>
            </a:r>
            <a:r>
              <a:rPr lang="en-US" sz="1200" kern="1200" dirty="0">
                <a:solidFill>
                  <a:schemeClr val="tx1"/>
                </a:solidFill>
                <a:effectLst/>
                <a:latin typeface="+mn-lt"/>
                <a:ea typeface="+mn-ea"/>
                <a:cs typeface="+mn-cs"/>
              </a:rPr>
              <a:t> "How do we teach an LLM to perform high-level engineering tasks? By explicitly codifying human workflows into step-by-step agent skills." </a:t>
            </a:r>
          </a:p>
          <a:p>
            <a:r>
              <a:rPr lang="en-US" sz="1200" b="1" kern="1200" dirty="0">
                <a:solidFill>
                  <a:schemeClr val="tx1"/>
                </a:solidFill>
                <a:effectLst/>
                <a:latin typeface="+mn-lt"/>
                <a:ea typeface="+mn-ea"/>
                <a:cs typeface="+mn-cs"/>
              </a:rPr>
              <a:t>Real Google Case Study:</a:t>
            </a:r>
            <a:r>
              <a:rPr lang="en-US" sz="1200" kern="1200" dirty="0">
                <a:solidFill>
                  <a:schemeClr val="tx1"/>
                </a:solidFill>
                <a:effectLst/>
                <a:latin typeface="+mn-lt"/>
                <a:ea typeface="+mn-ea"/>
                <a:cs typeface="+mn-cs"/>
              </a:rPr>
              <a:t> "Jeff Dean and Sanjay Ghemawat frequently write low-level C++ performance optimizations. They formalized their exact process—write benchmark, measure performance, modify code, measure cache footprint—and published a guide called 'Performance Hints'." </a:t>
            </a:r>
          </a:p>
          <a:p>
            <a:r>
              <a:rPr lang="en-US" sz="1200" b="1" kern="1200" dirty="0">
                <a:solidFill>
                  <a:schemeClr val="tx1"/>
                </a:solidFill>
                <a:effectLst/>
                <a:latin typeface="+mn-lt"/>
                <a:ea typeface="+mn-ea"/>
                <a:cs typeface="+mn-cs"/>
              </a:rPr>
              <a:t>Result:</a:t>
            </a:r>
            <a:r>
              <a:rPr lang="en-US" sz="1200" kern="1200" dirty="0">
                <a:solidFill>
                  <a:schemeClr val="tx1"/>
                </a:solidFill>
                <a:effectLst/>
                <a:latin typeface="+mn-lt"/>
                <a:ea typeface="+mn-ea"/>
                <a:cs typeface="+mn-cs"/>
              </a:rPr>
              <a:t> "They fed this exact workflow definition to their coding models as a custom skill. The agent could then autonomously cycle through code optimization loops, benchmarking its own iterations and achieving expert-level performance improvements.</a:t>
            </a:r>
          </a:p>
          <a:p>
            <a:endParaRPr lang="en-US" dirty="0"/>
          </a:p>
        </p:txBody>
      </p:sp>
      <p:sp>
        <p:nvSpPr>
          <p:cNvPr id="4" name="Slide Number Placeholder 3"/>
          <p:cNvSpPr>
            <a:spLocks noGrp="1"/>
          </p:cNvSpPr>
          <p:nvPr>
            <p:ph type="sldNum" sz="quarter" idx="5"/>
          </p:nvPr>
        </p:nvSpPr>
        <p:spPr/>
        <p:txBody>
          <a:bodyPr/>
          <a:lstStyle/>
          <a:p>
            <a:fld id="{B8B24837-0333-4C6A-8207-E078C289E797}" type="slidenum">
              <a:rPr lang="en-US" smtClean="0"/>
              <a:t>7</a:t>
            </a:fld>
            <a:endParaRPr lang="en-US"/>
          </a:p>
        </p:txBody>
      </p:sp>
    </p:spTree>
    <p:extLst>
      <p:ext uri="{BB962C8B-B14F-4D97-AF65-F5344CB8AC3E}">
        <p14:creationId xmlns:p14="http://schemas.microsoft.com/office/powerpoint/2010/main" val="2265389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2027 Prediction:</a:t>
            </a:r>
            <a:r>
              <a:rPr lang="en-US" sz="1200" kern="1200" dirty="0">
                <a:solidFill>
                  <a:schemeClr val="tx1"/>
                </a:solidFill>
                <a:effectLst/>
                <a:latin typeface="+mn-lt"/>
                <a:ea typeface="+mn-ea"/>
                <a:cs typeface="+mn-cs"/>
              </a:rPr>
              <a:t> "Looking ahead to 2027, Jeff Dean predicts a massive shift toward fully automated scientific and engineering experimentation loops." </a:t>
            </a:r>
          </a:p>
          <a:p>
            <a:r>
              <a:rPr lang="en-US" sz="1200" b="1" kern="1200" dirty="0">
                <a:solidFill>
                  <a:schemeClr val="tx1"/>
                </a:solidFill>
                <a:effectLst/>
                <a:latin typeface="+mn-lt"/>
                <a:ea typeface="+mn-ea"/>
                <a:cs typeface="+mn-cs"/>
              </a:rPr>
              <a:t>The Closed Scientific Loop:</a:t>
            </a:r>
            <a:r>
              <a:rPr lang="en-US" sz="1200" kern="1200" dirty="0">
                <a:solidFill>
                  <a:schemeClr val="tx1"/>
                </a:solidFill>
                <a:effectLst/>
                <a:latin typeface="+mn-lt"/>
                <a:ea typeface="+mn-ea"/>
                <a:cs typeface="+mn-cs"/>
              </a:rPr>
              <a:t> "System architecture will work like this:</a:t>
            </a:r>
          </a:p>
          <a:p>
            <a:pPr marL="228600" indent="-228600">
              <a:buFont typeface="+mj-lt"/>
              <a:buAutoNum type="arabicPeriod"/>
            </a:pPr>
            <a:r>
              <a:rPr lang="en-US" sz="1200" kern="1200" dirty="0">
                <a:solidFill>
                  <a:schemeClr val="tx1"/>
                </a:solidFill>
                <a:effectLst/>
                <a:latin typeface="+mn-lt"/>
                <a:ea typeface="+mn-ea"/>
                <a:cs typeface="+mn-cs"/>
              </a:rPr>
              <a:t>Orchestration frameworks take a broad goal and decompose it into sub-problems. </a:t>
            </a:r>
          </a:p>
          <a:p>
            <a:pPr marL="228600" indent="-228600">
              <a:buFont typeface="+mj-lt"/>
              <a:buAutoNum type="arabicPeriod"/>
            </a:pPr>
            <a:r>
              <a:rPr lang="en-US" sz="1200" kern="1200" dirty="0">
                <a:solidFill>
                  <a:schemeClr val="tx1"/>
                </a:solidFill>
                <a:effectLst/>
                <a:latin typeface="+mn-lt"/>
                <a:ea typeface="+mn-ea"/>
                <a:cs typeface="+mn-cs"/>
              </a:rPr>
              <a:t>Agents propose hypothesis-driven solutions and generate experiment variants. </a:t>
            </a:r>
          </a:p>
          <a:p>
            <a:pPr marL="228600" indent="-228600">
              <a:buFont typeface="+mj-lt"/>
              <a:buAutoNum type="arabicPeriod"/>
            </a:pPr>
            <a:r>
              <a:rPr lang="en-US" sz="1200" kern="1200" dirty="0">
                <a:solidFill>
                  <a:schemeClr val="tx1"/>
                </a:solidFill>
                <a:effectLst/>
                <a:latin typeface="+mn-lt"/>
                <a:ea typeface="+mn-ea"/>
                <a:cs typeface="+mn-cs"/>
              </a:rPr>
              <a:t>High-speed evaluators run tests. </a:t>
            </a:r>
          </a:p>
          <a:p>
            <a:pPr marL="228600" indent="-228600">
              <a:buFont typeface="+mj-lt"/>
              <a:buAutoNum type="arabicPeriod"/>
            </a:pPr>
            <a:r>
              <a:rPr lang="en-US" sz="1200" kern="1200" dirty="0">
                <a:solidFill>
                  <a:schemeClr val="tx1"/>
                </a:solidFill>
                <a:effectLst/>
                <a:latin typeface="+mn-lt"/>
                <a:ea typeface="+mn-ea"/>
                <a:cs typeface="+mn-cs"/>
              </a:rPr>
              <a:t>Successful results are merged back into the base system to drive self-improvement." </a:t>
            </a:r>
          </a:p>
          <a:p>
            <a:r>
              <a:rPr lang="en-US" sz="1200" b="1" kern="1200" dirty="0">
                <a:solidFill>
                  <a:schemeClr val="tx1"/>
                </a:solidFill>
                <a:effectLst/>
                <a:latin typeface="+mn-lt"/>
                <a:ea typeface="+mn-ea"/>
                <a:cs typeface="+mn-cs"/>
              </a:rPr>
              <a:t>Cross-Domain Application:</a:t>
            </a:r>
            <a:r>
              <a:rPr lang="en-US" sz="1200" kern="1200" dirty="0">
                <a:solidFill>
                  <a:schemeClr val="tx1"/>
                </a:solidFill>
                <a:effectLst/>
                <a:latin typeface="+mn-lt"/>
                <a:ea typeface="+mn-ea"/>
                <a:cs typeface="+mn-cs"/>
              </a:rPr>
              <a:t> "This isn't limited to software development. It applies directly to machine learning model architecture search, drug discovery, materials science, and semiconductor chip design.</a:t>
            </a:r>
          </a:p>
          <a:p>
            <a:endParaRPr lang="en-US" dirty="0"/>
          </a:p>
        </p:txBody>
      </p:sp>
      <p:sp>
        <p:nvSpPr>
          <p:cNvPr id="4" name="Slide Number Placeholder 3"/>
          <p:cNvSpPr>
            <a:spLocks noGrp="1"/>
          </p:cNvSpPr>
          <p:nvPr>
            <p:ph type="sldNum" sz="quarter" idx="5"/>
          </p:nvPr>
        </p:nvSpPr>
        <p:spPr/>
        <p:txBody>
          <a:bodyPr/>
          <a:lstStyle/>
          <a:p>
            <a:fld id="{B8B24837-0333-4C6A-8207-E078C289E797}" type="slidenum">
              <a:rPr lang="en-US" smtClean="0"/>
              <a:t>8</a:t>
            </a:fld>
            <a:endParaRPr lang="en-US"/>
          </a:p>
        </p:txBody>
      </p:sp>
    </p:spTree>
    <p:extLst>
      <p:ext uri="{BB962C8B-B14F-4D97-AF65-F5344CB8AC3E}">
        <p14:creationId xmlns:p14="http://schemas.microsoft.com/office/powerpoint/2010/main" val="2302954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Bottleneck in Automated Loops:</a:t>
            </a:r>
            <a:r>
              <a:rPr lang="en-US" sz="1200" kern="1200" dirty="0">
                <a:solidFill>
                  <a:schemeClr val="tx1"/>
                </a:solidFill>
                <a:effectLst/>
                <a:latin typeface="+mn-lt"/>
                <a:ea typeface="+mn-ea"/>
                <a:cs typeface="+mn-cs"/>
              </a:rPr>
              <a:t> "Automated experimentation is only as fast as your evaluation loop. If evaluating an experiment takes 12 hours, your agentic system will stall." </a:t>
            </a:r>
          </a:p>
          <a:p>
            <a:r>
              <a:rPr lang="en-US" sz="1200" b="1" kern="1200" dirty="0">
                <a:solidFill>
                  <a:schemeClr val="tx1"/>
                </a:solidFill>
                <a:effectLst/>
                <a:latin typeface="+mn-lt"/>
                <a:ea typeface="+mn-ea"/>
                <a:cs typeface="+mn-cs"/>
              </a:rPr>
              <a:t>The Neural Proxy Breakthrough:</a:t>
            </a:r>
            <a:r>
              <a:rPr lang="en-US" sz="1200" kern="1200" dirty="0">
                <a:solidFill>
                  <a:schemeClr val="tx1"/>
                </a:solidFill>
                <a:effectLst/>
                <a:latin typeface="+mn-lt"/>
                <a:ea typeface="+mn-ea"/>
                <a:cs typeface="+mn-cs"/>
              </a:rPr>
              <a:t> "Consider quantum chemistry: simulating a single molecular structure used to take a full night on a supercomputer cluster. Researchers trained a neural network proxy model on historical simulation inputs/outputs. The neural evaluator ran </a:t>
            </a:r>
            <a:r>
              <a:rPr lang="en-US" sz="1200" b="1" kern="1200" dirty="0">
                <a:solidFill>
                  <a:schemeClr val="tx1"/>
                </a:solidFill>
                <a:effectLst/>
                <a:latin typeface="+mn-lt"/>
                <a:ea typeface="+mn-ea"/>
                <a:cs typeface="+mn-cs"/>
              </a:rPr>
              <a:t>300,000 times faster</a:t>
            </a:r>
            <a:r>
              <a:rPr lang="en-US" sz="1200" kern="1200" dirty="0">
                <a:solidFill>
                  <a:schemeClr val="tx1"/>
                </a:solidFill>
                <a:effectLst/>
                <a:latin typeface="+mn-lt"/>
                <a:ea typeface="+mn-ea"/>
                <a:cs typeface="+mn-cs"/>
              </a:rPr>
              <a:t> with almost zero loss in accuracy." </a:t>
            </a:r>
          </a:p>
          <a:p>
            <a:r>
              <a:rPr lang="en-US" sz="1200" b="1" kern="1200" dirty="0">
                <a:solidFill>
                  <a:schemeClr val="tx1"/>
                </a:solidFill>
                <a:effectLst/>
                <a:latin typeface="+mn-lt"/>
                <a:ea typeface="+mn-ea"/>
                <a:cs typeface="+mn-cs"/>
              </a:rPr>
              <a:t>The Paradigm Shift:</a:t>
            </a:r>
            <a:r>
              <a:rPr lang="en-US" sz="1200" kern="1200" dirty="0">
                <a:solidFill>
                  <a:schemeClr val="tx1"/>
                </a:solidFill>
                <a:effectLst/>
                <a:latin typeface="+mn-lt"/>
                <a:ea typeface="+mn-ea"/>
                <a:cs typeface="+mn-cs"/>
              </a:rPr>
              <a:t> "Screening 10 million chemical configurations used to take 6 months of compute setup. Now it can be run during a lunch break. Whenever you make validation 100,000x faster, discovery changes fundamentally.</a:t>
            </a:r>
          </a:p>
          <a:p>
            <a:endParaRPr lang="en-US" dirty="0"/>
          </a:p>
        </p:txBody>
      </p:sp>
      <p:sp>
        <p:nvSpPr>
          <p:cNvPr id="4" name="Slide Number Placeholder 3"/>
          <p:cNvSpPr>
            <a:spLocks noGrp="1"/>
          </p:cNvSpPr>
          <p:nvPr>
            <p:ph type="sldNum" sz="quarter" idx="5"/>
          </p:nvPr>
        </p:nvSpPr>
        <p:spPr/>
        <p:txBody>
          <a:bodyPr/>
          <a:lstStyle/>
          <a:p>
            <a:fld id="{B8B24837-0333-4C6A-8207-E078C289E797}" type="slidenum">
              <a:rPr lang="en-US" smtClean="0"/>
              <a:t>9</a:t>
            </a:fld>
            <a:endParaRPr lang="en-US"/>
          </a:p>
        </p:txBody>
      </p:sp>
    </p:spTree>
    <p:extLst>
      <p:ext uri="{BB962C8B-B14F-4D97-AF65-F5344CB8AC3E}">
        <p14:creationId xmlns:p14="http://schemas.microsoft.com/office/powerpoint/2010/main" val="3229087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Frontier Labs vs. Startups:</a:t>
            </a:r>
            <a:r>
              <a:rPr lang="en-US" sz="1200" kern="1200" dirty="0">
                <a:solidFill>
                  <a:schemeClr val="tx1"/>
                </a:solidFill>
                <a:effectLst/>
                <a:latin typeface="+mn-lt"/>
                <a:ea typeface="+mn-ea"/>
                <a:cs typeface="+mn-cs"/>
              </a:rPr>
              <a:t> "Where can a 2-person startup win against tech giants with multi-billion-dollar clusters?" </a:t>
            </a:r>
          </a:p>
          <a:p>
            <a:r>
              <a:rPr lang="en-US" sz="1200" b="1" kern="1200" dirty="0">
                <a:solidFill>
                  <a:schemeClr val="tx1"/>
                </a:solidFill>
                <a:effectLst/>
                <a:latin typeface="+mn-lt"/>
                <a:ea typeface="+mn-ea"/>
                <a:cs typeface="+mn-cs"/>
              </a:rPr>
              <a:t>Frontier Lab Advantage:</a:t>
            </a:r>
            <a:r>
              <a:rPr lang="en-US" sz="1200" kern="1200" dirty="0">
                <a:solidFill>
                  <a:schemeClr val="tx1"/>
                </a:solidFill>
                <a:effectLst/>
                <a:latin typeface="+mn-lt"/>
                <a:ea typeface="+mn-ea"/>
                <a:cs typeface="+mn-cs"/>
              </a:rPr>
              <a:t> "Labs like Google or OpenAI excel at full-stack hardware/software codesign, generalized foundation models, and indexing public internet data." </a:t>
            </a:r>
          </a:p>
          <a:p>
            <a:r>
              <a:rPr lang="en-US" sz="1200" b="1" kern="1200" dirty="0">
                <a:solidFill>
                  <a:schemeClr val="tx1"/>
                </a:solidFill>
                <a:effectLst/>
                <a:latin typeface="+mn-lt"/>
                <a:ea typeface="+mn-ea"/>
                <a:cs typeface="+mn-cs"/>
              </a:rPr>
              <a:t>Startup Advantage:</a:t>
            </a:r>
            <a:r>
              <a:rPr lang="en-US" sz="1200" kern="1200" dirty="0">
                <a:solidFill>
                  <a:schemeClr val="tx1"/>
                </a:solidFill>
                <a:effectLst/>
                <a:latin typeface="+mn-lt"/>
                <a:ea typeface="+mn-ea"/>
                <a:cs typeface="+mn-cs"/>
              </a:rPr>
              <a:t> "Startups excel at specialized domain accuracy, context orchestration, and accessing </a:t>
            </a:r>
            <a:r>
              <a:rPr lang="en-US" sz="1200" b="1" kern="1200" dirty="0">
                <a:solidFill>
                  <a:schemeClr val="tx1"/>
                </a:solidFill>
                <a:effectLst/>
                <a:latin typeface="+mn-lt"/>
                <a:ea typeface="+mn-ea"/>
                <a:cs typeface="+mn-cs"/>
              </a:rPr>
              <a:t>private, personal, or proprietary enterprise data</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The Blind Spot:</a:t>
            </a:r>
            <a:r>
              <a:rPr lang="en-US" sz="1200" kern="1200" dirty="0">
                <a:solidFill>
                  <a:schemeClr val="tx1"/>
                </a:solidFill>
                <a:effectLst/>
                <a:latin typeface="+mn-lt"/>
                <a:ea typeface="+mn-ea"/>
                <a:cs typeface="+mn-cs"/>
              </a:rPr>
              <a:t> "Google organizes the world’s public information, but they don't have access to your personal files, private company workflows, or hyper-niche industry domain data. That blind spot is where agile startup teams can build dominant, highly defensible products.</a:t>
            </a:r>
          </a:p>
          <a:p>
            <a:endParaRPr lang="en-US" dirty="0"/>
          </a:p>
        </p:txBody>
      </p:sp>
      <p:sp>
        <p:nvSpPr>
          <p:cNvPr id="4" name="Slide Number Placeholder 3"/>
          <p:cNvSpPr>
            <a:spLocks noGrp="1"/>
          </p:cNvSpPr>
          <p:nvPr>
            <p:ph type="sldNum" sz="quarter" idx="5"/>
          </p:nvPr>
        </p:nvSpPr>
        <p:spPr/>
        <p:txBody>
          <a:bodyPr/>
          <a:lstStyle/>
          <a:p>
            <a:fld id="{B8B24837-0333-4C6A-8207-E078C289E797}" type="slidenum">
              <a:rPr lang="en-US" smtClean="0"/>
              <a:t>10</a:t>
            </a:fld>
            <a:endParaRPr lang="en-US"/>
          </a:p>
        </p:txBody>
      </p:sp>
    </p:spTree>
    <p:extLst>
      <p:ext uri="{BB962C8B-B14F-4D97-AF65-F5344CB8AC3E}">
        <p14:creationId xmlns:p14="http://schemas.microsoft.com/office/powerpoint/2010/main" val="246066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How Founders Should Evaluate Ideas:</a:t>
            </a:r>
            <a:r>
              <a:rPr lang="en-US" sz="1200" kern="1200" dirty="0">
                <a:solidFill>
                  <a:schemeClr val="tx1"/>
                </a:solidFill>
                <a:effectLst/>
                <a:latin typeface="+mn-lt"/>
                <a:ea typeface="+mn-ea"/>
                <a:cs typeface="+mn-cs"/>
              </a:rPr>
              <a:t> "Jeff Dean outlines a 3-question diagnostic to test if a startup idea is durable:" </a:t>
            </a:r>
          </a:p>
          <a:p>
            <a:r>
              <a:rPr lang="en-US" sz="1200" b="1" kern="1200" dirty="0">
                <a:solidFill>
                  <a:schemeClr val="tx1"/>
                </a:solidFill>
                <a:effectLst/>
                <a:latin typeface="+mn-lt"/>
                <a:ea typeface="+mn-ea"/>
                <a:cs typeface="+mn-cs"/>
              </a:rPr>
              <a:t>Criterion 1 (Founder-Market Fit):</a:t>
            </a:r>
            <a:r>
              <a:rPr lang="en-US" sz="1200" kern="1200" dirty="0">
                <a:solidFill>
                  <a:schemeClr val="tx1"/>
                </a:solidFill>
                <a:effectLst/>
                <a:latin typeface="+mn-lt"/>
                <a:ea typeface="+mn-ea"/>
                <a:cs typeface="+mn-cs"/>
              </a:rPr>
              <a:t> "Are you super excited about it, and will it be genuinely useful?" </a:t>
            </a:r>
          </a:p>
          <a:p>
            <a:r>
              <a:rPr lang="en-US" sz="1200" b="1" kern="1200" dirty="0">
                <a:solidFill>
                  <a:schemeClr val="tx1"/>
                </a:solidFill>
                <a:effectLst/>
                <a:latin typeface="+mn-lt"/>
                <a:ea typeface="+mn-ea"/>
                <a:cs typeface="+mn-cs"/>
              </a:rPr>
              <a:t>Criterion 2 (The 1% Rule):</a:t>
            </a:r>
            <a:r>
              <a:rPr lang="en-US" sz="1200" kern="1200" dirty="0">
                <a:solidFill>
                  <a:schemeClr val="tx1"/>
                </a:solidFill>
                <a:effectLst/>
                <a:latin typeface="+mn-lt"/>
                <a:ea typeface="+mn-ea"/>
                <a:cs typeface="+mn-cs"/>
              </a:rPr>
              <a:t> "Do general models fail completely at it (0% to 1% success rate)? Beware of problems where frontier models currently get 20% accuracy—a 20% success rate means the next model version will likely solve it out-of-the-box in 6 to 12 months. Look for tasks where general models score 0%." </a:t>
            </a:r>
          </a:p>
          <a:p>
            <a:r>
              <a:rPr lang="en-US" sz="1200" b="1" kern="1200" dirty="0">
                <a:solidFill>
                  <a:schemeClr val="tx1"/>
                </a:solidFill>
                <a:effectLst/>
                <a:latin typeface="+mn-lt"/>
                <a:ea typeface="+mn-ea"/>
                <a:cs typeface="+mn-cs"/>
              </a:rPr>
              <a:t>Criterion 3 (Data Moat):</a:t>
            </a:r>
            <a:r>
              <a:rPr lang="en-US" sz="1200" kern="1200" dirty="0">
                <a:solidFill>
                  <a:schemeClr val="tx1"/>
                </a:solidFill>
                <a:effectLst/>
                <a:latin typeface="+mn-lt"/>
                <a:ea typeface="+mn-ea"/>
                <a:cs typeface="+mn-cs"/>
              </a:rPr>
              <a:t> "Do you have access to proprietary data or specific structural formats (like AlphaFold had with protein folding data)?" </a:t>
            </a:r>
          </a:p>
          <a:p>
            <a:endParaRPr lang="en-US" dirty="0"/>
          </a:p>
        </p:txBody>
      </p:sp>
      <p:sp>
        <p:nvSpPr>
          <p:cNvPr id="4" name="Slide Number Placeholder 3"/>
          <p:cNvSpPr>
            <a:spLocks noGrp="1"/>
          </p:cNvSpPr>
          <p:nvPr>
            <p:ph type="sldNum" sz="quarter" idx="5"/>
          </p:nvPr>
        </p:nvSpPr>
        <p:spPr/>
        <p:txBody>
          <a:bodyPr/>
          <a:lstStyle/>
          <a:p>
            <a:fld id="{B8B24837-0333-4C6A-8207-E078C289E797}" type="slidenum">
              <a:rPr lang="en-US" smtClean="0"/>
              <a:t>11</a:t>
            </a:fld>
            <a:endParaRPr lang="en-US"/>
          </a:p>
        </p:txBody>
      </p:sp>
    </p:spTree>
    <p:extLst>
      <p:ext uri="{BB962C8B-B14F-4D97-AF65-F5344CB8AC3E}">
        <p14:creationId xmlns:p14="http://schemas.microsoft.com/office/powerpoint/2010/main" val="26093922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Challenging 60-Year-Old Assumptions:</a:t>
            </a:r>
            <a:r>
              <a:rPr lang="en-US" sz="1200" kern="1200" dirty="0">
                <a:solidFill>
                  <a:schemeClr val="tx1"/>
                </a:solidFill>
                <a:effectLst/>
                <a:latin typeface="+mn-lt"/>
                <a:ea typeface="+mn-ea"/>
                <a:cs typeface="+mn-cs"/>
              </a:rPr>
              <a:t> "For 60 years, chip design has assumed that every transistor must be 100% flawless with zero bit flips allowed." </a:t>
            </a:r>
          </a:p>
          <a:p>
            <a:r>
              <a:rPr lang="en-US" sz="1200" b="1" kern="1200" dirty="0">
                <a:solidFill>
                  <a:schemeClr val="tx1"/>
                </a:solidFill>
                <a:effectLst/>
                <a:latin typeface="+mn-lt"/>
                <a:ea typeface="+mn-ea"/>
                <a:cs typeface="+mn-cs"/>
              </a:rPr>
              <a:t>A Radical Thought Experiment:</a:t>
            </a:r>
            <a:r>
              <a:rPr lang="en-US" sz="1200" kern="1200" dirty="0">
                <a:solidFill>
                  <a:schemeClr val="tx1"/>
                </a:solidFill>
                <a:effectLst/>
                <a:latin typeface="+mn-lt"/>
                <a:ea typeface="+mn-ea"/>
                <a:cs typeface="+mn-cs"/>
              </a:rPr>
              <a:t> "What if you deliberately designed hardware using cheap, unreliable transistors that experience 20 errors per day, mimicking the biological pathways of the human brain?" </a:t>
            </a:r>
          </a:p>
          <a:p>
            <a:r>
              <a:rPr lang="en-US" sz="1200" b="1" kern="1200" dirty="0">
                <a:solidFill>
                  <a:schemeClr val="tx1"/>
                </a:solidFill>
                <a:effectLst/>
                <a:latin typeface="+mn-lt"/>
                <a:ea typeface="+mn-ea"/>
                <a:cs typeface="+mn-cs"/>
              </a:rPr>
              <a:t>Historical Example (MapReduce):</a:t>
            </a:r>
            <a:r>
              <a:rPr lang="en-US" sz="1200" kern="1200" dirty="0">
                <a:solidFill>
                  <a:schemeClr val="tx1"/>
                </a:solidFill>
                <a:effectLst/>
                <a:latin typeface="+mn-lt"/>
                <a:ea typeface="+mn-ea"/>
                <a:cs typeface="+mn-cs"/>
              </a:rPr>
              <a:t> "This exact 'structural squinting' is how Jeff Dean and Sanjay Ghemawat invented MapReduce. Instead of requiring flawless hardware, they assumed servers and hard drives would constantly fail, building fault tolerance into the software layer. Revisiting fundamental assumptions is where true architectural leaps come from.</a:t>
            </a:r>
          </a:p>
          <a:p>
            <a:endParaRPr lang="en-US" dirty="0"/>
          </a:p>
        </p:txBody>
      </p:sp>
      <p:sp>
        <p:nvSpPr>
          <p:cNvPr id="4" name="Slide Number Placeholder 3"/>
          <p:cNvSpPr>
            <a:spLocks noGrp="1"/>
          </p:cNvSpPr>
          <p:nvPr>
            <p:ph type="sldNum" sz="quarter" idx="5"/>
          </p:nvPr>
        </p:nvSpPr>
        <p:spPr/>
        <p:txBody>
          <a:bodyPr/>
          <a:lstStyle/>
          <a:p>
            <a:fld id="{B8B24837-0333-4C6A-8207-E078C289E797}" type="slidenum">
              <a:rPr lang="en-US" smtClean="0"/>
              <a:t>12</a:t>
            </a:fld>
            <a:endParaRPr lang="en-US"/>
          </a:p>
        </p:txBody>
      </p:sp>
    </p:spTree>
    <p:extLst>
      <p:ext uri="{BB962C8B-B14F-4D97-AF65-F5344CB8AC3E}">
        <p14:creationId xmlns:p14="http://schemas.microsoft.com/office/powerpoint/2010/main" val="4275793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Shift in Software Engineering:</a:t>
            </a:r>
            <a:r>
              <a:rPr lang="en-US" sz="1200" kern="1200" dirty="0">
                <a:solidFill>
                  <a:schemeClr val="tx1"/>
                </a:solidFill>
                <a:effectLst/>
                <a:latin typeface="+mn-lt"/>
                <a:ea typeface="+mn-ea"/>
                <a:cs typeface="+mn-cs"/>
              </a:rPr>
              <a:t> "As autonomous AI agents take over writing raw code, human engineering doesn't disappear—it shifts up the stack. The bottleneck becomes </a:t>
            </a:r>
            <a:r>
              <a:rPr lang="en-US" sz="1200" b="1" kern="1200" dirty="0">
                <a:solidFill>
                  <a:schemeClr val="tx1"/>
                </a:solidFill>
                <a:effectLst/>
                <a:latin typeface="+mn-lt"/>
                <a:ea typeface="+mn-ea"/>
                <a:cs typeface="+mn-cs"/>
              </a:rPr>
              <a:t>the human ability to articulate clear intent</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Why Code Translation Works So Well:</a:t>
            </a:r>
            <a:r>
              <a:rPr lang="en-US" sz="1200" kern="1200" dirty="0">
                <a:solidFill>
                  <a:schemeClr val="tx1"/>
                </a:solidFill>
                <a:effectLst/>
                <a:latin typeface="+mn-lt"/>
                <a:ea typeface="+mn-ea"/>
                <a:cs typeface="+mn-cs"/>
              </a:rPr>
              <a:t> "Why are models exceptionally good at porting a complex Python codebase into Go? Because the original Python codebase acts as an unambiguous, flawless specification document with unit tests that leave zero room for agent drift." </a:t>
            </a:r>
          </a:p>
          <a:p>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"Vague prompts produce unreliable, divergent outputs. Crisp specifications and deterministic test setups give agents massive operational leverage.</a:t>
            </a:r>
          </a:p>
          <a:p>
            <a:endParaRPr lang="en-US" dirty="0"/>
          </a:p>
        </p:txBody>
      </p:sp>
      <p:sp>
        <p:nvSpPr>
          <p:cNvPr id="4" name="Slide Number Placeholder 3"/>
          <p:cNvSpPr>
            <a:spLocks noGrp="1"/>
          </p:cNvSpPr>
          <p:nvPr>
            <p:ph type="sldNum" sz="quarter" idx="5"/>
          </p:nvPr>
        </p:nvSpPr>
        <p:spPr/>
        <p:txBody>
          <a:bodyPr/>
          <a:lstStyle/>
          <a:p>
            <a:fld id="{B8B24837-0333-4C6A-8207-E078C289E797}" type="slidenum">
              <a:rPr lang="en-US" smtClean="0"/>
              <a:t>13</a:t>
            </a:fld>
            <a:endParaRPr lang="en-US"/>
          </a:p>
        </p:txBody>
      </p:sp>
    </p:spTree>
    <p:extLst>
      <p:ext uri="{BB962C8B-B14F-4D97-AF65-F5344CB8AC3E}">
        <p14:creationId xmlns:p14="http://schemas.microsoft.com/office/powerpoint/2010/main" val="25928202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Peer Review Rejection:</a:t>
            </a:r>
            <a:r>
              <a:rPr lang="en-US" sz="1200" kern="1200" dirty="0">
                <a:solidFill>
                  <a:schemeClr val="tx1"/>
                </a:solidFill>
                <a:effectLst/>
                <a:latin typeface="+mn-lt"/>
                <a:ea typeface="+mn-ea"/>
                <a:cs typeface="+mn-cs"/>
              </a:rPr>
              <a:t> "In 2014, Geoff Hinton, Jeff Dean, and Oriol </a:t>
            </a:r>
            <a:r>
              <a:rPr lang="en-US" sz="1200" kern="1200" dirty="0" err="1">
                <a:solidFill>
                  <a:schemeClr val="tx1"/>
                </a:solidFill>
                <a:effectLst/>
                <a:latin typeface="+mn-lt"/>
                <a:ea typeface="+mn-ea"/>
                <a:cs typeface="+mn-cs"/>
              </a:rPr>
              <a:t>Vinyals</a:t>
            </a:r>
            <a:r>
              <a:rPr lang="en-US" sz="1200" kern="1200" dirty="0">
                <a:solidFill>
                  <a:schemeClr val="tx1"/>
                </a:solidFill>
                <a:effectLst/>
                <a:latin typeface="+mn-lt"/>
                <a:ea typeface="+mn-ea"/>
                <a:cs typeface="+mn-cs"/>
              </a:rPr>
              <a:t> submitted their seminal paper on Model Distillation (using a large teacher model to train a small, efficient student model) to </a:t>
            </a:r>
            <a:r>
              <a:rPr lang="en-US" sz="1200" kern="1200" dirty="0" err="1">
                <a:solidFill>
                  <a:schemeClr val="tx1"/>
                </a:solidFill>
                <a:effectLst/>
                <a:latin typeface="+mn-lt"/>
                <a:ea typeface="+mn-ea"/>
                <a:cs typeface="+mn-cs"/>
              </a:rPr>
              <a:t>NeurIPS</a:t>
            </a:r>
            <a:r>
              <a:rPr lang="en-US" sz="1200" kern="1200" dirty="0">
                <a:solidFill>
                  <a:schemeClr val="tx1"/>
                </a:solidFill>
                <a:effectLst/>
                <a:latin typeface="+mn-lt"/>
                <a:ea typeface="+mn-ea"/>
                <a:cs typeface="+mn-cs"/>
              </a:rPr>
              <a:t>. A peer reviewer rejected it, stating: </a:t>
            </a:r>
            <a:r>
              <a:rPr lang="en-US" sz="1200" i="1" kern="1200" dirty="0">
                <a:solidFill>
                  <a:schemeClr val="tx1"/>
                </a:solidFill>
                <a:effectLst/>
                <a:latin typeface="+mn-lt"/>
                <a:ea typeface="+mn-ea"/>
                <a:cs typeface="+mn-cs"/>
              </a:rPr>
              <a:t>'Unlikely to have significant impact.'</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Persistence &amp; Reality:</a:t>
            </a:r>
            <a:r>
              <a:rPr lang="en-US" sz="1200" kern="1200" dirty="0">
                <a:solidFill>
                  <a:schemeClr val="tx1"/>
                </a:solidFill>
                <a:effectLst/>
                <a:latin typeface="+mn-lt"/>
                <a:ea typeface="+mn-ea"/>
                <a:cs typeface="+mn-cs"/>
              </a:rPr>
              <a:t> "They published it on </a:t>
            </a:r>
            <a:r>
              <a:rPr lang="en-US" sz="1200" kern="1200" dirty="0" err="1">
                <a:solidFill>
                  <a:schemeClr val="tx1"/>
                </a:solidFill>
                <a:effectLst/>
                <a:latin typeface="+mn-lt"/>
                <a:ea typeface="+mn-ea"/>
                <a:cs typeface="+mn-cs"/>
              </a:rPr>
              <a:t>arXiv</a:t>
            </a:r>
            <a:r>
              <a:rPr lang="en-US" sz="1200" kern="1200" dirty="0">
                <a:solidFill>
                  <a:schemeClr val="tx1"/>
                </a:solidFill>
                <a:effectLst/>
                <a:latin typeface="+mn-lt"/>
                <a:ea typeface="+mn-ea"/>
                <a:cs typeface="+mn-cs"/>
              </a:rPr>
              <a:t> anyway. Today, distillation is the single most critical technique used to build lightweight, fast models like Gemini Flash." </a:t>
            </a:r>
          </a:p>
          <a:p>
            <a:r>
              <a:rPr lang="en-US" sz="1200" b="1" kern="1200" dirty="0">
                <a:solidFill>
                  <a:schemeClr val="tx1"/>
                </a:solidFill>
                <a:effectLst/>
                <a:latin typeface="+mn-lt"/>
                <a:ea typeface="+mn-ea"/>
                <a:cs typeface="+mn-cs"/>
              </a:rPr>
              <a:t>Building Taste:</a:t>
            </a:r>
            <a:r>
              <a:rPr lang="en-US" sz="1200" kern="1200" dirty="0">
                <a:solidFill>
                  <a:schemeClr val="tx1"/>
                </a:solidFill>
                <a:effectLst/>
                <a:latin typeface="+mn-lt"/>
                <a:ea typeface="+mn-ea"/>
                <a:cs typeface="+mn-cs"/>
              </a:rPr>
              <a:t> "Product and research taste isn't built by seeking immediate consensus or external validation. Taste is cultivated by making clear predictions about technology, tracking those predictions against reality over 12-month cycles, and learning from the gaps.</a:t>
            </a:r>
          </a:p>
        </p:txBody>
      </p:sp>
      <p:sp>
        <p:nvSpPr>
          <p:cNvPr id="4" name="Slide Number Placeholder 3"/>
          <p:cNvSpPr>
            <a:spLocks noGrp="1"/>
          </p:cNvSpPr>
          <p:nvPr>
            <p:ph type="sldNum" sz="quarter" idx="5"/>
          </p:nvPr>
        </p:nvSpPr>
        <p:spPr/>
        <p:txBody>
          <a:bodyPr/>
          <a:lstStyle/>
          <a:p>
            <a:fld id="{B8B24837-0333-4C6A-8207-E078C289E797}" type="slidenum">
              <a:rPr lang="en-US" smtClean="0"/>
              <a:t>14</a:t>
            </a:fld>
            <a:endParaRPr lang="en-US"/>
          </a:p>
        </p:txBody>
      </p:sp>
    </p:spTree>
    <p:extLst>
      <p:ext uri="{BB962C8B-B14F-4D97-AF65-F5344CB8AC3E}">
        <p14:creationId xmlns:p14="http://schemas.microsoft.com/office/powerpoint/2010/main" val="9122166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Synthesizing the AI Founder Toolkit:</a:t>
            </a:r>
            <a:endParaRPr lang="en-US" sz="1200" kern="1200" dirty="0">
              <a:solidFill>
                <a:schemeClr val="tx1"/>
              </a:solidFill>
              <a:effectLst/>
              <a:latin typeface="+mn-lt"/>
              <a:ea typeface="+mn-ea"/>
              <a:cs typeface="+mn-cs"/>
            </a:endParaRPr>
          </a:p>
          <a:p>
            <a:pPr marL="228600" indent="-228600">
              <a:buFont typeface="+mj-lt"/>
              <a:buAutoNum type="arabicPeriod"/>
            </a:pPr>
            <a:r>
              <a:rPr lang="en-US" sz="1200" b="1" kern="1200" dirty="0">
                <a:solidFill>
                  <a:schemeClr val="tx1"/>
                </a:solidFill>
                <a:effectLst/>
                <a:latin typeface="+mn-lt"/>
                <a:ea typeface="+mn-ea"/>
                <a:cs typeface="+mn-cs"/>
              </a:rPr>
              <a:t>Crisp Specs:</a:t>
            </a:r>
            <a:r>
              <a:rPr lang="en-US" sz="1200" kern="1200" dirty="0">
                <a:solidFill>
                  <a:schemeClr val="tx1"/>
                </a:solidFill>
                <a:effectLst/>
                <a:latin typeface="+mn-lt"/>
                <a:ea typeface="+mn-ea"/>
                <a:cs typeface="+mn-cs"/>
              </a:rPr>
              <a:t> Clear, bounded instructions that prevent agent drift. </a:t>
            </a:r>
          </a:p>
          <a:p>
            <a:pPr marL="228600" indent="-228600">
              <a:buFont typeface="+mj-lt"/>
              <a:buAutoNum type="arabicPeriod"/>
            </a:pPr>
            <a:r>
              <a:rPr lang="en-US" sz="1200" b="1" kern="1200" dirty="0">
                <a:solidFill>
                  <a:schemeClr val="tx1"/>
                </a:solidFill>
                <a:effectLst/>
                <a:latin typeface="+mn-lt"/>
                <a:ea typeface="+mn-ea"/>
                <a:cs typeface="+mn-cs"/>
              </a:rPr>
              <a:t>Radical Thought Experiments:</a:t>
            </a:r>
            <a:r>
              <a:rPr lang="en-US" sz="1200" kern="1200" dirty="0">
                <a:solidFill>
                  <a:schemeClr val="tx1"/>
                </a:solidFill>
                <a:effectLst/>
                <a:latin typeface="+mn-lt"/>
                <a:ea typeface="+mn-ea"/>
                <a:cs typeface="+mn-cs"/>
              </a:rPr>
              <a:t> Willingness to discard decades-old industry assumptions. </a:t>
            </a:r>
          </a:p>
          <a:p>
            <a:pPr marL="228600" indent="-228600">
              <a:buFont typeface="+mj-lt"/>
              <a:buAutoNum type="arabicPeriod"/>
            </a:pPr>
            <a:r>
              <a:rPr lang="en-US" sz="1200" b="1" kern="1200" dirty="0">
                <a:solidFill>
                  <a:schemeClr val="tx1"/>
                </a:solidFill>
                <a:effectLst/>
                <a:latin typeface="+mn-lt"/>
                <a:ea typeface="+mn-ea"/>
                <a:cs typeface="+mn-cs"/>
              </a:rPr>
              <a:t>Cultivating Taste:</a:t>
            </a:r>
            <a:r>
              <a:rPr lang="en-US" sz="1200" kern="1200" dirty="0">
                <a:solidFill>
                  <a:schemeClr val="tx1"/>
                </a:solidFill>
                <a:effectLst/>
                <a:latin typeface="+mn-lt"/>
                <a:ea typeface="+mn-ea"/>
                <a:cs typeface="+mn-cs"/>
              </a:rPr>
              <a:t> Knowing which problems are truly worth solving. </a:t>
            </a:r>
          </a:p>
          <a:p>
            <a:r>
              <a:rPr lang="en-US" sz="1200" b="1" kern="1200" dirty="0">
                <a:solidFill>
                  <a:schemeClr val="tx1"/>
                </a:solidFill>
                <a:effectLst/>
                <a:latin typeface="+mn-lt"/>
                <a:ea typeface="+mn-ea"/>
                <a:cs typeface="+mn-cs"/>
              </a:rPr>
              <a:t>The Ultimate Moat:</a:t>
            </a:r>
            <a:r>
              <a:rPr lang="en-US" sz="1200" kern="1200" dirty="0">
                <a:solidFill>
                  <a:schemeClr val="tx1"/>
                </a:solidFill>
                <a:effectLst/>
                <a:latin typeface="+mn-lt"/>
                <a:ea typeface="+mn-ea"/>
                <a:cs typeface="+mn-cs"/>
              </a:rPr>
              <a:t> "When commodity AI agents can write software instantly, code is no longer the moat. The scarce human skills are </a:t>
            </a:r>
            <a:r>
              <a:rPr lang="en-US" sz="1200" b="1" kern="1200" dirty="0">
                <a:solidFill>
                  <a:schemeClr val="tx1"/>
                </a:solidFill>
                <a:effectLst/>
                <a:latin typeface="+mn-lt"/>
                <a:ea typeface="+mn-ea"/>
                <a:cs typeface="+mn-cs"/>
              </a:rPr>
              <a:t>taste</a:t>
            </a:r>
            <a:r>
              <a:rPr lang="en-US" sz="1200" kern="1200" dirty="0">
                <a:solidFill>
                  <a:schemeClr val="tx1"/>
                </a:solidFill>
                <a:effectLst/>
                <a:latin typeface="+mn-lt"/>
                <a:ea typeface="+mn-ea"/>
                <a:cs typeface="+mn-cs"/>
              </a:rPr>
              <a:t> (choosing the right problem) and </a:t>
            </a:r>
            <a:r>
              <a:rPr lang="en-US" sz="1200" b="1" kern="1200" dirty="0">
                <a:solidFill>
                  <a:schemeClr val="tx1"/>
                </a:solidFill>
                <a:effectLst/>
                <a:latin typeface="+mn-lt"/>
                <a:ea typeface="+mn-ea"/>
                <a:cs typeface="+mn-cs"/>
              </a:rPr>
              <a:t>endurance</a:t>
            </a:r>
            <a:r>
              <a:rPr lang="en-US" sz="1200" kern="1200" dirty="0">
                <a:solidFill>
                  <a:schemeClr val="tx1"/>
                </a:solidFill>
                <a:effectLst/>
                <a:latin typeface="+mn-lt"/>
                <a:ea typeface="+mn-ea"/>
                <a:cs typeface="+mn-cs"/>
              </a:rPr>
              <a:t> (building with team members you admire and respect).</a:t>
            </a:r>
          </a:p>
          <a:p>
            <a:endParaRPr lang="en-US" dirty="0"/>
          </a:p>
        </p:txBody>
      </p:sp>
      <p:sp>
        <p:nvSpPr>
          <p:cNvPr id="4" name="Slide Number Placeholder 3"/>
          <p:cNvSpPr>
            <a:spLocks noGrp="1"/>
          </p:cNvSpPr>
          <p:nvPr>
            <p:ph type="sldNum" sz="quarter" idx="5"/>
          </p:nvPr>
        </p:nvSpPr>
        <p:spPr/>
        <p:txBody>
          <a:bodyPr/>
          <a:lstStyle/>
          <a:p>
            <a:fld id="{B8B24837-0333-4C6A-8207-E078C289E797}" type="slidenum">
              <a:rPr lang="en-US" smtClean="0"/>
              <a:t>15</a:t>
            </a:fld>
            <a:endParaRPr lang="en-US"/>
          </a:p>
        </p:txBody>
      </p:sp>
    </p:spTree>
    <p:extLst>
      <p:ext uri="{BB962C8B-B14F-4D97-AF65-F5344CB8AC3E}">
        <p14:creationId xmlns:p14="http://schemas.microsoft.com/office/powerpoint/2010/main" val="6251285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Closing Recap:</a:t>
            </a:r>
            <a:r>
              <a:rPr lang="en-US" sz="1200" kern="1200" dirty="0">
                <a:solidFill>
                  <a:schemeClr val="tx1"/>
                </a:solidFill>
                <a:effectLst/>
                <a:latin typeface="+mn-lt"/>
                <a:ea typeface="+mn-ea"/>
                <a:cs typeface="+mn-cs"/>
              </a:rPr>
              <a:t> "To wrap up our deck, here is the executive blueprint for building AI systems from silicon up:" </a:t>
            </a:r>
          </a:p>
          <a:p>
            <a:r>
              <a:rPr lang="en-US" sz="1200" b="1" kern="1200" dirty="0">
                <a:solidFill>
                  <a:schemeClr val="tx1"/>
                </a:solidFill>
                <a:effectLst/>
                <a:latin typeface="+mn-lt"/>
                <a:ea typeface="+mn-ea"/>
                <a:cs typeface="+mn-cs"/>
              </a:rPr>
              <a:t>Physical &amp; Hardware Layer:</a:t>
            </a:r>
            <a:r>
              <a:rPr lang="en-US" sz="1200" kern="1200" dirty="0">
                <a:solidFill>
                  <a:schemeClr val="tx1"/>
                </a:solidFill>
                <a:effectLst/>
                <a:latin typeface="+mn-lt"/>
                <a:ea typeface="+mn-ea"/>
                <a:cs typeface="+mn-cs"/>
              </a:rPr>
              <a:t> "Acknowledge the 1,000x energy gap of data movement. Hardware specialization for low-precision inference is critical for zero-wait agentic experiences." </a:t>
            </a:r>
          </a:p>
          <a:p>
            <a:r>
              <a:rPr lang="en-US" sz="1200" b="1" kern="1200" dirty="0">
                <a:solidFill>
                  <a:schemeClr val="tx1"/>
                </a:solidFill>
                <a:effectLst/>
                <a:latin typeface="+mn-lt"/>
                <a:ea typeface="+mn-ea"/>
                <a:cs typeface="+mn-cs"/>
              </a:rPr>
              <a:t>Orchestration &amp; Systems Layer:</a:t>
            </a:r>
            <a:r>
              <a:rPr lang="en-US" sz="1200" kern="1200" dirty="0">
                <a:solidFill>
                  <a:schemeClr val="tx1"/>
                </a:solidFill>
                <a:effectLst/>
                <a:latin typeface="+mn-lt"/>
                <a:ea typeface="+mn-ea"/>
                <a:cs typeface="+mn-cs"/>
              </a:rPr>
              <a:t> "Treat AI models as reasoning engines within context-engineered systems. Use multi-agent parallel search and fast validation proxies to run long tasks reliably." </a:t>
            </a:r>
          </a:p>
          <a:p>
            <a:r>
              <a:rPr lang="en-US" sz="1200" b="1" kern="1200" dirty="0">
                <a:solidFill>
                  <a:schemeClr val="tx1"/>
                </a:solidFill>
                <a:effectLst/>
                <a:latin typeface="+mn-lt"/>
                <a:ea typeface="+mn-ea"/>
                <a:cs typeface="+mn-cs"/>
              </a:rPr>
              <a:t>Founder &amp; Product Strategy:</a:t>
            </a:r>
            <a:r>
              <a:rPr lang="en-US" sz="1200" kern="1200" dirty="0">
                <a:solidFill>
                  <a:schemeClr val="tx1"/>
                </a:solidFill>
                <a:effectLst/>
                <a:latin typeface="+mn-lt"/>
                <a:ea typeface="+mn-ea"/>
                <a:cs typeface="+mn-cs"/>
              </a:rPr>
              <a:t> "Target problem domains where general frontier models score 0% to 1%. Focus on clear specifications, leverage proprietary context, and cultivate product taste." </a:t>
            </a:r>
          </a:p>
          <a:p>
            <a:r>
              <a:rPr lang="en-US" sz="1200" b="1" kern="1200" dirty="0">
                <a:solidFill>
                  <a:schemeClr val="tx1"/>
                </a:solidFill>
                <a:effectLst/>
                <a:latin typeface="+mn-lt"/>
                <a:ea typeface="+mn-ea"/>
                <a:cs typeface="+mn-cs"/>
              </a:rPr>
              <a:t>Q&amp;A Transition:</a:t>
            </a:r>
            <a:r>
              <a:rPr lang="en-US" sz="1200" kern="1200" dirty="0">
                <a:solidFill>
                  <a:schemeClr val="tx1"/>
                </a:solidFill>
                <a:effectLst/>
                <a:latin typeface="+mn-lt"/>
                <a:ea typeface="+mn-ea"/>
                <a:cs typeface="+mn-cs"/>
              </a:rPr>
              <a:t> "Thank you! I’m now happy to take any questions on the presentation.</a:t>
            </a:r>
          </a:p>
        </p:txBody>
      </p:sp>
      <p:sp>
        <p:nvSpPr>
          <p:cNvPr id="4" name="Slide Number Placeholder 3"/>
          <p:cNvSpPr>
            <a:spLocks noGrp="1"/>
          </p:cNvSpPr>
          <p:nvPr>
            <p:ph type="sldNum" sz="quarter" idx="5"/>
          </p:nvPr>
        </p:nvSpPr>
        <p:spPr/>
        <p:txBody>
          <a:bodyPr/>
          <a:lstStyle/>
          <a:p>
            <a:fld id="{B8B24837-0333-4C6A-8207-E078C289E797}" type="slidenum">
              <a:rPr lang="en-US" smtClean="0"/>
              <a:t>16</a:t>
            </a:fld>
            <a:endParaRPr lang="en-US"/>
          </a:p>
        </p:txBody>
      </p:sp>
    </p:spTree>
    <p:extLst>
      <p:ext uri="{BB962C8B-B14F-4D97-AF65-F5344CB8AC3E}">
        <p14:creationId xmlns:p14="http://schemas.microsoft.com/office/powerpoint/2010/main" val="38647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0E006B-A355-BE6A-7A80-863FEFD1B009}"/>
              </a:ext>
            </a:extLst>
          </p:cNvPr>
          <p:cNvSpPr>
            <a:spLocks noGrp="1"/>
          </p:cNvSpPr>
          <p:nvPr>
            <p:ph type="dt" sz="half" idx="10"/>
          </p:nvPr>
        </p:nvSpPr>
        <p:spPr/>
        <p:txBody>
          <a:bodyPr/>
          <a:lstStyle/>
          <a:p>
            <a:fld id="{297A7C7C-2801-4CE5-A8FC-9423C2A33914}" type="datetimeFigureOut">
              <a:rPr lang="en-US" smtClean="0"/>
              <a:t>10/19/2026</a:t>
            </a:fld>
            <a:endParaRPr lang="en-US"/>
          </a:p>
        </p:txBody>
      </p:sp>
      <p:sp>
        <p:nvSpPr>
          <p:cNvPr id="3" name="Footer Placeholder 2">
            <a:extLst>
              <a:ext uri="{FF2B5EF4-FFF2-40B4-BE49-F238E27FC236}">
                <a16:creationId xmlns:a16="http://schemas.microsoft.com/office/drawing/2014/main" id="{98CC26D0-6DCB-A322-9640-B10BABEF17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7686CC-BE9B-CAD9-CBB6-159CCF2395C2}"/>
              </a:ext>
            </a:extLst>
          </p:cNvPr>
          <p:cNvSpPr>
            <a:spLocks noGrp="1"/>
          </p:cNvSpPr>
          <p:nvPr>
            <p:ph type="sldNum" sz="quarter" idx="12"/>
          </p:nvPr>
        </p:nvSpPr>
        <p:spPr/>
        <p:txBody>
          <a:bodyPr/>
          <a:lstStyle/>
          <a:p>
            <a:fld id="{8BC8F821-94D1-497B-8EBD-2855C6A981F3}" type="slidenum">
              <a:rPr lang="en-US" smtClean="0"/>
              <a:t>‹#›</a:t>
            </a:fld>
            <a:endParaRPr lang="en-US"/>
          </a:p>
        </p:txBody>
      </p:sp>
    </p:spTree>
    <p:extLst>
      <p:ext uri="{BB962C8B-B14F-4D97-AF65-F5344CB8AC3E}">
        <p14:creationId xmlns:p14="http://schemas.microsoft.com/office/powerpoint/2010/main" val="277752602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6DCEA0-3CAF-3127-4E3C-6FF003242B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7462FE-6B6F-329F-C4CC-88FF79EA0A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3F2961-9DF7-15B9-8B75-9DB7191847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7A7C7C-2801-4CE5-A8FC-9423C2A33914}" type="datetimeFigureOut">
              <a:rPr lang="en-US" smtClean="0"/>
              <a:t>10/19/2026</a:t>
            </a:fld>
            <a:endParaRPr lang="en-US"/>
          </a:p>
        </p:txBody>
      </p:sp>
      <p:sp>
        <p:nvSpPr>
          <p:cNvPr id="5" name="Footer Placeholder 4">
            <a:extLst>
              <a:ext uri="{FF2B5EF4-FFF2-40B4-BE49-F238E27FC236}">
                <a16:creationId xmlns:a16="http://schemas.microsoft.com/office/drawing/2014/main" id="{71748790-FB77-ADE0-FCCB-D7B42658F7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E04E226-2903-F085-A471-5A34D3AA94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C8F821-94D1-497B-8EBD-2855C6A981F3}" type="slidenum">
              <a:rPr lang="en-US" smtClean="0"/>
              <a:t>‹#›</a:t>
            </a:fld>
            <a:endParaRPr lang="en-US"/>
          </a:p>
        </p:txBody>
      </p:sp>
    </p:spTree>
    <p:extLst>
      <p:ext uri="{BB962C8B-B14F-4D97-AF65-F5344CB8AC3E}">
        <p14:creationId xmlns:p14="http://schemas.microsoft.com/office/powerpoint/2010/main" val="103199869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48BCF7-3894-6EE7-11B3-C243458B6F0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BDCFEC-20BD-23CC-78BA-B997502A93E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F56B9F-83CE-CDC0-0C88-BAE847F3144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0F909F-DB0A-9878-F7A5-CA662F2A6D9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D7F290-8BD3-25FA-306E-5260066F58A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F1C74A-9982-3AE9-622E-D6BF83D3F09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BB70CE-7DED-1A07-95E0-CF7309A5228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8D2B3D-16CC-8D07-C4D4-51889A9A80A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565657-F9C7-AC1F-F0A4-804CBFA08D6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9E9996-7F81-A3B7-843E-1584CD8E038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27D5ED-2DFF-ECCF-2CE2-AF8251CCB7F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8DA0D6-6357-2022-C7E1-F6470279105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65CE3D-E607-196C-C125-1E1707A0A8D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10F92E-16F3-4228-5DDA-9EC0078419A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89E7D9-A6B7-618E-D298-7C95CBD02C6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232DB9-CC6F-0758-1724-56E84285B0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7492228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2092</Words>
  <Application>Microsoft Office PowerPoint</Application>
  <PresentationFormat>寬螢幕</PresentationFormat>
  <Paragraphs>81</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2026-08-07T16:58:53Z</dcterms:created>
  <dcterms:modified xsi:type="dcterms:W3CDTF">2026-10-19T15:35:43Z</dcterms:modified>
</cp:coreProperties>
</file>