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F93997-F3E8-4BEA-A3BD-03307DA1C260}" v="34" dt="2026-08-07T01:58:4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1481" autoAdjust="0"/>
  </p:normalViewPr>
  <p:slideViewPr>
    <p:cSldViewPr snapToGrid="0">
      <p:cViewPr varScale="1">
        <p:scale>
          <a:sx n="75" d="100"/>
          <a:sy n="75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modSld sldOrd modMainMaster">
      <pc:chgData name="Lai, Wilson" userId="2840974a-0d84-4886-90a9-9a3ed79f3a48" providerId="ADAL" clId="{9F23B798-9E84-4552-BA63-E776E805C424}" dt="2026-08-07T01:59:14.875" v="75" actId="166"/>
      <pc:docMkLst>
        <pc:docMk/>
      </pc:docMkLst>
      <pc:sldChg chg="addSp delSp modSp mod modNotesTx">
        <pc:chgData name="Lai, Wilson" userId="2840974a-0d84-4886-90a9-9a3ed79f3a48" providerId="ADAL" clId="{9F23B798-9E84-4552-BA63-E776E805C424}" dt="2026-08-07T01:59:14.875" v="75" actId="166"/>
        <pc:sldMkLst>
          <pc:docMk/>
          <pc:sldMk cId="0" sldId="257"/>
        </pc:sldMkLst>
        <pc:spChg chg="mod">
          <ac:chgData name="Lai, Wilson" userId="2840974a-0d84-4886-90a9-9a3ed79f3a48" providerId="ADAL" clId="{9F23B798-9E84-4552-BA63-E776E805C424}" dt="2026-08-07T01:31:28.636" v="39" actId="20577"/>
          <ac:spMkLst>
            <pc:docMk/>
            <pc:sldMk cId="0" sldId="257"/>
            <ac:spMk id="5" creationId="{9C682E13-7DAA-390E-4FD7-48CEA1489221}"/>
          </ac:spMkLst>
        </pc:spChg>
        <pc:picChg chg="del">
          <ac:chgData name="Lai, Wilson" userId="2840974a-0d84-4886-90a9-9a3ed79f3a48" providerId="ADAL" clId="{9F23B798-9E84-4552-BA63-E776E805C424}" dt="2026-08-07T01:24:20.394" v="3" actId="21"/>
          <ac:picMkLst>
            <pc:docMk/>
            <pc:sldMk cId="0" sldId="257"/>
            <ac:picMk id="2" creationId="{00000000-0000-0000-0000-000000000000}"/>
          </ac:picMkLst>
        </pc:picChg>
        <pc:picChg chg="add ord">
          <ac:chgData name="Lai, Wilson" userId="2840974a-0d84-4886-90a9-9a3ed79f3a48" providerId="ADAL" clId="{9F23B798-9E84-4552-BA63-E776E805C424}" dt="2026-08-07T01:59:14.875" v="75" actId="166"/>
          <ac:picMkLst>
            <pc:docMk/>
            <pc:sldMk cId="0" sldId="257"/>
            <ac:picMk id="6" creationId="{710001DD-9902-DAB2-3180-F1799E1DF5C8}"/>
          </ac:picMkLst>
        </pc:picChg>
      </pc:sldChg>
      <pc:sldChg chg="addSp delSp modSp mod ord modNotesTx">
        <pc:chgData name="Lai, Wilson" userId="2840974a-0d84-4886-90a9-9a3ed79f3a48" providerId="ADAL" clId="{9F23B798-9E84-4552-BA63-E776E805C424}" dt="2026-08-07T01:58:45.026" v="72" actId="20577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8-07T01:24:38.804" v="6" actId="21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8-07T01:24:54.794" v="9" actId="1076"/>
          <ac:picMkLst>
            <pc:docMk/>
            <pc:sldMk cId="0" sldId="258"/>
            <ac:picMk id="4" creationId="{E19EAD7F-7BCF-1B3E-613A-5AB4EE6F82C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1:18.037" v="49" actId="20577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8-07T01:24:56.912" v="10" actId="21"/>
          <ac:picMkLst>
            <pc:docMk/>
            <pc:sldMk cId="0" sldId="25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5:12.264" v="11" actId="22"/>
          <ac:picMkLst>
            <pc:docMk/>
            <pc:sldMk cId="0" sldId="259"/>
            <ac:picMk id="4" creationId="{3FC63D02-1C8F-DF7C-5821-B22F59F98D17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3:06.778" v="58" actId="12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8-07T01:25:16.373" v="12" actId="21"/>
          <ac:picMkLst>
            <pc:docMk/>
            <pc:sldMk cId="0" sldId="26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5:25.652" v="13" actId="22"/>
          <ac:picMkLst>
            <pc:docMk/>
            <pc:sldMk cId="0" sldId="260"/>
            <ac:picMk id="4" creationId="{F33863AD-1CEA-EFE4-4AE6-893C54A6F59F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7:36.223" v="71" actId="12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8-07T01:25:29.717" v="14" actId="21"/>
          <ac:picMkLst>
            <pc:docMk/>
            <pc:sldMk cId="0" sldId="26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5:42.462" v="15" actId="22"/>
          <ac:picMkLst>
            <pc:docMk/>
            <pc:sldMk cId="0" sldId="261"/>
            <ac:picMk id="4" creationId="{00F80720-0572-0C11-684E-50CFADE16911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7:21.618" v="70" actId="12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8-07T01:25:46.189" v="16" actId="21"/>
          <ac:picMkLst>
            <pc:docMk/>
            <pc:sldMk cId="0" sldId="262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6:05.394" v="17" actId="22"/>
          <ac:picMkLst>
            <pc:docMk/>
            <pc:sldMk cId="0" sldId="262"/>
            <ac:picMk id="4" creationId="{3ABFD2D6-A4A8-ED5B-351F-6A9E12A08F2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3:01.949" v="56" actId="20577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8-07T01:26:08.358" v="18" actId="21"/>
          <ac:picMkLst>
            <pc:docMk/>
            <pc:sldMk cId="0" sldId="263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6:21.190" v="19" actId="22"/>
          <ac:picMkLst>
            <pc:docMk/>
            <pc:sldMk cId="0" sldId="263"/>
            <ac:picMk id="4" creationId="{3333205D-D388-1276-97D1-573BF7379704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6:48.992" v="68" actId="20577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8-07T01:26:25.366" v="20" actId="21"/>
          <ac:picMkLst>
            <pc:docMk/>
            <pc:sldMk cId="0" sldId="264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6:33.863" v="21" actId="22"/>
          <ac:picMkLst>
            <pc:docMk/>
            <pc:sldMk cId="0" sldId="264"/>
            <ac:picMk id="4" creationId="{96B9083E-9951-6D41-DE45-72C8DEC4ECD6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2:59.828" v="55" actId="12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8-07T01:26:35.920" v="22" actId="21"/>
          <ac:picMkLst>
            <pc:docMk/>
            <pc:sldMk cId="0" sldId="265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6:45.108" v="23" actId="22"/>
          <ac:picMkLst>
            <pc:docMk/>
            <pc:sldMk cId="0" sldId="265"/>
            <ac:picMk id="4" creationId="{C48B7A19-5D61-4604-1366-B5498D2D0DF3}"/>
          </ac:picMkLst>
        </pc:picChg>
      </pc:sldChg>
      <pc:sldChg chg="addSp delSp mod">
        <pc:chgData name="Lai, Wilson" userId="2840974a-0d84-4886-90a9-9a3ed79f3a48" providerId="ADAL" clId="{9F23B798-9E84-4552-BA63-E776E805C424}" dt="2026-08-07T01:26:56.046" v="25" actId="22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8-07T01:26:47.255" v="24" actId="21"/>
          <ac:picMkLst>
            <pc:docMk/>
            <pc:sldMk cId="0" sldId="266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6:56.046" v="25" actId="22"/>
          <ac:picMkLst>
            <pc:docMk/>
            <pc:sldMk cId="0" sldId="266"/>
            <ac:picMk id="4" creationId="{F35ABA0D-239E-D14A-FAAA-F97FA41A9069}"/>
          </ac:picMkLst>
        </pc:picChg>
      </pc:sldChg>
      <pc:sldChg chg="addSp delSp mod">
        <pc:chgData name="Lai, Wilson" userId="2840974a-0d84-4886-90a9-9a3ed79f3a48" providerId="ADAL" clId="{9F23B798-9E84-4552-BA63-E776E805C424}" dt="2026-08-07T01:27:07.268" v="27" actId="22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8-07T01:26:57.982" v="26" actId="21"/>
          <ac:picMkLst>
            <pc:docMk/>
            <pc:sldMk cId="0" sldId="267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7:07.268" v="27" actId="22"/>
          <ac:picMkLst>
            <pc:docMk/>
            <pc:sldMk cId="0" sldId="267"/>
            <ac:picMk id="4" creationId="{77B61FBC-48FE-5E7F-CE6F-7C67E8F74391}"/>
          </ac:picMkLst>
        </pc:picChg>
      </pc:sldChg>
      <pc:sldChg chg="addSp delSp mod">
        <pc:chgData name="Lai, Wilson" userId="2840974a-0d84-4886-90a9-9a3ed79f3a48" providerId="ADAL" clId="{9F23B798-9E84-4552-BA63-E776E805C424}" dt="2026-08-07T01:27:20.354" v="29" actId="22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8-07T01:27:11.744" v="28" actId="21"/>
          <ac:picMkLst>
            <pc:docMk/>
            <pc:sldMk cId="0" sldId="268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7:20.354" v="29" actId="22"/>
          <ac:picMkLst>
            <pc:docMk/>
            <pc:sldMk cId="0" sldId="268"/>
            <ac:picMk id="4" creationId="{8D64882C-FC2E-2367-70BE-E29BEBE522D0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5:48.816" v="63" actId="12"/>
        <pc:sldMkLst>
          <pc:docMk/>
          <pc:sldMk cId="0" sldId="269"/>
        </pc:sldMkLst>
        <pc:picChg chg="del">
          <ac:chgData name="Lai, Wilson" userId="2840974a-0d84-4886-90a9-9a3ed79f3a48" providerId="ADAL" clId="{9F23B798-9E84-4552-BA63-E776E805C424}" dt="2026-08-07T01:27:22.725" v="30" actId="21"/>
          <ac:picMkLst>
            <pc:docMk/>
            <pc:sldMk cId="0" sldId="269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7:32.999" v="31" actId="22"/>
          <ac:picMkLst>
            <pc:docMk/>
            <pc:sldMk cId="0" sldId="269"/>
            <ac:picMk id="4" creationId="{691CC19F-1800-BFCD-AB1A-E2E9A35C9E1D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5:25.078" v="62" actId="20577"/>
        <pc:sldMkLst>
          <pc:docMk/>
          <pc:sldMk cId="0" sldId="270"/>
        </pc:sldMkLst>
        <pc:picChg chg="del">
          <ac:chgData name="Lai, Wilson" userId="2840974a-0d84-4886-90a9-9a3ed79f3a48" providerId="ADAL" clId="{9F23B798-9E84-4552-BA63-E776E805C424}" dt="2026-08-07T01:27:35.477" v="32" actId="21"/>
          <ac:picMkLst>
            <pc:docMk/>
            <pc:sldMk cId="0" sldId="270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7:52.069" v="33" actId="22"/>
          <ac:picMkLst>
            <pc:docMk/>
            <pc:sldMk cId="0" sldId="270"/>
            <ac:picMk id="4" creationId="{842CF28B-5B25-41AB-BB33-CB72F481DEF8}"/>
          </ac:picMkLst>
        </pc:picChg>
      </pc:sldChg>
      <pc:sldChg chg="addSp delSp mod modNotesTx">
        <pc:chgData name="Lai, Wilson" userId="2840974a-0d84-4886-90a9-9a3ed79f3a48" providerId="ADAL" clId="{9F23B798-9E84-4552-BA63-E776E805C424}" dt="2026-08-07T01:54:34.190" v="59" actId="12"/>
        <pc:sldMkLst>
          <pc:docMk/>
          <pc:sldMk cId="0" sldId="271"/>
        </pc:sldMkLst>
        <pc:picChg chg="del">
          <ac:chgData name="Lai, Wilson" userId="2840974a-0d84-4886-90a9-9a3ed79f3a48" providerId="ADAL" clId="{9F23B798-9E84-4552-BA63-E776E805C424}" dt="2026-08-07T01:27:57.969" v="34" actId="21"/>
          <ac:picMkLst>
            <pc:docMk/>
            <pc:sldMk cId="0" sldId="271"/>
            <ac:picMk id="2" creationId="{00000000-0000-0000-0000-000000000000}"/>
          </ac:picMkLst>
        </pc:picChg>
        <pc:picChg chg="add">
          <ac:chgData name="Lai, Wilson" userId="2840974a-0d84-4886-90a9-9a3ed79f3a48" providerId="ADAL" clId="{9F23B798-9E84-4552-BA63-E776E805C424}" dt="2026-08-07T01:28:23.180" v="35" actId="22"/>
          <ac:picMkLst>
            <pc:docMk/>
            <pc:sldMk cId="0" sldId="271"/>
            <ac:picMk id="4" creationId="{E8175122-E770-390F-2896-05E3AC0B76DE}"/>
          </ac:picMkLst>
        </pc:picChg>
      </pc:sldChg>
      <pc:sldChg chg="addSp delSp mod">
        <pc:chgData name="Lai, Wilson" userId="2840974a-0d84-4886-90a9-9a3ed79f3a48" providerId="ADAL" clId="{9F23B798-9E84-4552-BA63-E776E805C424}" dt="2026-08-07T01:28:39.849" v="37" actId="22"/>
        <pc:sldMkLst>
          <pc:docMk/>
          <pc:sldMk cId="2945258079" sldId="272"/>
        </pc:sldMkLst>
        <pc:picChg chg="del">
          <ac:chgData name="Lai, Wilson" userId="2840974a-0d84-4886-90a9-9a3ed79f3a48" providerId="ADAL" clId="{9F23B798-9E84-4552-BA63-E776E805C424}" dt="2026-08-07T01:28:26.334" v="36" actId="21"/>
          <ac:picMkLst>
            <pc:docMk/>
            <pc:sldMk cId="2945258079" sldId="272"/>
            <ac:picMk id="3" creationId="{B94D98F8-12C5-E56C-CA4E-3D94325CDDA6}"/>
          </ac:picMkLst>
        </pc:picChg>
        <pc:picChg chg="add">
          <ac:chgData name="Lai, Wilson" userId="2840974a-0d84-4886-90a9-9a3ed79f3a48" providerId="ADAL" clId="{9F23B798-9E84-4552-BA63-E776E805C424}" dt="2026-08-07T01:28:39.849" v="37" actId="22"/>
          <ac:picMkLst>
            <pc:docMk/>
            <pc:sldMk cId="2945258079" sldId="272"/>
            <ac:picMk id="4" creationId="{3CF0C6C0-07D4-593B-9C88-4EBD83FD115E}"/>
          </ac:picMkLst>
        </pc:picChg>
      </pc:sldChg>
      <pc:sldMasterChg chg="setBg">
        <pc:chgData name="Lai, Wilson" userId="2840974a-0d84-4886-90a9-9a3ed79f3a48" providerId="ADAL" clId="{9F23B798-9E84-4552-BA63-E776E805C424}" dt="2026-08-06T23:59:30.442" v="2"/>
        <pc:sldMasterMkLst>
          <pc:docMk/>
          <pc:sldMasterMk cId="3182722473" sldId="2147483648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ED064-94CA-4798-AD93-870F31256555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17A46E-09CC-4740-B6E7-4BCF0D20A6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86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morning, everyone. Today, we’re discussing the overarching economic shift defining our current decade: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Sovereignty and the battle between free markets and regulatory capture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US" dirty="0"/>
          </a:p>
          <a:p>
            <a:r>
              <a:rPr lang="en-US" dirty="0"/>
              <a:t>https://www.youtube.com/watch?v=wcV0SRPFK9s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77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look at the modern technological and real-world landscape, three powerful macro forces are simultaneously reshaping global capital allocation: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Geopolitics &amp; Open Source: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intense battle between frontier closed-source American labs and rapid, aggressive open-source proliferation.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Infrastructure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Boom: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Historic capital deployments moving hundreds of billions of dollars from traditional software margins into hard cloud infrastructure, energy, and silicon.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Threat of Regulatory Capture: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creeping erosion of property rights across both digital assets—like model weights—and physical assets like real estate.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 the next few slides, we will unpack how digital weights and physical bricks share the exact same underlying economic incentives, and why defending open markets across both is crucial.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903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dive into the core conflict in artificial intelligence today: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Closed US Frontier Models vs. Global Open-Source Competitors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one side, you have closed American labs offering frontier models behind premium API pricing walls. On the other side, open-weight models—such as China’s Moonshot AI (Kimi K3)—are achieving performance parity with top-tier US models like Claude Opus 4.8 and GPT-5.6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 of the cost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the critical strategic takeaway: performance parity is now being achieved in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months, not years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Once a closed lab publishes benchmark performance, open-source researchers replicate and optimize it rapidly. There is no sustained technological moat at the foundational model layer. Open source threatens to turn base models into a zero-margin commodity.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653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is open source catching up so fast? Through a process called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Distillation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in this diagram, a query is sent to a closed model API via proxies. The model's answers and reasoning outputs are collected and fed into a synthetic data pipeline to train a new, highly efficient open-weight model.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must make a crucial distinction here: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Distillation is not the theft of underlying code or proprietary model weights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It is automated benchmarking and learning based on public API outputs. Historically, this is the exact mechanism by which search engine indexing, web browsers, and open-source software were iterated and improved upon.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brings us to a fundamental strategic divergence between two paradigms: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Closed-Source Frontier Labs vs. The Open-Source Ecosystem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 Structure: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Closed models enforce artificial price constraints—often 50x to 100x more expensive per token—while open source clears at market commodity pricing.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&amp; Sovereignty: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Closed APIs create oligopolistic dependencies. Open source provides downloadable, on-premise control that democratizes intelligence.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Geopolitical Impact: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Mandating high-cost API dependencies puts US enterprises on an 'expensive AI island' relative to global competitors. Proliferating open-source ensures global standards remain rooted in US-developed architecture.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 Strategy: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Closed labs are seeking government-enforced duopolies to protect margins, while open-source developers fork public domain weights for rapid local innovation.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43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closed software companies face commoditization, they follow a classic three-step playbook for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Regulatory Capture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Unprecedented Growth: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Companies scale at record speed, growing from $10 Billion to over $70 Billion in ARR.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Commoditization Threat: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Open-source alternatives emerge offering 95%+ performance parity at half the cost, threatening to compress software margins to zero.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'National Security' Pivot: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Unable to stop open source through market competition, incumbent labs lobby Washington to regulate or ban open-weight competitors under the guise of national security.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Hypocrisy Check: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industrial distillation or data extraction across borders is the genuine concern, the appropriate policy is standard Know-Your-Customer (KYC) protocols at the API level—not banning American developers from leveraging open-source software.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66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glaring double standard in how frontier labs treat IP: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training their models on the world’s data—such as ingesting millions of books, web pages, and media—labs maintain the legal stance that web scraping is protected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'Fair Use'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the moment competitors train on the text or code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generated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their APIs, these same labs claim that API output distillation constitutes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'IP Theft'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demand government intervention.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Simply put: Frontier labs demand the right to ingest the world's copyrighted intellectual property without consent, but run to regulators when competitors ingest their generated outputs.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40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where value resides in the AI era, look at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Commoditization Stack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 Layer (Top):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Enterprise workflows, specialized UI, and custom harnesses. Value captures here because end-users pay for solutions.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Foundation Models (Middle):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rapidly evaporating margin layer. As model capabilities equalize, price per token approaches zero.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 &amp; Infrastructure (Bottom):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Cloud service providers, energy, and silicon.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Trillions of dollars in enterprise value are migrating away from the middle model layer and shifting directly into end-user applications and raw physical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9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value is shifting to infrastructure, capital expenditure numbers are reaching historical extremes.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put this in perspective: Tesla's peak annual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was roughly $25 Billion during its massive factory buildout phase. Today, Google’s annual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forecast is reaching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$195 Billion to $205 Billion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—a massive 140% year-over-year surge.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CapEx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burn is so severe it pushed Google into negative free cash flow for the first time since its IPO, despite Google Cloud reaching a $100 Billion run rate. Why do it? Because with a 20-year average ROIC of 32%,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hyperscalers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know that the ultimate winners will be those who control the lowest-cost compute with five-nines (99.999%) uptime reliability.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798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brings us to a geopolitical reality: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Bits vs. Atoms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United States dominates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 Economy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(IP, software, digital weights). China dominates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Molecule Economy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(manufacturing, energy production, physical infrastructure).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 at the metrics: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Manufacturing Capacity: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has ~10 billion sq ft vs. China’s 200 billion sq ft.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Electricity Production: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 sits at ~1 Terawatt vs. China’s 8 Terawatts.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Strategic Risk: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open-source AI drives the marginal cost of software and digital intelligence down to zero, economic power reverts back to whoever can process physical molecules at the lowest energy cost."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078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let’s bridge digital policy to physical assets. The intersection of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 Weights (AI policy)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Physical Bricks (Real Estate)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governed by the same mechanism: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 Intervention and Artificial Constraints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talking about tech incumbents lobbying for AI licensing regimes or municipal governments enforcing housing restrictions, the result is identical: non-market constraints on supply destroy economic value, create black markets, stifle innovation, and penalize consumers.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873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a concrete case study in physical market intervention: New York City Housing.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City administrators continue to push policies banning landlords from charging application fees, running standard credit checks, or executing evictions.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framed as moral interventions, depriving property owners of the right to vet tenants or enforce contractual payments is a direct erosion of private property rights that yields severe economic unintended consequences.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396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how regulatory intervention creates a self-reinforcing market failure—the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Ghost Apartment Doom Loop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Eviction and credit check bans lead to uncollectible rent and problematic tenancies.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Property owners lose capital needed for maintenance, upkeep, or renovations.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 than taking on unvetted risk, owners deliberately keep units empty.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Housing supply drops drastically.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Reduced supply forces market rents 3x higher for new entrants. 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Result: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50,000 'Ghost Apartments'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currently sit empty in NYC. The very policies designed to protect working-class residents leave them with dilapidated housing and skyrocketing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301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quote John Quincy Adams from 1787: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'The moment the idea is admitted into society that property is not as sacred as the laws of God... anarchy and tyranny commence.'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Modern Translation: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Whether we are discussing open-source software model weights or urban apartment buildings, the moralistic justification for seizing, capping, or restricting private property always precedes market failure and central economic control.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maintain long-term economic growth, we must reject artificial constraints and allow markets to clear: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Digital Engine: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Aggressively proliferate open-source AI to democratize intelligence, spur enterprise innovation, and secure national technological sovereignty.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Physical Engine: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Deregulate physical permitting and land-use restrictions to drastically increase housing and infrastructure supply.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cure for scarcity is never government restriction—it is always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abundant supply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25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synthesize our discussion on AI sovereignty: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Open-Source Ecosystem: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Learning through distillation is not theft. Open weight proliferation protects developers from paying a 'token tax'.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Regulatory Playbook: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Closed labs with massive ARR projections ($10B to $100B+) are calling 'foul' and citing national security to lobby for government-enforced duopolies.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 Migration: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Long-term profits accrue at the Hardware and Application layers, while base foundation models commoditize rapidly.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62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whether managing digital assets or physical real estate, the blueprint for prosperity remains unchanged: enforce property rights, encourage open competition, allow capital to flow where it is most efficient, and let the market clear. Thank you, and I’m happy to take any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17A46E-09CC-4740-B6E7-4BCF0D20A6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1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4684B-1E60-090A-0F88-27FC068BB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6A8E2-8ECC-4395-A91E-FDCED6B7795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827FB-59DE-9EED-F109-6119809D9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CE02-27E1-D30F-506D-46523D78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0BC10C-E83E-4BC1-9F2E-3ED9ADAB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4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3277D7-A0F1-D7A1-5546-86D44B9C0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0D723-0AE9-0CF2-4B95-E54EBD90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6967-4D3B-E485-2AF5-114E44242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B6A8E2-8ECC-4395-A91E-FDCED6B77957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06D-EEC8-028B-6E05-6DA3B508E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287DD-AA2B-E52D-7774-5D5BB937B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0BC10C-E83E-4BC1-9F2E-3ED9ADAB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2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0001DD-9902-DAB2-3180-F1799E1DF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9EAD7F-7BCF-1B3E-613A-5AB4EE6F8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C63D02-1C8F-DF7C-5821-B22F59F98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3863AD-1CEA-EFE4-4AE6-893C54A6F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F80720-0572-0C11-684E-50CFADE16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BFD2D6-A4A8-ED5B-351F-6A9E12A08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33205D-D388-1276-97D1-573BF7379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B9083E-9951-6D41-DE45-72C8DEC4EC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8B7A19-5D61-4604-1366-B5498D2D0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5ABA0D-239E-D14A-FAAA-F97FA41A9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61FBC-48FE-5E7F-CE6F-7C67E8F74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64882C-FC2E-2367-70BE-E29BEBE52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1CC19F-1800-BFCD-AB1A-E2E9A35C9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2CF28B-5B25-41AB-BB33-CB72F481D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175122-E770-390F-2896-05E3AC0B7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F0C6C0-07D4-593B-9C88-4EBD83FD1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58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1690</Words>
  <Application>Microsoft Office PowerPoint</Application>
  <PresentationFormat>寬螢幕</PresentationFormat>
  <Paragraphs>83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Lai, Wilson</dc:creator>
  <cp:lastModifiedBy>Wilson Lai</cp:lastModifiedBy>
  <cp:revision>2</cp:revision>
  <dcterms:created xsi:type="dcterms:W3CDTF">2026-08-06T23:57:20Z</dcterms:created>
  <dcterms:modified xsi:type="dcterms:W3CDTF">2026-10-19T15:37:08Z</dcterms:modified>
</cp:coreProperties>
</file>