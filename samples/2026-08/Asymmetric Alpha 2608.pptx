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D902F-FDE9-48AF-9DAD-A949AD493C9B}" v="24" dt="2026-08-12T01:42:44.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67949"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12T01:42:44.856" v="129"/>
      <pc:docMkLst>
        <pc:docMk/>
      </pc:docMkLst>
      <pc:sldChg chg="addSp delSp modSp mod modAnim modNotesTx">
        <pc:chgData name="Lai, Wilson" userId="2840974a-0d84-4886-90a9-9a3ed79f3a48" providerId="ADAL" clId="{9F23B798-9E84-4552-BA63-E776E805C424}" dt="2026-08-12T01:42:18.582" v="128" actId="166"/>
        <pc:sldMkLst>
          <pc:docMk/>
          <pc:sldMk cId="0" sldId="257"/>
        </pc:sldMkLst>
        <pc:spChg chg="add mod">
          <ac:chgData name="Lai, Wilson" userId="2840974a-0d84-4886-90a9-9a3ed79f3a48" providerId="ADAL" clId="{9F23B798-9E84-4552-BA63-E776E805C424}" dt="2026-08-11T17:01:52.066" v="12" actId="1076"/>
          <ac:spMkLst>
            <pc:docMk/>
            <pc:sldMk cId="0" sldId="257"/>
            <ac:spMk id="5" creationId="{6B0E5358-3694-0238-98C0-9CCDC1E48479}"/>
          </ac:spMkLst>
        </pc:spChg>
        <pc:grpChg chg="add mod">
          <ac:chgData name="Lai, Wilson" userId="2840974a-0d84-4886-90a9-9a3ed79f3a48" providerId="ADAL" clId="{9F23B798-9E84-4552-BA63-E776E805C424}" dt="2026-08-12T01:42:14.180" v="127" actId="1076"/>
          <ac:grpSpMkLst>
            <pc:docMk/>
            <pc:sldMk cId="0" sldId="257"/>
            <ac:grpSpMk id="6" creationId="{F54F908B-6AFA-0740-6F10-477104FEA74A}"/>
          </ac:grpSpMkLst>
        </pc:grpChg>
        <pc:picChg chg="del">
          <ac:chgData name="Lai, Wilson" userId="2840974a-0d84-4886-90a9-9a3ed79f3a48" providerId="ADAL" clId="{9F23B798-9E84-4552-BA63-E776E805C424}" dt="2026-08-12T00:04:49.452" v="13" actId="21"/>
          <ac:picMkLst>
            <pc:docMk/>
            <pc:sldMk cId="0" sldId="257"/>
            <ac:picMk id="2" creationId="{00000000-0000-0000-0000-000000000000}"/>
          </ac:picMkLst>
        </pc:picChg>
        <pc:picChg chg="mod">
          <ac:chgData name="Lai, Wilson" userId="2840974a-0d84-4886-90a9-9a3ed79f3a48" providerId="ADAL" clId="{9F23B798-9E84-4552-BA63-E776E805C424}" dt="2026-08-11T17:01:47.591" v="11" actId="164"/>
          <ac:picMkLst>
            <pc:docMk/>
            <pc:sldMk cId="0" sldId="257"/>
            <ac:picMk id="3" creationId="{9583D0A7-250A-0810-1E65-28C9D4D7EB0B}"/>
          </ac:picMkLst>
        </pc:picChg>
        <pc:picChg chg="add ord">
          <ac:chgData name="Lai, Wilson" userId="2840974a-0d84-4886-90a9-9a3ed79f3a48" providerId="ADAL" clId="{9F23B798-9E84-4552-BA63-E776E805C424}" dt="2026-08-12T01:42:18.582" v="128" actId="166"/>
          <ac:picMkLst>
            <pc:docMk/>
            <pc:sldMk cId="0" sldId="257"/>
            <ac:picMk id="7" creationId="{FB3D304C-F2A8-7CC1-47F6-623602E8EE9E}"/>
          </ac:picMkLst>
        </pc:picChg>
      </pc:sldChg>
      <pc:sldChg chg="addSp delSp modSp mod setBg modNotesTx">
        <pc:chgData name="Lai, Wilson" userId="2840974a-0d84-4886-90a9-9a3ed79f3a48" providerId="ADAL" clId="{9F23B798-9E84-4552-BA63-E776E805C424}" dt="2026-08-12T01:35:48.278" v="55" actId="12"/>
        <pc:sldMkLst>
          <pc:docMk/>
          <pc:sldMk cId="0" sldId="258"/>
        </pc:sldMkLst>
        <pc:spChg chg="add del">
          <ac:chgData name="Lai, Wilson" userId="2840974a-0d84-4886-90a9-9a3ed79f3a48" providerId="ADAL" clId="{9F23B798-9E84-4552-BA63-E776E805C424}" dt="2026-08-12T00:05:54.868" v="18" actId="26606"/>
          <ac:spMkLst>
            <pc:docMk/>
            <pc:sldMk cId="0" sldId="258"/>
            <ac:spMk id="9" creationId="{F3060C83-F051-4F0E-ABAD-AA0DFC48B218}"/>
          </ac:spMkLst>
        </pc:spChg>
        <pc:spChg chg="add del">
          <ac:chgData name="Lai, Wilson" userId="2840974a-0d84-4886-90a9-9a3ed79f3a48" providerId="ADAL" clId="{9F23B798-9E84-4552-BA63-E776E805C424}" dt="2026-08-12T00:05:54.868" v="18" actId="26606"/>
          <ac:spMkLst>
            <pc:docMk/>
            <pc:sldMk cId="0" sldId="258"/>
            <ac:spMk id="11" creationId="{83C98ABE-055B-441F-B07E-44F97F083C39}"/>
          </ac:spMkLst>
        </pc:spChg>
        <pc:spChg chg="add del">
          <ac:chgData name="Lai, Wilson" userId="2840974a-0d84-4886-90a9-9a3ed79f3a48" providerId="ADAL" clId="{9F23B798-9E84-4552-BA63-E776E805C424}" dt="2026-08-12T00:05:54.868" v="18" actId="26606"/>
          <ac:spMkLst>
            <pc:docMk/>
            <pc:sldMk cId="0" sldId="258"/>
            <ac:spMk id="13" creationId="{29FDB030-9B49-4CED-8CCD-4D99382388AC}"/>
          </ac:spMkLst>
        </pc:spChg>
        <pc:spChg chg="add del">
          <ac:chgData name="Lai, Wilson" userId="2840974a-0d84-4886-90a9-9a3ed79f3a48" providerId="ADAL" clId="{9F23B798-9E84-4552-BA63-E776E805C424}" dt="2026-08-12T00:05:54.868" v="18" actId="26606"/>
          <ac:spMkLst>
            <pc:docMk/>
            <pc:sldMk cId="0" sldId="258"/>
            <ac:spMk id="15" creationId="{3783CA14-24A1-485C-8B30-D6A5D87987AD}"/>
          </ac:spMkLst>
        </pc:spChg>
        <pc:spChg chg="add del">
          <ac:chgData name="Lai, Wilson" userId="2840974a-0d84-4886-90a9-9a3ed79f3a48" providerId="ADAL" clId="{9F23B798-9E84-4552-BA63-E776E805C424}" dt="2026-08-12T00:05:54.868" v="18" actId="26606"/>
          <ac:spMkLst>
            <pc:docMk/>
            <pc:sldMk cId="0" sldId="258"/>
            <ac:spMk id="17" creationId="{9A97C86A-04D6-40F7-AE84-31AB43E6A846}"/>
          </ac:spMkLst>
        </pc:spChg>
        <pc:spChg chg="add del">
          <ac:chgData name="Lai, Wilson" userId="2840974a-0d84-4886-90a9-9a3ed79f3a48" providerId="ADAL" clId="{9F23B798-9E84-4552-BA63-E776E805C424}" dt="2026-08-12T00:05:54.868" v="18" actId="26606"/>
          <ac:spMkLst>
            <pc:docMk/>
            <pc:sldMk cId="0" sldId="258"/>
            <ac:spMk id="19" creationId="{FF9F2414-84E8-453E-B1F3-389FDE8192D9}"/>
          </ac:spMkLst>
        </pc:spChg>
        <pc:spChg chg="add del">
          <ac:chgData name="Lai, Wilson" userId="2840974a-0d84-4886-90a9-9a3ed79f3a48" providerId="ADAL" clId="{9F23B798-9E84-4552-BA63-E776E805C424}" dt="2026-08-12T00:05:54.868" v="18" actId="26606"/>
          <ac:spMkLst>
            <pc:docMk/>
            <pc:sldMk cId="0" sldId="258"/>
            <ac:spMk id="21" creationId="{3ECA69A1-7536-43AC-85EF-C7106179F5ED}"/>
          </ac:spMkLst>
        </pc:spChg>
        <pc:picChg chg="del">
          <ac:chgData name="Lai, Wilson" userId="2840974a-0d84-4886-90a9-9a3ed79f3a48" providerId="ADAL" clId="{9F23B798-9E84-4552-BA63-E776E805C424}" dt="2026-08-12T00:05:40.507" v="15" actId="21"/>
          <ac:picMkLst>
            <pc:docMk/>
            <pc:sldMk cId="0" sldId="258"/>
            <ac:picMk id="2" creationId="{00000000-0000-0000-0000-000000000000}"/>
          </ac:picMkLst>
        </pc:picChg>
        <pc:picChg chg="add mod">
          <ac:chgData name="Lai, Wilson" userId="2840974a-0d84-4886-90a9-9a3ed79f3a48" providerId="ADAL" clId="{9F23B798-9E84-4552-BA63-E776E805C424}" dt="2026-08-12T00:05:54.868" v="18" actId="26606"/>
          <ac:picMkLst>
            <pc:docMk/>
            <pc:sldMk cId="0" sldId="258"/>
            <ac:picMk id="4" creationId="{FF5B20E8-5FE1-61FF-4B72-3DCDBD79E606}"/>
          </ac:picMkLst>
        </pc:picChg>
      </pc:sldChg>
      <pc:sldChg chg="addSp delSp mod modNotesTx">
        <pc:chgData name="Lai, Wilson" userId="2840974a-0d84-4886-90a9-9a3ed79f3a48" providerId="ADAL" clId="{9F23B798-9E84-4552-BA63-E776E805C424}" dt="2026-08-12T01:35:51.445" v="56" actId="12"/>
        <pc:sldMkLst>
          <pc:docMk/>
          <pc:sldMk cId="0" sldId="259"/>
        </pc:sldMkLst>
        <pc:picChg chg="del">
          <ac:chgData name="Lai, Wilson" userId="2840974a-0d84-4886-90a9-9a3ed79f3a48" providerId="ADAL" clId="{9F23B798-9E84-4552-BA63-E776E805C424}" dt="2026-08-12T00:05:56.992" v="19" actId="21"/>
          <ac:picMkLst>
            <pc:docMk/>
            <pc:sldMk cId="0" sldId="259"/>
            <ac:picMk id="2" creationId="{00000000-0000-0000-0000-000000000000}"/>
          </ac:picMkLst>
        </pc:picChg>
        <pc:picChg chg="add">
          <ac:chgData name="Lai, Wilson" userId="2840974a-0d84-4886-90a9-9a3ed79f3a48" providerId="ADAL" clId="{9F23B798-9E84-4552-BA63-E776E805C424}" dt="2026-08-12T00:06:05.396" v="20" actId="22"/>
          <ac:picMkLst>
            <pc:docMk/>
            <pc:sldMk cId="0" sldId="259"/>
            <ac:picMk id="4" creationId="{E22033F2-E930-A0C9-B5FA-11D827F2E3C5}"/>
          </ac:picMkLst>
        </pc:picChg>
      </pc:sldChg>
      <pc:sldChg chg="addSp delSp mod modNotesTx">
        <pc:chgData name="Lai, Wilson" userId="2840974a-0d84-4886-90a9-9a3ed79f3a48" providerId="ADAL" clId="{9F23B798-9E84-4552-BA63-E776E805C424}" dt="2026-08-12T01:36:12.394" v="61" actId="20577"/>
        <pc:sldMkLst>
          <pc:docMk/>
          <pc:sldMk cId="0" sldId="260"/>
        </pc:sldMkLst>
        <pc:picChg chg="del">
          <ac:chgData name="Lai, Wilson" userId="2840974a-0d84-4886-90a9-9a3ed79f3a48" providerId="ADAL" clId="{9F23B798-9E84-4552-BA63-E776E805C424}" dt="2026-08-12T00:06:07.720" v="21" actId="21"/>
          <ac:picMkLst>
            <pc:docMk/>
            <pc:sldMk cId="0" sldId="260"/>
            <ac:picMk id="2" creationId="{00000000-0000-0000-0000-000000000000}"/>
          </ac:picMkLst>
        </pc:picChg>
        <pc:picChg chg="add">
          <ac:chgData name="Lai, Wilson" userId="2840974a-0d84-4886-90a9-9a3ed79f3a48" providerId="ADAL" clId="{9F23B798-9E84-4552-BA63-E776E805C424}" dt="2026-08-12T00:06:18.464" v="22" actId="22"/>
          <ac:picMkLst>
            <pc:docMk/>
            <pc:sldMk cId="0" sldId="260"/>
            <ac:picMk id="4" creationId="{5026A14B-07DD-E98B-E87F-F0B05ED0B86D}"/>
          </ac:picMkLst>
        </pc:picChg>
      </pc:sldChg>
      <pc:sldChg chg="addSp delSp mod modNotesTx">
        <pc:chgData name="Lai, Wilson" userId="2840974a-0d84-4886-90a9-9a3ed79f3a48" providerId="ADAL" clId="{9F23B798-9E84-4552-BA63-E776E805C424}" dt="2026-08-12T01:38:05.112" v="75" actId="20577"/>
        <pc:sldMkLst>
          <pc:docMk/>
          <pc:sldMk cId="0" sldId="261"/>
        </pc:sldMkLst>
        <pc:picChg chg="del">
          <ac:chgData name="Lai, Wilson" userId="2840974a-0d84-4886-90a9-9a3ed79f3a48" providerId="ADAL" clId="{9F23B798-9E84-4552-BA63-E776E805C424}" dt="2026-08-12T00:06:22.257" v="23" actId="21"/>
          <ac:picMkLst>
            <pc:docMk/>
            <pc:sldMk cId="0" sldId="261"/>
            <ac:picMk id="2" creationId="{00000000-0000-0000-0000-000000000000}"/>
          </ac:picMkLst>
        </pc:picChg>
        <pc:picChg chg="add">
          <ac:chgData name="Lai, Wilson" userId="2840974a-0d84-4886-90a9-9a3ed79f3a48" providerId="ADAL" clId="{9F23B798-9E84-4552-BA63-E776E805C424}" dt="2026-08-12T00:06:32.472" v="24" actId="22"/>
          <ac:picMkLst>
            <pc:docMk/>
            <pc:sldMk cId="0" sldId="261"/>
            <ac:picMk id="4" creationId="{4F727F2E-DCB3-4187-4F35-329B333C9391}"/>
          </ac:picMkLst>
        </pc:picChg>
      </pc:sldChg>
      <pc:sldChg chg="addSp delSp mod modNotesTx">
        <pc:chgData name="Lai, Wilson" userId="2840974a-0d84-4886-90a9-9a3ed79f3a48" providerId="ADAL" clId="{9F23B798-9E84-4552-BA63-E776E805C424}" dt="2026-08-12T01:38:33.385" v="80" actId="12"/>
        <pc:sldMkLst>
          <pc:docMk/>
          <pc:sldMk cId="0" sldId="262"/>
        </pc:sldMkLst>
        <pc:picChg chg="del">
          <ac:chgData name="Lai, Wilson" userId="2840974a-0d84-4886-90a9-9a3ed79f3a48" providerId="ADAL" clId="{9F23B798-9E84-4552-BA63-E776E805C424}" dt="2026-08-12T00:06:35.435" v="25" actId="21"/>
          <ac:picMkLst>
            <pc:docMk/>
            <pc:sldMk cId="0" sldId="262"/>
            <ac:picMk id="2" creationId="{00000000-0000-0000-0000-000000000000}"/>
          </ac:picMkLst>
        </pc:picChg>
        <pc:picChg chg="add">
          <ac:chgData name="Lai, Wilson" userId="2840974a-0d84-4886-90a9-9a3ed79f3a48" providerId="ADAL" clId="{9F23B798-9E84-4552-BA63-E776E805C424}" dt="2026-08-12T00:07:11.905" v="26" actId="22"/>
          <ac:picMkLst>
            <pc:docMk/>
            <pc:sldMk cId="0" sldId="262"/>
            <ac:picMk id="4" creationId="{1D22EBF1-48AC-2FBD-C1E0-B88695BAFAF4}"/>
          </ac:picMkLst>
        </pc:picChg>
      </pc:sldChg>
      <pc:sldChg chg="addSp delSp mod modNotesTx">
        <pc:chgData name="Lai, Wilson" userId="2840974a-0d84-4886-90a9-9a3ed79f3a48" providerId="ADAL" clId="{9F23B798-9E84-4552-BA63-E776E805C424}" dt="2026-08-12T01:39:04.902" v="86" actId="12"/>
        <pc:sldMkLst>
          <pc:docMk/>
          <pc:sldMk cId="0" sldId="263"/>
        </pc:sldMkLst>
        <pc:picChg chg="del">
          <ac:chgData name="Lai, Wilson" userId="2840974a-0d84-4886-90a9-9a3ed79f3a48" providerId="ADAL" clId="{9F23B798-9E84-4552-BA63-E776E805C424}" dt="2026-08-12T00:07:14.258" v="27" actId="21"/>
          <ac:picMkLst>
            <pc:docMk/>
            <pc:sldMk cId="0" sldId="263"/>
            <ac:picMk id="2" creationId="{00000000-0000-0000-0000-000000000000}"/>
          </ac:picMkLst>
        </pc:picChg>
        <pc:picChg chg="add">
          <ac:chgData name="Lai, Wilson" userId="2840974a-0d84-4886-90a9-9a3ed79f3a48" providerId="ADAL" clId="{9F23B798-9E84-4552-BA63-E776E805C424}" dt="2026-08-12T00:08:43.452" v="28" actId="22"/>
          <ac:picMkLst>
            <pc:docMk/>
            <pc:sldMk cId="0" sldId="263"/>
            <ac:picMk id="4" creationId="{6E886855-914A-93A9-7EB0-1DD97B1D4CD4}"/>
          </ac:picMkLst>
        </pc:picChg>
      </pc:sldChg>
      <pc:sldChg chg="addSp delSp mod modNotesTx">
        <pc:chgData name="Lai, Wilson" userId="2840974a-0d84-4886-90a9-9a3ed79f3a48" providerId="ADAL" clId="{9F23B798-9E84-4552-BA63-E776E805C424}" dt="2026-08-12T01:39:29.610" v="92" actId="12"/>
        <pc:sldMkLst>
          <pc:docMk/>
          <pc:sldMk cId="0" sldId="264"/>
        </pc:sldMkLst>
        <pc:picChg chg="del">
          <ac:chgData name="Lai, Wilson" userId="2840974a-0d84-4886-90a9-9a3ed79f3a48" providerId="ADAL" clId="{9F23B798-9E84-4552-BA63-E776E805C424}" dt="2026-08-12T00:08:51.545" v="29" actId="21"/>
          <ac:picMkLst>
            <pc:docMk/>
            <pc:sldMk cId="0" sldId="264"/>
            <ac:picMk id="2" creationId="{00000000-0000-0000-0000-000000000000}"/>
          </ac:picMkLst>
        </pc:picChg>
        <pc:picChg chg="add">
          <ac:chgData name="Lai, Wilson" userId="2840974a-0d84-4886-90a9-9a3ed79f3a48" providerId="ADAL" clId="{9F23B798-9E84-4552-BA63-E776E805C424}" dt="2026-08-12T00:08:59.693" v="30" actId="22"/>
          <ac:picMkLst>
            <pc:docMk/>
            <pc:sldMk cId="0" sldId="264"/>
            <ac:picMk id="4" creationId="{C02E8BF2-83C1-B0AB-AB58-E26162B1B659}"/>
          </ac:picMkLst>
        </pc:picChg>
      </pc:sldChg>
      <pc:sldChg chg="addSp delSp mod modNotesTx">
        <pc:chgData name="Lai, Wilson" userId="2840974a-0d84-4886-90a9-9a3ed79f3a48" providerId="ADAL" clId="{9F23B798-9E84-4552-BA63-E776E805C424}" dt="2026-08-12T01:39:52.041" v="99" actId="12"/>
        <pc:sldMkLst>
          <pc:docMk/>
          <pc:sldMk cId="0" sldId="265"/>
        </pc:sldMkLst>
        <pc:picChg chg="del">
          <ac:chgData name="Lai, Wilson" userId="2840974a-0d84-4886-90a9-9a3ed79f3a48" providerId="ADAL" clId="{9F23B798-9E84-4552-BA63-E776E805C424}" dt="2026-08-12T00:09:02.593" v="31" actId="21"/>
          <ac:picMkLst>
            <pc:docMk/>
            <pc:sldMk cId="0" sldId="265"/>
            <ac:picMk id="2" creationId="{00000000-0000-0000-0000-000000000000}"/>
          </ac:picMkLst>
        </pc:picChg>
        <pc:picChg chg="add">
          <ac:chgData name="Lai, Wilson" userId="2840974a-0d84-4886-90a9-9a3ed79f3a48" providerId="ADAL" clId="{9F23B798-9E84-4552-BA63-E776E805C424}" dt="2026-08-12T00:09:17.439" v="32" actId="22"/>
          <ac:picMkLst>
            <pc:docMk/>
            <pc:sldMk cId="0" sldId="265"/>
            <ac:picMk id="4" creationId="{0E389597-9A06-859E-1B90-0BD122FC80C8}"/>
          </ac:picMkLst>
        </pc:picChg>
      </pc:sldChg>
      <pc:sldChg chg="addSp delSp mod modNotesTx">
        <pc:chgData name="Lai, Wilson" userId="2840974a-0d84-4886-90a9-9a3ed79f3a48" providerId="ADAL" clId="{9F23B798-9E84-4552-BA63-E776E805C424}" dt="2026-08-12T01:40:24.086" v="105" actId="12"/>
        <pc:sldMkLst>
          <pc:docMk/>
          <pc:sldMk cId="0" sldId="266"/>
        </pc:sldMkLst>
        <pc:picChg chg="del">
          <ac:chgData name="Lai, Wilson" userId="2840974a-0d84-4886-90a9-9a3ed79f3a48" providerId="ADAL" clId="{9F23B798-9E84-4552-BA63-E776E805C424}" dt="2026-08-12T00:09:20.297" v="33" actId="21"/>
          <ac:picMkLst>
            <pc:docMk/>
            <pc:sldMk cId="0" sldId="266"/>
            <ac:picMk id="2" creationId="{00000000-0000-0000-0000-000000000000}"/>
          </ac:picMkLst>
        </pc:picChg>
        <pc:picChg chg="add">
          <ac:chgData name="Lai, Wilson" userId="2840974a-0d84-4886-90a9-9a3ed79f3a48" providerId="ADAL" clId="{9F23B798-9E84-4552-BA63-E776E805C424}" dt="2026-08-12T00:09:35.562" v="34" actId="22"/>
          <ac:picMkLst>
            <pc:docMk/>
            <pc:sldMk cId="0" sldId="266"/>
            <ac:picMk id="4" creationId="{6F40A906-4628-95A1-CE73-C777351542A0}"/>
          </ac:picMkLst>
        </pc:picChg>
      </pc:sldChg>
      <pc:sldChg chg="addSp delSp mod modNotesTx">
        <pc:chgData name="Lai, Wilson" userId="2840974a-0d84-4886-90a9-9a3ed79f3a48" providerId="ADAL" clId="{9F23B798-9E84-4552-BA63-E776E805C424}" dt="2026-08-12T01:40:48.915" v="111" actId="12"/>
        <pc:sldMkLst>
          <pc:docMk/>
          <pc:sldMk cId="0" sldId="267"/>
        </pc:sldMkLst>
        <pc:picChg chg="del">
          <ac:chgData name="Lai, Wilson" userId="2840974a-0d84-4886-90a9-9a3ed79f3a48" providerId="ADAL" clId="{9F23B798-9E84-4552-BA63-E776E805C424}" dt="2026-08-12T00:09:38.069" v="35" actId="21"/>
          <ac:picMkLst>
            <pc:docMk/>
            <pc:sldMk cId="0" sldId="267"/>
            <ac:picMk id="2" creationId="{00000000-0000-0000-0000-000000000000}"/>
          </ac:picMkLst>
        </pc:picChg>
        <pc:picChg chg="add">
          <ac:chgData name="Lai, Wilson" userId="2840974a-0d84-4886-90a9-9a3ed79f3a48" providerId="ADAL" clId="{9F23B798-9E84-4552-BA63-E776E805C424}" dt="2026-08-12T00:09:45.499" v="36" actId="22"/>
          <ac:picMkLst>
            <pc:docMk/>
            <pc:sldMk cId="0" sldId="267"/>
            <ac:picMk id="4" creationId="{950F1BF8-C07F-48B5-EE03-5369A3D96284}"/>
          </ac:picMkLst>
        </pc:picChg>
      </pc:sldChg>
      <pc:sldChg chg="addSp delSp mod modNotesTx">
        <pc:chgData name="Lai, Wilson" userId="2840974a-0d84-4886-90a9-9a3ed79f3a48" providerId="ADAL" clId="{9F23B798-9E84-4552-BA63-E776E805C424}" dt="2026-08-12T01:41:16.133" v="117" actId="12"/>
        <pc:sldMkLst>
          <pc:docMk/>
          <pc:sldMk cId="0" sldId="268"/>
        </pc:sldMkLst>
        <pc:picChg chg="del">
          <ac:chgData name="Lai, Wilson" userId="2840974a-0d84-4886-90a9-9a3ed79f3a48" providerId="ADAL" clId="{9F23B798-9E84-4552-BA63-E776E805C424}" dt="2026-08-12T00:09:47.642" v="37" actId="21"/>
          <ac:picMkLst>
            <pc:docMk/>
            <pc:sldMk cId="0" sldId="268"/>
            <ac:picMk id="2" creationId="{00000000-0000-0000-0000-000000000000}"/>
          </ac:picMkLst>
        </pc:picChg>
        <pc:picChg chg="add">
          <ac:chgData name="Lai, Wilson" userId="2840974a-0d84-4886-90a9-9a3ed79f3a48" providerId="ADAL" clId="{9F23B798-9E84-4552-BA63-E776E805C424}" dt="2026-08-12T00:09:59.239" v="38" actId="22"/>
          <ac:picMkLst>
            <pc:docMk/>
            <pc:sldMk cId="0" sldId="268"/>
            <ac:picMk id="4" creationId="{C1EDFFF4-81FF-2F02-1C5F-F838D0534626}"/>
          </ac:picMkLst>
        </pc:picChg>
      </pc:sldChg>
      <pc:sldChg chg="modNotesTx">
        <pc:chgData name="Lai, Wilson" userId="2840974a-0d84-4886-90a9-9a3ed79f3a48" providerId="ADAL" clId="{9F23B798-9E84-4552-BA63-E776E805C424}" dt="2026-08-12T01:41:55.273" v="125" actId="12"/>
        <pc:sldMkLst>
          <pc:docMk/>
          <pc:sldMk cId="4253380297" sldId="269"/>
        </pc:sldMkLst>
      </pc:sldChg>
      <pc:sldMasterChg chg="setBg">
        <pc:chgData name="Lai, Wilson" userId="2840974a-0d84-4886-90a9-9a3ed79f3a48" providerId="ADAL" clId="{9F23B798-9E84-4552-BA63-E776E805C424}" dt="2026-08-12T01:42:44.856" v="129"/>
        <pc:sldMasterMkLst>
          <pc:docMk/>
          <pc:sldMasterMk cId="225324919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7E89F0-9829-4AAA-BC56-C6394143F89E}"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4483EC-83B8-443E-9D9B-5E69D2CED67E}" type="slidenum">
              <a:rPr lang="en-US" smtClean="0"/>
              <a:t>‹#›</a:t>
            </a:fld>
            <a:endParaRPr lang="en-US"/>
          </a:p>
        </p:txBody>
      </p:sp>
    </p:spTree>
    <p:extLst>
      <p:ext uri="{BB962C8B-B14F-4D97-AF65-F5344CB8AC3E}">
        <p14:creationId xmlns:p14="http://schemas.microsoft.com/office/powerpoint/2010/main" val="400198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Looking at the charts on this slide, you’re seeing two extremes of a single 18-day window. On the left, a brutal 40% drawdown driven by forced liquidations and margin calls across AI positions like Bloom Energy. On the right, a massive $10,000,000 single-day recovery triggered by a high-conviction options execution around Amazon earnings. </a:t>
            </a:r>
          </a:p>
          <a:p>
            <a:r>
              <a:rPr lang="en-US" sz="1200" kern="1200" dirty="0">
                <a:solidFill>
                  <a:schemeClr val="tx1"/>
                </a:solidFill>
                <a:effectLst/>
                <a:latin typeface="+mn-lt"/>
                <a:ea typeface="+mn-ea"/>
                <a:cs typeface="+mn-cs"/>
              </a:rPr>
              <a:t>Most people look at a chart like this and see extreme volatility or luck. But as Chris Camillo discussed on </a:t>
            </a:r>
            <a:r>
              <a:rPr lang="en-US" sz="1200" i="1" kern="1200" dirty="0">
                <a:solidFill>
                  <a:schemeClr val="tx1"/>
                </a:solidFill>
                <a:effectLst/>
                <a:latin typeface="+mn-lt"/>
                <a:ea typeface="+mn-ea"/>
                <a:cs typeface="+mn-cs"/>
              </a:rPr>
              <a:t>The Iced Coffee Hour</a:t>
            </a:r>
            <a:r>
              <a:rPr lang="en-US" sz="1200" kern="1200" dirty="0">
                <a:solidFill>
                  <a:schemeClr val="tx1"/>
                </a:solidFill>
                <a:effectLst/>
                <a:latin typeface="+mn-lt"/>
                <a:ea typeface="+mn-ea"/>
                <a:cs typeface="+mn-cs"/>
              </a:rPr>
              <a:t>, making money after enduring a severe drawdown feels fundamentally different than simply coasting on gains. It requires executing cold, probabilistic calculations precisely at the moment when your emotions—and your account balance—are screaming at you to capitulate. </a:t>
            </a:r>
          </a:p>
          <a:p>
            <a:r>
              <a:rPr lang="en-US" sz="1200" kern="1200" dirty="0">
                <a:solidFill>
                  <a:schemeClr val="tx1"/>
                </a:solidFill>
                <a:effectLst/>
                <a:latin typeface="+mn-lt"/>
                <a:ea typeface="+mn-ea"/>
                <a:cs typeface="+mn-cs"/>
              </a:rPr>
              <a:t>True asymmetric alpha isn’t captured by avoiding drawdowns entirely; it is captured by surviving them with your conviction intact and striking when the risk/reward ratio skews heavily in your favor.</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Contrast between emotional panic and rational, probabilistic execution.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Context: Surviving 40% account drawdowns requires pre-calculated risk limits, not impulse reactions.</a:t>
            </a:r>
          </a:p>
          <a:p>
            <a:pPr marL="171450" indent="-171450">
              <a:buFont typeface="Arial" panose="020B0604020202020204" pitchFamily="34" charset="0"/>
              <a:buChar char="•"/>
            </a:pPr>
            <a:endParaRPr lang="en-US" dirty="0"/>
          </a:p>
          <a:p>
            <a:endParaRPr lang="en-US" dirty="0"/>
          </a:p>
          <a:p>
            <a:endParaRPr lang="en-US" dirty="0"/>
          </a:p>
          <a:p>
            <a:r>
              <a:rPr lang="en-US" dirty="0"/>
              <a:t>https://www.youtube.com/watch?v=ahQlC54rqhk</a:t>
            </a:r>
          </a:p>
        </p:txBody>
      </p:sp>
      <p:sp>
        <p:nvSpPr>
          <p:cNvPr id="4" name="Slide Number Placeholder 3"/>
          <p:cNvSpPr>
            <a:spLocks noGrp="1"/>
          </p:cNvSpPr>
          <p:nvPr>
            <p:ph type="sldNum" sz="quarter" idx="5"/>
          </p:nvPr>
        </p:nvSpPr>
        <p:spPr/>
        <p:txBody>
          <a:bodyPr/>
          <a:lstStyle/>
          <a:p>
            <a:fld id="{064483EC-83B8-443E-9D9B-5E69D2CED67E}" type="slidenum">
              <a:rPr lang="en-US" smtClean="0"/>
              <a:t>1</a:t>
            </a:fld>
            <a:endParaRPr lang="en-US"/>
          </a:p>
        </p:txBody>
      </p:sp>
    </p:spTree>
    <p:extLst>
      <p:ext uri="{BB962C8B-B14F-4D97-AF65-F5344CB8AC3E}">
        <p14:creationId xmlns:p14="http://schemas.microsoft.com/office/powerpoint/2010/main" val="1601129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 me walk you through how a multi-million dollar asymmetric trade is structured using the Amazon earnings play as an example. </a:t>
            </a:r>
          </a:p>
          <a:p>
            <a:r>
              <a:rPr lang="en-US" sz="1200" kern="1200" dirty="0">
                <a:solidFill>
                  <a:schemeClr val="tx1"/>
                </a:solidFill>
                <a:effectLst/>
                <a:latin typeface="+mn-lt"/>
                <a:ea typeface="+mn-ea"/>
                <a:cs typeface="+mn-cs"/>
              </a:rPr>
              <a:t>First, look at the risk/reward gauge on the slide. The premise was based on an 80% confidence level that Amazon management would address market panic surrounding AI capital expenditures in the exact same structured way Microsoft had done days prior. The research didn't point to whether Amazon would beat top-line consensus, but rather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management would frame their AWS and AI growth narrative on the call. </a:t>
            </a:r>
          </a:p>
          <a:p>
            <a:r>
              <a:rPr lang="en-US" sz="1200" kern="1200" dirty="0">
                <a:solidFill>
                  <a:schemeClr val="tx1"/>
                </a:solidFill>
                <a:effectLst/>
                <a:latin typeface="+mn-lt"/>
                <a:ea typeface="+mn-ea"/>
                <a:cs typeface="+mn-cs"/>
              </a:rPr>
              <a:t>The investment involved liquidating underlying equity positions to fund short-dated, 24-hour expiring call options. The trade carries a binary risk profile: a willing acceptance of a total 100% loss on a 7-figure allocation in exchange for an 80% statistical probability of an 8-figure return. </a:t>
            </a:r>
          </a:p>
          <a:p>
            <a:r>
              <a:rPr lang="en-US" sz="1200" kern="1200" dirty="0">
                <a:solidFill>
                  <a:schemeClr val="tx1"/>
                </a:solidFill>
                <a:effectLst/>
                <a:latin typeface="+mn-lt"/>
                <a:ea typeface="+mn-ea"/>
                <a:cs typeface="+mn-cs"/>
              </a:rPr>
              <a:t>Notice the yellow segment on the gauge—'Known Unknowns' like geopolitical shocks, and 'Unknown Unknowns'. High-conviction investing never claims 100% certainty; it prices in tail risks and accepts downside ruin on a specific trade without risking total ruin of the core balance sheet.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Probability-based decision-making vs. binary gambling.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role of short-dated options as leverage multipliers on information edge.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2</a:t>
            </a:fld>
            <a:endParaRPr lang="en-US"/>
          </a:p>
        </p:txBody>
      </p:sp>
    </p:spTree>
    <p:extLst>
      <p:ext uri="{BB962C8B-B14F-4D97-AF65-F5344CB8AC3E}">
        <p14:creationId xmlns:p14="http://schemas.microsoft.com/office/powerpoint/2010/main" val="1977428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easy to look at a 24-hour call option trade and dismiss it as gambling. But there is a clear boundary line separating a gambler from a probabilistic investor. </a:t>
            </a:r>
          </a:p>
          <a:p>
            <a:r>
              <a:rPr lang="en-US" sz="1200" kern="1200" dirty="0">
                <a:solidFill>
                  <a:schemeClr val="tx1"/>
                </a:solidFill>
                <a:effectLst/>
                <a:latin typeface="+mn-lt"/>
                <a:ea typeface="+mn-ea"/>
                <a:cs typeface="+mn-cs"/>
              </a:rPr>
              <a:t>Let's contrast the two across four dimensions: </a:t>
            </a:r>
          </a:p>
          <a:p>
            <a:r>
              <a:rPr lang="en-US" sz="1200" b="1" kern="1200" dirty="0">
                <a:solidFill>
                  <a:schemeClr val="tx1"/>
                </a:solidFill>
                <a:effectLst/>
                <a:latin typeface="+mn-lt"/>
                <a:ea typeface="+mn-ea"/>
                <a:cs typeface="+mn-cs"/>
              </a:rPr>
              <a:t>Information Source:</a:t>
            </a:r>
            <a:r>
              <a:rPr lang="en-US" sz="1200" kern="1200" dirty="0">
                <a:solidFill>
                  <a:schemeClr val="tx1"/>
                </a:solidFill>
                <a:effectLst/>
                <a:latin typeface="+mn-lt"/>
                <a:ea typeface="+mn-ea"/>
                <a:cs typeface="+mn-cs"/>
              </a:rPr>
              <a:t> Gamblers react to Wall Street consensus, CNBC, and X (Twitter) noise. Probabilistic investors log 50 to 100 hours of ground-truth research—speaking directly to end-users, developers, and tech forums. </a:t>
            </a:r>
          </a:p>
          <a:p>
            <a:r>
              <a:rPr lang="en-US" sz="1200" b="1" kern="1200" dirty="0">
                <a:solidFill>
                  <a:schemeClr val="tx1"/>
                </a:solidFill>
                <a:effectLst/>
                <a:latin typeface="+mn-lt"/>
                <a:ea typeface="+mn-ea"/>
                <a:cs typeface="+mn-cs"/>
              </a:rPr>
              <a:t>Downside Acceptance:</a:t>
            </a:r>
            <a:r>
              <a:rPr lang="en-US" sz="1200" kern="1200" dirty="0">
                <a:solidFill>
                  <a:schemeClr val="tx1"/>
                </a:solidFill>
                <a:effectLst/>
                <a:latin typeface="+mn-lt"/>
                <a:ea typeface="+mn-ea"/>
                <a:cs typeface="+mn-cs"/>
              </a:rPr>
              <a:t> Gamblers </a:t>
            </a:r>
            <a:r>
              <a:rPr lang="en-US" sz="1200" i="1" kern="1200" dirty="0">
                <a:solidFill>
                  <a:schemeClr val="tx1"/>
                </a:solidFill>
                <a:effectLst/>
                <a:latin typeface="+mn-lt"/>
                <a:ea typeface="+mn-ea"/>
                <a:cs typeface="+mn-cs"/>
              </a:rPr>
              <a:t>expect</a:t>
            </a:r>
            <a:r>
              <a:rPr lang="en-US" sz="1200" kern="1200" dirty="0">
                <a:solidFill>
                  <a:schemeClr val="tx1"/>
                </a:solidFill>
                <a:effectLst/>
                <a:latin typeface="+mn-lt"/>
                <a:ea typeface="+mn-ea"/>
                <a:cs typeface="+mn-cs"/>
              </a:rPr>
              <a:t> to win every trade and panic when losses mount. High-conviction traders mentally price in total wipeouts and accept that a losing streak is statistically inevitable over a multi-trade horizon. </a:t>
            </a:r>
          </a:p>
          <a:p>
            <a:r>
              <a:rPr lang="en-US" sz="1200" b="1" kern="1200" dirty="0">
                <a:solidFill>
                  <a:schemeClr val="tx1"/>
                </a:solidFill>
                <a:effectLst/>
                <a:latin typeface="+mn-lt"/>
                <a:ea typeface="+mn-ea"/>
                <a:cs typeface="+mn-cs"/>
              </a:rPr>
              <a:t>Leverage Utility:</a:t>
            </a:r>
            <a:r>
              <a:rPr lang="en-US" sz="1200" kern="1200" dirty="0">
                <a:solidFill>
                  <a:schemeClr val="tx1"/>
                </a:solidFill>
                <a:effectLst/>
                <a:latin typeface="+mn-lt"/>
                <a:ea typeface="+mn-ea"/>
                <a:cs typeface="+mn-cs"/>
              </a:rPr>
              <a:t> Gamblers use margin to chase momentum. Probabilistic traders use leverage strictly as an instrument to scale an existing information asymmetry. </a:t>
            </a:r>
          </a:p>
          <a:p>
            <a:r>
              <a:rPr lang="en-US" sz="1200" b="1" kern="1200" dirty="0">
                <a:solidFill>
                  <a:schemeClr val="tx1"/>
                </a:solidFill>
                <a:effectLst/>
                <a:latin typeface="+mn-lt"/>
                <a:ea typeface="+mn-ea"/>
                <a:cs typeface="+mn-cs"/>
              </a:rPr>
              <a:t>Emotional State:</a:t>
            </a:r>
            <a:r>
              <a:rPr lang="en-US" sz="1200" kern="1200" dirty="0">
                <a:solidFill>
                  <a:schemeClr val="tx1"/>
                </a:solidFill>
                <a:effectLst/>
                <a:latin typeface="+mn-lt"/>
                <a:ea typeface="+mn-ea"/>
                <a:cs typeface="+mn-cs"/>
              </a:rPr>
              <a:t> As Chris mentioned on the podcast, even with an 80% edge, you feel physical nausea. The difference is that the gambler lets physical nausea dictate action, while the professional acknowledges the emotion and executes based on cold math.</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Ground-truth research creates the edge; leverage merely amplifies it.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Emotional detachment under extreme financial pressure.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3</a:t>
            </a:fld>
            <a:endParaRPr lang="en-US"/>
          </a:p>
        </p:txBody>
      </p:sp>
    </p:spTree>
    <p:extLst>
      <p:ext uri="{BB962C8B-B14F-4D97-AF65-F5344CB8AC3E}">
        <p14:creationId xmlns:p14="http://schemas.microsoft.com/office/powerpoint/2010/main" val="3889683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how do you actually establish an information edge? You follow the 100-Hour Research Loop shown here. </a:t>
            </a:r>
          </a:p>
          <a:p>
            <a:r>
              <a:rPr lang="en-US" sz="1200" b="1" kern="1200" dirty="0">
                <a:solidFill>
                  <a:schemeClr val="tx1"/>
                </a:solidFill>
                <a:effectLst/>
                <a:latin typeface="+mn-lt"/>
                <a:ea typeface="+mn-ea"/>
                <a:cs typeface="+mn-cs"/>
              </a:rPr>
              <a:t>Step 1: Bypass the Herd.</a:t>
            </a:r>
            <a:r>
              <a:rPr lang="en-US" sz="1200" kern="1200" dirty="0">
                <a:solidFill>
                  <a:schemeClr val="tx1"/>
                </a:solidFill>
                <a:effectLst/>
                <a:latin typeface="+mn-lt"/>
                <a:ea typeface="+mn-ea"/>
                <a:cs typeface="+mn-cs"/>
              </a:rPr>
              <a:t> Mute institutional sell-side reports and financial news networks. They reflect consensus narratives that are already priced into the stock. </a:t>
            </a:r>
          </a:p>
          <a:p>
            <a:r>
              <a:rPr lang="en-US" sz="1200" b="1" kern="1200" dirty="0">
                <a:solidFill>
                  <a:schemeClr val="tx1"/>
                </a:solidFill>
                <a:effectLst/>
                <a:latin typeface="+mn-lt"/>
                <a:ea typeface="+mn-ea"/>
                <a:cs typeface="+mn-cs"/>
              </a:rPr>
              <a:t>Step 2: Locate the End-Users.</a:t>
            </a:r>
            <a:r>
              <a:rPr lang="en-US" sz="1200" kern="1200" dirty="0">
                <a:solidFill>
                  <a:schemeClr val="tx1"/>
                </a:solidFill>
                <a:effectLst/>
                <a:latin typeface="+mn-lt"/>
                <a:ea typeface="+mn-ea"/>
                <a:cs typeface="+mn-cs"/>
              </a:rPr>
              <a:t> Go directly to specialized developer platforms, GitHub threads, and industry forums where engineers at companies like American Airlines discuss real software deployments. </a:t>
            </a:r>
          </a:p>
          <a:p>
            <a:r>
              <a:rPr lang="en-US" sz="1200" b="1" kern="1200" dirty="0">
                <a:solidFill>
                  <a:schemeClr val="tx1"/>
                </a:solidFill>
                <a:effectLst/>
                <a:latin typeface="+mn-lt"/>
                <a:ea typeface="+mn-ea"/>
                <a:cs typeface="+mn-cs"/>
              </a:rPr>
              <a:t>Step 3: Extract Ground Truth.</a:t>
            </a:r>
            <a:r>
              <a:rPr lang="en-US" sz="1200" kern="1200" dirty="0">
                <a:solidFill>
                  <a:schemeClr val="tx1"/>
                </a:solidFill>
                <a:effectLst/>
                <a:latin typeface="+mn-lt"/>
                <a:ea typeface="+mn-ea"/>
                <a:cs typeface="+mn-cs"/>
              </a:rPr>
              <a:t> Ask direct operational questions: Is this AI tool actually generating measurable ROI for your workflow? </a:t>
            </a:r>
          </a:p>
          <a:p>
            <a:r>
              <a:rPr lang="en-US" sz="1200" b="1" kern="1200" dirty="0">
                <a:solidFill>
                  <a:schemeClr val="tx1"/>
                </a:solidFill>
                <a:effectLst/>
                <a:latin typeface="+mn-lt"/>
                <a:ea typeface="+mn-ea"/>
                <a:cs typeface="+mn-cs"/>
              </a:rPr>
              <a:t>Step 4: Anticipate the FUD.</a:t>
            </a:r>
            <a:r>
              <a:rPr lang="en-US" sz="1200" kern="1200" dirty="0">
                <a:solidFill>
                  <a:schemeClr val="tx1"/>
                </a:solidFill>
                <a:effectLst/>
                <a:latin typeface="+mn-lt"/>
                <a:ea typeface="+mn-ea"/>
                <a:cs typeface="+mn-cs"/>
              </a:rPr>
              <a:t> Spend more time dissecting the short-seller thesis than your own long thesis. If you can identify the exact logical flaw in the short narrative before the broader market does, you've found your entry. </a:t>
            </a:r>
          </a:p>
          <a:p>
            <a:r>
              <a:rPr lang="en-US" sz="1200" b="1" kern="1200" dirty="0">
                <a:solidFill>
                  <a:schemeClr val="tx1"/>
                </a:solidFill>
                <a:effectLst/>
                <a:latin typeface="+mn-lt"/>
                <a:ea typeface="+mn-ea"/>
                <a:cs typeface="+mn-cs"/>
              </a:rPr>
              <a:t>Step 5: Execute Asymmetrically.</a:t>
            </a:r>
            <a:r>
              <a:rPr lang="en-US" sz="1200" kern="1200" dirty="0">
                <a:solidFill>
                  <a:schemeClr val="tx1"/>
                </a:solidFill>
                <a:effectLst/>
                <a:latin typeface="+mn-lt"/>
                <a:ea typeface="+mn-ea"/>
                <a:cs typeface="+mn-cs"/>
              </a:rPr>
              <a:t> Strike when market panic temporarily disconnects the stock price from fundamental reality.</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Differentiating operational reality from financial market sentiment. </a:t>
            </a:r>
          </a:p>
          <a:p>
            <a:r>
              <a:rPr lang="en-US" sz="1200" kern="1200" dirty="0">
                <a:solidFill>
                  <a:schemeClr val="tx1"/>
                </a:solidFill>
                <a:effectLst/>
                <a:latin typeface="+mn-lt"/>
                <a:ea typeface="+mn-ea"/>
                <a:cs typeface="+mn-cs"/>
              </a:rPr>
              <a:t>The systematic process required before deploying capital.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4</a:t>
            </a:fld>
            <a:endParaRPr lang="en-US"/>
          </a:p>
        </p:txBody>
      </p:sp>
    </p:spTree>
    <p:extLst>
      <p:ext uri="{BB962C8B-B14F-4D97-AF65-F5344CB8AC3E}">
        <p14:creationId xmlns:p14="http://schemas.microsoft.com/office/powerpoint/2010/main" val="765196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biggest psychological traps retail investors face is chasing the dopamine rush of taking risk. </a:t>
            </a:r>
          </a:p>
          <a:p>
            <a:r>
              <a:rPr lang="en-US" sz="1200" kern="1200" dirty="0">
                <a:solidFill>
                  <a:schemeClr val="tx1"/>
                </a:solidFill>
                <a:effectLst/>
                <a:latin typeface="+mn-lt"/>
                <a:ea typeface="+mn-ea"/>
                <a:cs typeface="+mn-cs"/>
              </a:rPr>
              <a:t>When an investor convinces themselves they have done 'enough research' just to justify getting into a position, they fall into </a:t>
            </a:r>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—deploying 100% of their capital into high-risk trades. This moves their risk exposure straight into the zone of total financial ruin. </a:t>
            </a:r>
          </a:p>
          <a:p>
            <a:r>
              <a:rPr lang="en-US" sz="1200" kern="1200" dirty="0">
                <a:solidFill>
                  <a:schemeClr val="tx1"/>
                </a:solidFill>
                <a:effectLst/>
                <a:latin typeface="+mn-lt"/>
                <a:ea typeface="+mn-ea"/>
                <a:cs typeface="+mn-cs"/>
              </a:rPr>
              <a:t>Slide 5 illustrates </a:t>
            </a:r>
            <a:r>
              <a:rPr lang="en-US" sz="1200" b="1" kern="1200" dirty="0">
                <a:solidFill>
                  <a:schemeClr val="tx1"/>
                </a:solidFill>
                <a:effectLst/>
                <a:latin typeface="+mn-lt"/>
                <a:ea typeface="+mn-ea"/>
                <a:cs typeface="+mn-cs"/>
              </a:rPr>
              <a:t>The Hack</a:t>
            </a:r>
            <a:r>
              <a:rPr lang="en-US" sz="1200" kern="1200" dirty="0">
                <a:solidFill>
                  <a:schemeClr val="tx1"/>
                </a:solidFill>
                <a:effectLst/>
                <a:latin typeface="+mn-lt"/>
                <a:ea typeface="+mn-ea"/>
                <a:cs typeface="+mn-cs"/>
              </a:rPr>
              <a:t>. You can trigger 90% to 95% of the brain's emotional payoff and dopamine reward while risking only 2% to 3% of your portfolio capital. By restricting speculative, high-dopamine bets to minuscule position sizes, you satisfy the psychological urge for market action without putting your core wealth at risk.</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Behavioral finance: separating portfolio management from psychological impulses. </a:t>
            </a:r>
          </a:p>
          <a:p>
            <a:r>
              <a:rPr lang="en-US" sz="1200" kern="1200" dirty="0">
                <a:solidFill>
                  <a:schemeClr val="tx1"/>
                </a:solidFill>
                <a:effectLst/>
                <a:latin typeface="+mn-lt"/>
                <a:ea typeface="+mn-ea"/>
                <a:cs typeface="+mn-cs"/>
              </a:rPr>
              <a:t>Sizing speculative trades to preserve long-term capital.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5</a:t>
            </a:fld>
            <a:endParaRPr lang="en-US"/>
          </a:p>
        </p:txBody>
      </p:sp>
    </p:spTree>
    <p:extLst>
      <p:ext uri="{BB962C8B-B14F-4D97-AF65-F5344CB8AC3E}">
        <p14:creationId xmlns:p14="http://schemas.microsoft.com/office/powerpoint/2010/main" val="2092918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drawdowns happen so rapidly today, we have to look at the macro structural mechanics. Slide 6 details a classic forced liquidation cascade: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 (The Catalyst):</a:t>
            </a:r>
            <a:r>
              <a:rPr lang="en-US" sz="1200" kern="1200" dirty="0">
                <a:solidFill>
                  <a:schemeClr val="tx1"/>
                </a:solidFill>
                <a:effectLst/>
                <a:latin typeface="+mn-lt"/>
                <a:ea typeface="+mn-ea"/>
                <a:cs typeface="+mn-cs"/>
              </a:rPr>
              <a:t> Massive leveraged bets placed on key AI infrastructure plays like Bloom Energy or </a:t>
            </a:r>
            <a:r>
              <a:rPr lang="en-US" sz="1200" kern="1200" dirty="0" err="1">
                <a:solidFill>
                  <a:schemeClr val="tx1"/>
                </a:solidFill>
                <a:effectLst/>
                <a:latin typeface="+mn-lt"/>
                <a:ea typeface="+mn-ea"/>
                <a:cs typeface="+mn-cs"/>
              </a:rPr>
              <a:t>Nebius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 (The Accelerant):</a:t>
            </a:r>
            <a:r>
              <a:rPr lang="en-US" sz="1200" kern="1200" dirty="0">
                <a:solidFill>
                  <a:schemeClr val="tx1"/>
                </a:solidFill>
                <a:effectLst/>
                <a:latin typeface="+mn-lt"/>
                <a:ea typeface="+mn-ea"/>
                <a:cs typeface="+mn-cs"/>
              </a:rPr>
              <a:t> Retail and institutional derivative flows—such as South Korean leverage products—mirror the trade, creating concentrated long leverage.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 (The Strike):</a:t>
            </a:r>
            <a:r>
              <a:rPr lang="en-US" sz="1200" kern="1200" dirty="0">
                <a:solidFill>
                  <a:schemeClr val="tx1"/>
                </a:solidFill>
                <a:effectLst/>
                <a:latin typeface="+mn-lt"/>
                <a:ea typeface="+mn-ea"/>
                <a:cs typeface="+mn-cs"/>
              </a:rPr>
              <a:t> Institutional players or macro </a:t>
            </a:r>
            <a:r>
              <a:rPr lang="en-US" sz="1200" kern="1200" dirty="0" err="1">
                <a:solidFill>
                  <a:schemeClr val="tx1"/>
                </a:solidFill>
                <a:effectLst/>
                <a:latin typeface="+mn-lt"/>
                <a:ea typeface="+mn-ea"/>
                <a:cs typeface="+mn-cs"/>
              </a:rPr>
              <a:t>macro</a:t>
            </a:r>
            <a:r>
              <a:rPr lang="en-US" sz="1200" kern="1200" dirty="0">
                <a:solidFill>
                  <a:schemeClr val="tx1"/>
                </a:solidFill>
                <a:effectLst/>
                <a:latin typeface="+mn-lt"/>
                <a:ea typeface="+mn-ea"/>
                <a:cs typeface="+mn-cs"/>
              </a:rPr>
              <a:t> commentators release narrative headlines around interest rates or capex concerns to spark volatility.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 (The Cascade):</a:t>
            </a:r>
            <a:r>
              <a:rPr lang="en-US" sz="1200" kern="1200" dirty="0">
                <a:solidFill>
                  <a:schemeClr val="tx1"/>
                </a:solidFill>
                <a:effectLst/>
                <a:latin typeface="+mn-lt"/>
                <a:ea typeface="+mn-ea"/>
                <a:cs typeface="+mn-cs"/>
              </a:rPr>
              <a:t> The drop triggers automated margin calls, wiping out over-leveraged tech longs and clearing billions in market value. </a:t>
            </a:r>
          </a:p>
          <a:p>
            <a:r>
              <a:rPr lang="en-US" sz="1200" kern="1200" dirty="0">
                <a:solidFill>
                  <a:schemeClr val="tx1"/>
                </a:solidFill>
                <a:effectLst/>
                <a:latin typeface="+mn-lt"/>
                <a:ea typeface="+mn-ea"/>
                <a:cs typeface="+mn-cs"/>
              </a:rPr>
              <a:t>The core takeaway: In hyper-connected modern markets, short-term price action is frequently driven by leverage mechanics and algorithmic order flows, not shifts in underlying business fundamentals.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Market structure, global leverage linkage, and forced margin liquidations. </a:t>
            </a:r>
          </a:p>
          <a:p>
            <a:r>
              <a:rPr lang="en-US" sz="1200" kern="1200" dirty="0">
                <a:solidFill>
                  <a:schemeClr val="tx1"/>
                </a:solidFill>
                <a:effectLst/>
                <a:latin typeface="+mn-lt"/>
                <a:ea typeface="+mn-ea"/>
                <a:cs typeface="+mn-cs"/>
              </a:rPr>
              <a:t>Distinguishing temporary liquidity crises from fundamental business decline. </a:t>
            </a:r>
          </a:p>
        </p:txBody>
      </p:sp>
      <p:sp>
        <p:nvSpPr>
          <p:cNvPr id="4" name="Slide Number Placeholder 3"/>
          <p:cNvSpPr>
            <a:spLocks noGrp="1"/>
          </p:cNvSpPr>
          <p:nvPr>
            <p:ph type="sldNum" sz="quarter" idx="5"/>
          </p:nvPr>
        </p:nvSpPr>
        <p:spPr/>
        <p:txBody>
          <a:bodyPr/>
          <a:lstStyle/>
          <a:p>
            <a:fld id="{064483EC-83B8-443E-9D9B-5E69D2CED67E}" type="slidenum">
              <a:rPr lang="en-US" smtClean="0"/>
              <a:t>6</a:t>
            </a:fld>
            <a:endParaRPr lang="en-US"/>
          </a:p>
        </p:txBody>
      </p:sp>
    </p:spTree>
    <p:extLst>
      <p:ext uri="{BB962C8B-B14F-4D97-AF65-F5344CB8AC3E}">
        <p14:creationId xmlns:p14="http://schemas.microsoft.com/office/powerpoint/2010/main" val="24027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Throughout 2024–2026, the media narrative frequently panicked over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AI capital expenditure—asking 'Where is the ROI?' Slide 7 demonstrates why that panic is mathematically flawed. </a:t>
            </a:r>
          </a:p>
          <a:p>
            <a:r>
              <a:rPr lang="en-US" sz="1200" kern="1200" dirty="0">
                <a:solidFill>
                  <a:schemeClr val="tx1"/>
                </a:solidFill>
                <a:effectLst/>
                <a:latin typeface="+mn-lt"/>
                <a:ea typeface="+mn-ea"/>
                <a:cs typeface="+mn-cs"/>
              </a:rPr>
              <a:t>Look at </a:t>
            </a:r>
            <a:r>
              <a:rPr lang="en-US" sz="1200" b="1" kern="1200" dirty="0">
                <a:solidFill>
                  <a:schemeClr val="tx1"/>
                </a:solidFill>
                <a:effectLst/>
                <a:latin typeface="+mn-lt"/>
                <a:ea typeface="+mn-ea"/>
                <a:cs typeface="+mn-cs"/>
              </a:rPr>
              <a:t>The Capex Growth Engine</a:t>
            </a:r>
            <a:r>
              <a:rPr lang="en-US" sz="1200" kern="1200" dirty="0">
                <a:solidFill>
                  <a:schemeClr val="tx1"/>
                </a:solidFill>
                <a:effectLst/>
                <a:latin typeface="+mn-lt"/>
                <a:ea typeface="+mn-ea"/>
                <a:cs typeface="+mn-cs"/>
              </a:rPr>
              <a:t>: </a:t>
            </a:r>
          </a:p>
          <a:p>
            <a:pPr marL="228600" indent="-228600">
              <a:buFont typeface="+mj-lt"/>
              <a:buAutoNum type="arabicPeriod"/>
            </a:pPr>
            <a:r>
              <a:rPr lang="en-US" sz="1200" kern="1200" dirty="0">
                <a:solidFill>
                  <a:schemeClr val="tx1"/>
                </a:solidFill>
                <a:effectLst/>
                <a:latin typeface="+mn-lt"/>
                <a:ea typeface="+mn-ea"/>
                <a:cs typeface="+mn-cs"/>
              </a:rPr>
              <a:t>End-users (like OpenAI and Anthropic) sign multi-year, guaranteed compute contracts. </a:t>
            </a:r>
          </a:p>
          <a:p>
            <a:pPr marL="228600" indent="-228600">
              <a:buFont typeface="+mj-lt"/>
              <a:buAutoNum type="arabicPeriod"/>
            </a:pP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(Amazon AWS, Microsoft Azure) raise debt capital to build physical data centers backed directly by those locked-in contracts. </a:t>
            </a:r>
          </a:p>
          <a:p>
            <a:pPr marL="228600" indent="-228600">
              <a:buFont typeface="+mj-lt"/>
              <a:buAutoNum type="arabicPeriod"/>
            </a:pPr>
            <a:r>
              <a:rPr lang="en-US" sz="1200" kern="1200" dirty="0">
                <a:solidFill>
                  <a:schemeClr val="tx1"/>
                </a:solidFill>
                <a:effectLst/>
                <a:latin typeface="+mn-lt"/>
                <a:ea typeface="+mn-ea"/>
                <a:cs typeface="+mn-cs"/>
              </a:rPr>
              <a:t>Once online, these assets convert infrastructure spend directly into high-margin, compounding recurring revenues. </a:t>
            </a:r>
          </a:p>
          <a:p>
            <a:r>
              <a:rPr lang="en-US" sz="1200" kern="1200" dirty="0">
                <a:solidFill>
                  <a:schemeClr val="tx1"/>
                </a:solidFill>
                <a:effectLst/>
                <a:latin typeface="+mn-lt"/>
                <a:ea typeface="+mn-ea"/>
                <a:cs typeface="+mn-cs"/>
              </a:rPr>
              <a:t>Retail investors demand immediate cash preservation.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deploy capital because this represents one of the greatest infrastructure compounding opportunities in modern corporate history. Furthermore, data center equipment orders are modular—if demand slows, capex can be adjusted quickly.</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Contractually secured demand backing data center expansion.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Long-term economic compounding vs. quarterly market myopia.</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7</a:t>
            </a:fld>
            <a:endParaRPr lang="en-US"/>
          </a:p>
        </p:txBody>
      </p:sp>
    </p:spTree>
    <p:extLst>
      <p:ext uri="{BB962C8B-B14F-4D97-AF65-F5344CB8AC3E}">
        <p14:creationId xmlns:p14="http://schemas.microsoft.com/office/powerpoint/2010/main" val="206092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on Slide 8, we see the real-world validation of the AI cycle. Highlighted on screen is a excerpt from </a:t>
            </a:r>
            <a:r>
              <a:rPr lang="en-US" sz="1200" kern="1200" dirty="0" err="1">
                <a:solidFill>
                  <a:schemeClr val="tx1"/>
                </a:solidFill>
                <a:effectLst/>
                <a:latin typeface="+mn-lt"/>
                <a:ea typeface="+mn-ea"/>
                <a:cs typeface="+mn-cs"/>
              </a:rPr>
              <a:t>Booking.com's</a:t>
            </a:r>
            <a:r>
              <a:rPr lang="en-US" sz="1200" kern="1200" dirty="0">
                <a:solidFill>
                  <a:schemeClr val="tx1"/>
                </a:solidFill>
                <a:effectLst/>
                <a:latin typeface="+mn-lt"/>
                <a:ea typeface="+mn-ea"/>
                <a:cs typeface="+mn-cs"/>
              </a:rPr>
              <a:t> earnings report showing customer service costs declining meaningfully due to internal AI tooling deployments. </a:t>
            </a:r>
          </a:p>
          <a:p>
            <a:r>
              <a:rPr lang="en-US" sz="1200" kern="1200" dirty="0">
                <a:solidFill>
                  <a:schemeClr val="tx1"/>
                </a:solidFill>
                <a:effectLst/>
                <a:latin typeface="+mn-lt"/>
                <a:ea typeface="+mn-ea"/>
                <a:cs typeface="+mn-cs"/>
              </a:rPr>
              <a:t>We are moving through three distinct phases: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(Passed):</a:t>
            </a:r>
            <a:r>
              <a:rPr lang="en-US" sz="1200" kern="1200" dirty="0">
                <a:solidFill>
                  <a:schemeClr val="tx1"/>
                </a:solidFill>
                <a:effectLst/>
                <a:latin typeface="+mn-lt"/>
                <a:ea typeface="+mn-ea"/>
                <a:cs typeface="+mn-cs"/>
              </a:rPr>
              <a:t> Infrastructure buildup—buying chips, servers, and power grid capacity (Nvidia,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(Current Phase):</a:t>
            </a:r>
            <a:r>
              <a:rPr lang="en-US" sz="1200" kern="1200" dirty="0">
                <a:solidFill>
                  <a:schemeClr val="tx1"/>
                </a:solidFill>
                <a:effectLst/>
                <a:latin typeface="+mn-lt"/>
                <a:ea typeface="+mn-ea"/>
                <a:cs typeface="+mn-cs"/>
              </a:rPr>
              <a:t> Market skepticism surrounding immediate software ROI.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3 (Imminent Trigger):</a:t>
            </a:r>
            <a:r>
              <a:rPr lang="en-US" sz="1200" kern="1200" dirty="0">
                <a:solidFill>
                  <a:schemeClr val="tx1"/>
                </a:solidFill>
                <a:effectLst/>
                <a:latin typeface="+mn-lt"/>
                <a:ea typeface="+mn-ea"/>
                <a:cs typeface="+mn-cs"/>
              </a:rPr>
              <a:t> Widespread S&amp;P 500 margin expansion. </a:t>
            </a:r>
          </a:p>
          <a:p>
            <a:r>
              <a:rPr lang="en-US" sz="1200" kern="1200" dirty="0">
                <a:solidFill>
                  <a:schemeClr val="tx1"/>
                </a:solidFill>
                <a:effectLst/>
                <a:latin typeface="+mn-lt"/>
                <a:ea typeface="+mn-ea"/>
                <a:cs typeface="+mn-cs"/>
              </a:rPr>
              <a:t>When enterprise earnings show revenue expansion alongside flat or declining headcount, the market will re-rate equities sharply upward. Early earnings call metrics—like </a:t>
            </a:r>
            <a:r>
              <a:rPr lang="en-US" sz="1200" kern="1200" dirty="0" err="1">
                <a:solidFill>
                  <a:schemeClr val="tx1"/>
                </a:solidFill>
                <a:effectLst/>
                <a:latin typeface="+mn-lt"/>
                <a:ea typeface="+mn-ea"/>
                <a:cs typeface="+mn-cs"/>
              </a:rPr>
              <a:t>Booking.com's</a:t>
            </a:r>
            <a:r>
              <a:rPr lang="en-US" sz="1200" kern="1200" dirty="0">
                <a:solidFill>
                  <a:schemeClr val="tx1"/>
                </a:solidFill>
                <a:effectLst/>
                <a:latin typeface="+mn-lt"/>
                <a:ea typeface="+mn-ea"/>
                <a:cs typeface="+mn-cs"/>
              </a:rPr>
              <a:t> customer service cost reductions—are the canary in the coal mine for Phase 3.</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Transition from infrastructure build-out to corporate margin expansion.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Operating leverage: growing top-line revenue without growing headcount.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8</a:t>
            </a:fld>
            <a:endParaRPr lang="en-US"/>
          </a:p>
        </p:txBody>
      </p:sp>
    </p:spTree>
    <p:extLst>
      <p:ext uri="{BB962C8B-B14F-4D97-AF65-F5344CB8AC3E}">
        <p14:creationId xmlns:p14="http://schemas.microsoft.com/office/powerpoint/2010/main" val="37217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presents a core conceptual framework: </a:t>
            </a:r>
            <a:r>
              <a:rPr lang="en-US" sz="1200" b="1" kern="1200" dirty="0">
                <a:solidFill>
                  <a:schemeClr val="tx1"/>
                </a:solidFill>
                <a:effectLst/>
                <a:latin typeface="+mn-lt"/>
                <a:ea typeface="+mn-ea"/>
                <a:cs typeface="+mn-cs"/>
              </a:rPr>
              <a:t>The Coffee Cup Metaphor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 the left, you see an engineered bio-polymer coffee cup with optimized ergonomics. On the right, you see global logistics networks, automated distribution, and last-mile infrastructure. </a:t>
            </a:r>
          </a:p>
          <a:p>
            <a:r>
              <a:rPr lang="en-US" sz="1200" kern="1200" dirty="0">
                <a:solidFill>
                  <a:schemeClr val="tx1"/>
                </a:solidFill>
                <a:effectLst/>
                <a:latin typeface="+mn-lt"/>
                <a:ea typeface="+mn-ea"/>
                <a:cs typeface="+mn-cs"/>
              </a:rPr>
              <a:t>If AI democratizes intelligence—making software engineering, design, and analysis virtually free and accessible to everyone—then designing the 'perfect' cup is no longer a competitive advantage. Anyone can generate the blueprint instantly. </a:t>
            </a:r>
          </a:p>
          <a:p>
            <a:r>
              <a:rPr lang="en-US" sz="1200" kern="1200" dirty="0">
                <a:solidFill>
                  <a:schemeClr val="tx1"/>
                </a:solidFill>
                <a:effectLst/>
                <a:latin typeface="+mn-lt"/>
                <a:ea typeface="+mn-ea"/>
                <a:cs typeface="+mn-cs"/>
              </a:rPr>
              <a:t>The ultimate winner is the company that owns the physical infrastructure required to manufacture, store, and deliver billions of cups to customers daily. As intelligence trends toward zero cost, competitive moats shift away from pure digital IP and back into physical assets and distribution networks." </a:t>
            </a: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Commoditization of digital design and code.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rise of physical infrastructure as the defensible moat in an AI world.</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9</a:t>
            </a:fld>
            <a:endParaRPr lang="en-US"/>
          </a:p>
        </p:txBody>
      </p:sp>
    </p:spTree>
    <p:extLst>
      <p:ext uri="{BB962C8B-B14F-4D97-AF65-F5344CB8AC3E}">
        <p14:creationId xmlns:p14="http://schemas.microsoft.com/office/powerpoint/2010/main" val="624514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Following the Coffee Cup metaphor, Slide 10 summarizes the paradigm shift in corporate moats: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Pre-AI Era:</a:t>
            </a:r>
            <a:r>
              <a:rPr lang="en-US" sz="1200" kern="1200" dirty="0">
                <a:solidFill>
                  <a:schemeClr val="tx1"/>
                </a:solidFill>
                <a:effectLst/>
                <a:latin typeface="+mn-lt"/>
                <a:ea typeface="+mn-ea"/>
                <a:cs typeface="+mn-cs"/>
              </a:rPr>
              <a:t> Primary advantage belonged to proprietary software, smart code, and pure digital IP. Growth was constrained by developer hiring costs. The ultimate winners were agile SaaS startups disrupting traditional incumbents.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Post-AI Era:</a:t>
            </a:r>
            <a:r>
              <a:rPr lang="en-US" sz="1200" kern="1200" dirty="0">
                <a:solidFill>
                  <a:schemeClr val="tx1"/>
                </a:solidFill>
                <a:effectLst/>
                <a:latin typeface="+mn-lt"/>
                <a:ea typeface="+mn-ea"/>
                <a:cs typeface="+mn-cs"/>
              </a:rPr>
              <a:t> Primary advantage shifts to physical logistics, existing enterprise distribution, and scale. Growth is constrained by physical-world bottlenecks like electricity grid access, supply chains, and specialized hardware. </a:t>
            </a:r>
          </a:p>
          <a:p>
            <a:r>
              <a:rPr lang="en-US" sz="1200" kern="1200" dirty="0">
                <a:solidFill>
                  <a:schemeClr val="tx1"/>
                </a:solidFill>
                <a:effectLst/>
                <a:latin typeface="+mn-lt"/>
                <a:ea typeface="+mn-ea"/>
                <a:cs typeface="+mn-cs"/>
              </a:rPr>
              <a:t>The ultimate winners in this phase are entrenched incumbents—like Amazon—that can integrate free internal AI capabilities to eliminate overhead while leveraging their unmatched physical distribution networks.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Re-valuation of traditional physical moat assets vs. standalone software platforms.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Why large legacy platforms with physical integration outperform pure-play software startups.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10</a:t>
            </a:fld>
            <a:endParaRPr lang="en-US"/>
          </a:p>
        </p:txBody>
      </p:sp>
    </p:spTree>
    <p:extLst>
      <p:ext uri="{BB962C8B-B14F-4D97-AF65-F5344CB8AC3E}">
        <p14:creationId xmlns:p14="http://schemas.microsoft.com/office/powerpoint/2010/main" val="2426195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takes this transition a step further by bridging corporate strategy with personal career defensibility. </a:t>
            </a:r>
          </a:p>
          <a:p>
            <a:r>
              <a:rPr lang="en-US" sz="1200" kern="1200" dirty="0">
                <a:solidFill>
                  <a:schemeClr val="tx1"/>
                </a:solidFill>
                <a:effectLst/>
                <a:latin typeface="+mn-lt"/>
                <a:ea typeface="+mn-ea"/>
                <a:cs typeface="+mn-cs"/>
              </a:rPr>
              <a:t>When intelligence approaches zero cost, two moats remain standing: </a:t>
            </a:r>
          </a:p>
          <a:p>
            <a:pPr marL="228600" indent="-228600">
              <a:buFont typeface="+mj-lt"/>
              <a:buAutoNum type="arabicPeriod"/>
            </a:pPr>
            <a:r>
              <a:rPr lang="en-US" sz="1200" b="1" kern="1200" dirty="0">
                <a:solidFill>
                  <a:schemeClr val="tx1"/>
                </a:solidFill>
                <a:effectLst/>
                <a:latin typeface="+mn-lt"/>
                <a:ea typeface="+mn-ea"/>
                <a:cs typeface="+mn-cs"/>
              </a:rPr>
              <a:t>Corporate Moats:</a:t>
            </a:r>
            <a:r>
              <a:rPr lang="en-US" sz="1200" kern="1200" dirty="0">
                <a:solidFill>
                  <a:schemeClr val="tx1"/>
                </a:solidFill>
                <a:effectLst/>
                <a:latin typeface="+mn-lt"/>
                <a:ea typeface="+mn-ea"/>
                <a:cs typeface="+mn-cs"/>
              </a:rPr>
              <a:t> Physical distribution, supply chains, and logistics infrastructure. </a:t>
            </a:r>
          </a:p>
          <a:p>
            <a:pPr marL="228600" indent="-228600">
              <a:buFont typeface="+mj-lt"/>
              <a:buAutoNum type="arabicPeriod"/>
            </a:pPr>
            <a:r>
              <a:rPr lang="en-US" sz="1200" b="1" kern="1200" dirty="0">
                <a:solidFill>
                  <a:schemeClr val="tx1"/>
                </a:solidFill>
                <a:effectLst/>
                <a:latin typeface="+mn-lt"/>
                <a:ea typeface="+mn-ea"/>
                <a:cs typeface="+mn-cs"/>
              </a:rPr>
              <a:t>Human Moats:</a:t>
            </a:r>
            <a:r>
              <a:rPr lang="en-US" sz="1200" kern="1200" dirty="0">
                <a:solidFill>
                  <a:schemeClr val="tx1"/>
                </a:solidFill>
                <a:effectLst/>
                <a:latin typeface="+mn-lt"/>
                <a:ea typeface="+mn-ea"/>
                <a:cs typeface="+mn-cs"/>
              </a:rPr>
              <a:t> Authentic relationships, charisma, trust, and creative vision. </a:t>
            </a:r>
          </a:p>
          <a:p>
            <a:r>
              <a:rPr lang="en-US" sz="1200" kern="1200" dirty="0">
                <a:solidFill>
                  <a:schemeClr val="tx1"/>
                </a:solidFill>
                <a:effectLst/>
                <a:latin typeface="+mn-lt"/>
                <a:ea typeface="+mn-ea"/>
                <a:cs typeface="+mn-cs"/>
              </a:rPr>
              <a:t>As routine cognitive labor and technical tasks are automated, 'being smart' becomes commoditized. Value flows toward those who control real-world physical assets at the enterprise level, and those who build genuine human trust at the interpersonal level.</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Macro economic shifts mirroring individual career strategy.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Emotional intelligence and relationship-building as defensible assets.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11</a:t>
            </a:fld>
            <a:endParaRPr lang="en-US"/>
          </a:p>
        </p:txBody>
      </p:sp>
    </p:spTree>
    <p:extLst>
      <p:ext uri="{BB962C8B-B14F-4D97-AF65-F5344CB8AC3E}">
        <p14:creationId xmlns:p14="http://schemas.microsoft.com/office/powerpoint/2010/main" val="183313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lays out the actionable personal playbook in an AI-dominated economy. </a:t>
            </a:r>
          </a:p>
          <a:p>
            <a:r>
              <a:rPr lang="en-US" sz="1200" kern="1200" dirty="0">
                <a:solidFill>
                  <a:schemeClr val="tx1"/>
                </a:solidFill>
                <a:effectLst/>
                <a:latin typeface="+mn-lt"/>
                <a:ea typeface="+mn-ea"/>
                <a:cs typeface="+mn-cs"/>
              </a:rPr>
              <a:t>Look at the diagram: Knowledge work and purely digital output are being commoditized. The highest-return asset class over the next decade isn't another technical certification—it is offline, in-person communities like local athletic clubs, curated masterminds, and professional travel networks. </a:t>
            </a:r>
          </a:p>
          <a:p>
            <a:r>
              <a:rPr lang="en-US" sz="1200" kern="1200" dirty="0">
                <a:solidFill>
                  <a:schemeClr val="tx1"/>
                </a:solidFill>
                <a:effectLst/>
                <a:latin typeface="+mn-lt"/>
                <a:ea typeface="+mn-ea"/>
                <a:cs typeface="+mn-cs"/>
              </a:rPr>
              <a:t>The strategy is straightforward: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Leverage AI tooling to execute technical, digital tasks in a fraction of the time.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Reclaim that freed-up time to cultivate deep, non-displaceable offline relationships. </a:t>
            </a:r>
          </a:p>
          <a:p>
            <a:r>
              <a:rPr lang="en-US" sz="1200" kern="1200" dirty="0">
                <a:solidFill>
                  <a:schemeClr val="tx1"/>
                </a:solidFill>
                <a:effectLst/>
                <a:latin typeface="+mn-lt"/>
                <a:ea typeface="+mn-ea"/>
                <a:cs typeface="+mn-cs"/>
              </a:rPr>
              <a:t>In a world flooded with AI-generated digital noise, trust, access, and face-to-face relationships represent the ultimate un-copyable alpha.</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Using AI tools for leverage to buy back personal time.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Building real-world social capital as a hedge against automated labor devaluation. </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12</a:t>
            </a:fld>
            <a:endParaRPr lang="en-US"/>
          </a:p>
        </p:txBody>
      </p:sp>
    </p:spTree>
    <p:extLst>
      <p:ext uri="{BB962C8B-B14F-4D97-AF65-F5344CB8AC3E}">
        <p14:creationId xmlns:p14="http://schemas.microsoft.com/office/powerpoint/2010/main" val="3147168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bring everything together, Slide 13 provides an executive summary of the high-conviction philosophy and the road map ahead. </a:t>
            </a:r>
          </a:p>
          <a:p>
            <a:r>
              <a:rPr lang="en-US" sz="1200" b="1" kern="1200" dirty="0">
                <a:solidFill>
                  <a:schemeClr val="tx1"/>
                </a:solidFill>
                <a:effectLst/>
                <a:latin typeface="+mn-lt"/>
                <a:ea typeface="+mn-ea"/>
                <a:cs typeface="+mn-cs"/>
              </a:rPr>
              <a:t>Core Principles: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80/20 Rule:</a:t>
            </a:r>
            <a:r>
              <a:rPr lang="en-US" sz="1200" kern="1200" dirty="0">
                <a:solidFill>
                  <a:schemeClr val="tx1"/>
                </a:solidFill>
                <a:effectLst/>
                <a:latin typeface="+mn-lt"/>
                <a:ea typeface="+mn-ea"/>
                <a:cs typeface="+mn-cs"/>
              </a:rPr>
              <a:t> Target trades with an 80% confidence edge while accepting the 20% tail risk.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Ground Truth:</a:t>
            </a:r>
            <a:r>
              <a:rPr lang="en-US" sz="1200" kern="1200" dirty="0">
                <a:solidFill>
                  <a:schemeClr val="tx1"/>
                </a:solidFill>
                <a:effectLst/>
                <a:latin typeface="+mn-lt"/>
                <a:ea typeface="+mn-ea"/>
                <a:cs typeface="+mn-cs"/>
              </a:rPr>
              <a:t> Filter out media noise by researching end-user reality directly.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'Sell Half' Hack:</a:t>
            </a:r>
            <a:r>
              <a:rPr lang="en-US" sz="1200" kern="1200" dirty="0">
                <a:solidFill>
                  <a:schemeClr val="tx1"/>
                </a:solidFill>
                <a:effectLst/>
                <a:latin typeface="+mn-lt"/>
                <a:ea typeface="+mn-ea"/>
                <a:cs typeface="+mn-cs"/>
              </a:rPr>
              <a:t> If market volatility clouds your judgment, sell half the position immediately to regain mental clarity.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Distribution &amp; Human Moats:</a:t>
            </a:r>
            <a:r>
              <a:rPr lang="en-US" sz="1200" kern="1200" dirty="0">
                <a:solidFill>
                  <a:schemeClr val="tx1"/>
                </a:solidFill>
                <a:effectLst/>
                <a:latin typeface="+mn-lt"/>
                <a:ea typeface="+mn-ea"/>
                <a:cs typeface="+mn-cs"/>
              </a:rPr>
              <a:t> Position capital in companies with physical moats and invest personal time in relationship assets. </a:t>
            </a:r>
          </a:p>
          <a:p>
            <a:r>
              <a:rPr lang="en-US" sz="1200" b="1" kern="1200" dirty="0">
                <a:solidFill>
                  <a:schemeClr val="tx1"/>
                </a:solidFill>
                <a:effectLst/>
                <a:latin typeface="+mn-lt"/>
                <a:ea typeface="+mn-ea"/>
                <a:cs typeface="+mn-cs"/>
              </a:rPr>
              <a:t>AI Investment Progression Timeline: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Current – 2027 (Infrastructure):</a:t>
            </a:r>
            <a:r>
              <a:rPr lang="en-US" sz="1200" kern="1200" dirty="0">
                <a:solidFill>
                  <a:schemeClr val="tx1"/>
                </a:solidFill>
                <a:effectLst/>
                <a:latin typeface="+mn-lt"/>
                <a:ea typeface="+mn-ea"/>
                <a:cs typeface="+mn-cs"/>
              </a:rPr>
              <a:t> Data centers, compute chips, and foundational build-out.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2028 – 2030 (Power Grids):</a:t>
            </a:r>
            <a:r>
              <a:rPr lang="en-US" sz="1200" kern="1200" dirty="0">
                <a:solidFill>
                  <a:schemeClr val="tx1"/>
                </a:solidFill>
                <a:effectLst/>
                <a:latin typeface="+mn-lt"/>
                <a:ea typeface="+mn-ea"/>
                <a:cs typeface="+mn-cs"/>
              </a:rPr>
              <a:t> Nuclear, clean energy, and power generation required to keep data centers running.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2030+ (Physical AI &amp; Robotics):</a:t>
            </a:r>
            <a:r>
              <a:rPr lang="en-US" sz="1200" kern="1200" dirty="0">
                <a:solidFill>
                  <a:schemeClr val="tx1"/>
                </a:solidFill>
                <a:effectLst/>
                <a:latin typeface="+mn-lt"/>
                <a:ea typeface="+mn-ea"/>
                <a:cs typeface="+mn-cs"/>
              </a:rPr>
              <a:t> Bringing AI out of the screen and into physical hardware, logistics automation, and robotics. </a:t>
            </a:r>
          </a:p>
          <a:p>
            <a:r>
              <a:rPr lang="en-US" sz="1200" kern="1200" dirty="0">
                <a:solidFill>
                  <a:schemeClr val="tx1"/>
                </a:solidFill>
                <a:effectLst/>
                <a:latin typeface="+mn-lt"/>
                <a:ea typeface="+mn-ea"/>
                <a:cs typeface="+mn-cs"/>
              </a:rPr>
              <a:t>Thank you, and I am happy to open the floor to Q&amp;A.</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Key Points to Emphasize: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Synthesizing risk management, fundamental research, and long-term macro trends.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multi-year sequence of the AI build-out from software to power to robotics.</a:t>
            </a:r>
          </a:p>
          <a:p>
            <a:endParaRPr lang="en-US" dirty="0"/>
          </a:p>
        </p:txBody>
      </p:sp>
      <p:sp>
        <p:nvSpPr>
          <p:cNvPr id="4" name="Slide Number Placeholder 3"/>
          <p:cNvSpPr>
            <a:spLocks noGrp="1"/>
          </p:cNvSpPr>
          <p:nvPr>
            <p:ph type="sldNum" sz="quarter" idx="5"/>
          </p:nvPr>
        </p:nvSpPr>
        <p:spPr/>
        <p:txBody>
          <a:bodyPr/>
          <a:lstStyle/>
          <a:p>
            <a:fld id="{064483EC-83B8-443E-9D9B-5E69D2CED67E}" type="slidenum">
              <a:rPr lang="en-US" smtClean="0"/>
              <a:t>13</a:t>
            </a:fld>
            <a:endParaRPr lang="en-US"/>
          </a:p>
        </p:txBody>
      </p:sp>
    </p:spTree>
    <p:extLst>
      <p:ext uri="{BB962C8B-B14F-4D97-AF65-F5344CB8AC3E}">
        <p14:creationId xmlns:p14="http://schemas.microsoft.com/office/powerpoint/2010/main" val="4015643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2A9ED6-4C52-0B8E-4A24-CE6E635C689E}"/>
              </a:ext>
            </a:extLst>
          </p:cNvPr>
          <p:cNvSpPr>
            <a:spLocks noGrp="1"/>
          </p:cNvSpPr>
          <p:nvPr>
            <p:ph type="dt" sz="half" idx="10"/>
          </p:nvPr>
        </p:nvSpPr>
        <p:spPr/>
        <p:txBody>
          <a:bodyPr/>
          <a:lstStyle/>
          <a:p>
            <a:fld id="{09145E57-0B36-4915-93DC-25DEEFFF40CF}" type="datetimeFigureOut">
              <a:rPr lang="en-US" smtClean="0"/>
              <a:t>10/19/2026</a:t>
            </a:fld>
            <a:endParaRPr lang="en-US"/>
          </a:p>
        </p:txBody>
      </p:sp>
      <p:sp>
        <p:nvSpPr>
          <p:cNvPr id="3" name="Footer Placeholder 2">
            <a:extLst>
              <a:ext uri="{FF2B5EF4-FFF2-40B4-BE49-F238E27FC236}">
                <a16:creationId xmlns:a16="http://schemas.microsoft.com/office/drawing/2014/main" id="{309182AB-D1E2-6C40-0F4B-00BE9DBA41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91B0C5-B844-89B9-DA58-25D9DA5F8350}"/>
              </a:ext>
            </a:extLst>
          </p:cNvPr>
          <p:cNvSpPr>
            <a:spLocks noGrp="1"/>
          </p:cNvSpPr>
          <p:nvPr>
            <p:ph type="sldNum" sz="quarter" idx="12"/>
          </p:nvPr>
        </p:nvSpPr>
        <p:spPr/>
        <p:txBody>
          <a:bodyPr/>
          <a:lstStyle/>
          <a:p>
            <a:fld id="{A75851A4-4A75-4787-A121-BFBBFE439E3C}" type="slidenum">
              <a:rPr lang="en-US" smtClean="0"/>
              <a:t>‹#›</a:t>
            </a:fld>
            <a:endParaRPr lang="en-US"/>
          </a:p>
        </p:txBody>
      </p:sp>
    </p:spTree>
    <p:extLst>
      <p:ext uri="{BB962C8B-B14F-4D97-AF65-F5344CB8AC3E}">
        <p14:creationId xmlns:p14="http://schemas.microsoft.com/office/powerpoint/2010/main" val="79810155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84487-6CF9-C487-6C9B-8701424A3D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D182FF-3E98-5E58-2A62-88E7D0A464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433646-C602-5FAA-101A-FB683CDBF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145E57-0B36-4915-93DC-25DEEFFF40CF}" type="datetimeFigureOut">
              <a:rPr lang="en-US" smtClean="0"/>
              <a:t>10/19/2026</a:t>
            </a:fld>
            <a:endParaRPr lang="en-US"/>
          </a:p>
        </p:txBody>
      </p:sp>
      <p:sp>
        <p:nvSpPr>
          <p:cNvPr id="5" name="Footer Placeholder 4">
            <a:extLst>
              <a:ext uri="{FF2B5EF4-FFF2-40B4-BE49-F238E27FC236}">
                <a16:creationId xmlns:a16="http://schemas.microsoft.com/office/drawing/2014/main" id="{02E1CBA0-9158-B31D-ADFF-A6879FCFD0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C541CE-90E2-D0B9-66CC-B2E74EE91E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5851A4-4A75-4787-A121-BFBBFE439E3C}" type="slidenum">
              <a:rPr lang="en-US" smtClean="0"/>
              <a:t>‹#›</a:t>
            </a:fld>
            <a:endParaRPr lang="en-US"/>
          </a:p>
        </p:txBody>
      </p:sp>
    </p:spTree>
    <p:extLst>
      <p:ext uri="{BB962C8B-B14F-4D97-AF65-F5344CB8AC3E}">
        <p14:creationId xmlns:p14="http://schemas.microsoft.com/office/powerpoint/2010/main" val="225324919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B3D304C-F2A8-7CC1-47F6-623602E8EE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5B20E8-5FE1-61FF-4B72-3DCDBD79E6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2033F2-E930-A0C9-B5FA-11D827F2E3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26A14B-07DD-E98B-E87F-F0B05ED0B86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727F2E-DCB3-4187-4F35-329B333C939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22EBF1-48AC-2FBD-C1E0-B88695BAFA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886855-914A-93A9-7EB0-1DD97B1D4C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2E8BF2-83C1-B0AB-AB58-E26162B1B6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389597-9A06-859E-1B90-0BD122FC80C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40A906-4628-95A1-CE73-C777351542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0F1BF8-C07F-48B5-EE03-5369A3D9628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EDFFF4-81FF-2F02-1C5F-F838D053462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568316-B60A-9150-9757-DD25D19F4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4253380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2282</Words>
  <Application>Microsoft Office PowerPoint</Application>
  <PresentationFormat>寬螢幕</PresentationFormat>
  <Paragraphs>152</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2026-08-11T14:46:46Z</dcterms:created>
  <dcterms:modified xsi:type="dcterms:W3CDTF">2026-10-19T15:35:35Z</dcterms:modified>
</cp:coreProperties>
</file>