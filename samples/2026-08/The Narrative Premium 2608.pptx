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AB5149-289F-450F-A6AD-91F4CAFD5A24}" v="17" dt="2026-08-31T07:53:04.7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02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31T08:03:45.044" v="161" actId="22"/>
      <pc:docMkLst>
        <pc:docMk/>
      </pc:docMkLst>
      <pc:sldChg chg="addSp delSp modSp mod modNotes modNotesTx">
        <pc:chgData name="Lai, Wilson" userId="2840974a-0d84-4886-90a9-9a3ed79f3a48" providerId="ADAL" clId="{9F23B798-9E84-4552-BA63-E776E805C424}" dt="2026-08-31T08:03:15.438" v="159" actId="166"/>
        <pc:sldMkLst>
          <pc:docMk/>
          <pc:sldMk cId="0" sldId="257"/>
        </pc:sldMkLst>
        <pc:picChg chg="del">
          <ac:chgData name="Lai, Wilson" userId="2840974a-0d84-4886-90a9-9a3ed79f3a48" providerId="ADAL" clId="{9F23B798-9E84-4552-BA63-E776E805C424}" dt="2026-08-31T07:10:52.109" v="0" actId="21"/>
          <ac:picMkLst>
            <pc:docMk/>
            <pc:sldMk cId="0" sldId="257"/>
            <ac:picMk id="2" creationId="{00000000-0000-0000-0000-000000000000}"/>
          </ac:picMkLst>
        </pc:picChg>
        <pc:picChg chg="add ord">
          <ac:chgData name="Lai, Wilson" userId="2840974a-0d84-4886-90a9-9a3ed79f3a48" providerId="ADAL" clId="{9F23B798-9E84-4552-BA63-E776E805C424}" dt="2026-08-31T08:03:15.438" v="159" actId="166"/>
          <ac:picMkLst>
            <pc:docMk/>
            <pc:sldMk cId="0" sldId="257"/>
            <ac:picMk id="7" creationId="{F445D266-935E-D94A-17E1-696885F0323C}"/>
          </ac:picMkLst>
        </pc:picChg>
      </pc:sldChg>
      <pc:sldChg chg="addSp delSp modSp mod modNotes modNotesTx">
        <pc:chgData name="Lai, Wilson" userId="2840974a-0d84-4886-90a9-9a3ed79f3a48" providerId="ADAL" clId="{9F23B798-9E84-4552-BA63-E776E805C424}" dt="2026-08-31T07:53:45.761" v="49" actId="6549"/>
        <pc:sldMkLst>
          <pc:docMk/>
          <pc:sldMk cId="0" sldId="258"/>
        </pc:sldMkLst>
        <pc:spChg chg="add del">
          <ac:chgData name="Lai, Wilson" userId="2840974a-0d84-4886-90a9-9a3ed79f3a48" providerId="ADAL" clId="{9F23B798-9E84-4552-BA63-E776E805C424}" dt="2026-08-31T07:50:31.164" v="35" actId="22"/>
          <ac:spMkLst>
            <pc:docMk/>
            <pc:sldMk cId="0" sldId="258"/>
            <ac:spMk id="3" creationId="{1A4ACF9A-B96A-FA4E-B41F-9480A23AF7FD}"/>
          </ac:spMkLst>
        </pc:spChg>
        <pc:picChg chg="del">
          <ac:chgData name="Lai, Wilson" userId="2840974a-0d84-4886-90a9-9a3ed79f3a48" providerId="ADAL" clId="{9F23B798-9E84-4552-BA63-E776E805C424}" dt="2026-08-31T07:11:19.500" v="2" actId="21"/>
          <ac:picMkLst>
            <pc:docMk/>
            <pc:sldMk cId="0" sldId="258"/>
            <ac:picMk id="2" creationId="{00000000-0000-0000-0000-000000000000}"/>
          </ac:picMkLst>
        </pc:picChg>
        <pc:picChg chg="add">
          <ac:chgData name="Lai, Wilson" userId="2840974a-0d84-4886-90a9-9a3ed79f3a48" providerId="ADAL" clId="{9F23B798-9E84-4552-BA63-E776E805C424}" dt="2026-08-31T07:11:29.085" v="3" actId="22"/>
          <ac:picMkLst>
            <pc:docMk/>
            <pc:sldMk cId="0" sldId="258"/>
            <ac:picMk id="4" creationId="{4E7F118A-7163-6B86-A4E6-5BD53E762F3E}"/>
          </ac:picMkLst>
        </pc:picChg>
      </pc:sldChg>
      <pc:sldChg chg="addSp delSp mod modNotes modNotesTx">
        <pc:chgData name="Lai, Wilson" userId="2840974a-0d84-4886-90a9-9a3ed79f3a48" providerId="ADAL" clId="{9F23B798-9E84-4552-BA63-E776E805C424}" dt="2026-08-31T07:54:41.095" v="55" actId="6549"/>
        <pc:sldMkLst>
          <pc:docMk/>
          <pc:sldMk cId="0" sldId="259"/>
        </pc:sldMkLst>
        <pc:picChg chg="del">
          <ac:chgData name="Lai, Wilson" userId="2840974a-0d84-4886-90a9-9a3ed79f3a48" providerId="ADAL" clId="{9F23B798-9E84-4552-BA63-E776E805C424}" dt="2026-08-31T07:11:31.124" v="4" actId="21"/>
          <ac:picMkLst>
            <pc:docMk/>
            <pc:sldMk cId="0" sldId="259"/>
            <ac:picMk id="2" creationId="{00000000-0000-0000-0000-000000000000}"/>
          </ac:picMkLst>
        </pc:picChg>
        <pc:picChg chg="add">
          <ac:chgData name="Lai, Wilson" userId="2840974a-0d84-4886-90a9-9a3ed79f3a48" providerId="ADAL" clId="{9F23B798-9E84-4552-BA63-E776E805C424}" dt="2026-08-31T07:11:48.677" v="5" actId="22"/>
          <ac:picMkLst>
            <pc:docMk/>
            <pc:sldMk cId="0" sldId="259"/>
            <ac:picMk id="4" creationId="{BFC317DE-ABB5-1668-57D4-A77C57D78438}"/>
          </ac:picMkLst>
        </pc:picChg>
      </pc:sldChg>
      <pc:sldChg chg="addSp delSp mod modNotes modNotesTx">
        <pc:chgData name="Lai, Wilson" userId="2840974a-0d84-4886-90a9-9a3ed79f3a48" providerId="ADAL" clId="{9F23B798-9E84-4552-BA63-E776E805C424}" dt="2026-08-31T07:55:37.686" v="88" actId="6549"/>
        <pc:sldMkLst>
          <pc:docMk/>
          <pc:sldMk cId="0" sldId="260"/>
        </pc:sldMkLst>
        <pc:picChg chg="del">
          <ac:chgData name="Lai, Wilson" userId="2840974a-0d84-4886-90a9-9a3ed79f3a48" providerId="ADAL" clId="{9F23B798-9E84-4552-BA63-E776E805C424}" dt="2026-08-31T07:11:53.824" v="6" actId="21"/>
          <ac:picMkLst>
            <pc:docMk/>
            <pc:sldMk cId="0" sldId="260"/>
            <ac:picMk id="2" creationId="{00000000-0000-0000-0000-000000000000}"/>
          </ac:picMkLst>
        </pc:picChg>
        <pc:picChg chg="add">
          <ac:chgData name="Lai, Wilson" userId="2840974a-0d84-4886-90a9-9a3ed79f3a48" providerId="ADAL" clId="{9F23B798-9E84-4552-BA63-E776E805C424}" dt="2026-08-31T07:12:02.396" v="7" actId="22"/>
          <ac:picMkLst>
            <pc:docMk/>
            <pc:sldMk cId="0" sldId="260"/>
            <ac:picMk id="4" creationId="{4C711853-3E01-05BF-CA30-D73791EED1D0}"/>
          </ac:picMkLst>
        </pc:picChg>
      </pc:sldChg>
      <pc:sldChg chg="addSp delSp mod modNotes modNotesTx">
        <pc:chgData name="Lai, Wilson" userId="2840974a-0d84-4886-90a9-9a3ed79f3a48" providerId="ADAL" clId="{9F23B798-9E84-4552-BA63-E776E805C424}" dt="2026-08-31T08:03:45.044" v="161" actId="22"/>
        <pc:sldMkLst>
          <pc:docMk/>
          <pc:sldMk cId="0" sldId="261"/>
        </pc:sldMkLst>
        <pc:picChg chg="del">
          <ac:chgData name="Lai, Wilson" userId="2840974a-0d84-4886-90a9-9a3ed79f3a48" providerId="ADAL" clId="{9F23B798-9E84-4552-BA63-E776E805C424}" dt="2026-08-31T08:03:31.512" v="160" actId="21"/>
          <ac:picMkLst>
            <pc:docMk/>
            <pc:sldMk cId="0" sldId="261"/>
            <ac:picMk id="2" creationId="{00000000-0000-0000-0000-000000000000}"/>
          </ac:picMkLst>
        </pc:picChg>
        <pc:picChg chg="add">
          <ac:chgData name="Lai, Wilson" userId="2840974a-0d84-4886-90a9-9a3ed79f3a48" providerId="ADAL" clId="{9F23B798-9E84-4552-BA63-E776E805C424}" dt="2026-08-31T08:03:45.044" v="161" actId="22"/>
          <ac:picMkLst>
            <pc:docMk/>
            <pc:sldMk cId="0" sldId="261"/>
            <ac:picMk id="4" creationId="{A0AA8DFD-72E9-1FF1-0996-6AEE326738A5}"/>
          </ac:picMkLst>
        </pc:picChg>
      </pc:sldChg>
      <pc:sldChg chg="addSp delSp mod modNotes modNotesTx">
        <pc:chgData name="Lai, Wilson" userId="2840974a-0d84-4886-90a9-9a3ed79f3a48" providerId="ADAL" clId="{9F23B798-9E84-4552-BA63-E776E805C424}" dt="2026-08-31T07:57:09.679" v="101" actId="6549"/>
        <pc:sldMkLst>
          <pc:docMk/>
          <pc:sldMk cId="0" sldId="262"/>
        </pc:sldMkLst>
        <pc:picChg chg="del">
          <ac:chgData name="Lai, Wilson" userId="2840974a-0d84-4886-90a9-9a3ed79f3a48" providerId="ADAL" clId="{9F23B798-9E84-4552-BA63-E776E805C424}" dt="2026-08-31T07:12:05.467" v="8" actId="21"/>
          <ac:picMkLst>
            <pc:docMk/>
            <pc:sldMk cId="0" sldId="262"/>
            <ac:picMk id="2" creationId="{00000000-0000-0000-0000-000000000000}"/>
          </ac:picMkLst>
        </pc:picChg>
        <pc:picChg chg="add">
          <ac:chgData name="Lai, Wilson" userId="2840974a-0d84-4886-90a9-9a3ed79f3a48" providerId="ADAL" clId="{9F23B798-9E84-4552-BA63-E776E805C424}" dt="2026-08-31T07:12:23.116" v="9" actId="22"/>
          <ac:picMkLst>
            <pc:docMk/>
            <pc:sldMk cId="0" sldId="262"/>
            <ac:picMk id="4" creationId="{7D7BA913-3D56-840D-DC83-95FEF2776414}"/>
          </ac:picMkLst>
        </pc:picChg>
      </pc:sldChg>
      <pc:sldChg chg="addSp delSp mod modNotes modNotesTx">
        <pc:chgData name="Lai, Wilson" userId="2840974a-0d84-4886-90a9-9a3ed79f3a48" providerId="ADAL" clId="{9F23B798-9E84-4552-BA63-E776E805C424}" dt="2026-08-31T07:57:43.447" v="106" actId="6549"/>
        <pc:sldMkLst>
          <pc:docMk/>
          <pc:sldMk cId="0" sldId="263"/>
        </pc:sldMkLst>
        <pc:picChg chg="del">
          <ac:chgData name="Lai, Wilson" userId="2840974a-0d84-4886-90a9-9a3ed79f3a48" providerId="ADAL" clId="{9F23B798-9E84-4552-BA63-E776E805C424}" dt="2026-08-31T07:12:25.246" v="10" actId="21"/>
          <ac:picMkLst>
            <pc:docMk/>
            <pc:sldMk cId="0" sldId="263"/>
            <ac:picMk id="2" creationId="{00000000-0000-0000-0000-000000000000}"/>
          </ac:picMkLst>
        </pc:picChg>
        <pc:picChg chg="add">
          <ac:chgData name="Lai, Wilson" userId="2840974a-0d84-4886-90a9-9a3ed79f3a48" providerId="ADAL" clId="{9F23B798-9E84-4552-BA63-E776E805C424}" dt="2026-08-31T07:12:40.687" v="11" actId="22"/>
          <ac:picMkLst>
            <pc:docMk/>
            <pc:sldMk cId="0" sldId="263"/>
            <ac:picMk id="4" creationId="{D16FE50E-4E3E-F648-7E69-45CB3530FD2F}"/>
          </ac:picMkLst>
        </pc:picChg>
      </pc:sldChg>
      <pc:sldChg chg="addSp delSp mod modNotes modNotesTx">
        <pc:chgData name="Lai, Wilson" userId="2840974a-0d84-4886-90a9-9a3ed79f3a48" providerId="ADAL" clId="{9F23B798-9E84-4552-BA63-E776E805C424}" dt="2026-08-31T07:58:28.864" v="112" actId="6549"/>
        <pc:sldMkLst>
          <pc:docMk/>
          <pc:sldMk cId="0" sldId="264"/>
        </pc:sldMkLst>
        <pc:picChg chg="del">
          <ac:chgData name="Lai, Wilson" userId="2840974a-0d84-4886-90a9-9a3ed79f3a48" providerId="ADAL" clId="{9F23B798-9E84-4552-BA63-E776E805C424}" dt="2026-08-31T07:12:42.916" v="12" actId="21"/>
          <ac:picMkLst>
            <pc:docMk/>
            <pc:sldMk cId="0" sldId="264"/>
            <ac:picMk id="2" creationId="{00000000-0000-0000-0000-000000000000}"/>
          </ac:picMkLst>
        </pc:picChg>
        <pc:picChg chg="add">
          <ac:chgData name="Lai, Wilson" userId="2840974a-0d84-4886-90a9-9a3ed79f3a48" providerId="ADAL" clId="{9F23B798-9E84-4552-BA63-E776E805C424}" dt="2026-08-31T07:13:05.176" v="13" actId="22"/>
          <ac:picMkLst>
            <pc:docMk/>
            <pc:sldMk cId="0" sldId="264"/>
            <ac:picMk id="4" creationId="{04108AE7-4C7F-720D-0893-CEE16346393A}"/>
          </ac:picMkLst>
        </pc:picChg>
      </pc:sldChg>
      <pc:sldChg chg="addSp delSp mod modNotes modNotesTx">
        <pc:chgData name="Lai, Wilson" userId="2840974a-0d84-4886-90a9-9a3ed79f3a48" providerId="ADAL" clId="{9F23B798-9E84-4552-BA63-E776E805C424}" dt="2026-08-31T07:59:06.740" v="118" actId="6549"/>
        <pc:sldMkLst>
          <pc:docMk/>
          <pc:sldMk cId="0" sldId="265"/>
        </pc:sldMkLst>
        <pc:picChg chg="del">
          <ac:chgData name="Lai, Wilson" userId="2840974a-0d84-4886-90a9-9a3ed79f3a48" providerId="ADAL" clId="{9F23B798-9E84-4552-BA63-E776E805C424}" dt="2026-08-31T07:13:08.962" v="14" actId="21"/>
          <ac:picMkLst>
            <pc:docMk/>
            <pc:sldMk cId="0" sldId="265"/>
            <ac:picMk id="2" creationId="{00000000-0000-0000-0000-000000000000}"/>
          </ac:picMkLst>
        </pc:picChg>
        <pc:picChg chg="add">
          <ac:chgData name="Lai, Wilson" userId="2840974a-0d84-4886-90a9-9a3ed79f3a48" providerId="ADAL" clId="{9F23B798-9E84-4552-BA63-E776E805C424}" dt="2026-08-31T07:13:19.149" v="15" actId="22"/>
          <ac:picMkLst>
            <pc:docMk/>
            <pc:sldMk cId="0" sldId="265"/>
            <ac:picMk id="4" creationId="{92E67B64-45F2-EE10-635A-0DB453CFEDA4}"/>
          </ac:picMkLst>
        </pc:picChg>
      </pc:sldChg>
      <pc:sldChg chg="addSp delSp mod modNotes modNotesTx">
        <pc:chgData name="Lai, Wilson" userId="2840974a-0d84-4886-90a9-9a3ed79f3a48" providerId="ADAL" clId="{9F23B798-9E84-4552-BA63-E776E805C424}" dt="2026-08-31T07:59:39.880" v="123" actId="6549"/>
        <pc:sldMkLst>
          <pc:docMk/>
          <pc:sldMk cId="0" sldId="266"/>
        </pc:sldMkLst>
        <pc:picChg chg="del">
          <ac:chgData name="Lai, Wilson" userId="2840974a-0d84-4886-90a9-9a3ed79f3a48" providerId="ADAL" clId="{9F23B798-9E84-4552-BA63-E776E805C424}" dt="2026-08-31T07:13:21.414" v="16" actId="21"/>
          <ac:picMkLst>
            <pc:docMk/>
            <pc:sldMk cId="0" sldId="266"/>
            <ac:picMk id="2" creationId="{00000000-0000-0000-0000-000000000000}"/>
          </ac:picMkLst>
        </pc:picChg>
        <pc:picChg chg="add">
          <ac:chgData name="Lai, Wilson" userId="2840974a-0d84-4886-90a9-9a3ed79f3a48" providerId="ADAL" clId="{9F23B798-9E84-4552-BA63-E776E805C424}" dt="2026-08-31T07:13:28.923" v="17" actId="22"/>
          <ac:picMkLst>
            <pc:docMk/>
            <pc:sldMk cId="0" sldId="266"/>
            <ac:picMk id="4" creationId="{AC4A2369-60FD-4A47-529B-514F03A4D8A7}"/>
          </ac:picMkLst>
        </pc:picChg>
      </pc:sldChg>
      <pc:sldChg chg="addSp delSp mod modNotes modNotesTx">
        <pc:chgData name="Lai, Wilson" userId="2840974a-0d84-4886-90a9-9a3ed79f3a48" providerId="ADAL" clId="{9F23B798-9E84-4552-BA63-E776E805C424}" dt="2026-08-31T07:59:59.977" v="126" actId="6549"/>
        <pc:sldMkLst>
          <pc:docMk/>
          <pc:sldMk cId="0" sldId="267"/>
        </pc:sldMkLst>
        <pc:picChg chg="del">
          <ac:chgData name="Lai, Wilson" userId="2840974a-0d84-4886-90a9-9a3ed79f3a48" providerId="ADAL" clId="{9F23B798-9E84-4552-BA63-E776E805C424}" dt="2026-08-31T07:13:31.815" v="18" actId="21"/>
          <ac:picMkLst>
            <pc:docMk/>
            <pc:sldMk cId="0" sldId="267"/>
            <ac:picMk id="2" creationId="{00000000-0000-0000-0000-000000000000}"/>
          </ac:picMkLst>
        </pc:picChg>
        <pc:picChg chg="add">
          <ac:chgData name="Lai, Wilson" userId="2840974a-0d84-4886-90a9-9a3ed79f3a48" providerId="ADAL" clId="{9F23B798-9E84-4552-BA63-E776E805C424}" dt="2026-08-31T07:13:42.197" v="19" actId="22"/>
          <ac:picMkLst>
            <pc:docMk/>
            <pc:sldMk cId="0" sldId="267"/>
            <ac:picMk id="4" creationId="{5689A869-7F6F-A8D7-854F-423C59FD37AB}"/>
          </ac:picMkLst>
        </pc:picChg>
      </pc:sldChg>
      <pc:sldChg chg="addSp delSp mod modNotes modNotesTx">
        <pc:chgData name="Lai, Wilson" userId="2840974a-0d84-4886-90a9-9a3ed79f3a48" providerId="ADAL" clId="{9F23B798-9E84-4552-BA63-E776E805C424}" dt="2026-08-31T08:00:38.846" v="133" actId="6549"/>
        <pc:sldMkLst>
          <pc:docMk/>
          <pc:sldMk cId="0" sldId="268"/>
        </pc:sldMkLst>
        <pc:picChg chg="del">
          <ac:chgData name="Lai, Wilson" userId="2840974a-0d84-4886-90a9-9a3ed79f3a48" providerId="ADAL" clId="{9F23B798-9E84-4552-BA63-E776E805C424}" dt="2026-08-31T07:13:44.984" v="20" actId="21"/>
          <ac:picMkLst>
            <pc:docMk/>
            <pc:sldMk cId="0" sldId="268"/>
            <ac:picMk id="2" creationId="{00000000-0000-0000-0000-000000000000}"/>
          </ac:picMkLst>
        </pc:picChg>
        <pc:picChg chg="add">
          <ac:chgData name="Lai, Wilson" userId="2840974a-0d84-4886-90a9-9a3ed79f3a48" providerId="ADAL" clId="{9F23B798-9E84-4552-BA63-E776E805C424}" dt="2026-08-31T07:13:54.011" v="21" actId="22"/>
          <ac:picMkLst>
            <pc:docMk/>
            <pc:sldMk cId="0" sldId="268"/>
            <ac:picMk id="4" creationId="{B2AA97DB-9699-AB8B-5C50-E02C846B4D1F}"/>
          </ac:picMkLst>
        </pc:picChg>
      </pc:sldChg>
      <pc:sldChg chg="addSp delSp mod modNotes modNotesTx">
        <pc:chgData name="Lai, Wilson" userId="2840974a-0d84-4886-90a9-9a3ed79f3a48" providerId="ADAL" clId="{9F23B798-9E84-4552-BA63-E776E805C424}" dt="2026-08-31T08:01:09.048" v="138" actId="6549"/>
        <pc:sldMkLst>
          <pc:docMk/>
          <pc:sldMk cId="0" sldId="269"/>
        </pc:sldMkLst>
        <pc:picChg chg="del">
          <ac:chgData name="Lai, Wilson" userId="2840974a-0d84-4886-90a9-9a3ed79f3a48" providerId="ADAL" clId="{9F23B798-9E84-4552-BA63-E776E805C424}" dt="2026-08-31T07:13:56.061" v="22" actId="21"/>
          <ac:picMkLst>
            <pc:docMk/>
            <pc:sldMk cId="0" sldId="269"/>
            <ac:picMk id="2" creationId="{00000000-0000-0000-0000-000000000000}"/>
          </ac:picMkLst>
        </pc:picChg>
        <pc:picChg chg="add">
          <ac:chgData name="Lai, Wilson" userId="2840974a-0d84-4886-90a9-9a3ed79f3a48" providerId="ADAL" clId="{9F23B798-9E84-4552-BA63-E776E805C424}" dt="2026-08-31T07:14:03.727" v="23" actId="22"/>
          <ac:picMkLst>
            <pc:docMk/>
            <pc:sldMk cId="0" sldId="269"/>
            <ac:picMk id="4" creationId="{146E7D46-0071-583C-04D3-1FCB57231BB0}"/>
          </ac:picMkLst>
        </pc:picChg>
      </pc:sldChg>
      <pc:sldChg chg="addSp delSp mod modNotes modNotesTx">
        <pc:chgData name="Lai, Wilson" userId="2840974a-0d84-4886-90a9-9a3ed79f3a48" providerId="ADAL" clId="{9F23B798-9E84-4552-BA63-E776E805C424}" dt="2026-08-31T08:01:40.772" v="143" actId="6549"/>
        <pc:sldMkLst>
          <pc:docMk/>
          <pc:sldMk cId="0" sldId="270"/>
        </pc:sldMkLst>
        <pc:picChg chg="del">
          <ac:chgData name="Lai, Wilson" userId="2840974a-0d84-4886-90a9-9a3ed79f3a48" providerId="ADAL" clId="{9F23B798-9E84-4552-BA63-E776E805C424}" dt="2026-08-31T07:14:05.944" v="24" actId="21"/>
          <ac:picMkLst>
            <pc:docMk/>
            <pc:sldMk cId="0" sldId="270"/>
            <ac:picMk id="2" creationId="{00000000-0000-0000-0000-000000000000}"/>
          </ac:picMkLst>
        </pc:picChg>
        <pc:picChg chg="add">
          <ac:chgData name="Lai, Wilson" userId="2840974a-0d84-4886-90a9-9a3ed79f3a48" providerId="ADAL" clId="{9F23B798-9E84-4552-BA63-E776E805C424}" dt="2026-08-31T07:14:14.001" v="25" actId="22"/>
          <ac:picMkLst>
            <pc:docMk/>
            <pc:sldMk cId="0" sldId="270"/>
            <ac:picMk id="4" creationId="{1BB7843B-CD84-3DDD-7EB7-82F1C3FC1447}"/>
          </ac:picMkLst>
        </pc:picChg>
      </pc:sldChg>
      <pc:sldChg chg="addSp delSp mod modNotes modNotesTx">
        <pc:chgData name="Lai, Wilson" userId="2840974a-0d84-4886-90a9-9a3ed79f3a48" providerId="ADAL" clId="{9F23B798-9E84-4552-BA63-E776E805C424}" dt="2026-08-31T08:02:21.347" v="151" actId="20577"/>
        <pc:sldMkLst>
          <pc:docMk/>
          <pc:sldMk cId="0" sldId="271"/>
        </pc:sldMkLst>
        <pc:picChg chg="del">
          <ac:chgData name="Lai, Wilson" userId="2840974a-0d84-4886-90a9-9a3ed79f3a48" providerId="ADAL" clId="{9F23B798-9E84-4552-BA63-E776E805C424}" dt="2026-08-31T07:14:18.325" v="26" actId="21"/>
          <ac:picMkLst>
            <pc:docMk/>
            <pc:sldMk cId="0" sldId="271"/>
            <ac:picMk id="2" creationId="{00000000-0000-0000-0000-000000000000}"/>
          </ac:picMkLst>
        </pc:picChg>
        <pc:picChg chg="add">
          <ac:chgData name="Lai, Wilson" userId="2840974a-0d84-4886-90a9-9a3ed79f3a48" providerId="ADAL" clId="{9F23B798-9E84-4552-BA63-E776E805C424}" dt="2026-08-31T07:14:25.228" v="27" actId="22"/>
          <ac:picMkLst>
            <pc:docMk/>
            <pc:sldMk cId="0" sldId="271"/>
            <ac:picMk id="4" creationId="{9F5FA631-E2DC-2DE7-14A8-F15F71C25DA8}"/>
          </ac:picMkLst>
        </pc:picChg>
      </pc:sldChg>
      <pc:sldChg chg="addSp delSp mod modNotes modNotesTx">
        <pc:chgData name="Lai, Wilson" userId="2840974a-0d84-4886-90a9-9a3ed79f3a48" providerId="ADAL" clId="{9F23B798-9E84-4552-BA63-E776E805C424}" dt="2026-08-31T08:02:52.771" v="156" actId="6549"/>
        <pc:sldMkLst>
          <pc:docMk/>
          <pc:sldMk cId="2235422628" sldId="272"/>
        </pc:sldMkLst>
        <pc:picChg chg="del">
          <ac:chgData name="Lai, Wilson" userId="2840974a-0d84-4886-90a9-9a3ed79f3a48" providerId="ADAL" clId="{9F23B798-9E84-4552-BA63-E776E805C424}" dt="2026-08-31T07:14:27.311" v="28" actId="21"/>
          <ac:picMkLst>
            <pc:docMk/>
            <pc:sldMk cId="2235422628" sldId="272"/>
            <ac:picMk id="3" creationId="{FD176392-5D27-6708-69F4-1AF800B69D8F}"/>
          </ac:picMkLst>
        </pc:picChg>
        <pc:picChg chg="add">
          <ac:chgData name="Lai, Wilson" userId="2840974a-0d84-4886-90a9-9a3ed79f3a48" providerId="ADAL" clId="{9F23B798-9E84-4552-BA63-E776E805C424}" dt="2026-08-31T07:14:37.027" v="29" actId="22"/>
          <ac:picMkLst>
            <pc:docMk/>
            <pc:sldMk cId="2235422628" sldId="272"/>
            <ac:picMk id="4" creationId="{74FF6B76-C841-A8E2-38B4-A93962F62B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530D72-9DB3-4E29-9CF0-DFB141839A4D}"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1D28B6-7921-4E15-995F-D615334E5A89}" type="slidenum">
              <a:rPr lang="en-US" smtClean="0"/>
              <a:t>‹#›</a:t>
            </a:fld>
            <a:endParaRPr lang="en-US"/>
          </a:p>
        </p:txBody>
      </p:sp>
    </p:spTree>
    <p:extLst>
      <p:ext uri="{BB962C8B-B14F-4D97-AF65-F5344CB8AC3E}">
        <p14:creationId xmlns:p14="http://schemas.microsoft.com/office/powerpoint/2010/main" val="2582784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 everyone, and welcome. Today, we’re diving into a core structural reality defining current financial markets: </a:t>
            </a:r>
            <a:r>
              <a:rPr lang="en-US" sz="1200" i="1" kern="1200" dirty="0">
                <a:solidFill>
                  <a:schemeClr val="tx1"/>
                </a:solidFill>
                <a:effectLst/>
                <a:latin typeface="+mn-lt"/>
                <a:ea typeface="+mn-ea"/>
                <a:cs typeface="+mn-cs"/>
              </a:rPr>
              <a:t>The Narrative Premium: Pricing Stories vs. Fundamentals in a High-Beta Market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Historically, traditional valuation models—discounted cash flow (DCF) analysis, price-to-earnings multiples, and strict revenue yields—were the golden standard for asset pricing. But in the current macro environment, we are observing a profound shift. Capital flows are no longer dictated purely by present cash flows; instead, they are driven by the scale, narrative velocity, and perceived Total Addressable Market (TAM) of a project. </a:t>
            </a:r>
          </a:p>
          <a:p>
            <a:r>
              <a:rPr lang="en-US" sz="1200" kern="1200" dirty="0">
                <a:solidFill>
                  <a:schemeClr val="tx1"/>
                </a:solidFill>
                <a:effectLst/>
                <a:latin typeface="+mn-lt"/>
                <a:ea typeface="+mn-ea"/>
                <a:cs typeface="+mn-cs"/>
              </a:rPr>
              <a:t>Over the next 45 to 60 minutes, we are going to break down how global debasement concerns are forcing investors up the risk curve, why private venture capital is pricing early-stage startups like high-upside call options, and how protocols like </a:t>
            </a:r>
            <a:r>
              <a:rPr lang="en-US" sz="1200"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Pump.fun</a:t>
            </a:r>
            <a:r>
              <a:rPr lang="en-US" sz="1200" kern="1200" dirty="0">
                <a:solidFill>
                  <a:schemeClr val="tx1"/>
                </a:solidFill>
                <a:effectLst/>
                <a:latin typeface="+mn-lt"/>
                <a:ea typeface="+mn-ea"/>
                <a:cs typeface="+mn-cs"/>
              </a:rPr>
              <a:t>, and Ethena demonstrate the dynamic spectrum of narrative valuation. Let’s dive in. </a:t>
            </a:r>
          </a:p>
          <a:p>
            <a:endParaRPr lang="en-US" dirty="0"/>
          </a:p>
          <a:p>
            <a:endParaRPr lang="en-US" dirty="0"/>
          </a:p>
          <a:p>
            <a:endParaRPr lang="en-US" dirty="0"/>
          </a:p>
          <a:p>
            <a:r>
              <a:rPr lang="en-US" dirty="0"/>
              <a:t>https://www.youtube.com/watch?v=sGiv1Ws5dwc</a:t>
            </a:r>
          </a:p>
        </p:txBody>
      </p:sp>
      <p:sp>
        <p:nvSpPr>
          <p:cNvPr id="4" name="Slide Number Placeholder 3"/>
          <p:cNvSpPr>
            <a:spLocks noGrp="1"/>
          </p:cNvSpPr>
          <p:nvPr>
            <p:ph type="sldNum" sz="quarter" idx="5"/>
          </p:nvPr>
        </p:nvSpPr>
        <p:spPr/>
        <p:txBody>
          <a:bodyPr/>
          <a:lstStyle/>
          <a:p>
            <a:fld id="{E150858A-92D2-4A1C-A167-3225254C67E0}" type="slidenum">
              <a:rPr lang="en-US" smtClean="0"/>
              <a:t>1</a:t>
            </a:fld>
            <a:endParaRPr lang="en-US"/>
          </a:p>
        </p:txBody>
      </p:sp>
    </p:spTree>
    <p:extLst>
      <p:ext uri="{BB962C8B-B14F-4D97-AF65-F5344CB8AC3E}">
        <p14:creationId xmlns:p14="http://schemas.microsoft.com/office/powerpoint/2010/main" val="2965573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give you a roadmap of our session today, we have broken this analysis into four core themes: </a:t>
            </a:r>
          </a:p>
          <a:p>
            <a:pPr marL="228600" lvl="0" indent="-228600">
              <a:buFont typeface="+mj-lt"/>
              <a:buAutoNum type="arabicPeriod"/>
            </a:pPr>
            <a:r>
              <a:rPr lang="en-US" sz="1200" b="1" kern="1200" dirty="0">
                <a:solidFill>
                  <a:schemeClr val="tx1"/>
                </a:solidFill>
                <a:effectLst/>
                <a:latin typeface="+mn-lt"/>
                <a:ea typeface="+mn-ea"/>
                <a:cs typeface="+mn-cs"/>
              </a:rPr>
              <a:t>Macro &amp; High Beta:</a:t>
            </a:r>
            <a:r>
              <a:rPr lang="en-US" sz="1200" kern="1200" dirty="0">
                <a:solidFill>
                  <a:schemeClr val="tx1"/>
                </a:solidFill>
                <a:effectLst/>
                <a:latin typeface="+mn-lt"/>
                <a:ea typeface="+mn-ea"/>
                <a:cs typeface="+mn-cs"/>
              </a:rPr>
              <a:t> We’ll explore how currency debasement and macro liquidity dynamics have killed traditional uncorrelated hedging strategies, turning crypto and high-beta tech into primary growth hedges. </a:t>
            </a:r>
          </a:p>
          <a:p>
            <a:pPr marL="228600" lvl="0" indent="-228600">
              <a:buFont typeface="+mj-lt"/>
              <a:buAutoNum type="arabicPeriod"/>
            </a:pPr>
            <a:r>
              <a:rPr lang="en-US" sz="1200" b="1" kern="1200" dirty="0">
                <a:solidFill>
                  <a:schemeClr val="tx1"/>
                </a:solidFill>
                <a:effectLst/>
                <a:latin typeface="+mn-lt"/>
                <a:ea typeface="+mn-ea"/>
                <a:cs typeface="+mn-cs"/>
              </a:rPr>
              <a:t>The AI Venture Bubble:</a:t>
            </a:r>
            <a:r>
              <a:rPr lang="en-US" sz="1200" kern="1200" dirty="0">
                <a:solidFill>
                  <a:schemeClr val="tx1"/>
                </a:solidFill>
                <a:effectLst/>
                <a:latin typeface="+mn-lt"/>
                <a:ea typeface="+mn-ea"/>
                <a:cs typeface="+mn-cs"/>
              </a:rPr>
              <a:t> We will examine VC behaviors, specifically looking at insane pre-revenue valuations like Instinct AI, and how investors are playing for 'king-making' option value. </a:t>
            </a:r>
          </a:p>
          <a:p>
            <a:pPr marL="228600" lvl="0" indent="-228600">
              <a:buFont typeface="+mj-lt"/>
              <a:buAutoNum type="arabicPeriod"/>
            </a:pPr>
            <a:r>
              <a:rPr lang="en-US" sz="1200" b="1" kern="1200" dirty="0">
                <a:solidFill>
                  <a:schemeClr val="tx1"/>
                </a:solidFill>
                <a:effectLst/>
                <a:latin typeface="+mn-lt"/>
                <a:ea typeface="+mn-ea"/>
                <a:cs typeface="+mn-cs"/>
              </a:rPr>
              <a:t>The DEX Divergence:</a:t>
            </a:r>
            <a:r>
              <a:rPr lang="en-US" sz="1200" kern="1200" dirty="0">
                <a:solidFill>
                  <a:schemeClr val="tx1"/>
                </a:solidFill>
                <a:effectLst/>
                <a:latin typeface="+mn-lt"/>
                <a:ea typeface="+mn-ea"/>
                <a:cs typeface="+mn-cs"/>
              </a:rPr>
              <a:t> We will conduct a head-to-head comparison of </a:t>
            </a:r>
            <a:r>
              <a:rPr lang="en-US" sz="1200"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Pump.fun</a:t>
            </a:r>
            <a:r>
              <a:rPr lang="en-US" sz="1200" kern="1200" dirty="0">
                <a:solidFill>
                  <a:schemeClr val="tx1"/>
                </a:solidFill>
                <a:effectLst/>
                <a:latin typeface="+mn-lt"/>
                <a:ea typeface="+mn-ea"/>
                <a:cs typeface="+mn-cs"/>
              </a:rPr>
              <a:t>—two protocols generating massive revenue, yet trading at radically different valuation multiples due to narrative framing. </a:t>
            </a:r>
          </a:p>
          <a:p>
            <a:pPr marL="228600" lvl="0" indent="-228600">
              <a:buFont typeface="+mj-lt"/>
              <a:buAutoNum type="arabicPeriod"/>
            </a:pPr>
            <a:r>
              <a:rPr lang="en-US" sz="1200" b="1" kern="1200" dirty="0">
                <a:solidFill>
                  <a:schemeClr val="tx1"/>
                </a:solidFill>
                <a:effectLst/>
                <a:latin typeface="+mn-lt"/>
                <a:ea typeface="+mn-ea"/>
                <a:cs typeface="+mn-cs"/>
              </a:rPr>
              <a:t>Token Alignment &amp; Governance:</a:t>
            </a:r>
            <a:r>
              <a:rPr lang="en-US" sz="1200" kern="1200" dirty="0">
                <a:solidFill>
                  <a:schemeClr val="tx1"/>
                </a:solidFill>
                <a:effectLst/>
                <a:latin typeface="+mn-lt"/>
                <a:ea typeface="+mn-ea"/>
                <a:cs typeface="+mn-cs"/>
              </a:rPr>
              <a:t> Finally, we’ll dive into Ethena’s recent </a:t>
            </a:r>
            <a:r>
              <a:rPr lang="en-US" sz="1200" kern="1200" dirty="0" err="1">
                <a:solidFill>
                  <a:schemeClr val="tx1"/>
                </a:solidFill>
                <a:effectLst/>
                <a:latin typeface="+mn-lt"/>
                <a:ea typeface="+mn-ea"/>
                <a:cs typeface="+mn-cs"/>
              </a:rPr>
              <a:t>tokenomics</a:t>
            </a:r>
            <a:r>
              <a:rPr lang="en-US" sz="1200" kern="1200" dirty="0">
                <a:solidFill>
                  <a:schemeClr val="tx1"/>
                </a:solidFill>
                <a:effectLst/>
                <a:latin typeface="+mn-lt"/>
                <a:ea typeface="+mn-ea"/>
                <a:cs typeface="+mn-cs"/>
              </a:rPr>
              <a:t> reset—a case study on how mature protocols must clean cap tables, eliminate VC overhangs, and align IP to survive.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2</a:t>
            </a:fld>
            <a:endParaRPr lang="en-US"/>
          </a:p>
        </p:txBody>
      </p:sp>
    </p:spTree>
    <p:extLst>
      <p:ext uri="{BB962C8B-B14F-4D97-AF65-F5344CB8AC3E}">
        <p14:creationId xmlns:p14="http://schemas.microsoft.com/office/powerpoint/2010/main" val="2882553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with the macro picture. As highlighted in recent market roundups, uncorrelated hedging is largely dead. For years, institutional allocators sought uncorrelated assets to hedge inflation or geopolitical distress. But today, with US government debt running rampant and roughly 20% of the federal budget dedicated solely to servicing interest on that debt, sovereign currency debasement is an accepted baseline expectation. </a:t>
            </a:r>
          </a:p>
          <a:p>
            <a:r>
              <a:rPr lang="en-US" sz="1200" kern="1200" dirty="0">
                <a:solidFill>
                  <a:schemeClr val="tx1"/>
                </a:solidFill>
                <a:effectLst/>
                <a:latin typeface="+mn-lt"/>
                <a:ea typeface="+mn-ea"/>
                <a:cs typeface="+mn-cs"/>
              </a:rPr>
              <a:t>When central banks pump liquidity and fiscal deficits widen, gold acts as a traditional store of value. However, allocators seeking to outpace currency degradation cannot rely on low-yielding traditional hedges. Instead, capital is flooding into technology and crypto as the ultimate high-beta, inflation-proof growth assets. The market is treating Bitcoin and frontier tech as growth instruments that outpace money supply expansion.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3</a:t>
            </a:fld>
            <a:endParaRPr lang="en-US"/>
          </a:p>
        </p:txBody>
      </p:sp>
    </p:spTree>
    <p:extLst>
      <p:ext uri="{BB962C8B-B14F-4D97-AF65-F5344CB8AC3E}">
        <p14:creationId xmlns:p14="http://schemas.microsoft.com/office/powerpoint/2010/main" val="1651730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macro backdrop feeds directly into private market valuations, leading us to what we call the AI Venture Bubble. </a:t>
            </a:r>
          </a:p>
          <a:p>
            <a:r>
              <a:rPr lang="en-US" sz="1200" kern="1200" dirty="0">
                <a:solidFill>
                  <a:schemeClr val="tx1"/>
                </a:solidFill>
                <a:effectLst/>
                <a:latin typeface="+mn-lt"/>
                <a:ea typeface="+mn-ea"/>
                <a:cs typeface="+mn-cs"/>
              </a:rPr>
              <a:t>Consider the case of </a:t>
            </a:r>
            <a:r>
              <a:rPr lang="en-US" sz="1200" b="1" kern="1200" dirty="0">
                <a:solidFill>
                  <a:schemeClr val="tx1"/>
                </a:solidFill>
                <a:effectLst/>
                <a:latin typeface="+mn-lt"/>
                <a:ea typeface="+mn-ea"/>
                <a:cs typeface="+mn-cs"/>
              </a:rPr>
              <a:t>Instinct AI</a:t>
            </a:r>
            <a:r>
              <a:rPr lang="en-US" sz="1200" kern="1200" dirty="0">
                <a:solidFill>
                  <a:schemeClr val="tx1"/>
                </a:solidFill>
                <a:effectLst/>
                <a:latin typeface="+mn-lt"/>
                <a:ea typeface="+mn-ea"/>
                <a:cs typeface="+mn-cs"/>
              </a:rPr>
              <a:t> shown on the slide. Here is a company with </a:t>
            </a:r>
            <a:r>
              <a:rPr lang="en-US" sz="1200" b="1" kern="1200" dirty="0">
                <a:solidFill>
                  <a:schemeClr val="tx1"/>
                </a:solidFill>
                <a:effectLst/>
                <a:latin typeface="+mn-lt"/>
                <a:ea typeface="+mn-ea"/>
                <a:cs typeface="+mn-cs"/>
              </a:rPr>
              <a:t>$0 in revenue</a:t>
            </a:r>
            <a:r>
              <a:rPr lang="en-US" sz="1200" kern="1200" dirty="0">
                <a:solidFill>
                  <a:schemeClr val="tx1"/>
                </a:solidFill>
                <a:effectLst/>
                <a:latin typeface="+mn-lt"/>
                <a:ea typeface="+mn-ea"/>
                <a:cs typeface="+mn-cs"/>
              </a:rPr>
              <a:t> and a team of just </a:t>
            </a:r>
            <a:r>
              <a:rPr lang="en-US" sz="1200" b="1" kern="1200" dirty="0">
                <a:solidFill>
                  <a:schemeClr val="tx1"/>
                </a:solidFill>
                <a:effectLst/>
                <a:latin typeface="+mn-lt"/>
                <a:ea typeface="+mn-ea"/>
                <a:cs typeface="+mn-cs"/>
              </a:rPr>
              <a:t>2 people</a:t>
            </a:r>
            <a:r>
              <a:rPr lang="en-US" sz="1200" kern="1200" dirty="0">
                <a:solidFill>
                  <a:schemeClr val="tx1"/>
                </a:solidFill>
                <a:effectLst/>
                <a:latin typeface="+mn-lt"/>
                <a:ea typeface="+mn-ea"/>
                <a:cs typeface="+mn-cs"/>
              </a:rPr>
              <a:t>, yet venture investors bid its valuation up from </a:t>
            </a:r>
            <a:r>
              <a:rPr lang="en-US" sz="1200" b="1" kern="1200" dirty="0">
                <a:solidFill>
                  <a:schemeClr val="tx1"/>
                </a:solidFill>
                <a:effectLst/>
                <a:latin typeface="+mn-lt"/>
                <a:ea typeface="+mn-ea"/>
                <a:cs typeface="+mn-cs"/>
              </a:rPr>
              <a:t>$2.5 Billion to $5.0 Billion</a:t>
            </a:r>
            <a:r>
              <a:rPr lang="en-US" sz="1200" kern="1200" dirty="0">
                <a:solidFill>
                  <a:schemeClr val="tx1"/>
                </a:solidFill>
                <a:effectLst/>
                <a:latin typeface="+mn-lt"/>
                <a:ea typeface="+mn-ea"/>
                <a:cs typeface="+mn-cs"/>
              </a:rPr>
              <a:t> in short succession. </a:t>
            </a:r>
          </a:p>
          <a:p>
            <a:r>
              <a:rPr lang="en-US" sz="1200" kern="1200" dirty="0">
                <a:solidFill>
                  <a:schemeClr val="tx1"/>
                </a:solidFill>
                <a:effectLst/>
                <a:latin typeface="+mn-lt"/>
                <a:ea typeface="+mn-ea"/>
                <a:cs typeface="+mn-cs"/>
              </a:rPr>
              <a:t>Why? Venture capitalists have effectively abandoned traditional value investing and discounted cash flow models. In an era dominated by technological shifts, private rounds are treated like asymmetric, high-upside call options. VCs are willing to deploy massive check sizes to 'king-make' a player. Buying into the higher highs of a compelling, infinite narrative is currently far more rewarded than underwriting present cash flows.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4</a:t>
            </a:fld>
            <a:endParaRPr lang="en-US"/>
          </a:p>
        </p:txBody>
      </p:sp>
    </p:spTree>
    <p:extLst>
      <p:ext uri="{BB962C8B-B14F-4D97-AF65-F5344CB8AC3E}">
        <p14:creationId xmlns:p14="http://schemas.microsoft.com/office/powerpoint/2010/main" val="1788554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look at how this narrative pricing manifests within crypto protocol valuations, specifically comparing two revenue-generating titans: </a:t>
            </a:r>
            <a:r>
              <a:rPr lang="en-US" sz="1200" b="1"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and </a:t>
            </a:r>
            <a:r>
              <a:rPr lang="en-US" sz="1200" b="1" kern="1200" dirty="0" err="1">
                <a:solidFill>
                  <a:schemeClr val="tx1"/>
                </a:solidFill>
                <a:effectLst/>
                <a:latin typeface="+mn-lt"/>
                <a:ea typeface="+mn-ea"/>
                <a:cs typeface="+mn-cs"/>
              </a:rPr>
              <a:t>Pump.fun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On paper, both protocols are absolute cash cows. </a:t>
            </a:r>
          </a:p>
          <a:p>
            <a:pPr marL="171450" lvl="0" indent="-171450">
              <a:buFont typeface="Arial" panose="020B0604020202020204" pitchFamily="34" charset="0"/>
              <a:buChar char="•"/>
            </a:pPr>
            <a:r>
              <a:rPr lang="en-US" sz="1200"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generated ~$302 million across Q1 and Q2, pacing at an annualized revenue run rate of approximately </a:t>
            </a:r>
            <a:r>
              <a:rPr lang="en-US" sz="1200" b="1" kern="1200" dirty="0">
                <a:solidFill>
                  <a:schemeClr val="tx1"/>
                </a:solidFill>
                <a:effectLst/>
                <a:latin typeface="+mn-lt"/>
                <a:ea typeface="+mn-ea"/>
                <a:cs typeface="+mn-cs"/>
              </a:rPr>
              <a:t>$600 million</a:t>
            </a:r>
            <a:r>
              <a:rPr lang="en-US" sz="1200" kern="1200" dirty="0">
                <a:solidFill>
                  <a:schemeClr val="tx1"/>
                </a:solidFill>
                <a:effectLst/>
                <a:latin typeface="+mn-lt"/>
                <a:ea typeface="+mn-ea"/>
                <a:cs typeface="+mn-cs"/>
              </a:rPr>
              <a:t>. It commands a Fully Diluted Valuation (FDV) ranging between </a:t>
            </a:r>
            <a:r>
              <a:rPr lang="en-US" sz="1200" b="1" kern="1200" dirty="0">
                <a:solidFill>
                  <a:schemeClr val="tx1"/>
                </a:solidFill>
                <a:effectLst/>
                <a:latin typeface="+mn-lt"/>
                <a:ea typeface="+mn-ea"/>
                <a:cs typeface="+mn-cs"/>
              </a:rPr>
              <a:t>$18 billion and $80 billion</a:t>
            </a:r>
            <a:r>
              <a:rPr lang="en-US" sz="1200" kern="1200" dirty="0">
                <a:solidFill>
                  <a:schemeClr val="tx1"/>
                </a:solidFill>
                <a:effectLst/>
                <a:latin typeface="+mn-lt"/>
                <a:ea typeface="+mn-ea"/>
                <a:cs typeface="+mn-cs"/>
              </a:rPr>
              <a:t> depending on market swings. </a:t>
            </a:r>
          </a:p>
          <a:p>
            <a:pPr marL="171450" lvl="0" indent="-171450">
              <a:buFont typeface="Arial" panose="020B0604020202020204" pitchFamily="34" charset="0"/>
              <a:buChar char="•"/>
            </a:pPr>
            <a:r>
              <a:rPr lang="en-US" sz="1200" kern="1200" dirty="0" err="1">
                <a:solidFill>
                  <a:schemeClr val="tx1"/>
                </a:solidFill>
                <a:effectLst/>
                <a:latin typeface="+mn-lt"/>
                <a:ea typeface="+mn-ea"/>
                <a:cs typeface="+mn-cs"/>
              </a:rPr>
              <a:t>Pump.fun</a:t>
            </a:r>
            <a:r>
              <a:rPr lang="en-US" sz="1200" kern="1200" dirty="0">
                <a:solidFill>
                  <a:schemeClr val="tx1"/>
                </a:solidFill>
                <a:effectLst/>
                <a:latin typeface="+mn-lt"/>
                <a:ea typeface="+mn-ea"/>
                <a:cs typeface="+mn-cs"/>
              </a:rPr>
              <a:t> generates </a:t>
            </a:r>
            <a:r>
              <a:rPr lang="en-US" sz="1200" b="1" kern="1200" dirty="0">
                <a:solidFill>
                  <a:schemeClr val="tx1"/>
                </a:solidFill>
                <a:effectLst/>
                <a:latin typeface="+mn-lt"/>
                <a:ea typeface="+mn-ea"/>
                <a:cs typeface="+mn-cs"/>
              </a:rPr>
              <a:t>$90M to $100M per quarter</a:t>
            </a:r>
            <a:r>
              <a:rPr lang="en-US" sz="1200" kern="1200" dirty="0">
                <a:solidFill>
                  <a:schemeClr val="tx1"/>
                </a:solidFill>
                <a:effectLst/>
                <a:latin typeface="+mn-lt"/>
                <a:ea typeface="+mn-ea"/>
                <a:cs typeface="+mn-cs"/>
              </a:rPr>
              <a:t>—a massive business by any standard. Yet, </a:t>
            </a:r>
            <a:r>
              <a:rPr lang="en-US" sz="1200" kern="1200" dirty="0" err="1">
                <a:solidFill>
                  <a:schemeClr val="tx1"/>
                </a:solidFill>
                <a:effectLst/>
                <a:latin typeface="+mn-lt"/>
                <a:ea typeface="+mn-ea"/>
                <a:cs typeface="+mn-cs"/>
              </a:rPr>
              <a:t>Pump.fun</a:t>
            </a:r>
            <a:r>
              <a:rPr lang="en-US" sz="1200" kern="1200" dirty="0">
                <a:solidFill>
                  <a:schemeClr val="tx1"/>
                </a:solidFill>
                <a:effectLst/>
                <a:latin typeface="+mn-lt"/>
                <a:ea typeface="+mn-ea"/>
                <a:cs typeface="+mn-cs"/>
              </a:rPr>
              <a:t> trades at roughly </a:t>
            </a:r>
            <a:r>
              <a:rPr lang="en-US" sz="1200" b="1" kern="1200" dirty="0">
                <a:solidFill>
                  <a:schemeClr val="tx1"/>
                </a:solidFill>
                <a:effectLst/>
                <a:latin typeface="+mn-lt"/>
                <a:ea typeface="+mn-ea"/>
                <a:cs typeface="+mn-cs"/>
              </a:rPr>
              <a:t>1/8th the valuation of </a:t>
            </a:r>
            <a:r>
              <a:rPr lang="en-US" sz="1200" b="1"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How do two protocols generating comparable high-margin cash flows command wildly different valuation multiples? That is the central question of the Narrative Premium.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5</a:t>
            </a:fld>
            <a:endParaRPr lang="en-US"/>
          </a:p>
        </p:txBody>
      </p:sp>
    </p:spTree>
    <p:extLst>
      <p:ext uri="{BB962C8B-B14F-4D97-AF65-F5344CB8AC3E}">
        <p14:creationId xmlns:p14="http://schemas.microsoft.com/office/powerpoint/2010/main" val="2124206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the valuation gap between </a:t>
            </a:r>
            <a:r>
              <a:rPr lang="en-US" sz="1200"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Pump.fun</a:t>
            </a:r>
            <a:r>
              <a:rPr lang="en-US" sz="1200" kern="1200" dirty="0">
                <a:solidFill>
                  <a:schemeClr val="tx1"/>
                </a:solidFill>
                <a:effectLst/>
                <a:latin typeface="+mn-lt"/>
                <a:ea typeface="+mn-ea"/>
                <a:cs typeface="+mn-cs"/>
              </a:rPr>
              <a:t>, we must dissect their Product DNA.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Infrastructure vs. Application: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built institutional-grade exchange infrastructure—an ultra-performant L1 order book designed for prosumers and institutional capital. </a:t>
            </a:r>
            <a:r>
              <a:rPr lang="en-US" sz="1200" kern="1200" dirty="0" err="1">
                <a:solidFill>
                  <a:schemeClr val="tx1"/>
                </a:solidFill>
                <a:effectLst/>
                <a:latin typeface="+mn-lt"/>
                <a:ea typeface="+mn-ea"/>
                <a:cs typeface="+mn-cs"/>
              </a:rPr>
              <a:t>Pump.fun</a:t>
            </a:r>
            <a:r>
              <a:rPr lang="en-US" sz="1200" kern="1200" dirty="0">
                <a:solidFill>
                  <a:schemeClr val="tx1"/>
                </a:solidFill>
                <a:effectLst/>
                <a:latin typeface="+mn-lt"/>
                <a:ea typeface="+mn-ea"/>
                <a:cs typeface="+mn-cs"/>
              </a:rPr>
              <a:t> built a retail-facing consumer app—effectively '</a:t>
            </a:r>
            <a:r>
              <a:rPr lang="en-US" sz="1200" kern="1200" dirty="0" err="1">
                <a:solidFill>
                  <a:schemeClr val="tx1"/>
                </a:solidFill>
                <a:effectLst/>
                <a:latin typeface="+mn-lt"/>
                <a:ea typeface="+mn-ea"/>
                <a:cs typeface="+mn-cs"/>
              </a:rPr>
              <a:t>eToro</a:t>
            </a:r>
            <a:r>
              <a:rPr lang="en-US" sz="1200" kern="1200" dirty="0">
                <a:solidFill>
                  <a:schemeClr val="tx1"/>
                </a:solidFill>
                <a:effectLst/>
                <a:latin typeface="+mn-lt"/>
                <a:ea typeface="+mn-ea"/>
                <a:cs typeface="+mn-cs"/>
              </a:rPr>
              <a:t> meets social media'—tailored for retail speculation.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Core Narrative: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positions itself as 'NASDAQ on the Blockchain'—a venue to eventually trade every global stock, bond, currency, and commodity on-chain. </a:t>
            </a:r>
            <a:r>
              <a:rPr lang="en-US" sz="1200" kern="1200" dirty="0" err="1">
                <a:solidFill>
                  <a:schemeClr val="tx1"/>
                </a:solidFill>
                <a:effectLst/>
                <a:latin typeface="+mn-lt"/>
                <a:ea typeface="+mn-ea"/>
                <a:cs typeface="+mn-cs"/>
              </a:rPr>
              <a:t>Pump.fun's</a:t>
            </a:r>
            <a:r>
              <a:rPr lang="en-US" sz="1200" kern="1200" dirty="0">
                <a:solidFill>
                  <a:schemeClr val="tx1"/>
                </a:solidFill>
                <a:effectLst/>
                <a:latin typeface="+mn-lt"/>
                <a:ea typeface="+mn-ea"/>
                <a:cs typeface="+mn-cs"/>
              </a:rPr>
              <a:t> narrative is bound to the '</a:t>
            </a:r>
            <a:r>
              <a:rPr lang="en-US" sz="1200" kern="1200" dirty="0" err="1">
                <a:solidFill>
                  <a:schemeClr val="tx1"/>
                </a:solidFill>
                <a:effectLst/>
                <a:latin typeface="+mn-lt"/>
                <a:ea typeface="+mn-ea"/>
                <a:cs typeface="+mn-cs"/>
              </a:rPr>
              <a:t>Memecoin</a:t>
            </a:r>
            <a:r>
              <a:rPr lang="en-US" sz="1200" kern="1200" dirty="0">
                <a:solidFill>
                  <a:schemeClr val="tx1"/>
                </a:solidFill>
                <a:effectLst/>
                <a:latin typeface="+mn-lt"/>
                <a:ea typeface="+mn-ea"/>
                <a:cs typeface="+mn-cs"/>
              </a:rPr>
              <a:t> Casino'.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Valuation Driver: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Pump.fun</a:t>
            </a:r>
            <a:r>
              <a:rPr lang="en-US" sz="1200" kern="1200" dirty="0">
                <a:solidFill>
                  <a:schemeClr val="tx1"/>
                </a:solidFill>
                <a:effectLst/>
                <a:latin typeface="+mn-lt"/>
                <a:ea typeface="+mn-ea"/>
                <a:cs typeface="+mn-cs"/>
              </a:rPr>
              <a:t> is valued strictly on its </a:t>
            </a:r>
            <a:r>
              <a:rPr lang="en-US" sz="1200" i="1" kern="1200" dirty="0">
                <a:solidFill>
                  <a:schemeClr val="tx1"/>
                </a:solidFill>
                <a:effectLst/>
                <a:latin typeface="+mn-lt"/>
                <a:ea typeface="+mn-ea"/>
                <a:cs typeface="+mn-cs"/>
              </a:rPr>
              <a:t>current cash flow and execution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is valued on an </a:t>
            </a:r>
            <a:r>
              <a:rPr lang="en-US" sz="1200" i="1" kern="1200" dirty="0">
                <a:solidFill>
                  <a:schemeClr val="tx1"/>
                </a:solidFill>
                <a:effectLst/>
                <a:latin typeface="+mn-lt"/>
                <a:ea typeface="+mn-ea"/>
                <a:cs typeface="+mn-cs"/>
              </a:rPr>
              <a:t>infinitely expanding Total Addressable Market (TAM)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Pump built a killer business with a capped story. </a:t>
            </a:r>
            <a:r>
              <a:rPr lang="en-US" sz="1200"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built a great business paired with a visionary story.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6</a:t>
            </a:fld>
            <a:endParaRPr lang="en-US"/>
          </a:p>
        </p:txBody>
      </p:sp>
    </p:spTree>
    <p:extLst>
      <p:ext uri="{BB962C8B-B14F-4D97-AF65-F5344CB8AC3E}">
        <p14:creationId xmlns:p14="http://schemas.microsoft.com/office/powerpoint/2010/main" val="3267885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is the market so convinced of </a:t>
            </a:r>
            <a:r>
              <a:rPr lang="en-US" sz="1200" kern="1200" dirty="0" err="1">
                <a:solidFill>
                  <a:schemeClr val="tx1"/>
                </a:solidFill>
                <a:effectLst/>
                <a:latin typeface="+mn-lt"/>
                <a:ea typeface="+mn-ea"/>
                <a:cs typeface="+mn-cs"/>
              </a:rPr>
              <a:t>Hyperliquid’s</a:t>
            </a:r>
            <a:r>
              <a:rPr lang="en-US" sz="1200" kern="1200" dirty="0">
                <a:solidFill>
                  <a:schemeClr val="tx1"/>
                </a:solidFill>
                <a:effectLst/>
                <a:latin typeface="+mn-lt"/>
                <a:ea typeface="+mn-ea"/>
                <a:cs typeface="+mn-cs"/>
              </a:rPr>
              <a:t> expanding TAM? The proof lies in their market expansion metrics. </a:t>
            </a:r>
          </a:p>
          <a:p>
            <a:r>
              <a:rPr lang="en-US" sz="1200" kern="1200" dirty="0">
                <a:solidFill>
                  <a:schemeClr val="tx1"/>
                </a:solidFill>
                <a:effectLst/>
                <a:latin typeface="+mn-lt"/>
                <a:ea typeface="+mn-ea"/>
                <a:cs typeface="+mn-cs"/>
              </a:rPr>
              <a:t>Look at the HIP-3 governance proposal and asset statistics. </a:t>
            </a:r>
            <a:r>
              <a:rPr lang="en-US" sz="1200" b="1" kern="1200" dirty="0">
                <a:solidFill>
                  <a:schemeClr val="tx1"/>
                </a:solidFill>
                <a:effectLst/>
                <a:latin typeface="+mn-lt"/>
                <a:ea typeface="+mn-ea"/>
                <a:cs typeface="+mn-cs"/>
              </a:rPr>
              <a:t>38% of Q3 notional volume on </a:t>
            </a:r>
            <a:r>
              <a:rPr lang="en-US" sz="1200" b="1" kern="1200" dirty="0" err="1">
                <a:solidFill>
                  <a:schemeClr val="tx1"/>
                </a:solidFill>
                <a:effectLst/>
                <a:latin typeface="+mn-lt"/>
                <a:ea typeface="+mn-ea"/>
                <a:cs typeface="+mn-cs"/>
              </a:rPr>
              <a:t>Hyperliquid</a:t>
            </a:r>
            <a:r>
              <a:rPr lang="en-US" sz="1200" b="1" kern="1200" dirty="0">
                <a:solidFill>
                  <a:schemeClr val="tx1"/>
                </a:solidFill>
                <a:effectLst/>
                <a:latin typeface="+mn-lt"/>
                <a:ea typeface="+mn-ea"/>
                <a:cs typeface="+mn-cs"/>
              </a:rPr>
              <a:t> is now non-crypto related</a:t>
            </a:r>
            <a:r>
              <a:rPr lang="en-US" sz="1200" kern="1200" dirty="0">
                <a:solidFill>
                  <a:schemeClr val="tx1"/>
                </a:solidFill>
                <a:effectLst/>
                <a:latin typeface="+mn-lt"/>
                <a:ea typeface="+mn-ea"/>
                <a:cs typeface="+mn-cs"/>
              </a:rPr>
              <a:t>. They are actively capturing traditional asset volume—commodities, foreign exchange, equities indices—on-chain. </a:t>
            </a:r>
          </a:p>
          <a:p>
            <a:r>
              <a:rPr lang="en-US" sz="1200" kern="1200" dirty="0">
                <a:solidFill>
                  <a:schemeClr val="tx1"/>
                </a:solidFill>
                <a:effectLst/>
                <a:latin typeface="+mn-lt"/>
                <a:ea typeface="+mn-ea"/>
                <a:cs typeface="+mn-cs"/>
              </a:rPr>
              <a:t>Even though HIP-3 markets capture lower fee tiers (roughly 10% of standard crypto taker fees to remain competitive with </a:t>
            </a:r>
            <a:r>
              <a:rPr lang="en-US" sz="1200" kern="1200" dirty="0" err="1">
                <a:solidFill>
                  <a:schemeClr val="tx1"/>
                </a:solidFill>
                <a:effectLst/>
                <a:latin typeface="+mn-lt"/>
                <a:ea typeface="+mn-ea"/>
                <a:cs typeface="+mn-cs"/>
              </a:rPr>
              <a:t>TradFi</a:t>
            </a:r>
            <a:r>
              <a:rPr lang="en-US" sz="1200" kern="1200" dirty="0">
                <a:solidFill>
                  <a:schemeClr val="tx1"/>
                </a:solidFill>
                <a:effectLst/>
                <a:latin typeface="+mn-lt"/>
                <a:ea typeface="+mn-ea"/>
                <a:cs typeface="+mn-cs"/>
              </a:rPr>
              <a:t> venues like CME), this strategy unlocks vast traditional financial volume. Add to this the potential catalyst of regulatory shifts bringing compliant US institutional capital into </a:t>
            </a:r>
            <a:r>
              <a:rPr lang="en-US" sz="1200"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and you have an exchange venue engineered to compete directly with legacy giants.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7</a:t>
            </a:fld>
            <a:endParaRPr lang="en-US"/>
          </a:p>
        </p:txBody>
      </p:sp>
    </p:spTree>
    <p:extLst>
      <p:ext uri="{BB962C8B-B14F-4D97-AF65-F5344CB8AC3E}">
        <p14:creationId xmlns:p14="http://schemas.microsoft.com/office/powerpoint/2010/main" val="3897667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Conversely, let's diagnose why </a:t>
            </a:r>
            <a:r>
              <a:rPr lang="en-US" sz="1200" kern="1200" dirty="0" err="1">
                <a:solidFill>
                  <a:schemeClr val="tx1"/>
                </a:solidFill>
                <a:effectLst/>
                <a:latin typeface="+mn-lt"/>
                <a:ea typeface="+mn-ea"/>
                <a:cs typeface="+mn-cs"/>
              </a:rPr>
              <a:t>Pump.fun</a:t>
            </a:r>
            <a:r>
              <a:rPr lang="en-US" sz="1200" kern="1200" dirty="0">
                <a:solidFill>
                  <a:schemeClr val="tx1"/>
                </a:solidFill>
                <a:effectLst/>
                <a:latin typeface="+mn-lt"/>
                <a:ea typeface="+mn-ea"/>
                <a:cs typeface="+mn-cs"/>
              </a:rPr>
              <a:t> faces a 'Narrative Cap'. </a:t>
            </a:r>
          </a:p>
          <a:p>
            <a:r>
              <a:rPr lang="en-US" sz="1200" kern="1200" dirty="0" err="1">
                <a:solidFill>
                  <a:schemeClr val="tx1"/>
                </a:solidFill>
                <a:effectLst/>
                <a:latin typeface="+mn-lt"/>
                <a:ea typeface="+mn-ea"/>
                <a:cs typeface="+mn-cs"/>
              </a:rPr>
              <a:t>Pump.fun</a:t>
            </a:r>
            <a:r>
              <a:rPr lang="en-US" sz="1200" kern="1200" dirty="0">
                <a:solidFill>
                  <a:schemeClr val="tx1"/>
                </a:solidFill>
                <a:effectLst/>
                <a:latin typeface="+mn-lt"/>
                <a:ea typeface="+mn-ea"/>
                <a:cs typeface="+mn-cs"/>
              </a:rPr>
              <a:t> has undeniable, extraordinary Product-Market Fit. It regularly generates nearly 5x the daily revenue of platforms like </a:t>
            </a:r>
            <a:r>
              <a:rPr lang="en-US" sz="1200" kern="1200" dirty="0" err="1">
                <a:solidFill>
                  <a:schemeClr val="tx1"/>
                </a:solidFill>
                <a:effectLst/>
                <a:latin typeface="+mn-lt"/>
                <a:ea typeface="+mn-ea"/>
                <a:cs typeface="+mn-cs"/>
              </a:rPr>
              <a:t>PolyMarket</a:t>
            </a:r>
            <a:r>
              <a:rPr lang="en-US" sz="1200" kern="1200" dirty="0">
                <a:solidFill>
                  <a:schemeClr val="tx1"/>
                </a:solidFill>
                <a:effectLst/>
                <a:latin typeface="+mn-lt"/>
                <a:ea typeface="+mn-ea"/>
                <a:cs typeface="+mn-cs"/>
              </a:rPr>
              <a:t> and demonstrates durable usage through volatile market cycles. </a:t>
            </a:r>
          </a:p>
          <a:p>
            <a:r>
              <a:rPr lang="en-US" sz="1200" kern="1200" dirty="0">
                <a:solidFill>
                  <a:schemeClr val="tx1"/>
                </a:solidFill>
                <a:effectLst/>
                <a:latin typeface="+mn-lt"/>
                <a:ea typeface="+mn-ea"/>
                <a:cs typeface="+mn-cs"/>
              </a:rPr>
              <a:t>However, without a forward-looking TAM expansion narrative—a articulate vision to capture broader traditional finance—the market severely caps its valuation multiple. </a:t>
            </a:r>
          </a:p>
          <a:p>
            <a:r>
              <a:rPr lang="en-US" sz="1200" kern="1200" dirty="0">
                <a:solidFill>
                  <a:schemeClr val="tx1"/>
                </a:solidFill>
                <a:effectLst/>
                <a:latin typeface="+mn-lt"/>
                <a:ea typeface="+mn-ea"/>
                <a:cs typeface="+mn-cs"/>
              </a:rPr>
              <a:t>As illustrated on the matrix:</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Pump.fun</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High Revenue, Low Narrative → </a:t>
            </a:r>
            <a:r>
              <a:rPr lang="en-US" sz="1200" b="1" kern="1200" dirty="0">
                <a:solidFill>
                  <a:schemeClr val="tx1"/>
                </a:solidFill>
                <a:effectLst/>
                <a:latin typeface="+mn-lt"/>
                <a:ea typeface="+mn-ea"/>
                <a:cs typeface="+mn-cs"/>
              </a:rPr>
              <a:t>Low Multiple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Hyperliquid</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High Revenue, High Narrative → </a:t>
            </a:r>
            <a:r>
              <a:rPr lang="en-US" sz="1200" b="1" kern="1200" dirty="0">
                <a:solidFill>
                  <a:schemeClr val="tx1"/>
                </a:solidFill>
                <a:effectLst/>
                <a:latin typeface="+mn-lt"/>
                <a:ea typeface="+mn-ea"/>
                <a:cs typeface="+mn-cs"/>
              </a:rPr>
              <a:t>High Multiple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Instinct AI:</a:t>
            </a:r>
            <a:r>
              <a:rPr lang="en-US" sz="1200" kern="1200" dirty="0">
                <a:solidFill>
                  <a:schemeClr val="tx1"/>
                </a:solidFill>
                <a:effectLst/>
                <a:latin typeface="+mn-lt"/>
                <a:ea typeface="+mn-ea"/>
                <a:cs typeface="+mn-cs"/>
              </a:rPr>
              <a:t> $0 Revenue, Infinite Narrative → </a:t>
            </a:r>
            <a:r>
              <a:rPr lang="en-US" sz="1200" b="1" kern="1200" dirty="0">
                <a:solidFill>
                  <a:schemeClr val="tx1"/>
                </a:solidFill>
                <a:effectLst/>
                <a:latin typeface="+mn-lt"/>
                <a:ea typeface="+mn-ea"/>
                <a:cs typeface="+mn-cs"/>
              </a:rPr>
              <a:t>Extreme Multiple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Execution without narrative expansion hard-caps your upside.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8</a:t>
            </a:fld>
            <a:endParaRPr lang="en-US"/>
          </a:p>
        </p:txBody>
      </p:sp>
    </p:spTree>
    <p:extLst>
      <p:ext uri="{BB962C8B-B14F-4D97-AF65-F5344CB8AC3E}">
        <p14:creationId xmlns:p14="http://schemas.microsoft.com/office/powerpoint/2010/main" val="1127605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happens when a protocol matures and needs to convert its narrative into lasting institutional structure? This brings us to </a:t>
            </a:r>
            <a:r>
              <a:rPr lang="en-US" sz="1200" b="1" kern="1200" dirty="0">
                <a:solidFill>
                  <a:schemeClr val="tx1"/>
                </a:solidFill>
                <a:effectLst/>
                <a:latin typeface="+mn-lt"/>
                <a:ea typeface="+mn-ea"/>
                <a:cs typeface="+mn-cs"/>
              </a:rPr>
              <a:t>Ethena (ENA)</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industry has long suffered from the 'Low Float / High FDV' token overhang—where massive monthly unlocks from early VCs dump on secondary markets, suppressing token price regardless of revenue growth. </a:t>
            </a:r>
          </a:p>
          <a:p>
            <a:r>
              <a:rPr lang="en-US" sz="1200" kern="1200" dirty="0">
                <a:solidFill>
                  <a:schemeClr val="tx1"/>
                </a:solidFill>
                <a:effectLst/>
                <a:latin typeface="+mn-lt"/>
                <a:ea typeface="+mn-ea"/>
                <a:cs typeface="+mn-cs"/>
              </a:rPr>
              <a:t>The Ethena Foundation recently executed a four-step </a:t>
            </a:r>
            <a:r>
              <a:rPr lang="en-US" sz="1200" kern="1200" dirty="0" err="1">
                <a:solidFill>
                  <a:schemeClr val="tx1"/>
                </a:solidFill>
                <a:effectLst/>
                <a:latin typeface="+mn-lt"/>
                <a:ea typeface="+mn-ea"/>
                <a:cs typeface="+mn-cs"/>
              </a:rPr>
              <a:t>tokenomics</a:t>
            </a:r>
            <a:r>
              <a:rPr lang="en-US" sz="1200" kern="1200" dirty="0">
                <a:solidFill>
                  <a:schemeClr val="tx1"/>
                </a:solidFill>
                <a:effectLst/>
                <a:latin typeface="+mn-lt"/>
                <a:ea typeface="+mn-ea"/>
                <a:cs typeface="+mn-cs"/>
              </a:rPr>
              <a:t> reset: </a:t>
            </a:r>
          </a:p>
          <a:p>
            <a:pPr marL="228600" lvl="0" indent="-228600">
              <a:buFont typeface="+mj-lt"/>
              <a:buAutoNum type="arabicPeriod"/>
            </a:pPr>
            <a:r>
              <a:rPr lang="en-US" sz="1200" b="1" kern="1200" dirty="0">
                <a:solidFill>
                  <a:schemeClr val="tx1"/>
                </a:solidFill>
                <a:effectLst/>
                <a:latin typeface="+mn-lt"/>
                <a:ea typeface="+mn-ea"/>
                <a:cs typeface="+mn-cs"/>
              </a:rPr>
              <a:t>Buyout of Early Sellers:</a:t>
            </a:r>
            <a:r>
              <a:rPr lang="en-US" sz="1200" kern="1200" dirty="0">
                <a:solidFill>
                  <a:schemeClr val="tx1"/>
                </a:solidFill>
                <a:effectLst/>
                <a:latin typeface="+mn-lt"/>
                <a:ea typeface="+mn-ea"/>
                <a:cs typeface="+mn-cs"/>
              </a:rPr>
              <a:t> The Foundation bought out locked tokens from seed investors who sold over the last 9 months. </a:t>
            </a:r>
          </a:p>
          <a:p>
            <a:pPr marL="228600" lvl="0" indent="-228600">
              <a:buFont typeface="+mj-lt"/>
              <a:buAutoNum type="arabicPeriod"/>
            </a:pPr>
            <a:r>
              <a:rPr lang="en-US" sz="1200" b="1" kern="1200" dirty="0">
                <a:solidFill>
                  <a:schemeClr val="tx1"/>
                </a:solidFill>
                <a:effectLst/>
                <a:latin typeface="+mn-lt"/>
                <a:ea typeface="+mn-ea"/>
                <a:cs typeface="+mn-cs"/>
              </a:rPr>
              <a:t>IP &amp; Value Alignment:</a:t>
            </a:r>
            <a:r>
              <a:rPr lang="en-US" sz="1200" kern="1200" dirty="0">
                <a:solidFill>
                  <a:schemeClr val="tx1"/>
                </a:solidFill>
                <a:effectLst/>
                <a:latin typeface="+mn-lt"/>
                <a:ea typeface="+mn-ea"/>
                <a:cs typeface="+mn-cs"/>
              </a:rPr>
              <a:t> Transferred all IP and protocol value from Ethena Labs (the equity entity) to the Foundation (the token holders. </a:t>
            </a:r>
          </a:p>
          <a:p>
            <a:pPr marL="228600" lvl="0" indent="-228600">
              <a:buFont typeface="+mj-lt"/>
              <a:buAutoNum type="arabicPeriod"/>
            </a:pPr>
            <a:r>
              <a:rPr lang="en-US" sz="1200" b="1" kern="1200" dirty="0">
                <a:solidFill>
                  <a:schemeClr val="tx1"/>
                </a:solidFill>
                <a:effectLst/>
                <a:latin typeface="+mn-lt"/>
                <a:ea typeface="+mn-ea"/>
                <a:cs typeface="+mn-cs"/>
              </a:rPr>
              <a:t>Programmatic Buybacks:</a:t>
            </a:r>
            <a:r>
              <a:rPr lang="en-US" sz="1200" kern="1200" dirty="0">
                <a:solidFill>
                  <a:schemeClr val="tx1"/>
                </a:solidFill>
                <a:effectLst/>
                <a:latin typeface="+mn-lt"/>
                <a:ea typeface="+mn-ea"/>
                <a:cs typeface="+mn-cs"/>
              </a:rPr>
              <a:t> Implemented a fee-switch directing net protocol revenues into buying ENA. </a:t>
            </a:r>
          </a:p>
          <a:p>
            <a:pPr marL="228600" lvl="0" indent="-228600">
              <a:buFont typeface="+mj-lt"/>
              <a:buAutoNum type="arabicPeriod"/>
            </a:pPr>
            <a:r>
              <a:rPr lang="en-US" sz="1200" b="1" kern="1200" dirty="0">
                <a:solidFill>
                  <a:schemeClr val="tx1"/>
                </a:solidFill>
                <a:effectLst/>
                <a:latin typeface="+mn-lt"/>
                <a:ea typeface="+mn-ea"/>
                <a:cs typeface="+mn-cs"/>
              </a:rPr>
              <a:t>Removal of VC Overhang:</a:t>
            </a:r>
            <a:r>
              <a:rPr lang="en-US" sz="1200" kern="1200" dirty="0">
                <a:solidFill>
                  <a:schemeClr val="tx1"/>
                </a:solidFill>
                <a:effectLst/>
                <a:latin typeface="+mn-lt"/>
                <a:ea typeface="+mn-ea"/>
                <a:cs typeface="+mn-cs"/>
              </a:rPr>
              <a:t> Unlocked all unvested investor tokens immediately to force true price discovery.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9</a:t>
            </a:fld>
            <a:endParaRPr lang="en-US"/>
          </a:p>
        </p:txBody>
      </p:sp>
    </p:spTree>
    <p:extLst>
      <p:ext uri="{BB962C8B-B14F-4D97-AF65-F5344CB8AC3E}">
        <p14:creationId xmlns:p14="http://schemas.microsoft.com/office/powerpoint/2010/main" val="215361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break down the mechanics of Move 1 and Move 2. </a:t>
            </a:r>
          </a:p>
          <a:p>
            <a:r>
              <a:rPr lang="en-US" sz="1200" b="1" kern="1200" dirty="0">
                <a:solidFill>
                  <a:schemeClr val="tx1"/>
                </a:solidFill>
                <a:effectLst/>
                <a:latin typeface="+mn-lt"/>
                <a:ea typeface="+mn-ea"/>
                <a:cs typeface="+mn-cs"/>
              </a:rPr>
              <a:t>Move 1: The Buyout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The Foundation stepped in to buy out seed investors who were active sellers on secondary markets over the past 9 months.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Impact:</a:t>
            </a:r>
            <a:r>
              <a:rPr lang="en-US" sz="1200" kern="1200" dirty="0">
                <a:solidFill>
                  <a:schemeClr val="tx1"/>
                </a:solidFill>
                <a:effectLst/>
                <a:latin typeface="+mn-lt"/>
                <a:ea typeface="+mn-ea"/>
                <a:cs typeface="+mn-cs"/>
              </a:rPr>
              <a:t> This immediately removed toxic overhang and misaligned capital partners who were bleeding the token's market cap. </a:t>
            </a:r>
          </a:p>
          <a:p>
            <a:r>
              <a:rPr lang="en-US" sz="1200" b="1" kern="1200" dirty="0">
                <a:solidFill>
                  <a:schemeClr val="tx1"/>
                </a:solidFill>
                <a:effectLst/>
                <a:latin typeface="+mn-lt"/>
                <a:ea typeface="+mn-ea"/>
                <a:cs typeface="+mn-cs"/>
              </a:rPr>
              <a:t>Move 2: IP Alignment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A master framework agreement formally reassigned all intellectual property, revenue rights, and protocol value from the development company (Ethena Labs) to the token foundation.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Impact:</a:t>
            </a:r>
            <a:r>
              <a:rPr lang="en-US" sz="1200" kern="1200" dirty="0">
                <a:solidFill>
                  <a:schemeClr val="tx1"/>
                </a:solidFill>
                <a:effectLst/>
                <a:latin typeface="+mn-lt"/>
                <a:ea typeface="+mn-ea"/>
                <a:cs typeface="+mn-cs"/>
              </a:rPr>
              <a:t> This eliminated cash flow leakage to equity holders. The core principle was established: </a:t>
            </a:r>
            <a:r>
              <a:rPr lang="en-US" sz="1200" b="1" kern="1200" dirty="0">
                <a:solidFill>
                  <a:schemeClr val="tx1"/>
                </a:solidFill>
                <a:effectLst/>
                <a:latin typeface="+mn-lt"/>
                <a:ea typeface="+mn-ea"/>
                <a:cs typeface="+mn-cs"/>
              </a:rPr>
              <a:t>The token IS the business</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10</a:t>
            </a:fld>
            <a:endParaRPr lang="en-US"/>
          </a:p>
        </p:txBody>
      </p:sp>
    </p:spTree>
    <p:extLst>
      <p:ext uri="{BB962C8B-B14F-4D97-AF65-F5344CB8AC3E}">
        <p14:creationId xmlns:p14="http://schemas.microsoft.com/office/powerpoint/2010/main" val="2724963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Next, let's examine the structural adjustments made to Ethena's supply and cash flow dynamics. </a:t>
            </a:r>
          </a:p>
          <a:p>
            <a:r>
              <a:rPr lang="en-US" sz="1200" b="1" kern="1200" dirty="0">
                <a:solidFill>
                  <a:schemeClr val="tx1"/>
                </a:solidFill>
                <a:effectLst/>
                <a:latin typeface="+mn-lt"/>
                <a:ea typeface="+mn-ea"/>
                <a:cs typeface="+mn-cs"/>
              </a:rPr>
              <a:t>The Fee Switch &amp; Revenue Accrual:</a:t>
            </a:r>
            <a:r>
              <a:rPr lang="en-US" sz="1200" kern="1200" dirty="0">
                <a:solidFill>
                  <a:schemeClr val="tx1"/>
                </a:solidFill>
                <a:effectLst/>
                <a:latin typeface="+mn-lt"/>
                <a:ea typeface="+mn-ea"/>
                <a:cs typeface="+mn-cs"/>
              </a:rPr>
              <a:t> Ethena activated programmatic buybacks where 100% of net revenue generated across all Ethena product lines is used directly on the open market to buy back ENA tokens. </a:t>
            </a:r>
          </a:p>
          <a:p>
            <a:r>
              <a:rPr lang="en-US" sz="1200" b="1" kern="1200" dirty="0">
                <a:solidFill>
                  <a:schemeClr val="tx1"/>
                </a:solidFill>
                <a:effectLst/>
                <a:latin typeface="+mn-lt"/>
                <a:ea typeface="+mn-ea"/>
                <a:cs typeface="+mn-cs"/>
              </a:rPr>
              <a:t>Removing Monthly Unlocks (Circulating Supply Reset):</a:t>
            </a:r>
            <a:r>
              <a:rPr lang="en-US" sz="1200" kern="1200" dirty="0">
                <a:solidFill>
                  <a:schemeClr val="tx1"/>
                </a:solidFill>
                <a:effectLst/>
                <a:latin typeface="+mn-lt"/>
                <a:ea typeface="+mn-ea"/>
                <a:cs typeface="+mn-cs"/>
              </a:rPr>
              <a:t> Instead of subjecting the token to recurring monthly VC unlocks that suppress buyer confidence, Ethena released all unvested VC tokens immediately. Fully unlocking the investor supply removes lingering fear of hidden unlocks and forces immediate, transparent price discovery in the open market.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11</a:t>
            </a:fld>
            <a:endParaRPr lang="en-US"/>
          </a:p>
        </p:txBody>
      </p:sp>
    </p:spTree>
    <p:extLst>
      <p:ext uri="{BB962C8B-B14F-4D97-AF65-F5344CB8AC3E}">
        <p14:creationId xmlns:p14="http://schemas.microsoft.com/office/powerpoint/2010/main" val="2949417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is Ethena executing these structural resets now? Because it is positioning itself as the foundational yield infrastructure for all on-chain finance. </a:t>
            </a:r>
          </a:p>
          <a:p>
            <a:r>
              <a:rPr lang="en-US" sz="1200" kern="1200" dirty="0">
                <a:solidFill>
                  <a:schemeClr val="tx1"/>
                </a:solidFill>
                <a:effectLst/>
                <a:latin typeface="+mn-lt"/>
                <a:ea typeface="+mn-ea"/>
                <a:cs typeface="+mn-cs"/>
              </a:rPr>
              <a:t>Ethena is moving far beyond simple delta-neutral basis trades. As shown in the diagram:</a:t>
            </a:r>
          </a:p>
          <a:p>
            <a:pPr lvl="0"/>
            <a:r>
              <a:rPr lang="en-US" sz="1200" b="1" kern="1200" dirty="0" err="1">
                <a:solidFill>
                  <a:schemeClr val="tx1"/>
                </a:solidFill>
                <a:effectLst/>
                <a:latin typeface="+mn-lt"/>
                <a:ea typeface="+mn-ea"/>
                <a:cs typeface="+mn-cs"/>
              </a:rPr>
              <a:t>FalconX</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Integrating $1B in secured lending. </a:t>
            </a:r>
          </a:p>
          <a:p>
            <a:pPr lvl="0"/>
            <a:r>
              <a:rPr lang="en-US" sz="1200" b="1" kern="1200" dirty="0">
                <a:solidFill>
                  <a:schemeClr val="tx1"/>
                </a:solidFill>
                <a:effectLst/>
                <a:latin typeface="+mn-lt"/>
                <a:ea typeface="+mn-ea"/>
                <a:cs typeface="+mn-cs"/>
              </a:rPr>
              <a:t>BlackRock:</a:t>
            </a:r>
            <a:r>
              <a:rPr lang="en-US" sz="1200" kern="1200" dirty="0">
                <a:solidFill>
                  <a:schemeClr val="tx1"/>
                </a:solidFill>
                <a:effectLst/>
                <a:latin typeface="+mn-lt"/>
                <a:ea typeface="+mn-ea"/>
                <a:cs typeface="+mn-cs"/>
              </a:rPr>
              <a:t> Integrating real-world </a:t>
            </a:r>
            <a:r>
              <a:rPr lang="en-US" sz="1200" kern="1200" dirty="0" err="1">
                <a:solidFill>
                  <a:schemeClr val="tx1"/>
                </a:solidFill>
                <a:effectLst/>
                <a:latin typeface="+mn-lt"/>
                <a:ea typeface="+mn-ea"/>
                <a:cs typeface="+mn-cs"/>
              </a:rPr>
              <a:t>TradFi</a:t>
            </a:r>
            <a:r>
              <a:rPr lang="en-US" sz="1200" kern="1200" dirty="0">
                <a:solidFill>
                  <a:schemeClr val="tx1"/>
                </a:solidFill>
                <a:effectLst/>
                <a:latin typeface="+mn-lt"/>
                <a:ea typeface="+mn-ea"/>
                <a:cs typeface="+mn-cs"/>
              </a:rPr>
              <a:t> asset yields. </a:t>
            </a:r>
          </a:p>
          <a:p>
            <a:pPr lvl="0"/>
            <a:r>
              <a:rPr lang="en-US" sz="1200" b="1" kern="1200" dirty="0">
                <a:solidFill>
                  <a:schemeClr val="tx1"/>
                </a:solidFill>
                <a:effectLst/>
                <a:latin typeface="+mn-lt"/>
                <a:ea typeface="+mn-ea"/>
                <a:cs typeface="+mn-cs"/>
              </a:rPr>
              <a:t>Janus Henderson:</a:t>
            </a:r>
            <a:r>
              <a:rPr lang="en-US" sz="1200" kern="1200" dirty="0">
                <a:solidFill>
                  <a:schemeClr val="tx1"/>
                </a:solidFill>
                <a:effectLst/>
                <a:latin typeface="+mn-lt"/>
                <a:ea typeface="+mn-ea"/>
                <a:cs typeface="+mn-cs"/>
              </a:rPr>
              <a:t> Incorporating CLLO (Collateralized Loan Obligation) products for enhanced risk-adjusted yields. </a:t>
            </a:r>
          </a:p>
          <a:p>
            <a:pPr lvl="0"/>
            <a:r>
              <a:rPr lang="en-US" sz="1200" b="1" kern="1200" dirty="0">
                <a:solidFill>
                  <a:schemeClr val="tx1"/>
                </a:solidFill>
                <a:effectLst/>
                <a:latin typeface="+mn-lt"/>
                <a:ea typeface="+mn-ea"/>
                <a:cs typeface="+mn-cs"/>
              </a:rPr>
              <a:t>Distribution Partners:</a:t>
            </a:r>
            <a:r>
              <a:rPr lang="en-US" sz="1200" kern="1200" dirty="0">
                <a:solidFill>
                  <a:schemeClr val="tx1"/>
                </a:solidFill>
                <a:effectLst/>
                <a:latin typeface="+mn-lt"/>
                <a:ea typeface="+mn-ea"/>
                <a:cs typeface="+mn-cs"/>
              </a:rPr>
              <a:t> Direct vault integrations into consumer gateways like Coinbase and Robinhood. </a:t>
            </a:r>
          </a:p>
          <a:p>
            <a:r>
              <a:rPr lang="en-US" sz="1200" kern="1200" dirty="0">
                <a:solidFill>
                  <a:schemeClr val="tx1"/>
                </a:solidFill>
                <a:effectLst/>
                <a:latin typeface="+mn-lt"/>
                <a:ea typeface="+mn-ea"/>
                <a:cs typeface="+mn-cs"/>
              </a:rPr>
              <a:t>Ethena is constructing a 'Money Market Fund </a:t>
            </a:r>
            <a:r>
              <a:rPr lang="en-US" sz="1200" kern="1200" dirty="0" err="1">
                <a:solidFill>
                  <a:schemeClr val="tx1"/>
                </a:solidFill>
                <a:effectLst/>
                <a:latin typeface="+mn-lt"/>
                <a:ea typeface="+mn-ea"/>
                <a:cs typeface="+mn-cs"/>
              </a:rPr>
              <a:t>Plus'</a:t>
            </a:r>
            <a:r>
              <a:rPr lang="en-US" sz="1200" kern="1200" dirty="0">
                <a:solidFill>
                  <a:schemeClr val="tx1"/>
                </a:solidFill>
                <a:effectLst/>
                <a:latin typeface="+mn-lt"/>
                <a:ea typeface="+mn-ea"/>
                <a:cs typeface="+mn-cs"/>
              </a:rPr>
              <a:t> collateral asset to power decentralized exchanges and money markets globally.</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12</a:t>
            </a:fld>
            <a:endParaRPr lang="en-US"/>
          </a:p>
        </p:txBody>
      </p:sp>
    </p:spTree>
    <p:extLst>
      <p:ext uri="{BB962C8B-B14F-4D97-AF65-F5344CB8AC3E}">
        <p14:creationId xmlns:p14="http://schemas.microsoft.com/office/powerpoint/2010/main" val="2605518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look beyond pure infrastructure, the next major frontier in high-beta markets is the convergence of </a:t>
            </a:r>
            <a:r>
              <a:rPr lang="en-US" sz="1200" b="1" kern="1200" dirty="0">
                <a:solidFill>
                  <a:schemeClr val="tx1"/>
                </a:solidFill>
                <a:effectLst/>
                <a:latin typeface="+mn-lt"/>
                <a:ea typeface="+mn-ea"/>
                <a:cs typeface="+mn-cs"/>
              </a:rPr>
              <a:t>Consumer Social and Financial Trading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Apps like FOMO are succeeding where earlier iterations (like Vector) struggled. Key drivers include: </a:t>
            </a:r>
          </a:p>
          <a:p>
            <a:pPr lvl="0"/>
            <a:r>
              <a:rPr lang="en-US" sz="1200" b="1" kern="1200" dirty="0">
                <a:solidFill>
                  <a:schemeClr val="tx1"/>
                </a:solidFill>
                <a:effectLst/>
                <a:latin typeface="+mn-lt"/>
                <a:ea typeface="+mn-ea"/>
                <a:cs typeface="+mn-cs"/>
              </a:rPr>
              <a:t>Non-crypto native UX:</a:t>
            </a:r>
            <a:r>
              <a:rPr lang="en-US" sz="1200" kern="1200" dirty="0">
                <a:solidFill>
                  <a:schemeClr val="tx1"/>
                </a:solidFill>
                <a:effectLst/>
                <a:latin typeface="+mn-lt"/>
                <a:ea typeface="+mn-ea"/>
                <a:cs typeface="+mn-cs"/>
              </a:rPr>
              <a:t> Eliminating complex wallet setups and gas fees in favor of sleek, intuitive social interfaces. </a:t>
            </a:r>
          </a:p>
          <a:p>
            <a:pPr lvl="0"/>
            <a:r>
              <a:rPr lang="en-US" sz="1200" b="1" kern="1200" dirty="0">
                <a:solidFill>
                  <a:schemeClr val="tx1"/>
                </a:solidFill>
                <a:effectLst/>
                <a:latin typeface="+mn-lt"/>
                <a:ea typeface="+mn-ea"/>
                <a:cs typeface="+mn-cs"/>
              </a:rPr>
              <a:t>Aggressive, Data-Driven Customer Acquisition:</a:t>
            </a:r>
            <a:r>
              <a:rPr lang="en-US" sz="1200" kern="1200" dirty="0">
                <a:solidFill>
                  <a:schemeClr val="tx1"/>
                </a:solidFill>
                <a:effectLst/>
                <a:latin typeface="+mn-lt"/>
                <a:ea typeface="+mn-ea"/>
                <a:cs typeface="+mn-cs"/>
              </a:rPr>
              <a:t> Reaching users directly on TikTok and Instagram rather than relying solely on Crypto Twitter. </a:t>
            </a:r>
          </a:p>
          <a:p>
            <a:r>
              <a:rPr lang="en-US" sz="1200" kern="1200" dirty="0">
                <a:solidFill>
                  <a:schemeClr val="tx1"/>
                </a:solidFill>
                <a:effectLst/>
                <a:latin typeface="+mn-lt"/>
                <a:ea typeface="+mn-ea"/>
                <a:cs typeface="+mn-cs"/>
              </a:rPr>
              <a:t>The intersection of viral social engagement and instant financial speculation represents the breakout consumer application layer of this cycle.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13</a:t>
            </a:fld>
            <a:endParaRPr lang="en-US"/>
          </a:p>
        </p:txBody>
      </p:sp>
    </p:spTree>
    <p:extLst>
      <p:ext uri="{BB962C8B-B14F-4D97-AF65-F5344CB8AC3E}">
        <p14:creationId xmlns:p14="http://schemas.microsoft.com/office/powerpoint/2010/main" val="3484121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summarize our strategic framework today, we outline three core rules of </a:t>
            </a:r>
            <a:r>
              <a:rPr lang="en-US" sz="1200" b="1" kern="1200" dirty="0">
                <a:solidFill>
                  <a:schemeClr val="tx1"/>
                </a:solidFill>
                <a:effectLst/>
                <a:latin typeface="+mn-lt"/>
                <a:ea typeface="+mn-ea"/>
                <a:cs typeface="+mn-cs"/>
              </a:rPr>
              <a:t>The Market Blueprint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Convergence of Liquidity:</a:t>
            </a:r>
            <a:r>
              <a:rPr lang="en-US" sz="1200" kern="1200" dirty="0">
                <a:solidFill>
                  <a:schemeClr val="tx1"/>
                </a:solidFill>
                <a:effectLst/>
                <a:latin typeface="+mn-lt"/>
                <a:ea typeface="+mn-ea"/>
                <a:cs typeface="+mn-cs"/>
              </a:rPr>
              <a:t> The boundary between public equities and private venture capital is disappearing. Capital across both spheres prices growth assets like upside options. </a:t>
            </a:r>
          </a:p>
          <a:p>
            <a:pPr lvl="0"/>
            <a:r>
              <a:rPr lang="en-US" sz="1200" b="1" kern="1200" dirty="0">
                <a:solidFill>
                  <a:schemeClr val="tx1"/>
                </a:solidFill>
                <a:effectLst/>
                <a:latin typeface="+mn-lt"/>
                <a:ea typeface="+mn-ea"/>
                <a:cs typeface="+mn-cs"/>
              </a:rPr>
              <a:t>The Narrative Multiplier:</a:t>
            </a:r>
            <a:r>
              <a:rPr lang="en-US" sz="1200" kern="1200" dirty="0">
                <a:solidFill>
                  <a:schemeClr val="tx1"/>
                </a:solidFill>
                <a:effectLst/>
                <a:latin typeface="+mn-lt"/>
                <a:ea typeface="+mn-ea"/>
                <a:cs typeface="+mn-cs"/>
              </a:rPr>
              <a:t> Cash flow without a forward-looking story leads to multiple compression (e.g., </a:t>
            </a:r>
            <a:r>
              <a:rPr lang="en-US" sz="1200" kern="1200" dirty="0" err="1">
                <a:solidFill>
                  <a:schemeClr val="tx1"/>
                </a:solidFill>
                <a:effectLst/>
                <a:latin typeface="+mn-lt"/>
                <a:ea typeface="+mn-ea"/>
                <a:cs typeface="+mn-cs"/>
              </a:rPr>
              <a:t>Pump.fun</a:t>
            </a:r>
            <a:r>
              <a:rPr lang="en-US" sz="1200" kern="1200" dirty="0">
                <a:solidFill>
                  <a:schemeClr val="tx1"/>
                </a:solidFill>
                <a:effectLst/>
                <a:latin typeface="+mn-lt"/>
                <a:ea typeface="+mn-ea"/>
                <a:cs typeface="+mn-cs"/>
              </a:rPr>
              <a:t>). An expanding, infinite TAM is heavily rewarded by the market (e.g., </a:t>
            </a:r>
            <a:r>
              <a:rPr lang="en-US" sz="1200" kern="1200" dirty="0" err="1">
                <a:solidFill>
                  <a:schemeClr val="tx1"/>
                </a:solidFill>
                <a:effectLst/>
                <a:latin typeface="+mn-lt"/>
                <a:ea typeface="+mn-ea"/>
                <a:cs typeface="+mn-cs"/>
              </a:rPr>
              <a:t>Hyperliquid</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Alignment Imperative:</a:t>
            </a:r>
            <a:r>
              <a:rPr lang="en-US" sz="1200" kern="1200" dirty="0">
                <a:solidFill>
                  <a:schemeClr val="tx1"/>
                </a:solidFill>
                <a:effectLst/>
                <a:latin typeface="+mn-lt"/>
                <a:ea typeface="+mn-ea"/>
                <a:cs typeface="+mn-cs"/>
              </a:rPr>
              <a:t> As narrative projects mature, long-term institutional capital demands clean cap tables, fee-switch value accrual, and absolute supply transparency (e.g., Ethena).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14</a:t>
            </a:fld>
            <a:endParaRPr lang="en-US"/>
          </a:p>
        </p:txBody>
      </p:sp>
    </p:spTree>
    <p:extLst>
      <p:ext uri="{BB962C8B-B14F-4D97-AF65-F5344CB8AC3E}">
        <p14:creationId xmlns:p14="http://schemas.microsoft.com/office/powerpoint/2010/main" val="1748235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review the hard numbers side-by-side: </a:t>
            </a:r>
          </a:p>
          <a:p>
            <a:pPr lvl="0"/>
            <a:r>
              <a:rPr lang="en-US" sz="1200" b="1" kern="1200" dirty="0" err="1">
                <a:solidFill>
                  <a:schemeClr val="tx1"/>
                </a:solidFill>
                <a:effectLst/>
                <a:latin typeface="+mn-lt"/>
                <a:ea typeface="+mn-ea"/>
                <a:cs typeface="+mn-cs"/>
              </a:rPr>
              <a:t>Hyperliquid</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Generates ~$150M quarterly revenue ($600M run rate) with under 20 employees. Core vision: NASDAQ on the Blockchain for all financial assets. Commands the highest valuation multiple. </a:t>
            </a:r>
          </a:p>
          <a:p>
            <a:pPr lvl="0"/>
            <a:r>
              <a:rPr lang="en-US" sz="1200" b="1" kern="1200" dirty="0" err="1">
                <a:solidFill>
                  <a:schemeClr val="tx1"/>
                </a:solidFill>
                <a:effectLst/>
                <a:latin typeface="+mn-lt"/>
                <a:ea typeface="+mn-ea"/>
                <a:cs typeface="+mn-cs"/>
              </a:rPr>
              <a:t>Pump.fun</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Generates ~$90M–$100M quarterly revenue. Core vision: Hyper-social </a:t>
            </a:r>
            <a:r>
              <a:rPr lang="en-US" sz="1200" kern="1200" dirty="0" err="1">
                <a:solidFill>
                  <a:schemeClr val="tx1"/>
                </a:solidFill>
                <a:effectLst/>
                <a:latin typeface="+mn-lt"/>
                <a:ea typeface="+mn-ea"/>
                <a:cs typeface="+mn-cs"/>
              </a:rPr>
              <a:t>memecoin</a:t>
            </a:r>
            <a:r>
              <a:rPr lang="en-US" sz="1200" kern="1200" dirty="0">
                <a:solidFill>
                  <a:schemeClr val="tx1"/>
                </a:solidFill>
                <a:effectLst/>
                <a:latin typeface="+mn-lt"/>
                <a:ea typeface="+mn-ea"/>
                <a:cs typeface="+mn-cs"/>
              </a:rPr>
              <a:t> trading. Trades at a significantly lower multiple due to narrative constraints. </a:t>
            </a:r>
          </a:p>
          <a:p>
            <a:pPr lvl="0"/>
            <a:r>
              <a:rPr lang="en-US" sz="1200" b="1" kern="1200" dirty="0">
                <a:solidFill>
                  <a:schemeClr val="tx1"/>
                </a:solidFill>
                <a:effectLst/>
                <a:latin typeface="+mn-lt"/>
                <a:ea typeface="+mn-ea"/>
                <a:cs typeface="+mn-cs"/>
              </a:rPr>
              <a:t>Ethena:</a:t>
            </a:r>
            <a:r>
              <a:rPr lang="en-US" sz="1200" kern="1200" dirty="0">
                <a:solidFill>
                  <a:schemeClr val="tx1"/>
                </a:solidFill>
                <a:effectLst/>
                <a:latin typeface="+mn-lt"/>
                <a:ea typeface="+mn-ea"/>
                <a:cs typeface="+mn-cs"/>
              </a:rPr>
              <a:t> Generates ~$56M quarterly revenue. Core vision: Stablecoin yield infrastructure and money-market collateral. </a:t>
            </a:r>
          </a:p>
          <a:p>
            <a:r>
              <a:rPr lang="en-US" sz="1200" kern="1200" dirty="0">
                <a:solidFill>
                  <a:schemeClr val="tx1"/>
                </a:solidFill>
                <a:effectLst/>
                <a:latin typeface="+mn-lt"/>
                <a:ea typeface="+mn-ea"/>
                <a:cs typeface="+mn-cs"/>
              </a:rPr>
              <a:t>Notice that Pump produces nearly 2x Ethena’s quarterly revenue, yet trades at a similar valuation because Ethena captures an infrastructure TAM narrative. </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15</a:t>
            </a:fld>
            <a:endParaRPr lang="en-US"/>
          </a:p>
        </p:txBody>
      </p:sp>
    </p:spTree>
    <p:extLst>
      <p:ext uri="{BB962C8B-B14F-4D97-AF65-F5344CB8AC3E}">
        <p14:creationId xmlns:p14="http://schemas.microsoft.com/office/powerpoint/2010/main" val="41134162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Finally, let's touch upon the consumer application of AI agents—highlighting </a:t>
            </a:r>
            <a:r>
              <a:rPr lang="en-US" sz="1200" b="1" kern="1200" dirty="0">
                <a:solidFill>
                  <a:schemeClr val="tx1"/>
                </a:solidFill>
                <a:effectLst/>
                <a:latin typeface="+mn-lt"/>
                <a:ea typeface="+mn-ea"/>
                <a:cs typeface="+mn-cs"/>
              </a:rPr>
              <a:t>Instinct vs. Atlas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Instinct:</a:t>
            </a:r>
            <a:r>
              <a:rPr lang="en-US" sz="1200" kern="1200" dirty="0">
                <a:solidFill>
                  <a:schemeClr val="tx1"/>
                </a:solidFill>
                <a:effectLst/>
                <a:latin typeface="+mn-lt"/>
                <a:ea typeface="+mn-ea"/>
                <a:cs typeface="+mn-cs"/>
              </a:rPr>
              <a:t> Focuses on seamless, text-based workflow automation—such as managing travel logistics, flight </a:t>
            </a:r>
            <a:r>
              <a:rPr lang="en-US" sz="1200" kern="1200" dirty="0" err="1">
                <a:solidFill>
                  <a:schemeClr val="tx1"/>
                </a:solidFill>
                <a:effectLst/>
                <a:latin typeface="+mn-lt"/>
                <a:ea typeface="+mn-ea"/>
                <a:cs typeface="+mn-cs"/>
              </a:rPr>
              <a:t>rebookings</a:t>
            </a:r>
            <a:r>
              <a:rPr lang="en-US" sz="1200" kern="1200" dirty="0">
                <a:solidFill>
                  <a:schemeClr val="tx1"/>
                </a:solidFill>
                <a:effectLst/>
                <a:latin typeface="+mn-lt"/>
                <a:ea typeface="+mn-ea"/>
                <a:cs typeface="+mn-cs"/>
              </a:rPr>
              <a:t>, and automated refunds. It highlights rapid product adoption, driving high VC valuations.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Atlas:</a:t>
            </a:r>
            <a:r>
              <a:rPr lang="en-US" sz="1200" kern="1200" dirty="0">
                <a:solidFill>
                  <a:schemeClr val="tx1"/>
                </a:solidFill>
                <a:effectLst/>
                <a:latin typeface="+mn-lt"/>
                <a:ea typeface="+mn-ea"/>
                <a:cs typeface="+mn-cs"/>
              </a:rPr>
              <a:t> Positioned as a high-net-worth concierge integrated with premium credit card infrastructure—capable of performing complex voice tasks, like calling service providers directly. </a:t>
            </a:r>
          </a:p>
          <a:p>
            <a:r>
              <a:rPr lang="en-US" sz="1200" kern="1200" dirty="0">
                <a:solidFill>
                  <a:schemeClr val="tx1"/>
                </a:solidFill>
                <a:effectLst/>
                <a:latin typeface="+mn-lt"/>
                <a:ea typeface="+mn-ea"/>
                <a:cs typeface="+mn-cs"/>
              </a:rPr>
              <a:t>Both applications illustrate how narrative positioning—whether targeting mass text-based workflows or high-net-worth concierge services—dictates early market hype and capital inflows. </a:t>
            </a:r>
          </a:p>
          <a:p>
            <a:r>
              <a:rPr lang="en-US" sz="1200" kern="1200" dirty="0">
                <a:solidFill>
                  <a:schemeClr val="tx1"/>
                </a:solidFill>
                <a:effectLst/>
                <a:latin typeface="+mn-lt"/>
                <a:ea typeface="+mn-ea"/>
                <a:cs typeface="+mn-cs"/>
              </a:rPr>
              <a:t>Thank you for your time, and I welcome any questions from the floor.</a:t>
            </a:r>
          </a:p>
          <a:p>
            <a:endParaRPr lang="en-US" dirty="0"/>
          </a:p>
        </p:txBody>
      </p:sp>
      <p:sp>
        <p:nvSpPr>
          <p:cNvPr id="4" name="Slide Number Placeholder 3"/>
          <p:cNvSpPr>
            <a:spLocks noGrp="1"/>
          </p:cNvSpPr>
          <p:nvPr>
            <p:ph type="sldNum" sz="quarter" idx="5"/>
          </p:nvPr>
        </p:nvSpPr>
        <p:spPr/>
        <p:txBody>
          <a:bodyPr/>
          <a:lstStyle/>
          <a:p>
            <a:fld id="{3A1D28B6-7921-4E15-995F-D615334E5A89}" type="slidenum">
              <a:rPr lang="en-US" smtClean="0"/>
              <a:t>16</a:t>
            </a:fld>
            <a:endParaRPr lang="en-US"/>
          </a:p>
        </p:txBody>
      </p:sp>
    </p:spTree>
    <p:extLst>
      <p:ext uri="{BB962C8B-B14F-4D97-AF65-F5344CB8AC3E}">
        <p14:creationId xmlns:p14="http://schemas.microsoft.com/office/powerpoint/2010/main" val="338830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B6CF34-BA04-223E-9932-6530100816A8}"/>
              </a:ext>
            </a:extLst>
          </p:cNvPr>
          <p:cNvSpPr>
            <a:spLocks noGrp="1"/>
          </p:cNvSpPr>
          <p:nvPr>
            <p:ph type="dt" sz="half" idx="10"/>
          </p:nvPr>
        </p:nvSpPr>
        <p:spPr/>
        <p:txBody>
          <a:bodyPr/>
          <a:lstStyle/>
          <a:p>
            <a:fld id="{C00E6C9F-6B5F-41AA-8A0B-D7831E0BFE47}" type="datetimeFigureOut">
              <a:rPr lang="en-US" smtClean="0"/>
              <a:t>10/19/2026</a:t>
            </a:fld>
            <a:endParaRPr lang="en-US"/>
          </a:p>
        </p:txBody>
      </p:sp>
      <p:sp>
        <p:nvSpPr>
          <p:cNvPr id="3" name="Footer Placeholder 2">
            <a:extLst>
              <a:ext uri="{FF2B5EF4-FFF2-40B4-BE49-F238E27FC236}">
                <a16:creationId xmlns:a16="http://schemas.microsoft.com/office/drawing/2014/main" id="{4091D0E4-DA50-9F9C-8F33-D19C703604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EEFF2F-BE33-FA9C-8C50-9286BE77889B}"/>
              </a:ext>
            </a:extLst>
          </p:cNvPr>
          <p:cNvSpPr>
            <a:spLocks noGrp="1"/>
          </p:cNvSpPr>
          <p:nvPr>
            <p:ph type="sldNum" sz="quarter" idx="12"/>
          </p:nvPr>
        </p:nvSpPr>
        <p:spPr/>
        <p:txBody>
          <a:bodyPr/>
          <a:lstStyle/>
          <a:p>
            <a:fld id="{D2F8736C-B6A9-47B9-BCB1-6C5C69E721C8}" type="slidenum">
              <a:rPr lang="en-US" smtClean="0"/>
              <a:t>‹#›</a:t>
            </a:fld>
            <a:endParaRPr lang="en-US"/>
          </a:p>
        </p:txBody>
      </p:sp>
    </p:spTree>
    <p:extLst>
      <p:ext uri="{BB962C8B-B14F-4D97-AF65-F5344CB8AC3E}">
        <p14:creationId xmlns:p14="http://schemas.microsoft.com/office/powerpoint/2010/main" val="56857607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189410-62F8-9E6D-6A4C-85B32A92F4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5256D6-BE4C-9B39-5324-FDECC27AF6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BFD145-C551-DB81-A00E-6FFA356496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0E6C9F-6B5F-41AA-8A0B-D7831E0BFE47}" type="datetimeFigureOut">
              <a:rPr lang="en-US" smtClean="0"/>
              <a:t>10/19/2026</a:t>
            </a:fld>
            <a:endParaRPr lang="en-US"/>
          </a:p>
        </p:txBody>
      </p:sp>
      <p:sp>
        <p:nvSpPr>
          <p:cNvPr id="5" name="Footer Placeholder 4">
            <a:extLst>
              <a:ext uri="{FF2B5EF4-FFF2-40B4-BE49-F238E27FC236}">
                <a16:creationId xmlns:a16="http://schemas.microsoft.com/office/drawing/2014/main" id="{158AB9E6-D630-9CA3-DC30-C5813F4A4D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2FCC9C3-1CA7-D7B4-6742-D1086D4DD1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F8736C-B6A9-47B9-BCB1-6C5C69E721C8}" type="slidenum">
              <a:rPr lang="en-US" smtClean="0"/>
              <a:t>‹#›</a:t>
            </a:fld>
            <a:endParaRPr lang="en-US"/>
          </a:p>
        </p:txBody>
      </p:sp>
    </p:spTree>
    <p:extLst>
      <p:ext uri="{BB962C8B-B14F-4D97-AF65-F5344CB8AC3E}">
        <p14:creationId xmlns:p14="http://schemas.microsoft.com/office/powerpoint/2010/main" val="190273373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445D266-935E-D94A-17E1-696885F032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7F118A-7163-6B86-A4E6-5BD53E762F3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C317DE-ABB5-1668-57D4-A77C57D7843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711853-3E01-05BF-CA30-D73791EED1D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AA8DFD-72E9-1FF1-0996-6AEE326738A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7BA913-3D56-840D-DC83-95FEF277641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6FE50E-4E3E-F648-7E69-45CB3530FD2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108AE7-4C7F-720D-0893-CEE16346393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E67B64-45F2-EE10-635A-0DB453CFEDA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4A2369-60FD-4A47-529B-514F03A4D8A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89A869-7F6F-A8D7-854F-423C59FD37A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AA97DB-9699-AB8B-5C50-E02C846B4D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6E7D46-0071-583C-04D3-1FCB57231BB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B7843B-CD84-3DDD-7EB7-82F1C3FC144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5FA631-E2DC-2DE7-14A8-F15F71C25D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FF6B76-C841-A8E2-38B4-A93962F62BFC}"/>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2354226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2116</Words>
  <Application>Microsoft Office PowerPoint</Application>
  <PresentationFormat>寬螢幕</PresentationFormat>
  <Paragraphs>97</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2026-08-31T06:40:19Z</dcterms:created>
  <dcterms:modified xsi:type="dcterms:W3CDTF">2026-10-19T15:43:37Z</dcterms:modified>
</cp:coreProperties>
</file>