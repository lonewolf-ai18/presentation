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312648-860D-4215-87EC-AE18CE25FC7D}" v="24" dt="2026-08-11T01:16:11.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11T01:16:20.684" v="40" actId="166"/>
      <pc:docMkLst>
        <pc:docMk/>
      </pc:docMkLst>
      <pc:sldChg chg="addSp delSp modSp mod modNotesTx">
        <pc:chgData name="Lai, Wilson" userId="2840974a-0d84-4886-90a9-9a3ed79f3a48" providerId="ADAL" clId="{9F23B798-9E84-4552-BA63-E776E805C424}" dt="2026-08-11T01:16:20.684" v="40" actId="166"/>
        <pc:sldMkLst>
          <pc:docMk/>
          <pc:sldMk cId="0" sldId="257"/>
        </pc:sldMkLst>
        <pc:picChg chg="del">
          <ac:chgData name="Lai, Wilson" userId="2840974a-0d84-4886-90a9-9a3ed79f3a48" providerId="ADAL" clId="{9F23B798-9E84-4552-BA63-E776E805C424}" dt="2026-08-11T00:54:43.086" v="0" actId="21"/>
          <ac:picMkLst>
            <pc:docMk/>
            <pc:sldMk cId="0" sldId="257"/>
            <ac:picMk id="2" creationId="{00000000-0000-0000-0000-000000000000}"/>
          </ac:picMkLst>
        </pc:picChg>
        <pc:picChg chg="add ord">
          <ac:chgData name="Lai, Wilson" userId="2840974a-0d84-4886-90a9-9a3ed79f3a48" providerId="ADAL" clId="{9F23B798-9E84-4552-BA63-E776E805C424}" dt="2026-08-11T01:16:20.684" v="40" actId="166"/>
          <ac:picMkLst>
            <pc:docMk/>
            <pc:sldMk cId="0" sldId="257"/>
            <ac:picMk id="7" creationId="{5553470A-7E99-CFC1-0C0F-7E89AD3DE1F1}"/>
          </ac:picMkLst>
        </pc:picChg>
      </pc:sldChg>
      <pc:sldChg chg="addSp delSp mod">
        <pc:chgData name="Lai, Wilson" userId="2840974a-0d84-4886-90a9-9a3ed79f3a48" providerId="ADAL" clId="{9F23B798-9E84-4552-BA63-E776E805C424}" dt="2026-08-11T00:55:12.224" v="3" actId="22"/>
        <pc:sldMkLst>
          <pc:docMk/>
          <pc:sldMk cId="0" sldId="258"/>
        </pc:sldMkLst>
        <pc:picChg chg="del">
          <ac:chgData name="Lai, Wilson" userId="2840974a-0d84-4886-90a9-9a3ed79f3a48" providerId="ADAL" clId="{9F23B798-9E84-4552-BA63-E776E805C424}" dt="2026-08-11T00:54:58.748" v="2" actId="21"/>
          <ac:picMkLst>
            <pc:docMk/>
            <pc:sldMk cId="0" sldId="258"/>
            <ac:picMk id="2" creationId="{00000000-0000-0000-0000-000000000000}"/>
          </ac:picMkLst>
        </pc:picChg>
        <pc:picChg chg="add">
          <ac:chgData name="Lai, Wilson" userId="2840974a-0d84-4886-90a9-9a3ed79f3a48" providerId="ADAL" clId="{9F23B798-9E84-4552-BA63-E776E805C424}" dt="2026-08-11T00:55:12.224" v="3" actId="22"/>
          <ac:picMkLst>
            <pc:docMk/>
            <pc:sldMk cId="0" sldId="258"/>
            <ac:picMk id="4" creationId="{B8B001F3-5A14-B4B3-F2B4-9A0258A355DA}"/>
          </ac:picMkLst>
        </pc:picChg>
      </pc:sldChg>
      <pc:sldChg chg="addSp delSp mod">
        <pc:chgData name="Lai, Wilson" userId="2840974a-0d84-4886-90a9-9a3ed79f3a48" providerId="ADAL" clId="{9F23B798-9E84-4552-BA63-E776E805C424}" dt="2026-08-11T00:55:25.244" v="5" actId="22"/>
        <pc:sldMkLst>
          <pc:docMk/>
          <pc:sldMk cId="0" sldId="259"/>
        </pc:sldMkLst>
        <pc:picChg chg="del">
          <ac:chgData name="Lai, Wilson" userId="2840974a-0d84-4886-90a9-9a3ed79f3a48" providerId="ADAL" clId="{9F23B798-9E84-4552-BA63-E776E805C424}" dt="2026-08-11T00:55:15.594" v="4" actId="21"/>
          <ac:picMkLst>
            <pc:docMk/>
            <pc:sldMk cId="0" sldId="259"/>
            <ac:picMk id="2" creationId="{00000000-0000-0000-0000-000000000000}"/>
          </ac:picMkLst>
        </pc:picChg>
        <pc:picChg chg="add">
          <ac:chgData name="Lai, Wilson" userId="2840974a-0d84-4886-90a9-9a3ed79f3a48" providerId="ADAL" clId="{9F23B798-9E84-4552-BA63-E776E805C424}" dt="2026-08-11T00:55:25.244" v="5" actId="22"/>
          <ac:picMkLst>
            <pc:docMk/>
            <pc:sldMk cId="0" sldId="259"/>
            <ac:picMk id="4" creationId="{0BDF785A-C4F0-FE52-472C-4BB1E94A2579}"/>
          </ac:picMkLst>
        </pc:picChg>
      </pc:sldChg>
      <pc:sldChg chg="addSp delSp mod">
        <pc:chgData name="Lai, Wilson" userId="2840974a-0d84-4886-90a9-9a3ed79f3a48" providerId="ADAL" clId="{9F23B798-9E84-4552-BA63-E776E805C424}" dt="2026-08-11T00:56:11.739" v="9" actId="22"/>
        <pc:sldMkLst>
          <pc:docMk/>
          <pc:sldMk cId="0" sldId="260"/>
        </pc:sldMkLst>
        <pc:picChg chg="del">
          <ac:chgData name="Lai, Wilson" userId="2840974a-0d84-4886-90a9-9a3ed79f3a48" providerId="ADAL" clId="{9F23B798-9E84-4552-BA63-E776E805C424}" dt="2026-08-11T00:55:42.664" v="8" actId="21"/>
          <ac:picMkLst>
            <pc:docMk/>
            <pc:sldMk cId="0" sldId="260"/>
            <ac:picMk id="2" creationId="{00000000-0000-0000-0000-000000000000}"/>
          </ac:picMkLst>
        </pc:picChg>
        <pc:picChg chg="add">
          <ac:chgData name="Lai, Wilson" userId="2840974a-0d84-4886-90a9-9a3ed79f3a48" providerId="ADAL" clId="{9F23B798-9E84-4552-BA63-E776E805C424}" dt="2026-08-11T00:56:11.739" v="9" actId="22"/>
          <ac:picMkLst>
            <pc:docMk/>
            <pc:sldMk cId="0" sldId="260"/>
            <ac:picMk id="4" creationId="{D4D64A62-9B20-6369-D2EE-C840CCE73B36}"/>
          </ac:picMkLst>
        </pc:picChg>
      </pc:sldChg>
      <pc:sldChg chg="addSp delSp mod modNotesTx">
        <pc:chgData name="Lai, Wilson" userId="2840974a-0d84-4886-90a9-9a3ed79f3a48" providerId="ADAL" clId="{9F23B798-9E84-4552-BA63-E776E805C424}" dt="2026-08-11T01:13:20.618" v="34" actId="11"/>
        <pc:sldMkLst>
          <pc:docMk/>
          <pc:sldMk cId="0" sldId="261"/>
        </pc:sldMkLst>
        <pc:picChg chg="del">
          <ac:chgData name="Lai, Wilson" userId="2840974a-0d84-4886-90a9-9a3ed79f3a48" providerId="ADAL" clId="{9F23B798-9E84-4552-BA63-E776E805C424}" dt="2026-08-11T00:55:29.256" v="6" actId="21"/>
          <ac:picMkLst>
            <pc:docMk/>
            <pc:sldMk cId="0" sldId="261"/>
            <ac:picMk id="2" creationId="{00000000-0000-0000-0000-000000000000}"/>
          </ac:picMkLst>
        </pc:picChg>
        <pc:picChg chg="add">
          <ac:chgData name="Lai, Wilson" userId="2840974a-0d84-4886-90a9-9a3ed79f3a48" providerId="ADAL" clId="{9F23B798-9E84-4552-BA63-E776E805C424}" dt="2026-08-11T00:55:39.062" v="7" actId="22"/>
          <ac:picMkLst>
            <pc:docMk/>
            <pc:sldMk cId="0" sldId="261"/>
            <ac:picMk id="4" creationId="{AED82657-9661-004E-60A0-E76B8C91F163}"/>
          </ac:picMkLst>
        </pc:picChg>
      </pc:sldChg>
      <pc:sldChg chg="addSp delSp mod">
        <pc:chgData name="Lai, Wilson" userId="2840974a-0d84-4886-90a9-9a3ed79f3a48" providerId="ADAL" clId="{9F23B798-9E84-4552-BA63-E776E805C424}" dt="2026-08-11T00:57:30.062" v="11" actId="22"/>
        <pc:sldMkLst>
          <pc:docMk/>
          <pc:sldMk cId="0" sldId="262"/>
        </pc:sldMkLst>
        <pc:picChg chg="del">
          <ac:chgData name="Lai, Wilson" userId="2840974a-0d84-4886-90a9-9a3ed79f3a48" providerId="ADAL" clId="{9F23B798-9E84-4552-BA63-E776E805C424}" dt="2026-08-11T00:57:19.714" v="10" actId="21"/>
          <ac:picMkLst>
            <pc:docMk/>
            <pc:sldMk cId="0" sldId="262"/>
            <ac:picMk id="2" creationId="{00000000-0000-0000-0000-000000000000}"/>
          </ac:picMkLst>
        </pc:picChg>
        <pc:picChg chg="add">
          <ac:chgData name="Lai, Wilson" userId="2840974a-0d84-4886-90a9-9a3ed79f3a48" providerId="ADAL" clId="{9F23B798-9E84-4552-BA63-E776E805C424}" dt="2026-08-11T00:57:30.062" v="11" actId="22"/>
          <ac:picMkLst>
            <pc:docMk/>
            <pc:sldMk cId="0" sldId="262"/>
            <ac:picMk id="4" creationId="{98D911F0-14A8-15B8-E55E-AC61FCDD7735}"/>
          </ac:picMkLst>
        </pc:picChg>
      </pc:sldChg>
      <pc:sldChg chg="addSp delSp mod modNotesTx">
        <pc:chgData name="Lai, Wilson" userId="2840974a-0d84-4886-90a9-9a3ed79f3a48" providerId="ADAL" clId="{9F23B798-9E84-4552-BA63-E776E805C424}" dt="2026-08-11T01:13:44.816" v="35" actId="12"/>
        <pc:sldMkLst>
          <pc:docMk/>
          <pc:sldMk cId="0" sldId="263"/>
        </pc:sldMkLst>
        <pc:picChg chg="del">
          <ac:chgData name="Lai, Wilson" userId="2840974a-0d84-4886-90a9-9a3ed79f3a48" providerId="ADAL" clId="{9F23B798-9E84-4552-BA63-E776E805C424}" dt="2026-08-11T00:57:35.695" v="12" actId="21"/>
          <ac:picMkLst>
            <pc:docMk/>
            <pc:sldMk cId="0" sldId="263"/>
            <ac:picMk id="2" creationId="{00000000-0000-0000-0000-000000000000}"/>
          </ac:picMkLst>
        </pc:picChg>
        <pc:picChg chg="add">
          <ac:chgData name="Lai, Wilson" userId="2840974a-0d84-4886-90a9-9a3ed79f3a48" providerId="ADAL" clId="{9F23B798-9E84-4552-BA63-E776E805C424}" dt="2026-08-11T00:57:44.179" v="13" actId="22"/>
          <ac:picMkLst>
            <pc:docMk/>
            <pc:sldMk cId="0" sldId="263"/>
            <ac:picMk id="4" creationId="{54569AB1-7C23-AA3E-0152-1D5939F47EFE}"/>
          </ac:picMkLst>
        </pc:picChg>
      </pc:sldChg>
      <pc:sldChg chg="addSp delSp mod modNotesTx">
        <pc:chgData name="Lai, Wilson" userId="2840974a-0d84-4886-90a9-9a3ed79f3a48" providerId="ADAL" clId="{9F23B798-9E84-4552-BA63-E776E805C424}" dt="2026-08-11T01:13:56.204" v="36" actId="12"/>
        <pc:sldMkLst>
          <pc:docMk/>
          <pc:sldMk cId="0" sldId="264"/>
        </pc:sldMkLst>
        <pc:picChg chg="del">
          <ac:chgData name="Lai, Wilson" userId="2840974a-0d84-4886-90a9-9a3ed79f3a48" providerId="ADAL" clId="{9F23B798-9E84-4552-BA63-E776E805C424}" dt="2026-08-11T00:57:46.364" v="14" actId="21"/>
          <ac:picMkLst>
            <pc:docMk/>
            <pc:sldMk cId="0" sldId="264"/>
            <ac:picMk id="2" creationId="{00000000-0000-0000-0000-000000000000}"/>
          </ac:picMkLst>
        </pc:picChg>
        <pc:picChg chg="add">
          <ac:chgData name="Lai, Wilson" userId="2840974a-0d84-4886-90a9-9a3ed79f3a48" providerId="ADAL" clId="{9F23B798-9E84-4552-BA63-E776E805C424}" dt="2026-08-11T00:57:56.672" v="15" actId="22"/>
          <ac:picMkLst>
            <pc:docMk/>
            <pc:sldMk cId="0" sldId="264"/>
            <ac:picMk id="4" creationId="{549E7881-04C0-B2C2-5E5C-E1C0164A0B08}"/>
          </ac:picMkLst>
        </pc:picChg>
      </pc:sldChg>
      <pc:sldChg chg="addSp delSp mod">
        <pc:chgData name="Lai, Wilson" userId="2840974a-0d84-4886-90a9-9a3ed79f3a48" providerId="ADAL" clId="{9F23B798-9E84-4552-BA63-E776E805C424}" dt="2026-08-11T00:58:08.263" v="17" actId="22"/>
        <pc:sldMkLst>
          <pc:docMk/>
          <pc:sldMk cId="0" sldId="265"/>
        </pc:sldMkLst>
        <pc:picChg chg="del">
          <ac:chgData name="Lai, Wilson" userId="2840974a-0d84-4886-90a9-9a3ed79f3a48" providerId="ADAL" clId="{9F23B798-9E84-4552-BA63-E776E805C424}" dt="2026-08-11T00:57:59.726" v="16" actId="21"/>
          <ac:picMkLst>
            <pc:docMk/>
            <pc:sldMk cId="0" sldId="265"/>
            <ac:picMk id="2" creationId="{00000000-0000-0000-0000-000000000000}"/>
          </ac:picMkLst>
        </pc:picChg>
        <pc:picChg chg="add">
          <ac:chgData name="Lai, Wilson" userId="2840974a-0d84-4886-90a9-9a3ed79f3a48" providerId="ADAL" clId="{9F23B798-9E84-4552-BA63-E776E805C424}" dt="2026-08-11T00:58:08.263" v="17" actId="22"/>
          <ac:picMkLst>
            <pc:docMk/>
            <pc:sldMk cId="0" sldId="265"/>
            <ac:picMk id="4" creationId="{91B76FEA-1828-5DA2-FF09-97909DC3B3EA}"/>
          </ac:picMkLst>
        </pc:picChg>
      </pc:sldChg>
      <pc:sldChg chg="addSp delSp mod">
        <pc:chgData name="Lai, Wilson" userId="2840974a-0d84-4886-90a9-9a3ed79f3a48" providerId="ADAL" clId="{9F23B798-9E84-4552-BA63-E776E805C424}" dt="2026-08-11T00:58:19.469" v="19" actId="22"/>
        <pc:sldMkLst>
          <pc:docMk/>
          <pc:sldMk cId="0" sldId="266"/>
        </pc:sldMkLst>
        <pc:picChg chg="del">
          <ac:chgData name="Lai, Wilson" userId="2840974a-0d84-4886-90a9-9a3ed79f3a48" providerId="ADAL" clId="{9F23B798-9E84-4552-BA63-E776E805C424}" dt="2026-08-11T00:58:10.785" v="18" actId="21"/>
          <ac:picMkLst>
            <pc:docMk/>
            <pc:sldMk cId="0" sldId="266"/>
            <ac:picMk id="2" creationId="{00000000-0000-0000-0000-000000000000}"/>
          </ac:picMkLst>
        </pc:picChg>
        <pc:picChg chg="add">
          <ac:chgData name="Lai, Wilson" userId="2840974a-0d84-4886-90a9-9a3ed79f3a48" providerId="ADAL" clId="{9F23B798-9E84-4552-BA63-E776E805C424}" dt="2026-08-11T00:58:19.469" v="19" actId="22"/>
          <ac:picMkLst>
            <pc:docMk/>
            <pc:sldMk cId="0" sldId="266"/>
            <ac:picMk id="4" creationId="{443A2565-F2D5-5275-DF82-5D258E42664D}"/>
          </ac:picMkLst>
        </pc:picChg>
      </pc:sldChg>
      <pc:sldChg chg="addSp delSp mod">
        <pc:chgData name="Lai, Wilson" userId="2840974a-0d84-4886-90a9-9a3ed79f3a48" providerId="ADAL" clId="{9F23B798-9E84-4552-BA63-E776E805C424}" dt="2026-08-11T00:58:36.097" v="21" actId="22"/>
        <pc:sldMkLst>
          <pc:docMk/>
          <pc:sldMk cId="0" sldId="267"/>
        </pc:sldMkLst>
        <pc:picChg chg="del">
          <ac:chgData name="Lai, Wilson" userId="2840974a-0d84-4886-90a9-9a3ed79f3a48" providerId="ADAL" clId="{9F23B798-9E84-4552-BA63-E776E805C424}" dt="2026-08-11T00:58:23.109" v="20" actId="21"/>
          <ac:picMkLst>
            <pc:docMk/>
            <pc:sldMk cId="0" sldId="267"/>
            <ac:picMk id="2" creationId="{00000000-0000-0000-0000-000000000000}"/>
          </ac:picMkLst>
        </pc:picChg>
        <pc:picChg chg="add">
          <ac:chgData name="Lai, Wilson" userId="2840974a-0d84-4886-90a9-9a3ed79f3a48" providerId="ADAL" clId="{9F23B798-9E84-4552-BA63-E776E805C424}" dt="2026-08-11T00:58:36.097" v="21" actId="22"/>
          <ac:picMkLst>
            <pc:docMk/>
            <pc:sldMk cId="0" sldId="267"/>
            <ac:picMk id="4" creationId="{5754A0D4-84FF-4A71-E06B-54D3BA29AF78}"/>
          </ac:picMkLst>
        </pc:picChg>
      </pc:sldChg>
      <pc:sldChg chg="addSp delSp mod">
        <pc:chgData name="Lai, Wilson" userId="2840974a-0d84-4886-90a9-9a3ed79f3a48" providerId="ADAL" clId="{9F23B798-9E84-4552-BA63-E776E805C424}" dt="2026-08-11T00:58:47.516" v="23" actId="22"/>
        <pc:sldMkLst>
          <pc:docMk/>
          <pc:sldMk cId="0" sldId="268"/>
        </pc:sldMkLst>
        <pc:picChg chg="del">
          <ac:chgData name="Lai, Wilson" userId="2840974a-0d84-4886-90a9-9a3ed79f3a48" providerId="ADAL" clId="{9F23B798-9E84-4552-BA63-E776E805C424}" dt="2026-08-11T00:58:38.010" v="22" actId="21"/>
          <ac:picMkLst>
            <pc:docMk/>
            <pc:sldMk cId="0" sldId="268"/>
            <ac:picMk id="2" creationId="{00000000-0000-0000-0000-000000000000}"/>
          </ac:picMkLst>
        </pc:picChg>
        <pc:picChg chg="add">
          <ac:chgData name="Lai, Wilson" userId="2840974a-0d84-4886-90a9-9a3ed79f3a48" providerId="ADAL" clId="{9F23B798-9E84-4552-BA63-E776E805C424}" dt="2026-08-11T00:58:47.516" v="23" actId="22"/>
          <ac:picMkLst>
            <pc:docMk/>
            <pc:sldMk cId="0" sldId="268"/>
            <ac:picMk id="4" creationId="{9C7D5AC0-85AD-AEB0-CACE-8CF111D9B254}"/>
          </ac:picMkLst>
        </pc:picChg>
      </pc:sldChg>
      <pc:sldChg chg="addSp delSp mod modNotesTx">
        <pc:chgData name="Lai, Wilson" userId="2840974a-0d84-4886-90a9-9a3ed79f3a48" providerId="ADAL" clId="{9F23B798-9E84-4552-BA63-E776E805C424}" dt="2026-08-11T01:14:38.017" v="37" actId="12"/>
        <pc:sldMkLst>
          <pc:docMk/>
          <pc:sldMk cId="0" sldId="269"/>
        </pc:sldMkLst>
        <pc:picChg chg="del">
          <ac:chgData name="Lai, Wilson" userId="2840974a-0d84-4886-90a9-9a3ed79f3a48" providerId="ADAL" clId="{9F23B798-9E84-4552-BA63-E776E805C424}" dt="2026-08-11T00:58:49.155" v="24" actId="21"/>
          <ac:picMkLst>
            <pc:docMk/>
            <pc:sldMk cId="0" sldId="269"/>
            <ac:picMk id="2" creationId="{00000000-0000-0000-0000-000000000000}"/>
          </ac:picMkLst>
        </pc:picChg>
        <pc:picChg chg="add">
          <ac:chgData name="Lai, Wilson" userId="2840974a-0d84-4886-90a9-9a3ed79f3a48" providerId="ADAL" clId="{9F23B798-9E84-4552-BA63-E776E805C424}" dt="2026-08-11T00:58:56.928" v="25" actId="22"/>
          <ac:picMkLst>
            <pc:docMk/>
            <pc:sldMk cId="0" sldId="269"/>
            <ac:picMk id="4" creationId="{EE09C025-D834-1D39-F9E9-41DBA1047580}"/>
          </ac:picMkLst>
        </pc:picChg>
      </pc:sldChg>
      <pc:sldChg chg="addSp delSp mod modNotesTx">
        <pc:chgData name="Lai, Wilson" userId="2840974a-0d84-4886-90a9-9a3ed79f3a48" providerId="ADAL" clId="{9F23B798-9E84-4552-BA63-E776E805C424}" dt="2026-08-11T01:15:49.705" v="39" actId="12"/>
        <pc:sldMkLst>
          <pc:docMk/>
          <pc:sldMk cId="0" sldId="270"/>
        </pc:sldMkLst>
        <pc:picChg chg="del">
          <ac:chgData name="Lai, Wilson" userId="2840974a-0d84-4886-90a9-9a3ed79f3a48" providerId="ADAL" clId="{9F23B798-9E84-4552-BA63-E776E805C424}" dt="2026-08-11T00:58:59.453" v="26" actId="21"/>
          <ac:picMkLst>
            <pc:docMk/>
            <pc:sldMk cId="0" sldId="270"/>
            <ac:picMk id="2" creationId="{00000000-0000-0000-0000-000000000000}"/>
          </ac:picMkLst>
        </pc:picChg>
        <pc:picChg chg="add">
          <ac:chgData name="Lai, Wilson" userId="2840974a-0d84-4886-90a9-9a3ed79f3a48" providerId="ADAL" clId="{9F23B798-9E84-4552-BA63-E776E805C424}" dt="2026-08-11T00:59:10.151" v="27" actId="22"/>
          <ac:picMkLst>
            <pc:docMk/>
            <pc:sldMk cId="0" sldId="270"/>
            <ac:picMk id="4" creationId="{B71551D5-80D6-1002-E56F-2B448BF20272}"/>
          </ac:picMkLst>
        </pc:picChg>
      </pc:sldChg>
      <pc:sldChg chg="addSp delSp mod">
        <pc:chgData name="Lai, Wilson" userId="2840974a-0d84-4886-90a9-9a3ed79f3a48" providerId="ADAL" clId="{9F23B798-9E84-4552-BA63-E776E805C424}" dt="2026-08-11T00:59:23.193" v="29" actId="22"/>
        <pc:sldMkLst>
          <pc:docMk/>
          <pc:sldMk cId="0" sldId="271"/>
        </pc:sldMkLst>
        <pc:picChg chg="del">
          <ac:chgData name="Lai, Wilson" userId="2840974a-0d84-4886-90a9-9a3ed79f3a48" providerId="ADAL" clId="{9F23B798-9E84-4552-BA63-E776E805C424}" dt="2026-08-11T00:59:13.294" v="28" actId="21"/>
          <ac:picMkLst>
            <pc:docMk/>
            <pc:sldMk cId="0" sldId="271"/>
            <ac:picMk id="2" creationId="{00000000-0000-0000-0000-000000000000}"/>
          </ac:picMkLst>
        </pc:picChg>
        <pc:picChg chg="add">
          <ac:chgData name="Lai, Wilson" userId="2840974a-0d84-4886-90a9-9a3ed79f3a48" providerId="ADAL" clId="{9F23B798-9E84-4552-BA63-E776E805C424}" dt="2026-08-11T00:59:23.193" v="29" actId="22"/>
          <ac:picMkLst>
            <pc:docMk/>
            <pc:sldMk cId="0" sldId="271"/>
            <ac:picMk id="4" creationId="{3B275623-ADB2-086D-61DD-B80D089B7E2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37BA02-1C84-40F2-9F45-E3604792ACEE}"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2777D-17F0-4684-806C-E0335EF16654}" type="slidenum">
              <a:rPr lang="en-US" smtClean="0"/>
              <a:t>‹#›</a:t>
            </a:fld>
            <a:endParaRPr lang="en-US"/>
          </a:p>
        </p:txBody>
      </p:sp>
    </p:spTree>
    <p:extLst>
      <p:ext uri="{BB962C8B-B14F-4D97-AF65-F5344CB8AC3E}">
        <p14:creationId xmlns:p14="http://schemas.microsoft.com/office/powerpoint/2010/main" val="124894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 want to start with a very common feeling, one that often holds us back more than any external obstacle. It’s the feeling of being stuck. You want to make a career pivot, but you don't. You have a great idea for a podcast, but you never hit record. You want your organization to innovate, but it stays paralyzed.</a:t>
            </a:r>
          </a:p>
          <a:p>
            <a:r>
              <a:rPr lang="en-US" dirty="0"/>
              <a:t>The assumption we often make is that getting stuck is a lack of willpower, or perhaps a lack of talent. Today, I want to argue—based on the lifetime of work by Seth Godin—that being stuck is not a personnel problem; it’s a </a:t>
            </a:r>
            <a:r>
              <a:rPr lang="en-US" i="1" dirty="0"/>
              <a:t>systems</a:t>
            </a:r>
            <a:r>
              <a:rPr lang="en-US" dirty="0"/>
              <a:t> problem.</a:t>
            </a:r>
          </a:p>
          <a:p>
            <a:r>
              <a:rPr lang="en-US" dirty="0"/>
              <a:t>This session is not about generic motivation. It’s a strategic playbook. We are going to deconstruct the mechanics of paralysis. We will learn how to distinguish between obstacles that guarantee breakthrough (the Dip) and those that guarantee failure (the Cul-de-sac). We will learn how to find the single "central pole" of fear or desire anchoring your immobility. And finally, we will learn how to build "the practice" that allows you to start, even when you feel like an imposter.</a:t>
            </a:r>
          </a:p>
          <a:p>
            <a:r>
              <a:rPr lang="en-US" dirty="0"/>
              <a:t>This is the strategic playbook for moving forward. Let’s look at the oldest stuck system in human history.</a:t>
            </a:r>
          </a:p>
          <a:p>
            <a:endParaRPr lang="en-US" dirty="0"/>
          </a:p>
          <a:p>
            <a:endParaRPr lang="en-US" dirty="0"/>
          </a:p>
          <a:p>
            <a:r>
              <a:rPr lang="en-US" dirty="0"/>
              <a:t>https://www.youtube.com/watch?v=g7AxxkywiFI</a:t>
            </a:r>
          </a:p>
        </p:txBody>
      </p:sp>
      <p:sp>
        <p:nvSpPr>
          <p:cNvPr id="4" name="Slide Number Placeholder 3"/>
          <p:cNvSpPr>
            <a:spLocks noGrp="1"/>
          </p:cNvSpPr>
          <p:nvPr>
            <p:ph type="sldNum" sz="quarter" idx="5"/>
          </p:nvPr>
        </p:nvSpPr>
        <p:spPr/>
        <p:txBody>
          <a:bodyPr/>
          <a:lstStyle/>
          <a:p>
            <a:fld id="{0952777D-17F0-4684-806C-E0335EF16654}" type="slidenum">
              <a:rPr lang="en-US" smtClean="0"/>
              <a:t>1</a:t>
            </a:fld>
            <a:endParaRPr lang="en-US"/>
          </a:p>
        </p:txBody>
      </p:sp>
    </p:spTree>
    <p:extLst>
      <p:ext uri="{BB962C8B-B14F-4D97-AF65-F5344CB8AC3E}">
        <p14:creationId xmlns:p14="http://schemas.microsoft.com/office/powerpoint/2010/main" val="212632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a cross-section of the legendary Gordian Knot, or as labeled here, the Alexander Knot.</a:t>
            </a:r>
          </a:p>
          <a:p>
            <a:r>
              <a:rPr lang="en-US" dirty="0"/>
              <a:t>The legend, nearly 2,500 years old, tells of a knot so complex it was thought impossible to untie. A prophecy said that whoever could undo it would rule all of Asia. Many tried and failed, using traditional force.</a:t>
            </a:r>
          </a:p>
          <a:p>
            <a:r>
              <a:rPr lang="en-US" dirty="0"/>
              <a:t>Then a 21-year-old Alexander the Great arrived. He didn't try to pull on the frayed ends. Instead, he studied the </a:t>
            </a:r>
            <a:r>
              <a:rPr lang="en-US" i="1" dirty="0"/>
              <a:t>system</a:t>
            </a:r>
            <a:r>
              <a:rPr lang="en-US" dirty="0"/>
              <a:t>. In our illustration, we see he located the "Central Pole"—the invisible core holding the entire structure together. Instead of cutting the knot (as one version of the legend says), we see him here executing a simple "Removal Action." He removed the one object anchoring the paralysis. And the entire, terrifying knot fell apart.</a:t>
            </a:r>
          </a:p>
          <a:p>
            <a:r>
              <a:rPr lang="en-US" dirty="0"/>
              <a:t>This isn't just a history lesson. This is a model for your psychological paralysis.</a:t>
            </a:r>
          </a:p>
          <a:p>
            <a:r>
              <a:rPr lang="en-US" dirty="0"/>
              <a:t>Seth Godin argues that we often stay stuck because we are obsessed with the complex, frayed ends of our problem—the external factors. But every complex struggle has a hidden central pole. This is the </a:t>
            </a:r>
            <a:r>
              <a:rPr lang="en-US" b="1" dirty="0"/>
              <a:t>Hidden Assumption</a:t>
            </a:r>
            <a:r>
              <a:rPr lang="en-US" dirty="0"/>
              <a:t>: the single, unexamined fear or conflicting desire that anchors your immobility. If you name that central pole, you can untie the knot.</a:t>
            </a:r>
          </a:p>
          <a:p>
            <a:r>
              <a:rPr lang="en-US" dirty="0"/>
              <a:t>Let's look at the most common central pole anchoring modern professional life.</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2</a:t>
            </a:fld>
            <a:endParaRPr lang="en-US"/>
          </a:p>
        </p:txBody>
      </p:sp>
    </p:spTree>
    <p:extLst>
      <p:ext uri="{BB962C8B-B14F-4D97-AF65-F5344CB8AC3E}">
        <p14:creationId xmlns:p14="http://schemas.microsoft.com/office/powerpoint/2010/main" val="532256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perfectly illustrates what Seth calls the "Donkey Dilemma," based on the philosophical fable of Buridan's Donkey.</a:t>
            </a:r>
          </a:p>
          <a:p>
            <a:r>
              <a:rPr lang="en-US" dirty="0"/>
              <a:t>Imagine a donkey perfectly halfway between a bucket of water and a bucket of carrots. It is hungry, and it is thirsty. But every step toward the carrots was a step </a:t>
            </a:r>
            <a:r>
              <a:rPr lang="en-US" i="1" dirty="0"/>
              <a:t>away</a:t>
            </a:r>
            <a:r>
              <a:rPr lang="en-US" dirty="0"/>
              <a:t> from the water, and vice versa. Unable to resolve the conflict, it stood paralyzed and starved to death halfway in between.</a:t>
            </a:r>
          </a:p>
          <a:p>
            <a:r>
              <a:rPr lang="en-US" dirty="0"/>
              <a:t>We do this using a single, devastating word: </a:t>
            </a:r>
            <a:r>
              <a:rPr lang="en-US" b="1" dirty="0"/>
              <a:t>BUT.</a:t>
            </a:r>
            <a:endParaRPr lang="en-US" dirty="0"/>
          </a:p>
          <a:p>
            <a:r>
              <a:rPr lang="en-US" dirty="0"/>
              <a:t>You want to pivot your business and be a "frontier artist," breaking new ground (X), </a:t>
            </a:r>
            <a:r>
              <a:rPr lang="en-US" b="1" dirty="0"/>
              <a:t>BUT</a:t>
            </a:r>
            <a:r>
              <a:rPr lang="en-US" dirty="0"/>
              <a:t> you also want the "mass celebrity" and guaranteed validation of your old work (Y). In this image, we highlight Jackson Pollock. He wanted boundary-pushing creativity, </a:t>
            </a:r>
            <a:r>
              <a:rPr lang="en-US" i="1" dirty="0"/>
              <a:t>but</a:t>
            </a:r>
            <a:r>
              <a:rPr lang="en-US" dirty="0"/>
              <a:t> he wanted immediate fame. When you try to have two diametrically opposed things at the same time, the world—just like the donkey’s internal compass—simply yawns. Paralysis wins.</a:t>
            </a:r>
          </a:p>
          <a:p>
            <a:r>
              <a:rPr lang="en-US" dirty="0"/>
              <a:t>Godin’s advice is simple and brutal: Locate the hidden central pole. Name the two opposing things, accept you cannot have both simultaneously, and strategically let one go. In Pollock’s case, he could have the creativity, </a:t>
            </a:r>
            <a:r>
              <a:rPr lang="en-US" i="1" dirty="0"/>
              <a:t>but</a:t>
            </a:r>
            <a:r>
              <a:rPr lang="en-US" dirty="0"/>
              <a:t> only if he risked the immediate fame. Once he chose, he became unstuck.</a:t>
            </a:r>
          </a:p>
          <a:p>
            <a:r>
              <a:rPr lang="en-US" dirty="0"/>
              <a:t>Now let’s look at the next reason we stay stuck: the Sunk Cost Receipt.</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3</a:t>
            </a:fld>
            <a:endParaRPr lang="en-US"/>
          </a:p>
        </p:txBody>
      </p:sp>
    </p:spTree>
    <p:extLst>
      <p:ext uri="{BB962C8B-B14F-4D97-AF65-F5344CB8AC3E}">
        <p14:creationId xmlns:p14="http://schemas.microsoft.com/office/powerpoint/2010/main" val="2517156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defending decisions made by our former self, not because they are currently right, but because we already spent resources on them.</a:t>
            </a:r>
          </a:p>
          <a:p>
            <a:r>
              <a:rPr lang="en-US" dirty="0"/>
              <a:t>This conceptual slide shows us a physical </a:t>
            </a:r>
            <a:r>
              <a:rPr lang="en-US" b="1" dirty="0"/>
              <a:t>Sunk Cost Receipt</a:t>
            </a:r>
            <a:r>
              <a:rPr lang="en-US" dirty="0"/>
              <a:t>. Item: Three years of law school. Status: Paid in Full. Funds are gone.</a:t>
            </a:r>
          </a:p>
          <a:p>
            <a:r>
              <a:rPr lang="en-US" dirty="0"/>
              <a:t>We stay stuck in careers we hate, or bad investments, because we feel obligated by what we have </a:t>
            </a:r>
            <a:r>
              <a:rPr lang="en-US" i="1" dirty="0"/>
              <a:t>already paid</a:t>
            </a:r>
            <a:r>
              <a:rPr lang="en-US" dirty="0"/>
              <a:t>. Seth provides a crucial mindset shift here: </a:t>
            </a:r>
            <a:r>
              <a:rPr lang="en-US" b="1" dirty="0"/>
              <a:t>Sunk costs are a gift from your former self. Like any gift, you do not have to accept it.</a:t>
            </a:r>
            <a:endParaRPr lang="en-US" dirty="0"/>
          </a:p>
          <a:p>
            <a:r>
              <a:rPr lang="en-US" dirty="0"/>
              <a:t>Look closely at the obligation to your </a:t>
            </a:r>
            <a:r>
              <a:rPr lang="en-US" i="1" dirty="0"/>
              <a:t>future</a:t>
            </a:r>
            <a:r>
              <a:rPr lang="en-US" dirty="0"/>
              <a:t> self listed on this conceptual receipt: it is ZERO.</a:t>
            </a:r>
          </a:p>
          <a:p>
            <a:r>
              <a:rPr lang="en-US" dirty="0"/>
              <a:t>Continuing to punish your current self by defending a past decision is not loyalty; it’s a trap. Say thank you for the gift, throw away the receipt, and untie the knot of obligation so you can move forward.</a:t>
            </a:r>
          </a:p>
          <a:p>
            <a:r>
              <a:rPr lang="en-US" dirty="0"/>
              <a:t>This leads us to the next psychological anchor. Once we decide to move, we encounter resistance. Let's deconstruct it.</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4</a:t>
            </a:fld>
            <a:endParaRPr lang="en-US"/>
          </a:p>
        </p:txBody>
      </p:sp>
    </p:spTree>
    <p:extLst>
      <p:ext uri="{BB962C8B-B14F-4D97-AF65-F5344CB8AC3E}">
        <p14:creationId xmlns:p14="http://schemas.microsoft.com/office/powerpoint/2010/main" val="3529649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Resistance is a crucial concept. It is ANY feeling that keeps you from doing generous, creative work. It usually hides behind noble-sounding alibis.</a:t>
            </a:r>
          </a:p>
          <a:p>
            <a:r>
              <a:rPr lang="en-US" dirty="0"/>
              <a:t>Resistance often manifests as two related behaviors:</a:t>
            </a:r>
          </a:p>
          <a:p>
            <a:pPr marL="228600" indent="-228600">
              <a:buFont typeface="+mj-lt"/>
              <a:buAutoNum type="arabicPeriod"/>
            </a:pPr>
            <a:r>
              <a:rPr lang="en-US" b="1" dirty="0"/>
              <a:t>Perfectionism:</a:t>
            </a:r>
            <a:r>
              <a:rPr lang="en-US" dirty="0"/>
              <a:t> A fear that the work won't be good enough (or that we aren't good enough).</a:t>
            </a:r>
          </a:p>
          <a:p>
            <a:pPr marL="228600" indent="-228600">
              <a:buFont typeface="+mj-lt"/>
              <a:buAutoNum type="arabicPeriod"/>
            </a:pPr>
            <a:r>
              <a:rPr lang="en-US" b="1" dirty="0"/>
              <a:t>Grandiosity:</a:t>
            </a:r>
            <a:r>
              <a:rPr lang="en-US" dirty="0"/>
              <a:t> An irrational alibi that we cannot begin until we have impossible resources.</a:t>
            </a:r>
          </a:p>
          <a:p>
            <a:r>
              <a:rPr lang="en-US" dirty="0"/>
              <a:t>In this image, we visualize the alibi of grandiosity. </a:t>
            </a:r>
            <a:r>
              <a:rPr lang="en-US" b="1" dirty="0"/>
              <a:t>"I can't start a podcast because I can't get Michelle Obama as a guest."</a:t>
            </a:r>
            <a:r>
              <a:rPr lang="en-US" dirty="0"/>
              <a:t> This sounds noble! You are aiming for excellence! But Seth argues this is just Resistance talking. It's a convenient excuse to not begin.</a:t>
            </a:r>
          </a:p>
          <a:p>
            <a:r>
              <a:rPr lang="en-US" dirty="0"/>
              <a:t>The way you beat Resistance is by </a:t>
            </a:r>
            <a:r>
              <a:rPr lang="en-US" b="1" dirty="0"/>
              <a:t>shrinking the task.</a:t>
            </a:r>
            <a:r>
              <a:rPr lang="en-US" dirty="0"/>
              <a:t> We move to the reality check. Ask yourself: "Who is the guest I need right </a:t>
            </a:r>
            <a:r>
              <a:rPr lang="en-US" i="1" dirty="0"/>
              <a:t>before</a:t>
            </a:r>
            <a:r>
              <a:rPr lang="en-US" dirty="0"/>
              <a:t> Michelle Obama?" When you trace that chain backward, you get to Step 3, the Actual Task: "Can I interview my next-door neighbor for 20 minutes?"</a:t>
            </a:r>
          </a:p>
          <a:p>
            <a:r>
              <a:rPr lang="en-US" dirty="0"/>
              <a:t>Suddenly, the grandiosity evaporates. The real task is manageable. Call Resistance’s bluff by shrinking the goal until it’s Frictionless to begin.</a:t>
            </a:r>
          </a:p>
          <a:p>
            <a:r>
              <a:rPr lang="en-US" dirty="0"/>
              <a:t>Shrinking the task allows you to handle the fear of starting. But how do you handle the fear that comes once you are underway?</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5</a:t>
            </a:fld>
            <a:endParaRPr lang="en-US"/>
          </a:p>
        </p:txBody>
      </p:sp>
    </p:spTree>
    <p:extLst>
      <p:ext uri="{BB962C8B-B14F-4D97-AF65-F5344CB8AC3E}">
        <p14:creationId xmlns:p14="http://schemas.microsoft.com/office/powerpoint/2010/main" val="4211777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conceptual diagram illustrates why Imposter Syndrome—the feeling that we are faking it—is so common and how to solve it.</a:t>
            </a:r>
          </a:p>
          <a:p>
            <a:r>
              <a:rPr lang="en-US" dirty="0"/>
              <a:t>Look at the </a:t>
            </a:r>
            <a:r>
              <a:rPr lang="en-US" b="1" dirty="0"/>
              <a:t>Internal Focus</a:t>
            </a:r>
            <a:r>
              <a:rPr lang="en-US" dirty="0"/>
              <a:t> box. This is the mode of shame and self-doubt. It requires you to receive it. You are wondering, "Am I a fraud? Do people think I'm qualified? Is my work as good as that other person's?"</a:t>
            </a:r>
          </a:p>
          <a:p>
            <a:r>
              <a:rPr lang="en-US" dirty="0"/>
              <a:t>Now, contrast this with the </a:t>
            </a:r>
            <a:r>
              <a:rPr lang="en-US" b="1" dirty="0"/>
              <a:t>External Emergency</a:t>
            </a:r>
            <a:r>
              <a:rPr lang="en-US" dirty="0"/>
              <a:t> box.</a:t>
            </a:r>
          </a:p>
          <a:p>
            <a:r>
              <a:rPr lang="en-US" dirty="0"/>
              <a:t>Imagine you are a newly minted lifeguard on Canoe Lake. A child starts drowning. In that instant, do you pause to apologize for your swimming stroke? Do you worry that the lifeguard two docks down is a better swimmer? No. The entire structure of your self-regard vanishes because the emergency is right in front of you.</a:t>
            </a:r>
          </a:p>
          <a:p>
            <a:r>
              <a:rPr lang="en-US" dirty="0"/>
              <a:t>Seth Godin argues that </a:t>
            </a:r>
            <a:r>
              <a:rPr lang="en-US" b="1" dirty="0"/>
              <a:t>Imposter Syndrome vanishes when empathy takes over.</a:t>
            </a:r>
            <a:r>
              <a:rPr lang="en-US" dirty="0"/>
              <a:t> Refuse to receive the delivery of shame. Focus </a:t>
            </a:r>
            <a:r>
              <a:rPr lang="en-US" i="1" dirty="0"/>
              <a:t>entirely</a:t>
            </a:r>
            <a:r>
              <a:rPr lang="en-US" dirty="0"/>
              <a:t> on the person who needs your help, the drowning child, or the specific user problem you are trying to solve. If you serve them, you are not an imposter; you are a professional.</a:t>
            </a:r>
          </a:p>
          <a:p>
            <a:r>
              <a:rPr lang="en-US" dirty="0"/>
              <a:t>This shift to empathy is what allows you to start the practice.</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6</a:t>
            </a:fld>
            <a:endParaRPr lang="en-US"/>
          </a:p>
        </p:txBody>
      </p:sp>
    </p:spTree>
    <p:extLst>
      <p:ext uri="{BB962C8B-B14F-4D97-AF65-F5344CB8AC3E}">
        <p14:creationId xmlns:p14="http://schemas.microsoft.com/office/powerpoint/2010/main" val="313053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one of Seth Godin's most powerful strategic ideas: </a:t>
            </a:r>
            <a:r>
              <a:rPr lang="en-US" b="1" dirty="0"/>
              <a:t>Mastering "The Practice."</a:t>
            </a:r>
            <a:endParaRPr lang="en-US" dirty="0"/>
          </a:p>
          <a:p>
            <a:r>
              <a:rPr lang="en-US" dirty="0"/>
              <a:t>He uses the metaphor of learning to juggle. Amateurs fail at juggling because they </a:t>
            </a:r>
            <a:r>
              <a:rPr lang="en-US" i="1" dirty="0"/>
              <a:t>lunge</a:t>
            </a:r>
            <a:r>
              <a:rPr lang="en-US" dirty="0"/>
              <a:t> to catch the ball. By focusing on the </a:t>
            </a:r>
            <a:r>
              <a:rPr lang="en-US" i="1" dirty="0"/>
              <a:t>Output</a:t>
            </a:r>
            <a:r>
              <a:rPr lang="en-US" dirty="0"/>
              <a:t> (the catch), they lose their position, their center, and they drop everything.</a:t>
            </a:r>
          </a:p>
          <a:p>
            <a:r>
              <a:rPr lang="en-US" dirty="0"/>
              <a:t>Professionals understand </a:t>
            </a:r>
            <a:r>
              <a:rPr lang="en-US" b="1" dirty="0"/>
              <a:t>The Juggler's Secret</a:t>
            </a:r>
            <a:r>
              <a:rPr lang="en-US" dirty="0"/>
              <a:t>. Juggling is not about </a:t>
            </a:r>
            <a:r>
              <a:rPr lang="en-US" i="1" dirty="0"/>
              <a:t>catching</a:t>
            </a:r>
            <a:r>
              <a:rPr lang="en-US" dirty="0"/>
              <a:t>. It is about </a:t>
            </a:r>
            <a:r>
              <a:rPr lang="en-US" b="1" dirty="0"/>
              <a:t>throwing.</a:t>
            </a:r>
            <a:endParaRPr lang="en-US" dirty="0"/>
          </a:p>
          <a:p>
            <a:r>
              <a:rPr lang="en-US" dirty="0"/>
              <a:t>This conceptual image diagramming juggling breaks down your work into two components:</a:t>
            </a:r>
          </a:p>
          <a:p>
            <a:pPr marL="228600" indent="-228600">
              <a:buFont typeface="+mj-lt"/>
              <a:buAutoNum type="arabicPeriod"/>
            </a:pPr>
            <a:r>
              <a:rPr lang="en-US" b="1" dirty="0"/>
              <a:t>INPUT (The Throw):</a:t>
            </a:r>
            <a:r>
              <a:rPr lang="en-US" dirty="0"/>
              <a:t> This is The Practice. It is showing up, writing the words, recording the podcast, making the calls. </a:t>
            </a:r>
            <a:r>
              <a:rPr lang="en-US" i="1" dirty="0"/>
              <a:t>This is 100% within your control.</a:t>
            </a:r>
            <a:endParaRPr lang="en-US" dirty="0"/>
          </a:p>
          <a:p>
            <a:pPr marL="228600" indent="-228600">
              <a:buFont typeface="+mj-lt"/>
              <a:buAutoNum type="arabicPeriod"/>
            </a:pPr>
            <a:r>
              <a:rPr lang="en-US" b="1" dirty="0"/>
              <a:t>OUTPUT (The Catch):</a:t>
            </a:r>
            <a:r>
              <a:rPr lang="en-US" dirty="0"/>
              <a:t> The results. Metrics, money, status, viral hits. This is </a:t>
            </a:r>
            <a:r>
              <a:rPr lang="en-US" i="1" dirty="0"/>
              <a:t>0% within your control.</a:t>
            </a:r>
            <a:endParaRPr lang="en-US" dirty="0"/>
          </a:p>
          <a:p>
            <a:r>
              <a:rPr lang="en-US" dirty="0"/>
              <a:t>The strategic move to get unstuck is to build a daily practice where you </a:t>
            </a:r>
            <a:r>
              <a:rPr lang="en-US" b="1" dirty="0"/>
              <a:t>detach from the catch and master the throw.</a:t>
            </a:r>
            <a:r>
              <a:rPr lang="en-US" dirty="0"/>
              <a:t> If you spend 20 minutes a day doing nothing but making perfect throws, the catches will take care of themselves.</a:t>
            </a:r>
          </a:p>
          <a:p>
            <a:r>
              <a:rPr lang="en-US" dirty="0"/>
              <a:t>Focus exclusively on the throw.</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7</a:t>
            </a:fld>
            <a:endParaRPr lang="en-US"/>
          </a:p>
        </p:txBody>
      </p:sp>
    </p:spTree>
    <p:extLst>
      <p:ext uri="{BB962C8B-B14F-4D97-AF65-F5344CB8AC3E}">
        <p14:creationId xmlns:p14="http://schemas.microsoft.com/office/powerpoint/2010/main" val="2239895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core reason we get stuck is that we mistake one type of obstacle for another. We either quit too early on the right things or stay too long on the wrong ones.</a:t>
            </a:r>
          </a:p>
          <a:p>
            <a:r>
              <a:rPr lang="en-US" dirty="0"/>
              <a:t>Seth gives us </a:t>
            </a:r>
            <a:r>
              <a:rPr lang="en-US" b="1" dirty="0"/>
              <a:t>The Quitter's Matrix</a:t>
            </a:r>
            <a:r>
              <a:rPr lang="en-US" dirty="0"/>
              <a:t> to strategically solve this. We must learn to distinguish between two systems: </a:t>
            </a:r>
            <a:r>
              <a:rPr lang="en-US" b="1" dirty="0"/>
              <a:t>The Dip</a:t>
            </a:r>
            <a:r>
              <a:rPr lang="en-US" dirty="0"/>
              <a:t> and </a:t>
            </a:r>
            <a:r>
              <a:rPr lang="en-US" b="1" dirty="0"/>
              <a:t>The Cul-de-sac</a:t>
            </a:r>
            <a:r>
              <a:rPr lang="en-US" dirty="0"/>
              <a:t>.</a:t>
            </a:r>
          </a:p>
          <a:p>
            <a:pPr marL="171450" indent="-171450">
              <a:buFont typeface="Arial" panose="020B0604020202020204" pitchFamily="34" charset="0"/>
              <a:buChar char="•"/>
            </a:pPr>
            <a:r>
              <a:rPr lang="en-US" b="1" dirty="0"/>
              <a:t>The Dip:</a:t>
            </a:r>
            <a:r>
              <a:rPr lang="en-US" dirty="0"/>
              <a:t> Look at the visual here. The Dip is the long, arduous grind between starting and mastery. It’s Organic Chemistry for pre-meds. It is intentionally difficult because </a:t>
            </a:r>
            <a:r>
              <a:rPr lang="en-US" b="1" dirty="0"/>
              <a:t>pushing through guarantees a breakthrough.</a:t>
            </a:r>
            <a:r>
              <a:rPr lang="en-US" dirty="0"/>
              <a:t> In the Dip, the </a:t>
            </a:r>
            <a:r>
              <a:rPr lang="en-US" i="1" dirty="0"/>
              <a:t>scarcity</a:t>
            </a:r>
            <a:r>
              <a:rPr lang="en-US" dirty="0"/>
              <a:t> of mastery is what creates the value. When it gets hard, you don’t lunge to escape. You say thank you, lean into the practice, and master the throw.</a:t>
            </a:r>
          </a:p>
          <a:p>
            <a:pPr marL="171450" indent="-171450">
              <a:buFont typeface="Arial" panose="020B0604020202020204" pitchFamily="34" charset="0"/>
              <a:buChar char="•"/>
            </a:pPr>
            <a:r>
              <a:rPr lang="en-US" b="1" dirty="0"/>
              <a:t>The Cul-de-sac:</a:t>
            </a:r>
            <a:r>
              <a:rPr lang="en-US" dirty="0"/>
              <a:t> Now look at the alternate visual path. A dead-end that will not improve, regardless of how much effort you put in. A toxic boss, a bad retail lease in a dying neighborhood. In a cul-de-sac, </a:t>
            </a:r>
            <a:r>
              <a:rPr lang="en-US" b="1" dirty="0"/>
              <a:t>pouring in more resources yields zero structural change.</a:t>
            </a:r>
            <a:r>
              <a:rPr lang="en-US" dirty="0"/>
              <a:t> Your effort is meaningless because the system itself is designed to stall.</a:t>
            </a:r>
          </a:p>
          <a:p>
            <a:r>
              <a:rPr lang="en-US" dirty="0"/>
              <a:t>The strategic moves are opposites: Break through the Dip; </a:t>
            </a:r>
            <a:r>
              <a:rPr lang="en-US" b="1" dirty="0"/>
              <a:t>quit the cul-de-sac immediately.</a:t>
            </a:r>
            <a:r>
              <a:rPr lang="en-US" dirty="0"/>
              <a:t> Cut your losses. This matrix lets you free up the energy needed to make strategic moves.</a:t>
            </a:r>
          </a:p>
          <a:p>
            <a:r>
              <a:rPr lang="en-US" dirty="0"/>
              <a:t>Let's address the massive delusion that prevents us from quitting dead ends.</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8</a:t>
            </a:fld>
            <a:endParaRPr lang="en-US"/>
          </a:p>
        </p:txBody>
      </p:sp>
    </p:spTree>
    <p:extLst>
      <p:ext uri="{BB962C8B-B14F-4D97-AF65-F5344CB8AC3E}">
        <p14:creationId xmlns:p14="http://schemas.microsoft.com/office/powerpoint/2010/main" val="970329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culturally indoctrinated with the idea that quitting is failure. We hear quotes like this one, conceptualized here, attributed to Michael Jordan: "If you quit once it becomes a habit. Never quit."</a:t>
            </a:r>
          </a:p>
          <a:p>
            <a:r>
              <a:rPr lang="en-US" dirty="0"/>
              <a:t>This sounds inspiring, but it’s a delusion. As Seth Godin points out, </a:t>
            </a:r>
            <a:r>
              <a:rPr lang="en-US" b="1" dirty="0"/>
              <a:t>Michael Jordan doesn't play professional baseball or golf anymore. He quit.</a:t>
            </a:r>
            <a:r>
              <a:rPr lang="en-US" dirty="0"/>
              <a:t> He is a professional quitter.</a:t>
            </a:r>
          </a:p>
          <a:p>
            <a:r>
              <a:rPr lang="en-US" dirty="0"/>
              <a:t>Our culture celebrates </a:t>
            </a:r>
            <a:r>
              <a:rPr lang="en-US" i="1" dirty="0"/>
              <a:t>starting</a:t>
            </a:r>
            <a:r>
              <a:rPr lang="en-US" dirty="0"/>
              <a:t>. A new job, a new relationship, a new business. We love that energy. But this conceptual image illustrates a crucial truth we forget: </a:t>
            </a:r>
            <a:r>
              <a:rPr lang="en-US" b="1" dirty="0"/>
              <a:t>Every single new beginning absolutely requires quitting something else first.</a:t>
            </a:r>
            <a:endParaRPr lang="en-US" dirty="0"/>
          </a:p>
          <a:p>
            <a:r>
              <a:rPr lang="en-US" dirty="0"/>
              <a:t>If your hands are full holding onto the cul-de-sac, you cannot lunge to grasp the new opportunity. Quitting the </a:t>
            </a:r>
            <a:r>
              <a:rPr lang="en-US" i="1" dirty="0"/>
              <a:t>wrong</a:t>
            </a:r>
            <a:r>
              <a:rPr lang="en-US" dirty="0"/>
              <a:t> thing is the only way to strategically clear space for the </a:t>
            </a:r>
            <a:r>
              <a:rPr lang="en-US" i="1" dirty="0"/>
              <a:t>right</a:t>
            </a:r>
            <a:r>
              <a:rPr lang="en-US" dirty="0"/>
              <a:t> thing.</a:t>
            </a:r>
          </a:p>
          <a:p>
            <a:r>
              <a:rPr lang="en-US" dirty="0"/>
              <a:t>By mastering the Quitter's Matrix and clearing space, you can finally serve your chosen audience. But what kind of work do they need?</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9</a:t>
            </a:fld>
            <a:endParaRPr lang="en-US"/>
          </a:p>
        </p:txBody>
      </p:sp>
    </p:spTree>
    <p:extLst>
      <p:ext uri="{BB962C8B-B14F-4D97-AF65-F5344CB8AC3E}">
        <p14:creationId xmlns:p14="http://schemas.microsoft.com/office/powerpoint/2010/main" val="85004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conceptual slide breaks down a common buzzword that actually keeps creators stuck. </a:t>
            </a:r>
            <a:r>
              <a:rPr lang="en-US" b="1" dirty="0"/>
              <a:t>Authenticity.</a:t>
            </a:r>
            <a:endParaRPr lang="en-US" dirty="0"/>
          </a:p>
          <a:p>
            <a:r>
              <a:rPr lang="en-US" dirty="0"/>
              <a:t>In this matrix, Seth distinguishes the amateur from the professional. We stay stuck because we are obsessed with our own authenticity.</a:t>
            </a:r>
          </a:p>
          <a:p>
            <a:r>
              <a:rPr lang="en-US" dirty="0"/>
              <a:t>Look at </a:t>
            </a:r>
            <a:r>
              <a:rPr lang="en-US" b="1" dirty="0"/>
              <a:t>The Amateur</a:t>
            </a:r>
            <a:r>
              <a:rPr lang="en-US" dirty="0"/>
              <a:t>. Authenticity is their anchor. Their focus is on the Self. Their behavior is serving their own mood or current trauma.</a:t>
            </a:r>
          </a:p>
          <a:p>
            <a:r>
              <a:rPr lang="en-US" dirty="0"/>
              <a:t>Consider this illustration’s outcome: If a </a:t>
            </a:r>
            <a:r>
              <a:rPr lang="en-US" i="1" dirty="0"/>
              <a:t>surgeon</a:t>
            </a:r>
            <a:r>
              <a:rPr lang="en-US" dirty="0"/>
              <a:t> is having a bad day, do you want them to be an authentic surgeon? Absolutely not. That surgeon would be dangerous.</a:t>
            </a:r>
          </a:p>
          <a:p>
            <a:r>
              <a:rPr lang="en-US" dirty="0"/>
              <a:t>The goal is not authenticity; the goal is </a:t>
            </a:r>
            <a:r>
              <a:rPr lang="en-US" b="1" dirty="0"/>
              <a:t>The Professional</a:t>
            </a:r>
            <a:r>
              <a:rPr lang="en-US" dirty="0"/>
              <a:t>. Consistency is their anchor. The focus is not on the self, but on </a:t>
            </a:r>
            <a:r>
              <a:rPr lang="en-US" b="1" dirty="0"/>
              <a:t>the Audience</a:t>
            </a:r>
            <a:r>
              <a:rPr lang="en-US" dirty="0"/>
              <a:t>. A professional makes a promise and </a:t>
            </a:r>
            <a:r>
              <a:rPr lang="en-US" i="1" dirty="0"/>
              <a:t>keeps it, regardless of mood</a:t>
            </a:r>
            <a:r>
              <a:rPr lang="en-US" dirty="0"/>
              <a:t>.</a:t>
            </a:r>
          </a:p>
          <a:p>
            <a:r>
              <a:rPr lang="en-US" dirty="0"/>
              <a:t>If you serve your next-door neighbor on your frictionless start podcast, you leave your messy, authentic self for your friends and family. You bring </a:t>
            </a:r>
            <a:r>
              <a:rPr lang="en-US" b="1" dirty="0"/>
              <a:t>consistency</a:t>
            </a:r>
            <a:r>
              <a:rPr lang="en-US" dirty="0"/>
              <a:t> to your audience. This consistency is what builds trust and allows you to find your others.</a:t>
            </a:r>
          </a:p>
          <a:p>
            <a:r>
              <a:rPr lang="en-US" dirty="0"/>
              <a:t>Once you have consistency, you can use the most powerful strategic tool in business: The Empty Chair.</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10</a:t>
            </a:fld>
            <a:endParaRPr lang="en-US"/>
          </a:p>
        </p:txBody>
      </p:sp>
    </p:spTree>
    <p:extLst>
      <p:ext uri="{BB962C8B-B14F-4D97-AF65-F5344CB8AC3E}">
        <p14:creationId xmlns:p14="http://schemas.microsoft.com/office/powerpoint/2010/main" val="2087046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powerful visual illustrates a practice Amazon uses to make decisions. They leave one empty chair in every meeting.</a:t>
            </a:r>
          </a:p>
          <a:p>
            <a:r>
              <a:rPr lang="en-US" dirty="0"/>
              <a:t>What does that chair represent? </a:t>
            </a:r>
            <a:r>
              <a:rPr lang="en-US" b="1" dirty="0"/>
              <a:t>It represents the Customer.</a:t>
            </a:r>
            <a:r>
              <a:rPr lang="en-US" dirty="0"/>
              <a:t> The user. The specific person you are trying to help.</a:t>
            </a:r>
          </a:p>
          <a:p>
            <a:r>
              <a:rPr lang="en-US" dirty="0"/>
              <a:t>Remember the Buridan's Donkey dilemma? The donkey starved because it didn't know who to serve first.</a:t>
            </a:r>
          </a:p>
          <a:p>
            <a:r>
              <a:rPr lang="en-US" dirty="0"/>
              <a:t>Serving the empty chair is the </a:t>
            </a:r>
            <a:r>
              <a:rPr lang="en-US" b="1" dirty="0"/>
              <a:t>ultimate Donkey Dilemma killer.</a:t>
            </a:r>
            <a:r>
              <a:rPr lang="en-US" dirty="0"/>
              <a:t> When you have a decision to make, don't ask what you want, or what is easiest. Strategically choose </a:t>
            </a:r>
            <a:r>
              <a:rPr lang="en-US" i="1" dirty="0"/>
              <a:t>exactly</a:t>
            </a:r>
            <a:r>
              <a:rPr lang="en-US" dirty="0"/>
              <a:t> who you will serve. Name the chair. Serve it above all else.</a:t>
            </a:r>
          </a:p>
          <a:p>
            <a:r>
              <a:rPr lang="en-US" dirty="0"/>
              <a:t>Let's look at a classic case study from Shake Shack. Danny Meyer, the founder, wanted a better-rated burger, so he strategically switched to fancy, fresh-cut fries to appease the critics. But profits dropped, and staff hated it. He realized the </a:t>
            </a:r>
            <a:r>
              <a:rPr lang="en-US" i="1" dirty="0"/>
              <a:t>critics</a:t>
            </a:r>
            <a:r>
              <a:rPr lang="en-US" dirty="0"/>
              <a:t> were not in the chair. The empty chair belonged to the customer who loved crinkle-cut. The moment he strategically switched back to the "worse" but </a:t>
            </a:r>
            <a:r>
              <a:rPr lang="en-US" i="1" dirty="0"/>
              <a:t>right</a:t>
            </a:r>
            <a:r>
              <a:rPr lang="en-US" dirty="0"/>
              <a:t> product, Shake Shack became a multi-billion-dollar brand.</a:t>
            </a:r>
          </a:p>
          <a:p>
            <a:r>
              <a:rPr lang="en-US" dirty="0"/>
              <a:t>Ignore the critics. Master consistency, detach from the output, and serve the chair.</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11</a:t>
            </a:fld>
            <a:endParaRPr lang="en-US"/>
          </a:p>
        </p:txBody>
      </p:sp>
    </p:spTree>
    <p:extLst>
      <p:ext uri="{BB962C8B-B14F-4D97-AF65-F5344CB8AC3E}">
        <p14:creationId xmlns:p14="http://schemas.microsoft.com/office/powerpoint/2010/main" val="285070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illustrates a fascinating psychological truth that helps us handle the </a:t>
            </a:r>
            <a:r>
              <a:rPr lang="en-US" i="1" dirty="0"/>
              <a:t>process</a:t>
            </a:r>
            <a:r>
              <a:rPr lang="en-US" dirty="0"/>
              <a:t> of being stuck or unstuck.</a:t>
            </a:r>
          </a:p>
          <a:p>
            <a:r>
              <a:rPr lang="en-US" dirty="0"/>
              <a:t>When hospital patients are given a button that allows them to self-administer pain medication, two incredible things happen:</a:t>
            </a:r>
          </a:p>
          <a:p>
            <a:pPr marL="228600" indent="-228600">
              <a:buFont typeface="+mj-lt"/>
              <a:buAutoNum type="arabicPeriod"/>
            </a:pPr>
            <a:r>
              <a:rPr lang="en-US" dirty="0"/>
              <a:t>They consume </a:t>
            </a:r>
            <a:r>
              <a:rPr lang="en-US" b="1" dirty="0"/>
              <a:t>equal or fewer</a:t>
            </a:r>
            <a:r>
              <a:rPr lang="en-US" dirty="0"/>
              <a:t> painkillers overall.</a:t>
            </a:r>
          </a:p>
          <a:p>
            <a:pPr marL="228600" indent="-228600">
              <a:buFont typeface="+mj-lt"/>
              <a:buAutoNum type="arabicPeriod"/>
            </a:pPr>
            <a:r>
              <a:rPr lang="en-US" dirty="0"/>
              <a:t>They report </a:t>
            </a:r>
            <a:r>
              <a:rPr lang="en-US" b="1" dirty="0"/>
              <a:t>significantly lower</a:t>
            </a:r>
            <a:r>
              <a:rPr lang="en-US" dirty="0"/>
              <a:t> pain levels.</a:t>
            </a:r>
          </a:p>
          <a:p>
            <a:r>
              <a:rPr lang="en-US" dirty="0"/>
              <a:t>The takeaway from Seth Godin is this: The physical pain in their system didn't magically change. It was the </a:t>
            </a:r>
            <a:r>
              <a:rPr lang="en-US" b="1" dirty="0"/>
              <a:t>stress of helplessness</a:t>
            </a:r>
            <a:r>
              <a:rPr lang="en-US" dirty="0"/>
              <a:t> that was amplifying their perception of pain.</a:t>
            </a:r>
          </a:p>
          <a:p>
            <a:r>
              <a:rPr lang="en-US" dirty="0"/>
              <a:t>Paralysis feels awful. Being stuck in the cul-de-sac or struggling in the Dip feels like a crisis. But when you claim control of your own narrative—when you can strategically decide </a:t>
            </a:r>
            <a:r>
              <a:rPr lang="en-US" i="1" dirty="0"/>
              <a:t>when to quit</a:t>
            </a:r>
            <a:r>
              <a:rPr lang="en-US" dirty="0"/>
              <a:t> or </a:t>
            </a:r>
            <a:r>
              <a:rPr lang="en-US" i="1" dirty="0"/>
              <a:t>how to make perfect throws</a:t>
            </a:r>
            <a:r>
              <a:rPr lang="en-US" dirty="0"/>
              <a:t>—that sense of </a:t>
            </a:r>
            <a:r>
              <a:rPr lang="en-US" b="1" dirty="0"/>
              <a:t>agency</a:t>
            </a:r>
            <a:r>
              <a:rPr lang="en-US" dirty="0"/>
              <a:t> literally alters your psychological experience. It makes the work less painful.</a:t>
            </a:r>
          </a:p>
          <a:p>
            <a:r>
              <a:rPr lang="en-US" dirty="0"/>
              <a:t>This is the strategic framework. Let's synthesize the whole system.</a:t>
            </a:r>
          </a:p>
          <a:p>
            <a:endParaRPr lang="en-US" dirty="0"/>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12</a:t>
            </a:fld>
            <a:endParaRPr lang="en-US"/>
          </a:p>
        </p:txBody>
      </p:sp>
    </p:spTree>
    <p:extLst>
      <p:ext uri="{BB962C8B-B14F-4D97-AF65-F5344CB8AC3E}">
        <p14:creationId xmlns:p14="http://schemas.microsoft.com/office/powerpoint/2010/main" val="1632052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progress path we have just navigated. This is the </a:t>
            </a:r>
            <a:r>
              <a:rPr lang="en-US" b="1" dirty="0"/>
              <a:t>Unstuck System.</a:t>
            </a:r>
            <a:r>
              <a:rPr lang="en-US" dirty="0"/>
              <a:t> Let's synthesize it into a strategic checklist.</a:t>
            </a:r>
          </a:p>
          <a:p>
            <a:pPr marL="228600" indent="-228600">
              <a:buFont typeface="+mj-lt"/>
              <a:buAutoNum type="arabicPeriod"/>
            </a:pPr>
            <a:r>
              <a:rPr lang="en-US" b="1" dirty="0"/>
              <a:t>Name the Knot.</a:t>
            </a:r>
            <a:r>
              <a:rPr lang="en-US" dirty="0"/>
              <a:t> Locate the Hidden Assumption anchoring your paralyzing Donkey Dilemma. Identify the conflicting desire, the "BUT." strategize, make a decision, and accept you cannot have both.</a:t>
            </a:r>
          </a:p>
          <a:p>
            <a:pPr marL="228600" indent="-228600">
              <a:buFont typeface="+mj-lt"/>
              <a:buAutoNum type="arabicPeriod"/>
            </a:pPr>
            <a:r>
              <a:rPr lang="en-US" b="1" dirty="0"/>
              <a:t>Forgive the Receipt.</a:t>
            </a:r>
            <a:r>
              <a:rPr lang="en-US" dirty="0"/>
              <a:t> Throw away the sunk costs obligating your past self.</a:t>
            </a:r>
          </a:p>
          <a:p>
            <a:pPr marL="228600" indent="-228600">
              <a:buFont typeface="+mj-lt"/>
              <a:buAutoNum type="arabicPeriod"/>
            </a:pPr>
            <a:r>
              <a:rPr lang="en-US" b="1" dirty="0"/>
              <a:t>Quit the Cul-de-sac.</a:t>
            </a:r>
            <a:r>
              <a:rPr lang="en-US" dirty="0"/>
              <a:t> Exit dead ends immediately so you can free up the fuel needed to navigate the Dip and master consistency.</a:t>
            </a:r>
          </a:p>
          <a:p>
            <a:pPr marL="228600" indent="-228600">
              <a:buFont typeface="+mj-lt"/>
              <a:buAutoNum type="arabicPeriod"/>
            </a:pPr>
            <a:r>
              <a:rPr lang="en-US" b="1" dirty="0"/>
              <a:t>Pick the Chair.</a:t>
            </a:r>
            <a:r>
              <a:rPr lang="en-US" dirty="0"/>
              <a:t> Define the smallest viable audience you will serve. Ignore everyone else.</a:t>
            </a:r>
          </a:p>
          <a:p>
            <a:pPr marL="228600" indent="-228600">
              <a:buFont typeface="+mj-lt"/>
              <a:buAutoNum type="arabicPeriod"/>
            </a:pPr>
            <a:r>
              <a:rPr lang="en-US" b="1" dirty="0"/>
              <a:t>Master the Throw.</a:t>
            </a:r>
            <a:r>
              <a:rPr lang="en-US" dirty="0"/>
              <a:t> Build a daily, frictionless practice based on consistency, not mood. Detach from the catch (metrics and results) and focus exclusively on the throw.</a:t>
            </a:r>
          </a:p>
          <a:p>
            <a:r>
              <a:rPr lang="en-US" dirty="0"/>
              <a:t>This system is within your control. You don't need anyone's permission to apply it. Let's close with the example of a woman who proved that.</a:t>
            </a:r>
          </a:p>
          <a:p>
            <a:endParaRPr lang="en-US" dirty="0"/>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13</a:t>
            </a:fld>
            <a:endParaRPr lang="en-US"/>
          </a:p>
        </p:txBody>
      </p:sp>
    </p:spTree>
    <p:extLst>
      <p:ext uri="{BB962C8B-B14F-4D97-AF65-F5344CB8AC3E}">
        <p14:creationId xmlns:p14="http://schemas.microsoft.com/office/powerpoint/2010/main" val="3465805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conceptual graphic illustrates the path of Dame Whina Cooper, a 78-year-old indigenous woman in New Zealand.</a:t>
            </a:r>
          </a:p>
          <a:p>
            <a:r>
              <a:rPr lang="en-US" dirty="0"/>
              <a:t>Cooper had no formal authority. She had no corporate structure or official gatekeeper permission. But she wanted to address indigenous land rights.</a:t>
            </a:r>
          </a:p>
          <a:p>
            <a:r>
              <a:rPr lang="en-US" dirty="0"/>
              <a:t>This illustration shows us the rings of impact. Seth Godin uses this as the ultimate model for picking yourself. Cooper </a:t>
            </a:r>
            <a:r>
              <a:rPr lang="en-US" b="1" dirty="0"/>
              <a:t>didn't wait to be picked.</a:t>
            </a:r>
            <a:endParaRPr lang="en-US" dirty="0"/>
          </a:p>
          <a:p>
            <a:pPr marL="171450" indent="-171450">
              <a:buFont typeface="Arial" panose="020B0604020202020204" pitchFamily="34" charset="0"/>
              <a:buChar char="•"/>
            </a:pPr>
            <a:r>
              <a:rPr lang="en-US" dirty="0"/>
              <a:t>She organized 50 other people—her smallest viable audience.</a:t>
            </a:r>
          </a:p>
          <a:p>
            <a:pPr marL="171450" indent="-171450">
              <a:buFont typeface="Arial" panose="020B0604020202020204" pitchFamily="34" charset="0"/>
              <a:buChar char="•"/>
            </a:pPr>
            <a:r>
              <a:rPr lang="en-US" dirty="0"/>
              <a:t>They committed to the practice. They began.</a:t>
            </a:r>
          </a:p>
          <a:p>
            <a:pPr marL="171450" indent="-171450">
              <a:buFont typeface="Arial" panose="020B0604020202020204" pitchFamily="34" charset="0"/>
              <a:buChar char="•"/>
            </a:pPr>
            <a:r>
              <a:rPr lang="en-US" dirty="0"/>
              <a:t>They marched. The consistency was impossible to ignore. They found their others. Fifty became a march of 2,000 people.</a:t>
            </a:r>
          </a:p>
          <a:p>
            <a:pPr marL="171450" indent="-171450">
              <a:buFont typeface="Arial" panose="020B0604020202020204" pitchFamily="34" charset="0"/>
              <a:buChar char="•"/>
            </a:pPr>
            <a:r>
              <a:rPr lang="en-US" dirty="0"/>
              <a:t>They reached the capital with 4,000 people. Dame Cooper changed the actual land laws of an entire nation.</a:t>
            </a:r>
          </a:p>
          <a:p>
            <a:r>
              <a:rPr lang="en-US" dirty="0"/>
              <a:t>This is the power of picking yourself. Find the others. Commit to the practice. </a:t>
            </a:r>
            <a:r>
              <a:rPr lang="en-US" b="1" dirty="0"/>
              <a:t>Start without permission.</a:t>
            </a:r>
            <a:endParaRPr lang="en-US" dirty="0"/>
          </a:p>
          <a:p>
            <a:r>
              <a:rPr lang="en-US" dirty="0"/>
              <a:t>Which brings us to our final metric.</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14</a:t>
            </a:fld>
            <a:endParaRPr lang="en-US"/>
          </a:p>
        </p:txBody>
      </p:sp>
    </p:spTree>
    <p:extLst>
      <p:ext uri="{BB962C8B-B14F-4D97-AF65-F5344CB8AC3E}">
        <p14:creationId xmlns:p14="http://schemas.microsoft.com/office/powerpoint/2010/main" val="1710550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end with a powerful conceptual question. How do you strategically measure if you are winning?</a:t>
            </a:r>
          </a:p>
          <a:p>
            <a:r>
              <a:rPr lang="en-US" dirty="0"/>
              <a:t>It is easy to focus on the wrong output, the short-term catching. The real metric, Seth argues, is a long-term strategic investment question: </a:t>
            </a:r>
            <a:r>
              <a:rPr lang="en-US" b="1" dirty="0"/>
              <a:t>How do you become the person your future self thanks you for?</a:t>
            </a:r>
            <a:endParaRPr lang="en-US" dirty="0"/>
          </a:p>
          <a:p>
            <a:r>
              <a:rPr lang="en-US" dirty="0"/>
              <a:t>When you survey people about their biggest regrets, they rarely list the things they tried that failed. Their biggest strategic regrets are always the </a:t>
            </a:r>
            <a:r>
              <a:rPr lang="en-US" b="1" dirty="0"/>
              <a:t>doors they did not open, the people they did not help, and the things they did not do.</a:t>
            </a:r>
            <a:endParaRPr lang="en-US" dirty="0"/>
          </a:p>
          <a:p>
            <a:r>
              <a:rPr lang="en-US" dirty="0"/>
              <a:t>Regret is the ultimate stuck cost.</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15</a:t>
            </a:fld>
            <a:endParaRPr lang="en-US"/>
          </a:p>
        </p:txBody>
      </p:sp>
    </p:spTree>
    <p:extLst>
      <p:ext uri="{BB962C8B-B14F-4D97-AF65-F5344CB8AC3E}">
        <p14:creationId xmlns:p14="http://schemas.microsoft.com/office/powerpoint/2010/main" val="1096965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now have the strategic playbook. You understand the hidden but. You know how to distinguish the Cul-de-sac from the Dip. You understand the danger of mood-based authenticity and the imposter syndrome trap.</a:t>
            </a:r>
          </a:p>
          <a:p>
            <a:r>
              <a:rPr lang="en-US" dirty="0"/>
              <a:t>You have agency. </a:t>
            </a:r>
            <a:r>
              <a:rPr lang="en-US" b="1" dirty="0"/>
              <a:t>Start throwing.</a:t>
            </a:r>
            <a:endParaRPr lang="en-US" dirty="0"/>
          </a:p>
          <a:p>
            <a:r>
              <a:rPr lang="en-US" dirty="0"/>
              <a:t>The most important thing you can do now is not to memorize this strategy, but to apply the system. Go find your friction-less start. Find your neighbor. Pick your chair. Don't lunge for the catch.</a:t>
            </a:r>
          </a:p>
          <a:p>
            <a:r>
              <a:rPr lang="en-US" dirty="0"/>
              <a:t>Build the practice. Thank you.</a:t>
            </a:r>
          </a:p>
          <a:p>
            <a:endParaRPr lang="en-US" dirty="0"/>
          </a:p>
        </p:txBody>
      </p:sp>
      <p:sp>
        <p:nvSpPr>
          <p:cNvPr id="4" name="Slide Number Placeholder 3"/>
          <p:cNvSpPr>
            <a:spLocks noGrp="1"/>
          </p:cNvSpPr>
          <p:nvPr>
            <p:ph type="sldNum" sz="quarter" idx="5"/>
          </p:nvPr>
        </p:nvSpPr>
        <p:spPr/>
        <p:txBody>
          <a:bodyPr/>
          <a:lstStyle/>
          <a:p>
            <a:fld id="{0952777D-17F0-4684-806C-E0335EF16654}" type="slidenum">
              <a:rPr lang="en-US" smtClean="0"/>
              <a:t>16</a:t>
            </a:fld>
            <a:endParaRPr lang="en-US"/>
          </a:p>
        </p:txBody>
      </p:sp>
    </p:spTree>
    <p:extLst>
      <p:ext uri="{BB962C8B-B14F-4D97-AF65-F5344CB8AC3E}">
        <p14:creationId xmlns:p14="http://schemas.microsoft.com/office/powerpoint/2010/main" val="1107766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9AEC0E-7BBF-4A61-B1EB-1063F2B8989D}"/>
              </a:ext>
            </a:extLst>
          </p:cNvPr>
          <p:cNvSpPr>
            <a:spLocks noGrp="1"/>
          </p:cNvSpPr>
          <p:nvPr>
            <p:ph type="dt" sz="half" idx="10"/>
          </p:nvPr>
        </p:nvSpPr>
        <p:spPr/>
        <p:txBody>
          <a:bodyPr/>
          <a:lstStyle/>
          <a:p>
            <a:fld id="{B5DDC090-6FCE-4F20-9CEC-B29A5B62D0FA}" type="datetimeFigureOut">
              <a:rPr lang="en-US" smtClean="0"/>
              <a:t>10/19/2026</a:t>
            </a:fld>
            <a:endParaRPr lang="en-US"/>
          </a:p>
        </p:txBody>
      </p:sp>
      <p:sp>
        <p:nvSpPr>
          <p:cNvPr id="3" name="Footer Placeholder 2">
            <a:extLst>
              <a:ext uri="{FF2B5EF4-FFF2-40B4-BE49-F238E27FC236}">
                <a16:creationId xmlns:a16="http://schemas.microsoft.com/office/drawing/2014/main" id="{AAB09928-B2A6-4057-E5FB-A8A5CED0D2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C253E-29AB-0D74-BE52-1D860AD922AC}"/>
              </a:ext>
            </a:extLst>
          </p:cNvPr>
          <p:cNvSpPr>
            <a:spLocks noGrp="1"/>
          </p:cNvSpPr>
          <p:nvPr>
            <p:ph type="sldNum" sz="quarter" idx="12"/>
          </p:nvPr>
        </p:nvSpPr>
        <p:spPr/>
        <p:txBody>
          <a:bodyPr/>
          <a:lstStyle/>
          <a:p>
            <a:fld id="{B4028F07-D028-4927-9499-0746A013341A}" type="slidenum">
              <a:rPr lang="en-US" smtClean="0"/>
              <a:t>‹#›</a:t>
            </a:fld>
            <a:endParaRPr lang="en-US"/>
          </a:p>
        </p:txBody>
      </p:sp>
    </p:spTree>
    <p:extLst>
      <p:ext uri="{BB962C8B-B14F-4D97-AF65-F5344CB8AC3E}">
        <p14:creationId xmlns:p14="http://schemas.microsoft.com/office/powerpoint/2010/main" val="40395666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1A2945-4007-3083-7CF2-804E761C16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B8D2CC-D54E-2828-20EB-573E311AA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740D-1753-935F-B5C0-9D875E089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DDC090-6FCE-4F20-9CEC-B29A5B62D0FA}" type="datetimeFigureOut">
              <a:rPr lang="en-US" smtClean="0"/>
              <a:t>10/19/2026</a:t>
            </a:fld>
            <a:endParaRPr lang="en-US"/>
          </a:p>
        </p:txBody>
      </p:sp>
      <p:sp>
        <p:nvSpPr>
          <p:cNvPr id="5" name="Footer Placeholder 4">
            <a:extLst>
              <a:ext uri="{FF2B5EF4-FFF2-40B4-BE49-F238E27FC236}">
                <a16:creationId xmlns:a16="http://schemas.microsoft.com/office/drawing/2014/main" id="{6965A94D-E4EA-4676-3597-271C104DE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026D47-5178-599F-6E7D-81C641056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028F07-D028-4927-9499-0746A013341A}" type="slidenum">
              <a:rPr lang="en-US" smtClean="0"/>
              <a:t>‹#›</a:t>
            </a:fld>
            <a:endParaRPr lang="en-US"/>
          </a:p>
        </p:txBody>
      </p:sp>
    </p:spTree>
    <p:extLst>
      <p:ext uri="{BB962C8B-B14F-4D97-AF65-F5344CB8AC3E}">
        <p14:creationId xmlns:p14="http://schemas.microsoft.com/office/powerpoint/2010/main" val="60071507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53470A-7E99-CFC1-0C0F-7E89AD3DE1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B001F3-5A14-B4B3-F2B4-9A0258A355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DF785A-C4F0-FE52-472C-4BB1E94A25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D64A62-9B20-6369-D2EE-C840CCE73B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D82657-9661-004E-60A0-E76B8C91F1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911F0-14A8-15B8-E55E-AC61FCDD77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569AB1-7C23-AA3E-0152-1D5939F47E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9E7881-04C0-B2C2-5E5C-E1C0164A0B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B76FEA-1828-5DA2-FF09-97909DC3B3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3A2565-F2D5-5275-DF82-5D258E4266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54A0D4-84FF-4A71-E06B-54D3BA29AF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7D5AC0-85AD-AEB0-CACE-8CF111D9B2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09C025-D834-1D39-F9E9-41DBA10475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1551D5-80D6-1002-E56F-2B448BF202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275623-ADB2-086D-61DD-B80D089B7E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15C010-5FD1-5220-5E78-19D49E37B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748935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3188</Words>
  <Application>Microsoft Office PowerPoint</Application>
  <PresentationFormat>寬螢幕</PresentationFormat>
  <Paragraphs>118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2026-08-10T13:20:49Z</dcterms:created>
  <dcterms:modified xsi:type="dcterms:W3CDTF">2026-10-19T15:45:47Z</dcterms:modified>
</cp:coreProperties>
</file>