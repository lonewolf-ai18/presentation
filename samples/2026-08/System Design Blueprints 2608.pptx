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AB83E9-139B-4785-88B3-FBBDF7DC7F5C}" v="17" dt="2026-08-28T09:18:23.0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58567" autoAdjust="0"/>
  </p:normalViewPr>
  <p:slideViewPr>
    <p:cSldViewPr snapToGrid="0">
      <p:cViewPr varScale="1">
        <p:scale>
          <a:sx n="55" d="100"/>
          <a:sy n="55" d="100"/>
        </p:scale>
        <p:origin x="87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28T09:18:26.301" v="60" actId="166"/>
      <pc:docMkLst>
        <pc:docMk/>
      </pc:docMkLst>
      <pc:sldChg chg="addSp delSp modSp mod modAnim modNotesTx">
        <pc:chgData name="Lai, Wilson" userId="2840974a-0d84-4886-90a9-9a3ed79f3a48" providerId="ADAL" clId="{9F23B798-9E84-4552-BA63-E776E805C424}" dt="2026-08-28T09:18:26.301" v="60" actId="166"/>
        <pc:sldMkLst>
          <pc:docMk/>
          <pc:sldMk cId="0" sldId="257"/>
        </pc:sldMkLst>
        <pc:spChg chg="add mod">
          <ac:chgData name="Lai, Wilson" userId="2840974a-0d84-4886-90a9-9a3ed79f3a48" providerId="ADAL" clId="{9F23B798-9E84-4552-BA63-E776E805C424}" dt="2026-08-28T09:18:23.015" v="59" actId="164"/>
          <ac:spMkLst>
            <pc:docMk/>
            <pc:sldMk cId="0" sldId="257"/>
            <ac:spMk id="5" creationId="{7E54F0DA-DE42-84C7-B1B6-617FBF7B97F7}"/>
          </ac:spMkLst>
        </pc:spChg>
        <pc:grpChg chg="add mod">
          <ac:chgData name="Lai, Wilson" userId="2840974a-0d84-4886-90a9-9a3ed79f3a48" providerId="ADAL" clId="{9F23B798-9E84-4552-BA63-E776E805C424}" dt="2026-08-28T09:18:23.015" v="59" actId="164"/>
          <ac:grpSpMkLst>
            <pc:docMk/>
            <pc:sldMk cId="0" sldId="257"/>
            <ac:grpSpMk id="6" creationId="{E5C7D509-EAFD-2AEA-7F41-79A70C578384}"/>
          </ac:grpSpMkLst>
        </pc:grpChg>
        <pc:picChg chg="del">
          <ac:chgData name="Lai, Wilson" userId="2840974a-0d84-4886-90a9-9a3ed79f3a48" providerId="ADAL" clId="{9F23B798-9E84-4552-BA63-E776E805C424}" dt="2026-08-28T08:38:17.583" v="0" actId="21"/>
          <ac:picMkLst>
            <pc:docMk/>
            <pc:sldMk cId="0" sldId="257"/>
            <ac:picMk id="2" creationId="{00000000-0000-0000-0000-000000000000}"/>
          </ac:picMkLst>
        </pc:picChg>
        <pc:picChg chg="add mod">
          <ac:chgData name="Lai, Wilson" userId="2840974a-0d84-4886-90a9-9a3ed79f3a48" providerId="ADAL" clId="{9F23B798-9E84-4552-BA63-E776E805C424}" dt="2026-08-28T09:18:23.015" v="59" actId="164"/>
          <ac:picMkLst>
            <pc:docMk/>
            <pc:sldMk cId="0" sldId="257"/>
            <ac:picMk id="2" creationId="{4E9D5356-8D98-79B3-743A-4E1A08CE39D6}"/>
          </ac:picMkLst>
        </pc:picChg>
        <pc:picChg chg="add ord">
          <ac:chgData name="Lai, Wilson" userId="2840974a-0d84-4886-90a9-9a3ed79f3a48" providerId="ADAL" clId="{9F23B798-9E84-4552-BA63-E776E805C424}" dt="2026-08-28T09:18:26.301" v="60" actId="166"/>
          <ac:picMkLst>
            <pc:docMk/>
            <pc:sldMk cId="0" sldId="257"/>
            <ac:picMk id="4" creationId="{5FDEA12D-11FB-14A6-089E-69E2AA8A2146}"/>
          </ac:picMkLst>
        </pc:picChg>
      </pc:sldChg>
      <pc:sldChg chg="addSp delSp mod">
        <pc:chgData name="Lai, Wilson" userId="2840974a-0d84-4886-90a9-9a3ed79f3a48" providerId="ADAL" clId="{9F23B798-9E84-4552-BA63-E776E805C424}" dt="2026-08-28T08:38:55.416" v="3" actId="22"/>
        <pc:sldMkLst>
          <pc:docMk/>
          <pc:sldMk cId="0" sldId="258"/>
        </pc:sldMkLst>
        <pc:picChg chg="del">
          <ac:chgData name="Lai, Wilson" userId="2840974a-0d84-4886-90a9-9a3ed79f3a48" providerId="ADAL" clId="{9F23B798-9E84-4552-BA63-E776E805C424}" dt="2026-08-28T08:38:47.350" v="2" actId="21"/>
          <ac:picMkLst>
            <pc:docMk/>
            <pc:sldMk cId="0" sldId="258"/>
            <ac:picMk id="2" creationId="{00000000-0000-0000-0000-000000000000}"/>
          </ac:picMkLst>
        </pc:picChg>
        <pc:picChg chg="add">
          <ac:chgData name="Lai, Wilson" userId="2840974a-0d84-4886-90a9-9a3ed79f3a48" providerId="ADAL" clId="{9F23B798-9E84-4552-BA63-E776E805C424}" dt="2026-08-28T08:38:55.416" v="3" actId="22"/>
          <ac:picMkLst>
            <pc:docMk/>
            <pc:sldMk cId="0" sldId="258"/>
            <ac:picMk id="4" creationId="{C9BAD3D7-25B2-593A-9D97-55F4DBCBB5AD}"/>
          </ac:picMkLst>
        </pc:picChg>
      </pc:sldChg>
      <pc:sldChg chg="addSp delSp mod modNotesTx">
        <pc:chgData name="Lai, Wilson" userId="2840974a-0d84-4886-90a9-9a3ed79f3a48" providerId="ADAL" clId="{9F23B798-9E84-4552-BA63-E776E805C424}" dt="2026-08-28T09:05:11.860" v="32" actId="12"/>
        <pc:sldMkLst>
          <pc:docMk/>
          <pc:sldMk cId="0" sldId="259"/>
        </pc:sldMkLst>
        <pc:picChg chg="del">
          <ac:chgData name="Lai, Wilson" userId="2840974a-0d84-4886-90a9-9a3ed79f3a48" providerId="ADAL" clId="{9F23B798-9E84-4552-BA63-E776E805C424}" dt="2026-08-28T08:38:57.440" v="4" actId="21"/>
          <ac:picMkLst>
            <pc:docMk/>
            <pc:sldMk cId="0" sldId="259"/>
            <ac:picMk id="2" creationId="{00000000-0000-0000-0000-000000000000}"/>
          </ac:picMkLst>
        </pc:picChg>
        <pc:picChg chg="add">
          <ac:chgData name="Lai, Wilson" userId="2840974a-0d84-4886-90a9-9a3ed79f3a48" providerId="ADAL" clId="{9F23B798-9E84-4552-BA63-E776E805C424}" dt="2026-08-28T08:39:04.431" v="5" actId="22"/>
          <ac:picMkLst>
            <pc:docMk/>
            <pc:sldMk cId="0" sldId="259"/>
            <ac:picMk id="4" creationId="{8BFB1F50-F0C0-96E5-282A-F0C4FAB8A2C0}"/>
          </ac:picMkLst>
        </pc:picChg>
      </pc:sldChg>
      <pc:sldChg chg="addSp delSp mod modNotesTx">
        <pc:chgData name="Lai, Wilson" userId="2840974a-0d84-4886-90a9-9a3ed79f3a48" providerId="ADAL" clId="{9F23B798-9E84-4552-BA63-E776E805C424}" dt="2026-08-28T09:05:29.222" v="33" actId="12"/>
        <pc:sldMkLst>
          <pc:docMk/>
          <pc:sldMk cId="0" sldId="260"/>
        </pc:sldMkLst>
        <pc:picChg chg="del">
          <ac:chgData name="Lai, Wilson" userId="2840974a-0d84-4886-90a9-9a3ed79f3a48" providerId="ADAL" clId="{9F23B798-9E84-4552-BA63-E776E805C424}" dt="2026-08-28T08:39:06.491" v="6" actId="21"/>
          <ac:picMkLst>
            <pc:docMk/>
            <pc:sldMk cId="0" sldId="260"/>
            <ac:picMk id="2" creationId="{00000000-0000-0000-0000-000000000000}"/>
          </ac:picMkLst>
        </pc:picChg>
        <pc:picChg chg="add">
          <ac:chgData name="Lai, Wilson" userId="2840974a-0d84-4886-90a9-9a3ed79f3a48" providerId="ADAL" clId="{9F23B798-9E84-4552-BA63-E776E805C424}" dt="2026-08-28T08:39:54.203" v="7" actId="22"/>
          <ac:picMkLst>
            <pc:docMk/>
            <pc:sldMk cId="0" sldId="260"/>
            <ac:picMk id="4" creationId="{79E221BB-0D8F-C9A6-3FA6-DEEF56F01896}"/>
          </ac:picMkLst>
        </pc:picChg>
      </pc:sldChg>
      <pc:sldChg chg="addSp delSp mod modNotesTx">
        <pc:chgData name="Lai, Wilson" userId="2840974a-0d84-4886-90a9-9a3ed79f3a48" providerId="ADAL" clId="{9F23B798-9E84-4552-BA63-E776E805C424}" dt="2026-08-28T09:05:43.050" v="34" actId="12"/>
        <pc:sldMkLst>
          <pc:docMk/>
          <pc:sldMk cId="0" sldId="261"/>
        </pc:sldMkLst>
        <pc:picChg chg="del">
          <ac:chgData name="Lai, Wilson" userId="2840974a-0d84-4886-90a9-9a3ed79f3a48" providerId="ADAL" clId="{9F23B798-9E84-4552-BA63-E776E805C424}" dt="2026-08-28T08:39:56.852" v="8" actId="21"/>
          <ac:picMkLst>
            <pc:docMk/>
            <pc:sldMk cId="0" sldId="261"/>
            <ac:picMk id="2" creationId="{00000000-0000-0000-0000-000000000000}"/>
          </ac:picMkLst>
        </pc:picChg>
        <pc:picChg chg="add">
          <ac:chgData name="Lai, Wilson" userId="2840974a-0d84-4886-90a9-9a3ed79f3a48" providerId="ADAL" clId="{9F23B798-9E84-4552-BA63-E776E805C424}" dt="2026-08-28T08:40:09.697" v="9" actId="22"/>
          <ac:picMkLst>
            <pc:docMk/>
            <pc:sldMk cId="0" sldId="261"/>
            <ac:picMk id="4" creationId="{CAD62EF4-89A4-09D8-6D7E-6C56B9CC970C}"/>
          </ac:picMkLst>
        </pc:picChg>
      </pc:sldChg>
      <pc:sldChg chg="addSp delSp mod modNotesTx">
        <pc:chgData name="Lai, Wilson" userId="2840974a-0d84-4886-90a9-9a3ed79f3a48" providerId="ADAL" clId="{9F23B798-9E84-4552-BA63-E776E805C424}" dt="2026-08-28T09:05:58.028" v="35" actId="12"/>
        <pc:sldMkLst>
          <pc:docMk/>
          <pc:sldMk cId="0" sldId="262"/>
        </pc:sldMkLst>
        <pc:picChg chg="del">
          <ac:chgData name="Lai, Wilson" userId="2840974a-0d84-4886-90a9-9a3ed79f3a48" providerId="ADAL" clId="{9F23B798-9E84-4552-BA63-E776E805C424}" dt="2026-08-28T08:40:11.253" v="10" actId="21"/>
          <ac:picMkLst>
            <pc:docMk/>
            <pc:sldMk cId="0" sldId="262"/>
            <ac:picMk id="2" creationId="{00000000-0000-0000-0000-000000000000}"/>
          </ac:picMkLst>
        </pc:picChg>
        <pc:picChg chg="add">
          <ac:chgData name="Lai, Wilson" userId="2840974a-0d84-4886-90a9-9a3ed79f3a48" providerId="ADAL" clId="{9F23B798-9E84-4552-BA63-E776E805C424}" dt="2026-08-28T08:41:11.873" v="11" actId="22"/>
          <ac:picMkLst>
            <pc:docMk/>
            <pc:sldMk cId="0" sldId="262"/>
            <ac:picMk id="4" creationId="{5B0EAF6E-F2CE-7413-BCC4-1D7532DD7C9B}"/>
          </ac:picMkLst>
        </pc:picChg>
      </pc:sldChg>
      <pc:sldChg chg="addSp delSp mod modNotesTx">
        <pc:chgData name="Lai, Wilson" userId="2840974a-0d84-4886-90a9-9a3ed79f3a48" providerId="ADAL" clId="{9F23B798-9E84-4552-BA63-E776E805C424}" dt="2026-08-28T09:06:10.624" v="36" actId="12"/>
        <pc:sldMkLst>
          <pc:docMk/>
          <pc:sldMk cId="0" sldId="263"/>
        </pc:sldMkLst>
        <pc:picChg chg="del">
          <ac:chgData name="Lai, Wilson" userId="2840974a-0d84-4886-90a9-9a3ed79f3a48" providerId="ADAL" clId="{9F23B798-9E84-4552-BA63-E776E805C424}" dt="2026-08-28T08:41:14.056" v="12" actId="21"/>
          <ac:picMkLst>
            <pc:docMk/>
            <pc:sldMk cId="0" sldId="263"/>
            <ac:picMk id="2" creationId="{00000000-0000-0000-0000-000000000000}"/>
          </ac:picMkLst>
        </pc:picChg>
        <pc:picChg chg="add">
          <ac:chgData name="Lai, Wilson" userId="2840974a-0d84-4886-90a9-9a3ed79f3a48" providerId="ADAL" clId="{9F23B798-9E84-4552-BA63-E776E805C424}" dt="2026-08-28T08:41:22.098" v="13" actId="22"/>
          <ac:picMkLst>
            <pc:docMk/>
            <pc:sldMk cId="0" sldId="263"/>
            <ac:picMk id="4" creationId="{692C8448-E1F6-D503-B3A2-5A87623B11F7}"/>
          </ac:picMkLst>
        </pc:picChg>
      </pc:sldChg>
      <pc:sldChg chg="addSp delSp mod modNotesTx">
        <pc:chgData name="Lai, Wilson" userId="2840974a-0d84-4886-90a9-9a3ed79f3a48" providerId="ADAL" clId="{9F23B798-9E84-4552-BA63-E776E805C424}" dt="2026-08-28T09:06:31.909" v="37" actId="12"/>
        <pc:sldMkLst>
          <pc:docMk/>
          <pc:sldMk cId="0" sldId="264"/>
        </pc:sldMkLst>
        <pc:picChg chg="del">
          <ac:chgData name="Lai, Wilson" userId="2840974a-0d84-4886-90a9-9a3ed79f3a48" providerId="ADAL" clId="{9F23B798-9E84-4552-BA63-E776E805C424}" dt="2026-08-28T08:41:23.922" v="14" actId="21"/>
          <ac:picMkLst>
            <pc:docMk/>
            <pc:sldMk cId="0" sldId="264"/>
            <ac:picMk id="2" creationId="{00000000-0000-0000-0000-000000000000}"/>
          </ac:picMkLst>
        </pc:picChg>
        <pc:picChg chg="add">
          <ac:chgData name="Lai, Wilson" userId="2840974a-0d84-4886-90a9-9a3ed79f3a48" providerId="ADAL" clId="{9F23B798-9E84-4552-BA63-E776E805C424}" dt="2026-08-28T08:42:20.138" v="15" actId="22"/>
          <ac:picMkLst>
            <pc:docMk/>
            <pc:sldMk cId="0" sldId="264"/>
            <ac:picMk id="4" creationId="{41991EFC-F48B-4AF6-1D03-A027E91C778A}"/>
          </ac:picMkLst>
        </pc:picChg>
      </pc:sldChg>
      <pc:sldChg chg="addSp delSp mod modNotesTx">
        <pc:chgData name="Lai, Wilson" userId="2840974a-0d84-4886-90a9-9a3ed79f3a48" providerId="ADAL" clId="{9F23B798-9E84-4552-BA63-E776E805C424}" dt="2026-08-28T09:06:58.895" v="39" actId="5793"/>
        <pc:sldMkLst>
          <pc:docMk/>
          <pc:sldMk cId="0" sldId="265"/>
        </pc:sldMkLst>
        <pc:picChg chg="del">
          <ac:chgData name="Lai, Wilson" userId="2840974a-0d84-4886-90a9-9a3ed79f3a48" providerId="ADAL" clId="{9F23B798-9E84-4552-BA63-E776E805C424}" dt="2026-08-28T08:42:22.269" v="16" actId="21"/>
          <ac:picMkLst>
            <pc:docMk/>
            <pc:sldMk cId="0" sldId="265"/>
            <ac:picMk id="2" creationId="{00000000-0000-0000-0000-000000000000}"/>
          </ac:picMkLst>
        </pc:picChg>
        <pc:picChg chg="add">
          <ac:chgData name="Lai, Wilson" userId="2840974a-0d84-4886-90a9-9a3ed79f3a48" providerId="ADAL" clId="{9F23B798-9E84-4552-BA63-E776E805C424}" dt="2026-08-28T08:42:29.455" v="17" actId="22"/>
          <ac:picMkLst>
            <pc:docMk/>
            <pc:sldMk cId="0" sldId="265"/>
            <ac:picMk id="4" creationId="{1DB84E33-7976-8D91-C090-F6E82DEF4A34}"/>
          </ac:picMkLst>
        </pc:picChg>
      </pc:sldChg>
      <pc:sldChg chg="addSp delSp mod modNotesTx">
        <pc:chgData name="Lai, Wilson" userId="2840974a-0d84-4886-90a9-9a3ed79f3a48" providerId="ADAL" clId="{9F23B798-9E84-4552-BA63-E776E805C424}" dt="2026-08-28T09:07:09.197" v="41" actId="20577"/>
        <pc:sldMkLst>
          <pc:docMk/>
          <pc:sldMk cId="0" sldId="266"/>
        </pc:sldMkLst>
        <pc:picChg chg="del">
          <ac:chgData name="Lai, Wilson" userId="2840974a-0d84-4886-90a9-9a3ed79f3a48" providerId="ADAL" clId="{9F23B798-9E84-4552-BA63-E776E805C424}" dt="2026-08-28T08:42:31.259" v="18" actId="21"/>
          <ac:picMkLst>
            <pc:docMk/>
            <pc:sldMk cId="0" sldId="266"/>
            <ac:picMk id="2" creationId="{00000000-0000-0000-0000-000000000000}"/>
          </ac:picMkLst>
        </pc:picChg>
        <pc:picChg chg="add">
          <ac:chgData name="Lai, Wilson" userId="2840974a-0d84-4886-90a9-9a3ed79f3a48" providerId="ADAL" clId="{9F23B798-9E84-4552-BA63-E776E805C424}" dt="2026-08-28T08:42:58.352" v="19" actId="22"/>
          <ac:picMkLst>
            <pc:docMk/>
            <pc:sldMk cId="0" sldId="266"/>
            <ac:picMk id="4" creationId="{ED798E2D-352C-2F44-C57A-D5FC528C7C29}"/>
          </ac:picMkLst>
        </pc:picChg>
      </pc:sldChg>
      <pc:sldChg chg="addSp delSp mod modNotesTx">
        <pc:chgData name="Lai, Wilson" userId="2840974a-0d84-4886-90a9-9a3ed79f3a48" providerId="ADAL" clId="{9F23B798-9E84-4552-BA63-E776E805C424}" dt="2026-08-28T09:07:23.611" v="42" actId="12"/>
        <pc:sldMkLst>
          <pc:docMk/>
          <pc:sldMk cId="0" sldId="267"/>
        </pc:sldMkLst>
        <pc:picChg chg="del">
          <ac:chgData name="Lai, Wilson" userId="2840974a-0d84-4886-90a9-9a3ed79f3a48" providerId="ADAL" clId="{9F23B798-9E84-4552-BA63-E776E805C424}" dt="2026-08-28T08:43:01.268" v="20" actId="21"/>
          <ac:picMkLst>
            <pc:docMk/>
            <pc:sldMk cId="0" sldId="267"/>
            <ac:picMk id="2" creationId="{00000000-0000-0000-0000-000000000000}"/>
          </ac:picMkLst>
        </pc:picChg>
        <pc:picChg chg="add">
          <ac:chgData name="Lai, Wilson" userId="2840974a-0d84-4886-90a9-9a3ed79f3a48" providerId="ADAL" clId="{9F23B798-9E84-4552-BA63-E776E805C424}" dt="2026-08-28T08:43:10.420" v="21" actId="22"/>
          <ac:picMkLst>
            <pc:docMk/>
            <pc:sldMk cId="0" sldId="267"/>
            <ac:picMk id="4" creationId="{E5657F51-1F73-36E2-C5CF-CEFBAF679680}"/>
          </ac:picMkLst>
        </pc:picChg>
      </pc:sldChg>
      <pc:sldChg chg="addSp delSp mod modNotesTx">
        <pc:chgData name="Lai, Wilson" userId="2840974a-0d84-4886-90a9-9a3ed79f3a48" providerId="ADAL" clId="{9F23B798-9E84-4552-BA63-E776E805C424}" dt="2026-08-28T09:07:44.094" v="44" actId="12"/>
        <pc:sldMkLst>
          <pc:docMk/>
          <pc:sldMk cId="0" sldId="268"/>
        </pc:sldMkLst>
        <pc:picChg chg="del">
          <ac:chgData name="Lai, Wilson" userId="2840974a-0d84-4886-90a9-9a3ed79f3a48" providerId="ADAL" clId="{9F23B798-9E84-4552-BA63-E776E805C424}" dt="2026-08-28T08:43:12.679" v="22" actId="21"/>
          <ac:picMkLst>
            <pc:docMk/>
            <pc:sldMk cId="0" sldId="268"/>
            <ac:picMk id="2" creationId="{00000000-0000-0000-0000-000000000000}"/>
          </ac:picMkLst>
        </pc:picChg>
        <pc:picChg chg="add">
          <ac:chgData name="Lai, Wilson" userId="2840974a-0d84-4886-90a9-9a3ed79f3a48" providerId="ADAL" clId="{9F23B798-9E84-4552-BA63-E776E805C424}" dt="2026-08-28T08:43:32.912" v="23" actId="22"/>
          <ac:picMkLst>
            <pc:docMk/>
            <pc:sldMk cId="0" sldId="268"/>
            <ac:picMk id="4" creationId="{C5105156-5227-CB62-F70A-D79F727D9845}"/>
          </ac:picMkLst>
        </pc:picChg>
      </pc:sldChg>
      <pc:sldChg chg="addSp delSp mod modNotesTx">
        <pc:chgData name="Lai, Wilson" userId="2840974a-0d84-4886-90a9-9a3ed79f3a48" providerId="ADAL" clId="{9F23B798-9E84-4552-BA63-E776E805C424}" dt="2026-08-28T09:08:02.368" v="46" actId="20577"/>
        <pc:sldMkLst>
          <pc:docMk/>
          <pc:sldMk cId="0" sldId="269"/>
        </pc:sldMkLst>
        <pc:picChg chg="del">
          <ac:chgData name="Lai, Wilson" userId="2840974a-0d84-4886-90a9-9a3ed79f3a48" providerId="ADAL" clId="{9F23B798-9E84-4552-BA63-E776E805C424}" dt="2026-08-28T08:43:34.840" v="24" actId="21"/>
          <ac:picMkLst>
            <pc:docMk/>
            <pc:sldMk cId="0" sldId="269"/>
            <ac:picMk id="2" creationId="{00000000-0000-0000-0000-000000000000}"/>
          </ac:picMkLst>
        </pc:picChg>
        <pc:picChg chg="add">
          <ac:chgData name="Lai, Wilson" userId="2840974a-0d84-4886-90a9-9a3ed79f3a48" providerId="ADAL" clId="{9F23B798-9E84-4552-BA63-E776E805C424}" dt="2026-08-28T08:43:55.810" v="25" actId="22"/>
          <ac:picMkLst>
            <pc:docMk/>
            <pc:sldMk cId="0" sldId="269"/>
            <ac:picMk id="4" creationId="{7EA24612-B73A-B336-169F-C4048E2BC876}"/>
          </ac:picMkLst>
        </pc:picChg>
      </pc:sldChg>
      <pc:sldChg chg="addSp delSp modSp mod modNotesTx">
        <pc:chgData name="Lai, Wilson" userId="2840974a-0d84-4886-90a9-9a3ed79f3a48" providerId="ADAL" clId="{9F23B798-9E84-4552-BA63-E776E805C424}" dt="2026-08-28T09:08:16.658" v="49" actId="12"/>
        <pc:sldMkLst>
          <pc:docMk/>
          <pc:sldMk cId="0" sldId="270"/>
        </pc:sldMkLst>
        <pc:picChg chg="del mod">
          <ac:chgData name="Lai, Wilson" userId="2840974a-0d84-4886-90a9-9a3ed79f3a48" providerId="ADAL" clId="{9F23B798-9E84-4552-BA63-E776E805C424}" dt="2026-08-28T08:43:58.516" v="27" actId="21"/>
          <ac:picMkLst>
            <pc:docMk/>
            <pc:sldMk cId="0" sldId="270"/>
            <ac:picMk id="2" creationId="{00000000-0000-0000-0000-000000000000}"/>
          </ac:picMkLst>
        </pc:picChg>
        <pc:picChg chg="add">
          <ac:chgData name="Lai, Wilson" userId="2840974a-0d84-4886-90a9-9a3ed79f3a48" providerId="ADAL" clId="{9F23B798-9E84-4552-BA63-E776E805C424}" dt="2026-08-28T08:44:24.782" v="28" actId="22"/>
          <ac:picMkLst>
            <pc:docMk/>
            <pc:sldMk cId="0" sldId="270"/>
            <ac:picMk id="4" creationId="{723810DA-95CB-5B10-5BA0-9966DC6041DA}"/>
          </ac:picMkLst>
        </pc:picChg>
      </pc:sldChg>
      <pc:sldChg chg="modNotesTx">
        <pc:chgData name="Lai, Wilson" userId="2840974a-0d84-4886-90a9-9a3ed79f3a48" providerId="ADAL" clId="{9F23B798-9E84-4552-BA63-E776E805C424}" dt="2026-08-28T09:08:33.551" v="50" actId="12"/>
        <pc:sldMkLst>
          <pc:docMk/>
          <pc:sldMk cId="4243233260"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930F2-9517-4BA5-9BBC-C1D46B8521FC}"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2414D-113A-475E-8E58-B8CFE60EA377}" type="slidenum">
              <a:rPr lang="en-US" smtClean="0"/>
              <a:t>‹#›</a:t>
            </a:fld>
            <a:endParaRPr lang="en-US"/>
          </a:p>
        </p:txBody>
      </p:sp>
    </p:spTree>
    <p:extLst>
      <p:ext uri="{BB962C8B-B14F-4D97-AF65-F5344CB8AC3E}">
        <p14:creationId xmlns:p14="http://schemas.microsoft.com/office/powerpoint/2010/main" val="281271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diving into </a:t>
            </a:r>
            <a:r>
              <a:rPr lang="en-US" sz="1200" i="1" kern="1200" dirty="0">
                <a:solidFill>
                  <a:schemeClr val="tx1"/>
                </a:solidFill>
                <a:effectLst/>
                <a:latin typeface="+mn-lt"/>
                <a:ea typeface="+mn-ea"/>
                <a:cs typeface="+mn-cs"/>
              </a:rPr>
              <a:t>The Senior Architect’s Blueprint: Mastering System Design at Scale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System design has become the primary differentiator for mid-level, senior, and staff-level engineering roles. In an era where AI tools can auto-generate code snippets and routine syntax in seconds, engineering interviews and technical leadership discussions have fundamentally shifted. Companies are no longer evaluating you solely on whether you can write code; they want to know if you understand the big picture. </a:t>
            </a:r>
          </a:p>
          <a:p>
            <a:r>
              <a:rPr lang="en-US" sz="1200" kern="1200" dirty="0">
                <a:solidFill>
                  <a:schemeClr val="tx1"/>
                </a:solidFill>
                <a:effectLst/>
                <a:latin typeface="+mn-lt"/>
                <a:ea typeface="+mn-ea"/>
                <a:cs typeface="+mn-cs"/>
              </a:rPr>
              <a:t>Can you design high-availability, fault-tolerant architectures from scratch? Can you explain how components communicate under intense load? And most importantly, can you navigate technical trade-offs when there is no single 'correct' answer?</a:t>
            </a:r>
          </a:p>
          <a:p>
            <a:r>
              <a:rPr lang="en-US" sz="1200" kern="1200" dirty="0">
                <a:solidFill>
                  <a:schemeClr val="tx1"/>
                </a:solidFill>
                <a:effectLst/>
                <a:latin typeface="+mn-lt"/>
                <a:ea typeface="+mn-ea"/>
                <a:cs typeface="+mn-cs"/>
              </a:rPr>
              <a:t>Over the course of this presentation, we will walk through a concrete, repeatable 5-step framework. We'll apply it across three distinct system archetypes—ranging from heavy media streaming platforms like Spotify, to hyper-precise transaction engines like Booking.com, to real-time, low-latency messaging platforms like WhatsApp. Let’s get started.</a:t>
            </a:r>
          </a:p>
          <a:p>
            <a:endParaRPr lang="en-US" dirty="0"/>
          </a:p>
          <a:p>
            <a:endParaRPr lang="en-US" dirty="0"/>
          </a:p>
          <a:p>
            <a:endParaRPr lang="en-US" dirty="0"/>
          </a:p>
          <a:p>
            <a:r>
              <a:rPr lang="en-US" dirty="0"/>
              <a:t>https://www.youtube.com/watch?v=vOn6wUcOXzI</a:t>
            </a:r>
          </a:p>
        </p:txBody>
      </p:sp>
      <p:sp>
        <p:nvSpPr>
          <p:cNvPr id="4" name="Slide Number Placeholder 3"/>
          <p:cNvSpPr>
            <a:spLocks noGrp="1"/>
          </p:cNvSpPr>
          <p:nvPr>
            <p:ph type="sldNum" sz="quarter" idx="5"/>
          </p:nvPr>
        </p:nvSpPr>
        <p:spPr/>
        <p:txBody>
          <a:bodyPr/>
          <a:lstStyle/>
          <a:p>
            <a:fld id="{556ED3BA-842A-4043-8C95-50C8EDD9D388}" type="slidenum">
              <a:rPr lang="en-US" smtClean="0"/>
              <a:t>1</a:t>
            </a:fld>
            <a:endParaRPr lang="en-US"/>
          </a:p>
        </p:txBody>
      </p:sp>
    </p:spTree>
    <p:extLst>
      <p:ext uri="{BB962C8B-B14F-4D97-AF65-F5344CB8AC3E}">
        <p14:creationId xmlns:p14="http://schemas.microsoft.com/office/powerpoint/2010/main" val="288225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dissecting the fundamental shift between a mid-level mindset and a senior architectural mindset. </a:t>
            </a:r>
          </a:p>
          <a:p>
            <a:r>
              <a:rPr lang="en-US" sz="1200" kern="1200" dirty="0">
                <a:solidFill>
                  <a:schemeClr val="tx1"/>
                </a:solidFill>
                <a:effectLst/>
                <a:latin typeface="+mn-lt"/>
                <a:ea typeface="+mn-ea"/>
                <a:cs typeface="+mn-cs"/>
              </a:rPr>
              <a:t>On the left, you see 'The Mid-Level Trap'. Mid-level developers often fall into upside-down prioritization. When handed a complex problem, their immediate instinct is to start coding immediately or pick their favorite shiny technology stack. They attempt to build without a blueprint. In a system design interview or production environment, this leads to hitting structural dead ends. </a:t>
            </a:r>
          </a:p>
          <a:p>
            <a:r>
              <a:rPr lang="en-US" sz="1200" kern="1200" dirty="0">
                <a:solidFill>
                  <a:schemeClr val="tx1"/>
                </a:solidFill>
                <a:effectLst/>
                <a:latin typeface="+mn-lt"/>
                <a:ea typeface="+mn-ea"/>
                <a:cs typeface="+mn-cs"/>
              </a:rPr>
              <a:t>Now, contrast that with 'The Senior Mindset' on the right. Senior engineers recognize that </a:t>
            </a:r>
            <a:r>
              <a:rPr lang="en-US" sz="1200" b="1" kern="1200" dirty="0">
                <a:solidFill>
                  <a:schemeClr val="tx1"/>
                </a:solidFill>
                <a:effectLst/>
                <a:latin typeface="+mn-lt"/>
                <a:ea typeface="+mn-ea"/>
                <a:cs typeface="+mn-cs"/>
              </a:rPr>
              <a:t>coding is the cheapest commodity</a:t>
            </a:r>
            <a:r>
              <a:rPr lang="en-US" sz="1200" kern="1200" dirty="0">
                <a:solidFill>
                  <a:schemeClr val="tx1"/>
                </a:solidFill>
                <a:effectLst/>
                <a:latin typeface="+mn-lt"/>
                <a:ea typeface="+mn-ea"/>
                <a:cs typeface="+mn-cs"/>
              </a:rPr>
              <a:t>. Only about 10% of your value at a senior or staff level lies in writing the raw lines of code. 30% goes toward tech selection—choosing the right tool for the job based on hard data. </a:t>
            </a:r>
          </a:p>
          <a:p>
            <a:r>
              <a:rPr lang="en-US" sz="1200" kern="1200" dirty="0">
                <a:solidFill>
                  <a:schemeClr val="tx1"/>
                </a:solidFill>
                <a:effectLst/>
                <a:latin typeface="+mn-lt"/>
                <a:ea typeface="+mn-ea"/>
                <a:cs typeface="+mn-cs"/>
              </a:rPr>
              <a:t>A full </a:t>
            </a:r>
            <a:r>
              <a:rPr lang="en-US" sz="1200" b="1" kern="1200" dirty="0">
                <a:solidFill>
                  <a:schemeClr val="tx1"/>
                </a:solidFill>
                <a:effectLst/>
                <a:latin typeface="+mn-lt"/>
                <a:ea typeface="+mn-ea"/>
                <a:cs typeface="+mn-cs"/>
              </a:rPr>
              <a:t>60% of senior impact</a:t>
            </a:r>
            <a:r>
              <a:rPr lang="en-US" sz="1200" kern="1200" dirty="0">
                <a:solidFill>
                  <a:schemeClr val="tx1"/>
                </a:solidFill>
                <a:effectLst/>
                <a:latin typeface="+mn-lt"/>
                <a:ea typeface="+mn-ea"/>
                <a:cs typeface="+mn-cs"/>
              </a:rPr>
              <a:t> happens in blueprinting and planning before a single line of code is written. You are evaluated on how you navigate non-functional constraints, evaluate trade-offs, and design failure modes. If you can catch single points of failure on a whiteboard, you save your organization months of engineering rework in production.</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2</a:t>
            </a:fld>
            <a:endParaRPr lang="en-US"/>
          </a:p>
        </p:txBody>
      </p:sp>
    </p:spTree>
    <p:extLst>
      <p:ext uri="{BB962C8B-B14F-4D97-AF65-F5344CB8AC3E}">
        <p14:creationId xmlns:p14="http://schemas.microsoft.com/office/powerpoint/2010/main" val="3040847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enter a 60-minute system design interview, you are given an intentionally ambiguous prompt like 'Design Spotify' or 'Design WhatsApp'. To succeed, you must execute a structured, time-managed framework across 5 distinct steps: </a:t>
            </a:r>
          </a:p>
          <a:p>
            <a:pPr marL="228600" lvl="0" indent="-228600">
              <a:buFont typeface="+mj-lt"/>
              <a:buAutoNum type="arabicPeriod"/>
            </a:pPr>
            <a:r>
              <a:rPr lang="en-US" sz="1200" b="1" kern="1200" dirty="0">
                <a:solidFill>
                  <a:schemeClr val="tx1"/>
                </a:solidFill>
                <a:effectLst/>
                <a:latin typeface="+mn-lt"/>
                <a:ea typeface="+mn-ea"/>
                <a:cs typeface="+mn-cs"/>
              </a:rPr>
              <a:t>Clarify Requirements (0–10m):</a:t>
            </a:r>
            <a:r>
              <a:rPr lang="en-US" sz="1200" kern="1200" dirty="0">
                <a:solidFill>
                  <a:schemeClr val="tx1"/>
                </a:solidFill>
                <a:effectLst/>
                <a:latin typeface="+mn-lt"/>
                <a:ea typeface="+mn-ea"/>
                <a:cs typeface="+mn-cs"/>
              </a:rPr>
              <a:t> Validate assumptions instead of building blind. Establish functional scope and lock down non-functional constraints like Daily Active Users (DAU), write/read throughput, and latency SLA targets. </a:t>
            </a:r>
          </a:p>
          <a:p>
            <a:pPr marL="228600" lvl="0" indent="-228600">
              <a:buFont typeface="+mj-lt"/>
              <a:buAutoNum type="arabicPeriod"/>
            </a:pPr>
            <a:r>
              <a:rPr lang="en-US" sz="1200" b="1" kern="1200" dirty="0">
                <a:solidFill>
                  <a:schemeClr val="tx1"/>
                </a:solidFill>
                <a:effectLst/>
                <a:latin typeface="+mn-lt"/>
                <a:ea typeface="+mn-ea"/>
                <a:cs typeface="+mn-cs"/>
              </a:rPr>
              <a:t>Data &amp; API Layer (10–25m):</a:t>
            </a:r>
            <a:r>
              <a:rPr lang="en-US" sz="1200" kern="1200" dirty="0">
                <a:solidFill>
                  <a:schemeClr val="tx1"/>
                </a:solidFill>
                <a:effectLst/>
                <a:latin typeface="+mn-lt"/>
                <a:ea typeface="+mn-ea"/>
                <a:cs typeface="+mn-cs"/>
              </a:rPr>
              <a:t> Demonstrate technical judgment. Define data schemas, key endpoints, and explain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you chose a specific database paradigm (e.g., SQL vs. NoSQL). </a:t>
            </a:r>
          </a:p>
          <a:p>
            <a:pPr marL="228600" lvl="0" indent="-228600">
              <a:buFont typeface="+mj-lt"/>
              <a:buAutoNum type="arabicPeriod"/>
            </a:pPr>
            <a:r>
              <a:rPr lang="en-US" sz="1200" b="1" kern="1200" dirty="0">
                <a:solidFill>
                  <a:schemeClr val="tx1"/>
                </a:solidFill>
                <a:effectLst/>
                <a:latin typeface="+mn-lt"/>
                <a:ea typeface="+mn-ea"/>
                <a:cs typeface="+mn-cs"/>
              </a:rPr>
              <a:t>High-Level Design (25–40m):</a:t>
            </a:r>
            <a:r>
              <a:rPr lang="en-US" sz="1200" kern="1200" dirty="0">
                <a:solidFill>
                  <a:schemeClr val="tx1"/>
                </a:solidFill>
                <a:effectLst/>
                <a:latin typeface="+mn-lt"/>
                <a:ea typeface="+mn-ea"/>
                <a:cs typeface="+mn-cs"/>
              </a:rPr>
              <a:t> Map end-to-end data flow. Connect clients, API gateways, load balancers, application servers, and storage engines. </a:t>
            </a:r>
          </a:p>
          <a:p>
            <a:pPr marL="228600" lvl="0" indent="-228600">
              <a:buFont typeface="+mj-lt"/>
              <a:buAutoNum type="arabicPeriod"/>
            </a:pPr>
            <a:r>
              <a:rPr lang="en-US" sz="1200" b="1" kern="1200" dirty="0">
                <a:solidFill>
                  <a:schemeClr val="tx1"/>
                </a:solidFill>
                <a:effectLst/>
                <a:latin typeface="+mn-lt"/>
                <a:ea typeface="+mn-ea"/>
                <a:cs typeface="+mn-cs"/>
              </a:rPr>
              <a:t>Scale &amp; Bottlenecks (40–50m):</a:t>
            </a:r>
            <a:r>
              <a:rPr lang="en-US" sz="1200" kern="1200" dirty="0">
                <a:solidFill>
                  <a:schemeClr val="tx1"/>
                </a:solidFill>
                <a:effectLst/>
                <a:latin typeface="+mn-lt"/>
                <a:ea typeface="+mn-ea"/>
                <a:cs typeface="+mn-cs"/>
              </a:rPr>
              <a:t> Demonstrate practical depth. Spot single points of failure (SPOFs), address hot keys, and implement caching strategies. </a:t>
            </a:r>
          </a:p>
          <a:p>
            <a:pPr marL="228600" lvl="0" indent="-228600">
              <a:buFont typeface="+mj-lt"/>
              <a:buAutoNum type="arabicPeriod"/>
            </a:pPr>
            <a:r>
              <a:rPr lang="en-US" sz="1200" b="1" kern="1200" dirty="0">
                <a:solidFill>
                  <a:schemeClr val="tx1"/>
                </a:solidFill>
                <a:effectLst/>
                <a:latin typeface="+mn-lt"/>
                <a:ea typeface="+mn-ea"/>
                <a:cs typeface="+mn-cs"/>
              </a:rPr>
              <a:t>Trade-offs (50–60m):</a:t>
            </a:r>
            <a:r>
              <a:rPr lang="en-US" sz="1200" kern="1200" dirty="0">
                <a:solidFill>
                  <a:schemeClr val="tx1"/>
                </a:solidFill>
                <a:effectLst/>
                <a:latin typeface="+mn-lt"/>
                <a:ea typeface="+mn-ea"/>
                <a:cs typeface="+mn-cs"/>
              </a:rPr>
              <a:t> Own your architectural sacrifices. Explain CAP theorem compromises and cost implications. </a:t>
            </a:r>
          </a:p>
          <a:p>
            <a:r>
              <a:rPr lang="en-US" sz="1200" kern="1200" dirty="0">
                <a:solidFill>
                  <a:schemeClr val="tx1"/>
                </a:solidFill>
                <a:effectLst/>
                <a:latin typeface="+mn-lt"/>
                <a:ea typeface="+mn-ea"/>
                <a:cs typeface="+mn-cs"/>
              </a:rPr>
              <a:t>Throughout this hour, interviewers score you across 5 dimensions: Communication, Structure, Technical Judgment, Practical Depth, and Time Management. Stay organized and keep the conversation collaborative.</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3</a:t>
            </a:fld>
            <a:endParaRPr lang="en-US"/>
          </a:p>
        </p:txBody>
      </p:sp>
    </p:spTree>
    <p:extLst>
      <p:ext uri="{BB962C8B-B14F-4D97-AF65-F5344CB8AC3E}">
        <p14:creationId xmlns:p14="http://schemas.microsoft.com/office/powerpoint/2010/main" val="3250934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apply our framework to </a:t>
            </a:r>
            <a:r>
              <a:rPr lang="en-US" sz="1200" b="1" kern="1200" dirty="0">
                <a:solidFill>
                  <a:schemeClr val="tx1"/>
                </a:solidFill>
                <a:effectLst/>
                <a:latin typeface="+mn-lt"/>
                <a:ea typeface="+mn-ea"/>
                <a:cs typeface="+mn-cs"/>
              </a:rPr>
              <a:t>Archetype 1: The Heavy Load</a:t>
            </a:r>
            <a:r>
              <a:rPr lang="en-US" sz="1200" kern="1200" dirty="0">
                <a:solidFill>
                  <a:schemeClr val="tx1"/>
                </a:solidFill>
                <a:effectLst/>
                <a:latin typeface="+mn-lt"/>
                <a:ea typeface="+mn-ea"/>
                <a:cs typeface="+mn-cs"/>
              </a:rPr>
              <a:t>, modeled after Spotify. </a:t>
            </a:r>
          </a:p>
          <a:p>
            <a:r>
              <a:rPr lang="en-US" sz="1200" kern="1200" dirty="0">
                <a:solidFill>
                  <a:schemeClr val="tx1"/>
                </a:solidFill>
                <a:effectLst/>
                <a:latin typeface="+mn-lt"/>
                <a:ea typeface="+mn-ea"/>
                <a:cs typeface="+mn-cs"/>
              </a:rPr>
              <a:t>The defining core constraint here is </a:t>
            </a:r>
            <a:r>
              <a:rPr lang="en-US" sz="1200" b="1" kern="1200" dirty="0">
                <a:solidFill>
                  <a:schemeClr val="tx1"/>
                </a:solidFill>
                <a:effectLst/>
                <a:latin typeface="+mn-lt"/>
                <a:ea typeface="+mn-ea"/>
                <a:cs typeface="+mn-cs"/>
              </a:rPr>
              <a:t>Massive Bandwidth &amp; Blob Storage</a:t>
            </a:r>
            <a:r>
              <a:rPr lang="en-US" sz="1200" kern="1200" dirty="0">
                <a:solidFill>
                  <a:schemeClr val="tx1"/>
                </a:solidFill>
                <a:effectLst/>
                <a:latin typeface="+mn-lt"/>
                <a:ea typeface="+mn-ea"/>
                <a:cs typeface="+mn-cs"/>
              </a:rPr>
              <a:t>. Let's analyze the scale numbers: Imagine supporting 500,000 active users and a catalog of 30 million songs. At an average file size of 3MB per song, raw audio files demand </a:t>
            </a:r>
            <a:r>
              <a:rPr lang="en-US" sz="1200" b="1" kern="1200" dirty="0">
                <a:solidFill>
                  <a:schemeClr val="tx1"/>
                </a:solidFill>
                <a:effectLst/>
                <a:latin typeface="+mn-lt"/>
                <a:ea typeface="+mn-ea"/>
                <a:cs typeface="+mn-cs"/>
              </a:rPr>
              <a:t>90 Terabytes</a:t>
            </a:r>
            <a:r>
              <a:rPr lang="en-US" sz="1200" kern="1200" dirty="0">
                <a:solidFill>
                  <a:schemeClr val="tx1"/>
                </a:solidFill>
                <a:effectLst/>
                <a:latin typeface="+mn-lt"/>
                <a:ea typeface="+mn-ea"/>
                <a:cs typeface="+mn-cs"/>
              </a:rPr>
              <a:t> of media storage. </a:t>
            </a:r>
          </a:p>
          <a:p>
            <a:r>
              <a:rPr lang="en-US" sz="1200" kern="1200" dirty="0">
                <a:solidFill>
                  <a:schemeClr val="tx1"/>
                </a:solidFill>
                <a:effectLst/>
                <a:latin typeface="+mn-lt"/>
                <a:ea typeface="+mn-ea"/>
                <a:cs typeface="+mn-cs"/>
              </a:rPr>
              <a:t>However, look at the contrast in the data flow diagram: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Metadata (Song details, user profiles, playlists):</a:t>
            </a:r>
            <a:r>
              <a:rPr lang="en-US" sz="1200" kern="1200" dirty="0">
                <a:solidFill>
                  <a:schemeClr val="tx1"/>
                </a:solidFill>
                <a:effectLst/>
                <a:latin typeface="+mn-lt"/>
                <a:ea typeface="+mn-ea"/>
                <a:cs typeface="+mn-cs"/>
              </a:rPr>
              <a:t> Total metadata size is roughly </a:t>
            </a:r>
            <a:r>
              <a:rPr lang="en-US" sz="1200" b="1" kern="1200" dirty="0">
                <a:solidFill>
                  <a:schemeClr val="tx1"/>
                </a:solidFill>
                <a:effectLst/>
                <a:latin typeface="+mn-lt"/>
                <a:ea typeface="+mn-ea"/>
                <a:cs typeface="+mn-cs"/>
              </a:rPr>
              <a:t>3GB</a:t>
            </a:r>
            <a:r>
              <a:rPr lang="en-US" sz="1200" kern="1200" dirty="0">
                <a:solidFill>
                  <a:schemeClr val="tx1"/>
                </a:solidFill>
                <a:effectLst/>
                <a:latin typeface="+mn-lt"/>
                <a:ea typeface="+mn-ea"/>
                <a:cs typeface="+mn-cs"/>
              </a:rPr>
              <a:t>—computationally microscopic and easily manageable within a relational SQL database.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Raw Media (.</a:t>
            </a:r>
            <a:r>
              <a:rPr lang="en-US" sz="1200" b="1" kern="1200" dirty="0" err="1">
                <a:solidFill>
                  <a:schemeClr val="tx1"/>
                </a:solidFill>
                <a:effectLst/>
                <a:latin typeface="+mn-lt"/>
                <a:ea typeface="+mn-ea"/>
                <a:cs typeface="+mn-cs"/>
              </a:rPr>
              <a:t>ogg</a:t>
            </a:r>
            <a:r>
              <a:rPr lang="en-US" sz="1200" b="1" kern="1200" dirty="0">
                <a:solidFill>
                  <a:schemeClr val="tx1"/>
                </a:solidFill>
                <a:effectLst/>
                <a:latin typeface="+mn-lt"/>
                <a:ea typeface="+mn-ea"/>
                <a:cs typeface="+mn-cs"/>
              </a:rPr>
              <a:t> / .</a:t>
            </a:r>
            <a:r>
              <a:rPr lang="en-US" sz="1200" b="1" kern="1200" dirty="0" err="1">
                <a:solidFill>
                  <a:schemeClr val="tx1"/>
                </a:solidFill>
                <a:effectLst/>
                <a:latin typeface="+mn-lt"/>
                <a:ea typeface="+mn-ea"/>
                <a:cs typeface="+mn-cs"/>
              </a:rPr>
              <a:t>aac</a:t>
            </a:r>
            <a:r>
              <a:rPr lang="en-US" sz="1200" b="1" kern="1200" dirty="0">
                <a:solidFill>
                  <a:schemeClr val="tx1"/>
                </a:solidFill>
                <a:effectLst/>
                <a:latin typeface="+mn-lt"/>
                <a:ea typeface="+mn-ea"/>
                <a:cs typeface="+mn-cs"/>
              </a:rPr>
              <a:t> audio files):</a:t>
            </a:r>
            <a:r>
              <a:rPr lang="en-US" sz="1200" kern="1200" dirty="0">
                <a:solidFill>
                  <a:schemeClr val="tx1"/>
                </a:solidFill>
                <a:effectLst/>
                <a:latin typeface="+mn-lt"/>
                <a:ea typeface="+mn-ea"/>
                <a:cs typeface="+mn-cs"/>
              </a:rPr>
              <a:t> Accounts for the entire 90TB payload. </a:t>
            </a:r>
          </a:p>
          <a:p>
            <a:r>
              <a:rPr lang="en-US" sz="1200" b="1" kern="1200" dirty="0">
                <a:solidFill>
                  <a:schemeClr val="tx1"/>
                </a:solidFill>
                <a:effectLst/>
                <a:latin typeface="+mn-lt"/>
                <a:ea typeface="+mn-ea"/>
                <a:cs typeface="+mn-cs"/>
              </a:rPr>
              <a:t>Key Architectural Insight:</a:t>
            </a:r>
            <a:r>
              <a:rPr lang="en-US" sz="1200" kern="1200" dirty="0">
                <a:solidFill>
                  <a:schemeClr val="tx1"/>
                </a:solidFill>
                <a:effectLst/>
                <a:latin typeface="+mn-lt"/>
                <a:ea typeface="+mn-ea"/>
                <a:cs typeface="+mn-cs"/>
              </a:rPr>
              <a:t> Audio media files dominate both storage costs and egress bandwidth. Your architecture must strictly segregate metadata operations from heavy binary data operations.</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4</a:t>
            </a:fld>
            <a:endParaRPr lang="en-US"/>
          </a:p>
        </p:txBody>
      </p:sp>
    </p:spTree>
    <p:extLst>
      <p:ext uri="{BB962C8B-B14F-4D97-AF65-F5344CB8AC3E}">
        <p14:creationId xmlns:p14="http://schemas.microsoft.com/office/powerpoint/2010/main" val="231877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classic rookie mistake in system design interviews is illustrated at the top of this slide: </a:t>
            </a:r>
            <a:r>
              <a:rPr lang="en-US" sz="1200" b="1" kern="1200" dirty="0">
                <a:solidFill>
                  <a:schemeClr val="tx1"/>
                </a:solidFill>
                <a:effectLst/>
                <a:latin typeface="+mn-lt"/>
                <a:ea typeface="+mn-ea"/>
                <a:cs typeface="+mn-cs"/>
              </a:rPr>
              <a:t>The Media Upload Trap</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Wrong Way:</a:t>
            </a:r>
            <a:r>
              <a:rPr lang="en-US" sz="1200" kern="1200" dirty="0">
                <a:solidFill>
                  <a:schemeClr val="tx1"/>
                </a:solidFill>
                <a:effectLst/>
                <a:latin typeface="+mn-lt"/>
                <a:ea typeface="+mn-ea"/>
                <a:cs typeface="+mn-cs"/>
              </a:rPr>
              <a:t> The client streams a 3MB audio binary file directly to an API Server, which then forwards that file to Blob Storage. API servers are optimized for lightweight JSON routing, business logic execution, and database queries. Passing large binary payloads through application servers exhausts network bandwidth, causes memory spikes, bloats thread pools, and eventually crashes the application layer under scale. </a:t>
            </a:r>
          </a:p>
          <a:p>
            <a:r>
              <a:rPr lang="en-US" sz="1200" b="1" kern="1200" dirty="0">
                <a:solidFill>
                  <a:schemeClr val="tx1"/>
                </a:solidFill>
                <a:effectLst/>
                <a:latin typeface="+mn-lt"/>
                <a:ea typeface="+mn-ea"/>
                <a:cs typeface="+mn-cs"/>
              </a:rPr>
              <a:t>The Right Way (Optimized Direct Upload):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The client issues a lightweight request to the API Server for an upload authorization token.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The API Server generates and returns a </a:t>
            </a:r>
            <a:r>
              <a:rPr lang="en-US" sz="1200" b="1" kern="1200" dirty="0">
                <a:solidFill>
                  <a:schemeClr val="tx1"/>
                </a:solidFill>
                <a:effectLst/>
                <a:latin typeface="+mn-lt"/>
                <a:ea typeface="+mn-ea"/>
                <a:cs typeface="+mn-cs"/>
              </a:rPr>
              <a:t>Pre-Signed URL</a:t>
            </a:r>
            <a:r>
              <a:rPr lang="en-US" sz="1200" kern="1200" dirty="0">
                <a:solidFill>
                  <a:schemeClr val="tx1"/>
                </a:solidFill>
                <a:effectLst/>
                <a:latin typeface="+mn-lt"/>
                <a:ea typeface="+mn-ea"/>
                <a:cs typeface="+mn-cs"/>
              </a:rPr>
              <a:t>—a time-limited, cryptographically secured access token.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The client uploads the 3MB binary file </a:t>
            </a:r>
            <a:r>
              <a:rPr lang="en-US" sz="1200" b="1" kern="1200" dirty="0">
                <a:solidFill>
                  <a:schemeClr val="tx1"/>
                </a:solidFill>
                <a:effectLst/>
                <a:latin typeface="+mn-lt"/>
                <a:ea typeface="+mn-ea"/>
                <a:cs typeface="+mn-cs"/>
              </a:rPr>
              <a:t>directly</a:t>
            </a:r>
            <a:r>
              <a:rPr lang="en-US" sz="1200" kern="1200" dirty="0">
                <a:solidFill>
                  <a:schemeClr val="tx1"/>
                </a:solidFill>
                <a:effectLst/>
                <a:latin typeface="+mn-lt"/>
                <a:ea typeface="+mn-ea"/>
                <a:cs typeface="+mn-cs"/>
              </a:rPr>
              <a:t> to S3 Blob Storage using the Pre-Signed URL. </a:t>
            </a:r>
          </a:p>
          <a:p>
            <a:r>
              <a:rPr lang="en-US" sz="1200" kern="1200" dirty="0">
                <a:solidFill>
                  <a:schemeClr val="tx1"/>
                </a:solidFill>
                <a:effectLst/>
                <a:latin typeface="+mn-lt"/>
                <a:ea typeface="+mn-ea"/>
                <a:cs typeface="+mn-cs"/>
              </a:rPr>
              <a:t>This architectural pattern decouples media transfer from core APIs, ensuring your API servers remain fast, stateless, and focused exclusively on light metadata routing.</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5</a:t>
            </a:fld>
            <a:endParaRPr lang="en-US"/>
          </a:p>
        </p:txBody>
      </p:sp>
    </p:spTree>
    <p:extLst>
      <p:ext uri="{BB962C8B-B14F-4D97-AF65-F5344CB8AC3E}">
        <p14:creationId xmlns:p14="http://schemas.microsoft.com/office/powerpoint/2010/main" val="3605590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scale this architecture up to serve 50 million active users. </a:t>
            </a:r>
          </a:p>
          <a:p>
            <a:pPr marL="228600" lvl="0" indent="-228600">
              <a:buFont typeface="+mj-lt"/>
              <a:buAutoNum type="arabicPeriod"/>
            </a:pPr>
            <a:r>
              <a:rPr lang="en-US" sz="1200" b="1" kern="1200" dirty="0">
                <a:solidFill>
                  <a:schemeClr val="tx1"/>
                </a:solidFill>
                <a:effectLst/>
                <a:latin typeface="+mn-lt"/>
                <a:ea typeface="+mn-ea"/>
                <a:cs typeface="+mn-cs"/>
              </a:rPr>
              <a:t>Stateless API Layer:</a:t>
            </a:r>
            <a:r>
              <a:rPr lang="en-US" sz="1200" kern="1200" dirty="0">
                <a:solidFill>
                  <a:schemeClr val="tx1"/>
                </a:solidFill>
                <a:effectLst/>
                <a:latin typeface="+mn-lt"/>
                <a:ea typeface="+mn-ea"/>
                <a:cs typeface="+mn-cs"/>
              </a:rPr>
              <a:t> We place a Layer 7 Load Balancer at the front, routing traffic via Round-Robin or Least-Connection algorithms across horizontally scalable, stateless API nodes. Since APIs hold no session state, we can instantly add or remove instances based on request spikes. </a:t>
            </a:r>
          </a:p>
          <a:p>
            <a:pPr marL="228600" lvl="0" indent="-228600">
              <a:buFont typeface="+mj-lt"/>
              <a:buAutoNum type="arabicPeriod"/>
            </a:pPr>
            <a:r>
              <a:rPr lang="en-US" sz="1200" b="1" kern="1200" dirty="0">
                <a:solidFill>
                  <a:schemeClr val="tx1"/>
                </a:solidFill>
                <a:effectLst/>
                <a:latin typeface="+mn-lt"/>
                <a:ea typeface="+mn-ea"/>
                <a:cs typeface="+mn-cs"/>
              </a:rPr>
              <a:t>Database Read/Write Segregation:</a:t>
            </a:r>
            <a:r>
              <a:rPr lang="en-US" sz="1200" kern="1200" dirty="0">
                <a:solidFill>
                  <a:schemeClr val="tx1"/>
                </a:solidFill>
                <a:effectLst/>
                <a:latin typeface="+mn-lt"/>
                <a:ea typeface="+mn-ea"/>
                <a:cs typeface="+mn-cs"/>
              </a:rPr>
              <a:t> We utilize a primary </a:t>
            </a:r>
            <a:r>
              <a:rPr lang="en-US" sz="1200" kern="1200" dirty="0" err="1">
                <a:solidFill>
                  <a:schemeClr val="tx1"/>
                </a:solidFill>
                <a:effectLst/>
                <a:latin typeface="+mn-lt"/>
                <a:ea typeface="+mn-ea"/>
                <a:cs typeface="+mn-cs"/>
              </a:rPr>
              <a:t>Primary</a:t>
            </a:r>
            <a:r>
              <a:rPr lang="en-US" sz="1200" kern="1200" dirty="0">
                <a:solidFill>
                  <a:schemeClr val="tx1"/>
                </a:solidFill>
                <a:effectLst/>
                <a:latin typeface="+mn-lt"/>
                <a:ea typeface="+mn-ea"/>
                <a:cs typeface="+mn-cs"/>
              </a:rPr>
              <a:t> Leader SQL instance to handle write operations (such as new song uploads or user registration). Read-only queries are offloaded across distributed Read Replicas. </a:t>
            </a:r>
          </a:p>
          <a:p>
            <a:pPr marL="228600" lvl="0" indent="-228600">
              <a:buFont typeface="+mj-lt"/>
              <a:buAutoNum type="arabicPeriod"/>
            </a:pPr>
            <a:r>
              <a:rPr lang="en-US" sz="1200" b="1" kern="1200" dirty="0">
                <a:solidFill>
                  <a:schemeClr val="tx1"/>
                </a:solidFill>
                <a:effectLst/>
                <a:latin typeface="+mn-lt"/>
                <a:ea typeface="+mn-ea"/>
                <a:cs typeface="+mn-cs"/>
              </a:rPr>
              <a:t>Global Edge Delivery (CDNs):</a:t>
            </a:r>
            <a:r>
              <a:rPr lang="en-US" sz="1200" kern="1200" dirty="0">
                <a:solidFill>
                  <a:schemeClr val="tx1"/>
                </a:solidFill>
                <a:effectLst/>
                <a:latin typeface="+mn-lt"/>
                <a:ea typeface="+mn-ea"/>
                <a:cs typeface="+mn-cs"/>
              </a:rPr>
              <a:t> To prevent global network latency when streaming audio, audio files are distributed across regional Content Delivery Networks (CDNs) in North America, Europe, and Asia. </a:t>
            </a:r>
          </a:p>
          <a:p>
            <a:pPr marL="228600" lvl="0" indent="-228600">
              <a:buFont typeface="+mj-lt"/>
              <a:buAutoNum type="arabicPeriod"/>
            </a:pPr>
            <a:r>
              <a:rPr lang="en-US" sz="1200" b="1" kern="1200" dirty="0">
                <a:solidFill>
                  <a:schemeClr val="tx1"/>
                </a:solidFill>
                <a:effectLst/>
                <a:latin typeface="+mn-lt"/>
                <a:ea typeface="+mn-ea"/>
                <a:cs typeface="+mn-cs"/>
              </a:rPr>
              <a:t>Caching Policy:</a:t>
            </a:r>
            <a:r>
              <a:rPr lang="en-US" sz="1200" kern="1200" dirty="0">
                <a:solidFill>
                  <a:schemeClr val="tx1"/>
                </a:solidFill>
                <a:effectLst/>
                <a:latin typeface="+mn-lt"/>
                <a:ea typeface="+mn-ea"/>
                <a:cs typeface="+mn-cs"/>
              </a:rPr>
              <a:t> CDNs operate under an </a:t>
            </a:r>
            <a:r>
              <a:rPr lang="en-US" sz="1200" b="1" kern="1200" dirty="0">
                <a:solidFill>
                  <a:schemeClr val="tx1"/>
                </a:solidFill>
                <a:effectLst/>
                <a:latin typeface="+mn-lt"/>
                <a:ea typeface="+mn-ea"/>
                <a:cs typeface="+mn-cs"/>
              </a:rPr>
              <a:t>LRU (Least Recently Used) Eviction Policy</a:t>
            </a:r>
            <a:r>
              <a:rPr lang="en-US" sz="1200" kern="1200" dirty="0">
                <a:solidFill>
                  <a:schemeClr val="tx1"/>
                </a:solidFill>
                <a:effectLst/>
                <a:latin typeface="+mn-lt"/>
                <a:ea typeface="+mn-ea"/>
                <a:cs typeface="+mn-cs"/>
              </a:rPr>
              <a:t>. Popular tracks are cached near the edge for instant playback, while less frequent tracks miss to origin S3 storage, keeping overall egress costs low.</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6</a:t>
            </a:fld>
            <a:endParaRPr lang="en-US"/>
          </a:p>
        </p:txBody>
      </p:sp>
    </p:spTree>
    <p:extLst>
      <p:ext uri="{BB962C8B-B14F-4D97-AF65-F5344CB8AC3E}">
        <p14:creationId xmlns:p14="http://schemas.microsoft.com/office/powerpoint/2010/main" val="2663560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pivot to </a:t>
            </a:r>
            <a:r>
              <a:rPr lang="en-US" sz="1200" b="1" kern="1200" dirty="0">
                <a:solidFill>
                  <a:schemeClr val="tx1"/>
                </a:solidFill>
                <a:effectLst/>
                <a:latin typeface="+mn-lt"/>
                <a:ea typeface="+mn-ea"/>
                <a:cs typeface="+mn-cs"/>
              </a:rPr>
              <a:t>Archetype 2: The Flawless Transaction</a:t>
            </a:r>
            <a:r>
              <a:rPr lang="en-US" sz="1200" kern="1200" dirty="0">
                <a:solidFill>
                  <a:schemeClr val="tx1"/>
                </a:solidFill>
                <a:effectLst/>
                <a:latin typeface="+mn-lt"/>
                <a:ea typeface="+mn-ea"/>
                <a:cs typeface="+mn-cs"/>
              </a:rPr>
              <a:t>, modeled after platforms like Booking.com. </a:t>
            </a:r>
          </a:p>
          <a:p>
            <a:r>
              <a:rPr lang="en-US" sz="1200" kern="1200" dirty="0">
                <a:solidFill>
                  <a:schemeClr val="tx1"/>
                </a:solidFill>
                <a:effectLst/>
                <a:latin typeface="+mn-lt"/>
                <a:ea typeface="+mn-ea"/>
                <a:cs typeface="+mn-cs"/>
              </a:rPr>
              <a:t>The core constraints here are </a:t>
            </a:r>
            <a:r>
              <a:rPr lang="en-US" sz="1200" b="1" kern="1200" dirty="0">
                <a:solidFill>
                  <a:schemeClr val="tx1"/>
                </a:solidFill>
                <a:effectLst/>
                <a:latin typeface="+mn-lt"/>
                <a:ea typeface="+mn-ea"/>
                <a:cs typeface="+mn-cs"/>
              </a:rPr>
              <a:t>Precision and Concurrency</a:t>
            </a:r>
            <a:r>
              <a:rPr lang="en-US" sz="1200" kern="1200" dirty="0">
                <a:solidFill>
                  <a:schemeClr val="tx1"/>
                </a:solidFill>
                <a:effectLst/>
                <a:latin typeface="+mn-lt"/>
                <a:ea typeface="+mn-ea"/>
                <a:cs typeface="+mn-cs"/>
              </a:rPr>
              <a:t>. Notice the extreme asymmetry between reads and writes: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Read Load:</a:t>
            </a:r>
            <a:r>
              <a:rPr lang="en-US" sz="1200" kern="1200" dirty="0">
                <a:solidFill>
                  <a:schemeClr val="tx1"/>
                </a:solidFill>
                <a:effectLst/>
                <a:latin typeface="+mn-lt"/>
                <a:ea typeface="+mn-ea"/>
                <a:cs typeface="+mn-cs"/>
              </a:rPr>
              <a:t> 500 million monthly visits generating approximately </a:t>
            </a:r>
            <a:r>
              <a:rPr lang="en-US" sz="1200" b="1" kern="1200" dirty="0">
                <a:solidFill>
                  <a:schemeClr val="tx1"/>
                </a:solidFill>
                <a:effectLst/>
                <a:latin typeface="+mn-lt"/>
                <a:ea typeface="+mn-ea"/>
                <a:cs typeface="+mn-cs"/>
              </a:rPr>
              <a:t>1,000 Queries Per Second (QPS)</a:t>
            </a:r>
            <a:r>
              <a:rPr lang="en-US" sz="1200" kern="1200" dirty="0">
                <a:solidFill>
                  <a:schemeClr val="tx1"/>
                </a:solidFill>
                <a:effectLst/>
                <a:latin typeface="+mn-lt"/>
                <a:ea typeface="+mn-ea"/>
                <a:cs typeface="+mn-cs"/>
              </a:rPr>
              <a:t>. Users constantly search, browse rooms, apply filters, and check pricing.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Write Load:</a:t>
            </a:r>
            <a:r>
              <a:rPr lang="en-US" sz="1200" kern="1200" dirty="0">
                <a:solidFill>
                  <a:schemeClr val="tx1"/>
                </a:solidFill>
                <a:effectLst/>
                <a:latin typeface="+mn-lt"/>
                <a:ea typeface="+mn-ea"/>
                <a:cs typeface="+mn-cs"/>
              </a:rPr>
              <a:t> 1.1 billion reservations per year, translating to an average of just </a:t>
            </a:r>
            <a:r>
              <a:rPr lang="en-US" sz="1200" b="1" kern="1200" dirty="0">
                <a:solidFill>
                  <a:schemeClr val="tx1"/>
                </a:solidFill>
                <a:effectLst/>
                <a:latin typeface="+mn-lt"/>
                <a:ea typeface="+mn-ea"/>
                <a:cs typeface="+mn-cs"/>
              </a:rPr>
              <a:t>17 Transactions Per Second (TPS)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While 17 TPS sounds low, the stakes are exceptionally high. A single double-booking incident ruins customer trust and incurs immediate financial penalties. Therefore, our architecture must be hyper-optimized for rapid search at 1,000 QPS, while guaranteeing absolute ACID transactional consistency for writes.</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7</a:t>
            </a:fld>
            <a:endParaRPr lang="en-US"/>
          </a:p>
        </p:txBody>
      </p:sp>
    </p:spTree>
    <p:extLst>
      <p:ext uri="{BB962C8B-B14F-4D97-AF65-F5344CB8AC3E}">
        <p14:creationId xmlns:p14="http://schemas.microsoft.com/office/powerpoint/2010/main" val="2693864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analyze why naive database isolation causes catastrophic business failures in reservation systems. </a:t>
                </a:r>
              </a:p>
              <a:p>
                <a:r>
                  <a:rPr lang="en-US" sz="1200" kern="1200" dirty="0">
                    <a:solidFill>
                      <a:schemeClr val="tx1"/>
                    </a:solidFill>
                    <a:effectLst/>
                    <a:latin typeface="+mn-lt"/>
                    <a:ea typeface="+mn-ea"/>
                    <a:cs typeface="+mn-cs"/>
                  </a:rPr>
                  <a:t>Look at the top timeline: </a:t>
                </a:r>
                <a:r>
                  <a:rPr lang="en-US" sz="1200" b="1" kern="1200" dirty="0">
                    <a:solidFill>
                      <a:schemeClr val="tx1"/>
                    </a:solidFill>
                    <a:effectLst/>
                    <a:latin typeface="+mn-lt"/>
                    <a:ea typeface="+mn-ea"/>
                    <a:cs typeface="+mn-cs"/>
                  </a:rPr>
                  <a:t>Read-Committed Isolation Failure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time 0:01, User A checks room availability (1 room left) and passes validation.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Simultaneously, User B checks availability, sees the same 1 room left, and passes validation.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0:03, User A executes a reservation, dropping inventory to 0.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Milliseconds later, User B executes a reservation, dropping inventory to -1. </a:t>
                </a:r>
                <a:r>
                  <a:rPr lang="en-US" sz="1200" b="1" kern="1200" dirty="0">
                    <a:solidFill>
                      <a:schemeClr val="tx1"/>
                    </a:solidFill>
                    <a:effectLst/>
                    <a:latin typeface="+mn-lt"/>
                    <a:ea typeface="+mn-ea"/>
                    <a:cs typeface="+mn-cs"/>
                  </a:rPr>
                  <a:t>Double-booking error.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Senior Fix:</a:t>
                </a:r>
                <a:r>
                  <a:rPr lang="en-US" sz="1200" kern="1200" dirty="0">
                    <a:solidFill>
                      <a:schemeClr val="tx1"/>
                    </a:solidFill>
                    <a:effectLst/>
                    <a:latin typeface="+mn-lt"/>
                    <a:ea typeface="+mn-ea"/>
                    <a:cs typeface="+mn-cs"/>
                  </a:rPr>
                  <a:t> We must move beyond weak isolation levels. We enforce </a:t>
                </a:r>
                <a:r>
                  <a:rPr lang="en-US" sz="1200" b="1" kern="1200" dirty="0">
                    <a:solidFill>
                      <a:schemeClr val="tx1"/>
                    </a:solidFill>
                    <a:effectLst/>
                    <a:latin typeface="+mn-lt"/>
                    <a:ea typeface="+mn-ea"/>
                    <a:cs typeface="+mn-cs"/>
                  </a:rPr>
                  <a:t>Atomic SQL Transactions</a:t>
                </a:r>
                <a:r>
                  <a:rPr lang="en-US" sz="1200" kern="1200" dirty="0">
                    <a:solidFill>
                      <a:schemeClr val="tx1"/>
                    </a:solidFill>
                    <a:effectLst/>
                    <a:latin typeface="+mn-lt"/>
                    <a:ea typeface="+mn-ea"/>
                    <a:cs typeface="+mn-cs"/>
                  </a:rPr>
                  <a:t> combined with explicit pessimistic row locks (SELECT ... FOR UPDATE) or strict serializable isolation levels. When User A initiates a booking attempt, the database locks the specific inventory record. User B’s write attempt is blocked until User A's transaction completes. </a:t>
                </a:r>
              </a:p>
              <a:p>
                <a:r>
                  <a:rPr lang="en-US" sz="1200" kern="1200" dirty="0">
                    <a:solidFill>
                      <a:schemeClr val="tx1"/>
                    </a:solidFill>
                    <a:effectLst/>
                    <a:latin typeface="+mn-lt"/>
                    <a:ea typeface="+mn-ea"/>
                    <a:cs typeface="+mn-cs"/>
                  </a:rPr>
                  <a:t>Additionally, high-scale platforms implement an </a:t>
                </a:r>
                <a:r>
                  <a:rPr lang="en-US" sz="1200" b="1" kern="1200" dirty="0">
                    <a:solidFill>
                      <a:schemeClr val="tx1"/>
                    </a:solidFill>
                    <a:effectLst/>
                    <a:latin typeface="+mn-lt"/>
                    <a:ea typeface="+mn-ea"/>
                    <a:cs typeface="+mn-cs"/>
                  </a:rPr>
                  <a:t>Overbooking Buffer</a:t>
                </a:r>
                <a:r>
                  <a:rPr lang="en-US" sz="1200" kern="1200" dirty="0">
                    <a:solidFill>
                      <a:schemeClr val="tx1"/>
                    </a:solidFill>
                    <a:effectLst/>
                    <a:latin typeface="+mn-lt"/>
                    <a:ea typeface="+mn-ea"/>
                    <a:cs typeface="+mn-cs"/>
                  </a:rPr>
                  <a:t> (typically 10%), ensuring total reservations never exceed defined capacity bounds: </a:t>
                </a:r>
                <a14:m>
                  <m:oMath xmlns:m="http://schemas.openxmlformats.org/officeDocument/2006/math">
                    <m:r>
                      <m:rPr>
                        <m:nor/>
                      </m:rPr>
                      <a:rPr lang="en-US" sz="1200" i="0" kern="1200" smtClean="0">
                        <a:solidFill>
                          <a:schemeClr val="tx1"/>
                        </a:solidFill>
                        <a:latin typeface="+mn-lt"/>
                        <a:ea typeface="+mn-ea"/>
                        <a:cs typeface="+mn-cs"/>
                      </a:rPr>
                      <m:t>Total</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Reserved</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New</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Request</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Total</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Inventory</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Overbooking</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Buffer</m:t>
                    </m:r>
                  </m:oMath>
                </a14:m>
                <a:r>
                  <a:rPr lang="en-US" sz="1200" kern="1200" dirty="0">
                    <a:solidFill>
                      <a:schemeClr val="tx1"/>
                    </a:solidFill>
                    <a:effectLst/>
                    <a:latin typeface="+mn-lt"/>
                    <a:ea typeface="+mn-ea"/>
                    <a:cs typeface="+mn-cs"/>
                  </a:rPr>
                  <a:t>.</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analyze why naive database isolation causes catastrophic business failures in reservation systems. </a:t>
                </a:r>
              </a:p>
              <a:p>
                <a:r>
                  <a:rPr lang="en-US" sz="1200" kern="1200" dirty="0">
                    <a:solidFill>
                      <a:schemeClr val="tx1"/>
                    </a:solidFill>
                    <a:effectLst/>
                    <a:latin typeface="+mn-lt"/>
                    <a:ea typeface="+mn-ea"/>
                    <a:cs typeface="+mn-cs"/>
                  </a:rPr>
                  <a:t>Look at the top timeline: </a:t>
                </a:r>
                <a:r>
                  <a:rPr lang="en-US" sz="1200" b="1" kern="1200" dirty="0">
                    <a:solidFill>
                      <a:schemeClr val="tx1"/>
                    </a:solidFill>
                    <a:effectLst/>
                    <a:latin typeface="+mn-lt"/>
                    <a:ea typeface="+mn-ea"/>
                    <a:cs typeface="+mn-cs"/>
                  </a:rPr>
                  <a:t>Read-Committed Isolation Failure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time 0:01, User A checks room availability (1 room left) and passes validation.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Simultaneously, User B checks availability, sees the same 1 room left, and passes validation.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0:03, User A executes a reservation, dropping inventory to 0.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Milliseconds later, User B executes a reservation, dropping inventory to -1. </a:t>
                </a:r>
                <a:r>
                  <a:rPr lang="en-US" sz="1200" b="1" kern="1200" dirty="0">
                    <a:solidFill>
                      <a:schemeClr val="tx1"/>
                    </a:solidFill>
                    <a:effectLst/>
                    <a:latin typeface="+mn-lt"/>
                    <a:ea typeface="+mn-ea"/>
                    <a:cs typeface="+mn-cs"/>
                  </a:rPr>
                  <a:t>Double-booking error.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Senior Fix:</a:t>
                </a:r>
                <a:r>
                  <a:rPr lang="en-US" sz="1200" kern="1200" dirty="0">
                    <a:solidFill>
                      <a:schemeClr val="tx1"/>
                    </a:solidFill>
                    <a:effectLst/>
                    <a:latin typeface="+mn-lt"/>
                    <a:ea typeface="+mn-ea"/>
                    <a:cs typeface="+mn-cs"/>
                  </a:rPr>
                  <a:t> We must move beyond weak isolation levels. We enforce </a:t>
                </a:r>
                <a:r>
                  <a:rPr lang="en-US" sz="1200" b="1" kern="1200" dirty="0">
                    <a:solidFill>
                      <a:schemeClr val="tx1"/>
                    </a:solidFill>
                    <a:effectLst/>
                    <a:latin typeface="+mn-lt"/>
                    <a:ea typeface="+mn-ea"/>
                    <a:cs typeface="+mn-cs"/>
                  </a:rPr>
                  <a:t>Atomic SQL Transactions</a:t>
                </a:r>
                <a:r>
                  <a:rPr lang="en-US" sz="1200" kern="1200" dirty="0">
                    <a:solidFill>
                      <a:schemeClr val="tx1"/>
                    </a:solidFill>
                    <a:effectLst/>
                    <a:latin typeface="+mn-lt"/>
                    <a:ea typeface="+mn-ea"/>
                    <a:cs typeface="+mn-cs"/>
                  </a:rPr>
                  <a:t> combined with explicit pessimistic row locks (SELECT ... FOR UPDATE) or strict serializable isolation levels. When User A initiates a booking attempt, the database locks the specific inventory record. User B’s write attempt is blocked until User A's transaction completes. </a:t>
                </a:r>
              </a:p>
              <a:p>
                <a:r>
                  <a:rPr lang="en-US" sz="1200" kern="1200" dirty="0">
                    <a:solidFill>
                      <a:schemeClr val="tx1"/>
                    </a:solidFill>
                    <a:effectLst/>
                    <a:latin typeface="+mn-lt"/>
                    <a:ea typeface="+mn-ea"/>
                    <a:cs typeface="+mn-cs"/>
                  </a:rPr>
                  <a:t>Additionally, high-scale platforms implement an </a:t>
                </a:r>
                <a:r>
                  <a:rPr lang="en-US" sz="1200" b="1" kern="1200" dirty="0">
                    <a:solidFill>
                      <a:schemeClr val="tx1"/>
                    </a:solidFill>
                    <a:effectLst/>
                    <a:latin typeface="+mn-lt"/>
                    <a:ea typeface="+mn-ea"/>
                    <a:cs typeface="+mn-cs"/>
                  </a:rPr>
                  <a:t>Overbooking Buffer</a:t>
                </a:r>
                <a:r>
                  <a:rPr lang="en-US" sz="1200" kern="1200" dirty="0">
                    <a:solidFill>
                      <a:schemeClr val="tx1"/>
                    </a:solidFill>
                    <a:effectLst/>
                    <a:latin typeface="+mn-lt"/>
                    <a:ea typeface="+mn-ea"/>
                    <a:cs typeface="+mn-cs"/>
                  </a:rPr>
                  <a:t> (typically 10%), ensuring total reservations never exceed defined capacity bounds: </a:t>
                </a:r>
                <a:r>
                  <a:rPr lang="en-US" sz="1200" i="0" kern="1200">
                    <a:solidFill>
                      <a:schemeClr val="tx1"/>
                    </a:solidFill>
                    <a:latin typeface="Cambria Math" panose="02040503050406030204" pitchFamily="18" charset="0"/>
                    <a:ea typeface="+mn-ea"/>
                    <a:cs typeface="+mn-cs"/>
                  </a:rPr>
                  <a:t>"Total Reserved</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"New Request</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"Total Inventory</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"Overbooking Buffer</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a:t>
                </a:r>
              </a:p>
              <a:p>
                <a:endParaRPr lang="en-US" dirty="0"/>
              </a:p>
            </p:txBody>
          </p:sp>
        </mc:Fallback>
      </mc:AlternateContent>
      <p:sp>
        <p:nvSpPr>
          <p:cNvPr id="4" name="Slide Number Placeholder 3"/>
          <p:cNvSpPr>
            <a:spLocks noGrp="1"/>
          </p:cNvSpPr>
          <p:nvPr>
            <p:ph type="sldNum" sz="quarter" idx="5"/>
          </p:nvPr>
        </p:nvSpPr>
        <p:spPr/>
        <p:txBody>
          <a:bodyPr/>
          <a:lstStyle/>
          <a:p>
            <a:fld id="{E872414D-113A-475E-8E58-B8CFE60EA377}" type="slidenum">
              <a:rPr lang="en-US" smtClean="0"/>
              <a:t>8</a:t>
            </a:fld>
            <a:endParaRPr lang="en-US"/>
          </a:p>
        </p:txBody>
      </p:sp>
    </p:spTree>
    <p:extLst>
      <p:ext uri="{BB962C8B-B14F-4D97-AF65-F5344CB8AC3E}">
        <p14:creationId xmlns:p14="http://schemas.microsoft.com/office/powerpoint/2010/main" val="3667946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handle 1,000 QPS of heavy search traffic without locking up our transactional database? </a:t>
            </a:r>
          </a:p>
          <a:p>
            <a:r>
              <a:rPr lang="en-US" sz="1200" kern="1200" dirty="0">
                <a:solidFill>
                  <a:schemeClr val="tx1"/>
                </a:solidFill>
                <a:effectLst/>
                <a:latin typeface="+mn-lt"/>
                <a:ea typeface="+mn-ea"/>
                <a:cs typeface="+mn-cs"/>
              </a:rPr>
              <a:t>Running queries like SELECT * FROM hotels WHERE description LIKE '%Paris%' directly against PostgreSQL triggers full table scans, destroying database performance and blocking critical write transactions. </a:t>
            </a:r>
          </a:p>
          <a:p>
            <a:pPr marL="0" indent="0">
              <a:buFont typeface="+mj-lt"/>
              <a:buNone/>
            </a:pPr>
            <a:r>
              <a:rPr lang="en-US" sz="1200" b="1" kern="1200" dirty="0">
                <a:solidFill>
                  <a:schemeClr val="tx1"/>
                </a:solidFill>
                <a:effectLst/>
                <a:latin typeface="+mn-lt"/>
                <a:ea typeface="+mn-ea"/>
                <a:cs typeface="+mn-cs"/>
              </a:rPr>
              <a:t>The Solution: Command Query Responsibility Segregation (CQRS)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PostgreSQL</a:t>
            </a:r>
            <a:r>
              <a:rPr lang="en-US" sz="1200" kern="1200" dirty="0">
                <a:solidFill>
                  <a:schemeClr val="tx1"/>
                </a:solidFill>
                <a:effectLst/>
                <a:latin typeface="+mn-lt"/>
                <a:ea typeface="+mn-ea"/>
                <a:cs typeface="+mn-cs"/>
              </a:rPr>
              <a:t> serves exclusively as the single Source of Truth for transactional reservation writes (17 TPS). </a:t>
            </a:r>
          </a:p>
          <a:p>
            <a:pPr marL="228600" lvl="0" indent="-228600">
              <a:buFont typeface="+mj-lt"/>
              <a:buAutoNum type="arabicPeriod"/>
            </a:pPr>
            <a:r>
              <a:rPr lang="en-US" sz="1200" b="1" kern="1200" dirty="0" err="1">
                <a:solidFill>
                  <a:schemeClr val="tx1"/>
                </a:solidFill>
                <a:effectLst/>
                <a:latin typeface="+mn-lt"/>
                <a:ea typeface="+mn-ea"/>
                <a:cs typeface="+mn-cs"/>
              </a:rPr>
              <a:t>Debezium</a:t>
            </a:r>
            <a:r>
              <a:rPr lang="en-US" sz="1200" b="1" kern="1200" dirty="0">
                <a:solidFill>
                  <a:schemeClr val="tx1"/>
                </a:solidFill>
                <a:effectLst/>
                <a:latin typeface="+mn-lt"/>
                <a:ea typeface="+mn-ea"/>
                <a:cs typeface="+mn-cs"/>
              </a:rPr>
              <a:t> CDC (Change Data Capture)</a:t>
            </a:r>
            <a:r>
              <a:rPr lang="en-US" sz="1200" kern="1200" dirty="0">
                <a:solidFill>
                  <a:schemeClr val="tx1"/>
                </a:solidFill>
                <a:effectLst/>
                <a:latin typeface="+mn-lt"/>
                <a:ea typeface="+mn-ea"/>
                <a:cs typeface="+mn-cs"/>
              </a:rPr>
              <a:t> monitors PostgreSQL's Write-Ahead Log (WAL) in real-time, streaming row updates instantly. </a:t>
            </a:r>
          </a:p>
          <a:p>
            <a:pPr marL="228600" lvl="0" indent="-228600">
              <a:buFont typeface="+mj-lt"/>
              <a:buAutoNum type="arabicPeriod"/>
            </a:pPr>
            <a:r>
              <a:rPr lang="en-US" sz="1200" b="1" kern="1200" dirty="0">
                <a:solidFill>
                  <a:schemeClr val="tx1"/>
                </a:solidFill>
                <a:effectLst/>
                <a:latin typeface="+mn-lt"/>
                <a:ea typeface="+mn-ea"/>
                <a:cs typeface="+mn-cs"/>
              </a:rPr>
              <a:t>Kafka Event Stream</a:t>
            </a:r>
            <a:r>
              <a:rPr lang="en-US" sz="1200" kern="1200" dirty="0">
                <a:solidFill>
                  <a:schemeClr val="tx1"/>
                </a:solidFill>
                <a:effectLst/>
                <a:latin typeface="+mn-lt"/>
                <a:ea typeface="+mn-ea"/>
                <a:cs typeface="+mn-cs"/>
              </a:rPr>
              <a:t> acts as an asynchronous buffer queue, guaranteeing reliable, ordered delivery of database events. </a:t>
            </a:r>
          </a:p>
          <a:p>
            <a:pPr marL="228600" lvl="0" indent="-228600">
              <a:buFont typeface="+mj-lt"/>
              <a:buAutoNum type="arabicPeriod"/>
            </a:pPr>
            <a:r>
              <a:rPr lang="en-US" sz="1200" b="1" kern="1200" dirty="0" err="1">
                <a:solidFill>
                  <a:schemeClr val="tx1"/>
                </a:solidFill>
                <a:effectLst/>
                <a:latin typeface="+mn-lt"/>
                <a:ea typeface="+mn-ea"/>
                <a:cs typeface="+mn-cs"/>
              </a:rPr>
              <a:t>ElasticSearch</a:t>
            </a:r>
            <a:r>
              <a:rPr lang="en-US" sz="1200" kern="1200" dirty="0">
                <a:solidFill>
                  <a:schemeClr val="tx1"/>
                </a:solidFill>
                <a:effectLst/>
                <a:latin typeface="+mn-lt"/>
                <a:ea typeface="+mn-ea"/>
                <a:cs typeface="+mn-cs"/>
              </a:rPr>
              <a:t> ingests those events to power search queries (1,000 QPS), fully optimized for geospatial filtering, typo tolerance, and relevance ranking. </a:t>
            </a:r>
          </a:p>
          <a:p>
            <a:r>
              <a:rPr lang="en-US" sz="1200" kern="1200" dirty="0">
                <a:solidFill>
                  <a:schemeClr val="tx1"/>
                </a:solidFill>
                <a:effectLst/>
                <a:latin typeface="+mn-lt"/>
                <a:ea typeface="+mn-ea"/>
                <a:cs typeface="+mn-cs"/>
              </a:rPr>
              <a:t>PostgreSQL guarantees flawless consistency, while </a:t>
            </a:r>
            <a:r>
              <a:rPr lang="en-US" sz="1200" kern="1200" dirty="0" err="1">
                <a:solidFill>
                  <a:schemeClr val="tx1"/>
                </a:solidFill>
                <a:effectLst/>
                <a:latin typeface="+mn-lt"/>
                <a:ea typeface="+mn-ea"/>
                <a:cs typeface="+mn-cs"/>
              </a:rPr>
              <a:t>ElasticSearch</a:t>
            </a:r>
            <a:r>
              <a:rPr lang="en-US" sz="1200" kern="1200" dirty="0">
                <a:solidFill>
                  <a:schemeClr val="tx1"/>
                </a:solidFill>
                <a:effectLst/>
                <a:latin typeface="+mn-lt"/>
                <a:ea typeface="+mn-ea"/>
                <a:cs typeface="+mn-cs"/>
              </a:rPr>
              <a:t> handles high-speed searches asynchronously.</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9</a:t>
            </a:fld>
            <a:endParaRPr lang="en-US"/>
          </a:p>
        </p:txBody>
      </p:sp>
    </p:spTree>
    <p:extLst>
      <p:ext uri="{BB962C8B-B14F-4D97-AF65-F5344CB8AC3E}">
        <p14:creationId xmlns:p14="http://schemas.microsoft.com/office/powerpoint/2010/main" val="208619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a:t>
            </a:r>
            <a:r>
              <a:rPr lang="en-US" sz="1200" b="1" kern="1200" dirty="0">
                <a:solidFill>
                  <a:schemeClr val="tx1"/>
                </a:solidFill>
                <a:effectLst/>
                <a:latin typeface="+mn-lt"/>
                <a:ea typeface="+mn-ea"/>
                <a:cs typeface="+mn-cs"/>
              </a:rPr>
              <a:t>Archetype 3: The Real-Time Network</a:t>
            </a:r>
            <a:r>
              <a:rPr lang="en-US" sz="1200" kern="1200" dirty="0">
                <a:solidFill>
                  <a:schemeClr val="tx1"/>
                </a:solidFill>
                <a:effectLst/>
                <a:latin typeface="+mn-lt"/>
                <a:ea typeface="+mn-ea"/>
                <a:cs typeface="+mn-cs"/>
              </a:rPr>
              <a:t>, modeled after WhatsApp. </a:t>
            </a:r>
          </a:p>
          <a:p>
            <a:r>
              <a:rPr lang="en-US" sz="1200" kern="1200" dirty="0">
                <a:solidFill>
                  <a:schemeClr val="tx1"/>
                </a:solidFill>
                <a:effectLst/>
                <a:latin typeface="+mn-lt"/>
                <a:ea typeface="+mn-ea"/>
                <a:cs typeface="+mn-cs"/>
              </a:rPr>
              <a:t>The core constraints here are </a:t>
            </a:r>
            <a:r>
              <a:rPr lang="en-US" sz="1200" b="1" kern="1200" dirty="0">
                <a:solidFill>
                  <a:schemeClr val="tx1"/>
                </a:solidFill>
                <a:effectLst/>
                <a:latin typeface="+mn-lt"/>
                <a:ea typeface="+mn-ea"/>
                <a:cs typeface="+mn-cs"/>
              </a:rPr>
              <a:t>Persistent State &amp; Offline Routing</a:t>
            </a:r>
            <a:r>
              <a:rPr lang="en-US" sz="1200" kern="1200" dirty="0">
                <a:solidFill>
                  <a:schemeClr val="tx1"/>
                </a:solidFill>
                <a:effectLst/>
                <a:latin typeface="+mn-lt"/>
                <a:ea typeface="+mn-ea"/>
                <a:cs typeface="+mn-cs"/>
              </a:rPr>
              <a:t> at massive scale—1 Billion Users executing over 115,000 writes per second. </a:t>
            </a:r>
          </a:p>
          <a:p>
            <a:r>
              <a:rPr lang="en-US" sz="1200" kern="1200" dirty="0">
                <a:solidFill>
                  <a:schemeClr val="tx1"/>
                </a:solidFill>
                <a:effectLst/>
                <a:latin typeface="+mn-lt"/>
                <a:ea typeface="+mn-ea"/>
                <a:cs typeface="+mn-cs"/>
              </a:rPr>
              <a:t>Unlike stateless HTTP web servers where clients connect, receive data, and disconnect, chat platforms require persistent, long-lived TCP connections. </a:t>
            </a:r>
          </a:p>
          <a:p>
            <a:r>
              <a:rPr lang="en-US" sz="1200" kern="1200" dirty="0">
                <a:solidFill>
                  <a:schemeClr val="tx1"/>
                </a:solidFill>
                <a:effectLst/>
                <a:latin typeface="+mn-lt"/>
                <a:ea typeface="+mn-ea"/>
                <a:cs typeface="+mn-cs"/>
              </a:rPr>
              <a:t>When User A sends a message to User B, how does Chat Server A know where User B is? </a:t>
            </a:r>
          </a:p>
          <a:p>
            <a:r>
              <a:rPr lang="en-US" sz="1200" kern="1200" dirty="0">
                <a:solidFill>
                  <a:schemeClr val="tx1"/>
                </a:solidFill>
                <a:effectLst/>
                <a:latin typeface="+mn-lt"/>
                <a:ea typeface="+mn-ea"/>
                <a:cs typeface="+mn-cs"/>
              </a:rPr>
              <a:t>We introduce a </a:t>
            </a:r>
            <a:r>
              <a:rPr lang="en-US" sz="1200" b="1" kern="1200" dirty="0">
                <a:solidFill>
                  <a:schemeClr val="tx1"/>
                </a:solidFill>
                <a:effectLst/>
                <a:latin typeface="+mn-lt"/>
                <a:ea typeface="+mn-ea"/>
                <a:cs typeface="+mn-cs"/>
              </a:rPr>
              <a:t>Central Redis Connection Cache</a:t>
            </a:r>
            <a:r>
              <a:rPr lang="en-US" sz="1200" kern="1200" dirty="0">
                <a:solidFill>
                  <a:schemeClr val="tx1"/>
                </a:solidFill>
                <a:effectLst/>
                <a:latin typeface="+mn-lt"/>
                <a:ea typeface="+mn-ea"/>
                <a:cs typeface="+mn-cs"/>
              </a:rPr>
              <a:t>. This distributed cache maintains an in-memory mapping of active User ID -&gt; Active Chat Server ID. When User A posts a payload, Server A queries Redis, identifies that User B is connected to Chat Server B, and routes the message payload directly over internal network connections instantly.</a:t>
            </a:r>
          </a:p>
        </p:txBody>
      </p:sp>
      <p:sp>
        <p:nvSpPr>
          <p:cNvPr id="4" name="Slide Number Placeholder 3"/>
          <p:cNvSpPr>
            <a:spLocks noGrp="1"/>
          </p:cNvSpPr>
          <p:nvPr>
            <p:ph type="sldNum" sz="quarter" idx="5"/>
          </p:nvPr>
        </p:nvSpPr>
        <p:spPr/>
        <p:txBody>
          <a:bodyPr/>
          <a:lstStyle/>
          <a:p>
            <a:fld id="{E872414D-113A-475E-8E58-B8CFE60EA377}" type="slidenum">
              <a:rPr lang="en-US" smtClean="0"/>
              <a:t>10</a:t>
            </a:fld>
            <a:endParaRPr lang="en-US"/>
          </a:p>
        </p:txBody>
      </p:sp>
    </p:spTree>
    <p:extLst>
      <p:ext uri="{BB962C8B-B14F-4D97-AF65-F5344CB8AC3E}">
        <p14:creationId xmlns:p14="http://schemas.microsoft.com/office/powerpoint/2010/main" val="1427557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Selecting the correct network communication protocol is critical for real-time systems. Let's evaluate the protocol options: </a:t>
            </a:r>
          </a:p>
          <a:p>
            <a:pPr marL="228600" lvl="0" indent="-228600">
              <a:buFont typeface="+mj-lt"/>
              <a:buAutoNum type="arabicPeriod"/>
            </a:pPr>
            <a:r>
              <a:rPr lang="en-US" sz="1200" b="1" kern="1200" dirty="0">
                <a:solidFill>
                  <a:schemeClr val="tx1"/>
                </a:solidFill>
                <a:effectLst/>
                <a:latin typeface="+mn-lt"/>
                <a:ea typeface="+mn-ea"/>
                <a:cs typeface="+mn-cs"/>
              </a:rPr>
              <a:t>Standard Polling:</a:t>
            </a:r>
            <a:r>
              <a:rPr lang="en-US" sz="1200" kern="1200" dirty="0">
                <a:solidFill>
                  <a:schemeClr val="tx1"/>
                </a:solidFill>
                <a:effectLst/>
                <a:latin typeface="+mn-lt"/>
                <a:ea typeface="+mn-ea"/>
                <a:cs typeface="+mn-cs"/>
              </a:rPr>
              <a:t> The client queries the server every 2 seconds asking 'Are there new messages?'. This creates massive network overhead, wasting bandwidth and CPU cycles on empty HTTP headers. </a:t>
            </a:r>
            <a:r>
              <a:rPr lang="en-US" sz="1200" b="1" kern="1200" dirty="0">
                <a:solidFill>
                  <a:schemeClr val="tx1"/>
                </a:solidFill>
                <a:effectLst/>
                <a:latin typeface="+mn-lt"/>
                <a:ea typeface="+mn-ea"/>
                <a:cs typeface="+mn-cs"/>
              </a:rPr>
              <a:t>Recommendation:</a:t>
            </a:r>
            <a:r>
              <a:rPr lang="en-US" sz="1200" kern="1200" dirty="0">
                <a:solidFill>
                  <a:schemeClr val="tx1"/>
                </a:solidFill>
                <a:effectLst/>
                <a:latin typeface="+mn-lt"/>
                <a:ea typeface="+mn-ea"/>
                <a:cs typeface="+mn-cs"/>
              </a:rPr>
              <a:t> Do not use for real-time messaging. </a:t>
            </a:r>
          </a:p>
          <a:p>
            <a:pPr marL="228600" lvl="0" indent="-228600">
              <a:buFont typeface="+mj-lt"/>
              <a:buAutoNum type="arabicPeriod"/>
            </a:pPr>
            <a:r>
              <a:rPr lang="en-US" sz="1200" b="1" kern="1200" dirty="0">
                <a:solidFill>
                  <a:schemeClr val="tx1"/>
                </a:solidFill>
                <a:effectLst/>
                <a:latin typeface="+mn-lt"/>
                <a:ea typeface="+mn-ea"/>
                <a:cs typeface="+mn-cs"/>
              </a:rPr>
              <a:t>Long Polling:</a:t>
            </a:r>
            <a:r>
              <a:rPr lang="en-US" sz="1200" kern="1200" dirty="0">
                <a:solidFill>
                  <a:schemeClr val="tx1"/>
                </a:solidFill>
                <a:effectLst/>
                <a:latin typeface="+mn-lt"/>
                <a:ea typeface="+mn-ea"/>
                <a:cs typeface="+mn-cs"/>
              </a:rPr>
              <a:t> The client opens an HTTP connection and the server holds it open until data arrives or a timeout occurs. While latency is lower, constant connection tear-down and re-establishment under heavy load exhausts server memory. Inefficient at WhatsApp scale. </a:t>
            </a:r>
          </a:p>
          <a:p>
            <a:pPr marL="228600" lvl="0" indent="-228600">
              <a:buFont typeface="+mj-lt"/>
              <a:buAutoNum type="arabicPeriod"/>
            </a:pPr>
            <a:r>
              <a:rPr lang="en-US" sz="1200" b="1" kern="1200" dirty="0" err="1">
                <a:solidFill>
                  <a:schemeClr val="tx1"/>
                </a:solidFill>
                <a:effectLst/>
                <a:latin typeface="+mn-lt"/>
                <a:ea typeface="+mn-ea"/>
                <a:cs typeface="+mn-cs"/>
              </a:rPr>
              <a:t>WebSockets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Establishes a persistent, full-duplex, bi-directional TCP connection. Either client or server can push payloads instantly with minimal frame overhead. It requires Layer 4 Load Balancing (TCP level), but remains the </a:t>
            </a:r>
            <a:r>
              <a:rPr lang="en-US" sz="1200" b="1" kern="1200" dirty="0">
                <a:solidFill>
                  <a:schemeClr val="tx1"/>
                </a:solidFill>
                <a:effectLst/>
                <a:latin typeface="+mn-lt"/>
                <a:ea typeface="+mn-ea"/>
                <a:cs typeface="+mn-cs"/>
              </a:rPr>
              <a:t>industry standard</a:t>
            </a:r>
            <a:r>
              <a:rPr lang="en-US" sz="1200" kern="1200" dirty="0">
                <a:solidFill>
                  <a:schemeClr val="tx1"/>
                </a:solidFill>
                <a:effectLst/>
                <a:latin typeface="+mn-lt"/>
                <a:ea typeface="+mn-ea"/>
                <a:cs typeface="+mn-cs"/>
              </a:rPr>
              <a:t> for real-time interactive communications.</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11</a:t>
            </a:fld>
            <a:endParaRPr lang="en-US"/>
          </a:p>
        </p:txBody>
      </p:sp>
    </p:spTree>
    <p:extLst>
      <p:ext uri="{BB962C8B-B14F-4D97-AF65-F5344CB8AC3E}">
        <p14:creationId xmlns:p14="http://schemas.microsoft.com/office/powerpoint/2010/main" val="1180886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Senior architectural capability is defined by how gracefully your system behaves when primary components fail. Let's review </a:t>
            </a:r>
            <a:r>
              <a:rPr lang="en-US" sz="1200" b="1" kern="1200" dirty="0">
                <a:solidFill>
                  <a:schemeClr val="tx1"/>
                </a:solidFill>
                <a:effectLst/>
                <a:latin typeface="+mn-lt"/>
                <a:ea typeface="+mn-ea"/>
                <a:cs typeface="+mn-cs"/>
              </a:rPr>
              <a:t>The Fallback Cascade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our normal messaging flow, undelivered messages reside in a high-speed Redis Inbox Cache. But what happens if the Redis cache cluster crashes under extreme load?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Failure State:</a:t>
            </a:r>
            <a:r>
              <a:rPr lang="en-US" sz="1200" kern="1200" dirty="0">
                <a:solidFill>
                  <a:schemeClr val="tx1"/>
                </a:solidFill>
                <a:effectLst/>
                <a:latin typeface="+mn-lt"/>
                <a:ea typeface="+mn-ea"/>
                <a:cs typeface="+mn-cs"/>
              </a:rPr>
              <a:t> The Chat Server attempts to fetch unread messages, but Redis returns a timeout/failure error.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Automated Fallback Route:</a:t>
            </a:r>
            <a:r>
              <a:rPr lang="en-US" sz="1200" kern="1200" dirty="0">
                <a:solidFill>
                  <a:schemeClr val="tx1"/>
                </a:solidFill>
                <a:effectLst/>
                <a:latin typeface="+mn-lt"/>
                <a:ea typeface="+mn-ea"/>
                <a:cs typeface="+mn-cs"/>
              </a:rPr>
              <a:t> Instead of returning a 500 error to the client, an automated fallback mechanism reroutes the read query directly to our write-heavy, distributed </a:t>
            </a:r>
            <a:r>
              <a:rPr lang="en-US" sz="1200" b="1" kern="1200" dirty="0">
                <a:solidFill>
                  <a:schemeClr val="tx1"/>
                </a:solidFill>
                <a:effectLst/>
                <a:latin typeface="+mn-lt"/>
                <a:ea typeface="+mn-ea"/>
                <a:cs typeface="+mn-cs"/>
              </a:rPr>
              <a:t>Cassandra Database</a:t>
            </a:r>
            <a:r>
              <a:rPr lang="en-US" sz="1200" kern="1200" dirty="0">
                <a:solidFill>
                  <a:schemeClr val="tx1"/>
                </a:solidFill>
                <a:effectLst/>
                <a:latin typeface="+mn-lt"/>
                <a:ea typeface="+mn-ea"/>
                <a:cs typeface="+mn-cs"/>
              </a:rPr>
              <a:t> persistent layer.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Recovery &amp; Resync:</a:t>
            </a:r>
            <a:r>
              <a:rPr lang="en-US" sz="1200" kern="1200" dirty="0">
                <a:solidFill>
                  <a:schemeClr val="tx1"/>
                </a:solidFill>
                <a:effectLst/>
                <a:latin typeface="+mn-lt"/>
                <a:ea typeface="+mn-ea"/>
                <a:cs typeface="+mn-cs"/>
              </a:rPr>
              <a:t> Once the Redis cluster recovers, an asynchronous background sync job drains pending messages from Cassandra back into Redis memory, restoring normal delivery speeds seamlessly. </a:t>
            </a:r>
          </a:p>
          <a:p>
            <a:r>
              <a:rPr lang="en-US" sz="1200" b="1" kern="1200" dirty="0">
                <a:solidFill>
                  <a:schemeClr val="tx1"/>
                </a:solidFill>
                <a:effectLst/>
                <a:latin typeface="+mn-lt"/>
                <a:ea typeface="+mn-ea"/>
                <a:cs typeface="+mn-cs"/>
              </a:rPr>
              <a:t>Senior Philosophy:</a:t>
            </a:r>
            <a:r>
              <a:rPr lang="en-US" sz="1200" kern="1200" dirty="0">
                <a:solidFill>
                  <a:schemeClr val="tx1"/>
                </a:solidFill>
                <a:effectLst/>
                <a:latin typeface="+mn-lt"/>
                <a:ea typeface="+mn-ea"/>
                <a:cs typeface="+mn-cs"/>
              </a:rPr>
              <a:t> Do not assume your infrastructure works flawlessly. Engineer explicit fallback paths for every single point of failure.</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12</a:t>
            </a:fld>
            <a:endParaRPr lang="en-US"/>
          </a:p>
        </p:txBody>
      </p:sp>
    </p:spTree>
    <p:extLst>
      <p:ext uri="{BB962C8B-B14F-4D97-AF65-F5344CB8AC3E}">
        <p14:creationId xmlns:p14="http://schemas.microsoft.com/office/powerpoint/2010/main" val="3314345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select databases effectively, senior architects rely on a structured decision matrix: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PostgreSQL (Relational/SQL):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Absolute ACID transaction consistency and complex relational joins.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Poor horizontal write-scaling capability. Ideal for financial and reservation systems.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Cassandra (NoSQL Column-Family):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Unrivaled write throughput (</a:t>
                </a:r>
                <a14:m>
                  <m:oMath xmlns:m="http://schemas.openxmlformats.org/officeDocument/2006/math">
                    <m:r>
                      <a:rPr lang="en-US" sz="1200" kern="1200" smtClean="0">
                        <a:solidFill>
                          <a:schemeClr val="tx1"/>
                        </a:solidFill>
                        <a:latin typeface="Cambria Math" panose="02040503050406030204" pitchFamily="18" charset="0"/>
                        <a:ea typeface="+mn-ea"/>
                        <a:cs typeface="+mn-cs"/>
                      </a:rPr>
                      <m:t>115</m:t>
                    </m:r>
                    <m:r>
                      <a:rPr lang="en-US" sz="1200" i="0" kern="1200">
                        <a:solidFill>
                          <a:schemeClr val="tx1"/>
                        </a:solidFill>
                        <a:latin typeface="Cambria Math" panose="02040503050406030204" pitchFamily="18" charset="0"/>
                        <a:ea typeface="+mn-ea"/>
                        <a:cs typeface="+mn-cs"/>
                      </a:rPr>
                      <m:t>,000+</m:t>
                    </m:r>
                  </m:oMath>
                </a14:m>
                <a:r>
                  <a:rPr lang="en-US" sz="1200" kern="1200" dirty="0">
                    <a:solidFill>
                      <a:schemeClr val="tx1"/>
                    </a:solidFill>
                    <a:effectLst/>
                    <a:latin typeface="+mn-lt"/>
                    <a:ea typeface="+mn-ea"/>
                    <a:cs typeface="+mn-cs"/>
                  </a:rPr>
                  <a:t> writes/sec) with no single point of failure.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No support for complex JOINs; eventually consistent. Ideal for chat histories and activity logs.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S3 / Object Storage: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Unlimited scalability for raw unstructured blobs at low cost.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High latency; requires external database indexing. Ideal for raw audio, video, and image assets.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ElasticSearch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Ultra-fast full-text search, fuzzy matching, and geospatial indexing.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Expensive cluster management; not suitable as a primary transactional store.</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select databases effectively, senior architects rely on a structured decision matrix: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PostgreSQL (Relational/SQL):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Absolute ACID transaction consistency and complex relational joins.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Poor horizontal write-scaling capability. Ideal for financial and reservation systems.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Cassandra (NoSQL Column-Family):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Unrivaled write throughput (</a:t>
                </a:r>
                <a:r>
                  <a:rPr lang="en-US" sz="1200" i="0" kern="1200">
                    <a:solidFill>
                      <a:schemeClr val="tx1"/>
                    </a:solidFill>
                    <a:latin typeface="+mn-lt"/>
                    <a:ea typeface="+mn-ea"/>
                    <a:cs typeface="+mn-cs"/>
                  </a:rPr>
                  <a:t>115,000+</a:t>
                </a:r>
                <a:r>
                  <a:rPr lang="en-US" sz="1200" kern="1200" dirty="0">
                    <a:solidFill>
                      <a:schemeClr val="tx1"/>
                    </a:solidFill>
                    <a:effectLst/>
                    <a:latin typeface="+mn-lt"/>
                    <a:ea typeface="+mn-ea"/>
                    <a:cs typeface="+mn-cs"/>
                  </a:rPr>
                  <a:t> writes/sec) with no single point of failure.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No support for complex JOINs; eventually consistent. Ideal for chat histories and activity logs.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S3 / Object Storage: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Unlimited scalability for raw unstructured blobs at low cost.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High latency; requires external database indexing. Ideal for raw audio, video, and image assets.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ElasticSearch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Superpower:</a:t>
                </a:r>
                <a:r>
                  <a:rPr lang="en-US" sz="1200" kern="1200" dirty="0">
                    <a:solidFill>
                      <a:schemeClr val="tx1"/>
                    </a:solidFill>
                    <a:effectLst/>
                    <a:latin typeface="+mn-lt"/>
                    <a:ea typeface="+mn-ea"/>
                    <a:cs typeface="+mn-cs"/>
                  </a:rPr>
                  <a:t> Ultra-fast full-text search, fuzzy matching, and geospatial indexing. </a:t>
                </a:r>
                <a:r>
                  <a:rPr lang="en-US" sz="1200" i="1" kern="1200" dirty="0">
                    <a:solidFill>
                      <a:schemeClr val="tx1"/>
                    </a:solidFill>
                    <a:effectLst/>
                    <a:latin typeface="+mn-lt"/>
                    <a:ea typeface="+mn-ea"/>
                    <a:cs typeface="+mn-cs"/>
                  </a:rPr>
                  <a:t>Weakness:</a:t>
                </a:r>
                <a:r>
                  <a:rPr lang="en-US" sz="1200" kern="1200" dirty="0">
                    <a:solidFill>
                      <a:schemeClr val="tx1"/>
                    </a:solidFill>
                    <a:effectLst/>
                    <a:latin typeface="+mn-lt"/>
                    <a:ea typeface="+mn-ea"/>
                    <a:cs typeface="+mn-cs"/>
                  </a:rPr>
                  <a:t> Expensive cluster management; not suitable as a primary transactional store.</a:t>
                </a:r>
              </a:p>
              <a:p>
                <a:endParaRPr lang="en-US" dirty="0"/>
              </a:p>
            </p:txBody>
          </p:sp>
        </mc:Fallback>
      </mc:AlternateContent>
      <p:sp>
        <p:nvSpPr>
          <p:cNvPr id="4" name="Slide Number Placeholder 3"/>
          <p:cNvSpPr>
            <a:spLocks noGrp="1"/>
          </p:cNvSpPr>
          <p:nvPr>
            <p:ph type="sldNum" sz="quarter" idx="5"/>
          </p:nvPr>
        </p:nvSpPr>
        <p:spPr/>
        <p:txBody>
          <a:bodyPr/>
          <a:lstStyle/>
          <a:p>
            <a:fld id="{E872414D-113A-475E-8E58-B8CFE60EA377}" type="slidenum">
              <a:rPr lang="en-US" smtClean="0"/>
              <a:t>13</a:t>
            </a:fld>
            <a:endParaRPr lang="en-US"/>
          </a:p>
        </p:txBody>
      </p:sp>
    </p:spTree>
    <p:extLst>
      <p:ext uri="{BB962C8B-B14F-4D97-AF65-F5344CB8AC3E}">
        <p14:creationId xmlns:p14="http://schemas.microsoft.com/office/powerpoint/2010/main" val="3698188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synthesize our learnings into a master toolkit. When approaching any high-scale architectural design, immediately isolate the </a:t>
            </a:r>
            <a:r>
              <a:rPr lang="en-US" sz="1200" b="1" kern="1200" dirty="0">
                <a:solidFill>
                  <a:schemeClr val="tx1"/>
                </a:solidFill>
                <a:effectLst/>
                <a:latin typeface="+mn-lt"/>
                <a:ea typeface="+mn-ea"/>
                <a:cs typeface="+mn-cs"/>
              </a:rPr>
              <a:t>Primary System Constraint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If your primary constraint is Massive Unstructured Media (Audio/Video):</a:t>
            </a:r>
            <a:r>
              <a:rPr lang="en-US" sz="1200" kern="1200" dirty="0">
                <a:solidFill>
                  <a:schemeClr val="tx1"/>
                </a:solidFill>
                <a:effectLst/>
                <a:latin typeface="+mn-lt"/>
                <a:ea typeface="+mn-ea"/>
                <a:cs typeface="+mn-cs"/>
              </a:rPr>
              <a:t> Deploy Pre-Signed URLs + S3 Object Storage + CDN Edge Eviction. </a:t>
            </a:r>
            <a:r>
              <a:rPr lang="en-US" sz="1200" i="1" kern="1200" dirty="0">
                <a:solidFill>
                  <a:schemeClr val="tx1"/>
                </a:solidFill>
                <a:effectLst/>
                <a:latin typeface="+mn-lt"/>
                <a:ea typeface="+mn-ea"/>
                <a:cs typeface="+mn-cs"/>
              </a:rPr>
              <a:t>(The Spotify Pattern)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If your primary constraint is Read/Write Imbalance with Strict Transactional Precision:</a:t>
            </a:r>
            <a:r>
              <a:rPr lang="en-US" sz="1200" kern="1200" dirty="0">
                <a:solidFill>
                  <a:schemeClr val="tx1"/>
                </a:solidFill>
                <a:effectLst/>
                <a:latin typeface="+mn-lt"/>
                <a:ea typeface="+mn-ea"/>
                <a:cs typeface="+mn-cs"/>
              </a:rPr>
              <a:t> Deploy Relational SQL for writes + Change Data Capture (</a:t>
            </a:r>
            <a:r>
              <a:rPr lang="en-US" sz="1200" kern="1200" dirty="0" err="1">
                <a:solidFill>
                  <a:schemeClr val="tx1"/>
                </a:solidFill>
                <a:effectLst/>
                <a:latin typeface="+mn-lt"/>
                <a:ea typeface="+mn-ea"/>
                <a:cs typeface="+mn-cs"/>
              </a:rPr>
              <a:t>Debezium</a:t>
            </a:r>
            <a:r>
              <a:rPr lang="en-US" sz="1200" kern="1200" dirty="0">
                <a:solidFill>
                  <a:schemeClr val="tx1"/>
                </a:solidFill>
                <a:effectLst/>
                <a:latin typeface="+mn-lt"/>
                <a:ea typeface="+mn-ea"/>
                <a:cs typeface="+mn-cs"/>
              </a:rPr>
              <a:t>/Kafka) + </a:t>
            </a:r>
            <a:r>
              <a:rPr lang="en-US" sz="1200" kern="1200" dirty="0" err="1">
                <a:solidFill>
                  <a:schemeClr val="tx1"/>
                </a:solidFill>
                <a:effectLst/>
                <a:latin typeface="+mn-lt"/>
                <a:ea typeface="+mn-ea"/>
                <a:cs typeface="+mn-cs"/>
              </a:rPr>
              <a:t>ElasticSearch</a:t>
            </a:r>
            <a:r>
              <a:rPr lang="en-US" sz="1200" kern="1200" dirty="0">
                <a:solidFill>
                  <a:schemeClr val="tx1"/>
                </a:solidFill>
                <a:effectLst/>
                <a:latin typeface="+mn-lt"/>
                <a:ea typeface="+mn-ea"/>
                <a:cs typeface="+mn-cs"/>
              </a:rPr>
              <a:t> for reads. </a:t>
            </a:r>
            <a:r>
              <a:rPr lang="en-US" sz="1200" i="1" kern="1200" dirty="0">
                <a:solidFill>
                  <a:schemeClr val="tx1"/>
                </a:solidFill>
                <a:effectLst/>
                <a:latin typeface="+mn-lt"/>
                <a:ea typeface="+mn-ea"/>
                <a:cs typeface="+mn-cs"/>
              </a:rPr>
              <a:t>(The Booking Pattern)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If your primary constraint is High-Volume Real-Time State:</a:t>
            </a:r>
            <a:r>
              <a:rPr lang="en-US" sz="1200" kern="1200" dirty="0">
                <a:solidFill>
                  <a:schemeClr val="tx1"/>
                </a:solidFill>
                <a:effectLst/>
                <a:latin typeface="+mn-lt"/>
                <a:ea typeface="+mn-ea"/>
                <a:cs typeface="+mn-cs"/>
              </a:rPr>
              <a:t> Deploy </a:t>
            </a:r>
            <a:r>
              <a:rPr lang="en-US" sz="1200" kern="1200" dirty="0" err="1">
                <a:solidFill>
                  <a:schemeClr val="tx1"/>
                </a:solidFill>
                <a:effectLst/>
                <a:latin typeface="+mn-lt"/>
                <a:ea typeface="+mn-ea"/>
                <a:cs typeface="+mn-cs"/>
              </a:rPr>
              <a:t>WebSockets</a:t>
            </a:r>
            <a:r>
              <a:rPr lang="en-US" sz="1200" kern="1200" dirty="0">
                <a:solidFill>
                  <a:schemeClr val="tx1"/>
                </a:solidFill>
                <a:effectLst/>
                <a:latin typeface="+mn-lt"/>
                <a:ea typeface="+mn-ea"/>
                <a:cs typeface="+mn-cs"/>
              </a:rPr>
              <a:t> + Redis Connection Mapping + NoSQL Write-Heavy persistent storage. </a:t>
            </a:r>
            <a:r>
              <a:rPr lang="en-US" sz="1200" i="1" kern="1200" dirty="0">
                <a:solidFill>
                  <a:schemeClr val="tx1"/>
                </a:solidFill>
                <a:effectLst/>
                <a:latin typeface="+mn-lt"/>
                <a:ea typeface="+mn-ea"/>
                <a:cs typeface="+mn-cs"/>
              </a:rPr>
              <a:t>(The WhatsApp Pattern)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System design isn't about memorizing complex static diagrams. It is about identifying core constraints and executing precise architectural trade-offs to solve them.</a:t>
            </a:r>
          </a:p>
        </p:txBody>
      </p:sp>
      <p:sp>
        <p:nvSpPr>
          <p:cNvPr id="4" name="Slide Number Placeholder 3"/>
          <p:cNvSpPr>
            <a:spLocks noGrp="1"/>
          </p:cNvSpPr>
          <p:nvPr>
            <p:ph type="sldNum" sz="quarter" idx="5"/>
          </p:nvPr>
        </p:nvSpPr>
        <p:spPr/>
        <p:txBody>
          <a:bodyPr/>
          <a:lstStyle/>
          <a:p>
            <a:fld id="{E872414D-113A-475E-8E58-B8CFE60EA377}" type="slidenum">
              <a:rPr lang="en-US" smtClean="0"/>
              <a:t>14</a:t>
            </a:fld>
            <a:endParaRPr lang="en-US"/>
          </a:p>
        </p:txBody>
      </p:sp>
    </p:spTree>
    <p:extLst>
      <p:ext uri="{BB962C8B-B14F-4D97-AF65-F5344CB8AC3E}">
        <p14:creationId xmlns:p14="http://schemas.microsoft.com/office/powerpoint/2010/main" val="3839871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let's review the blueprint for mastering system design discussions and advancing your engineering career: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Structure Your Process:</a:t>
            </a:r>
            <a:r>
              <a:rPr lang="en-US" sz="1200" kern="1200" dirty="0">
                <a:solidFill>
                  <a:schemeClr val="tx1"/>
                </a:solidFill>
                <a:effectLst/>
                <a:latin typeface="+mn-lt"/>
                <a:ea typeface="+mn-ea"/>
                <a:cs typeface="+mn-cs"/>
              </a:rPr>
              <a:t> Always execute the 60-minute framework linearly. Clarify requirements upfront (10m), establish data/API contracts and high-level architecture (30–40m), then dive into scaling, bottlenecks, and failure modes (10–15m).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Evaluation Pillars:</a:t>
            </a:r>
            <a:r>
              <a:rPr lang="en-US" sz="1200" kern="1200" dirty="0">
                <a:solidFill>
                  <a:schemeClr val="tx1"/>
                </a:solidFill>
                <a:effectLst/>
                <a:latin typeface="+mn-lt"/>
                <a:ea typeface="+mn-ea"/>
                <a:cs typeface="+mn-cs"/>
              </a:rPr>
              <a:t> Focus on communication, structured thinking, and practical depth.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Embrace Production Realities:</a:t>
            </a:r>
            <a:r>
              <a:rPr lang="en-US" sz="1200" kern="1200" dirty="0">
                <a:solidFill>
                  <a:schemeClr val="tx1"/>
                </a:solidFill>
                <a:effectLst/>
                <a:latin typeface="+mn-lt"/>
                <a:ea typeface="+mn-ea"/>
                <a:cs typeface="+mn-cs"/>
              </a:rPr>
              <a:t> Senior impact is demonstrated by discussing edge cases, race conditions, single points of failure, and operational trade-offs rather than trying to present a 'perfect' theoretical architecture. </a:t>
            </a:r>
          </a:p>
          <a:p>
            <a:r>
              <a:rPr lang="en-US" sz="1200" kern="1200" dirty="0">
                <a:solidFill>
                  <a:schemeClr val="tx1"/>
                </a:solidFill>
                <a:effectLst/>
                <a:latin typeface="+mn-lt"/>
                <a:ea typeface="+mn-ea"/>
                <a:cs typeface="+mn-cs"/>
              </a:rPr>
              <a:t>Thank you for your time, and I am now open to any questions!</a:t>
            </a:r>
          </a:p>
          <a:p>
            <a:endParaRPr lang="en-US" dirty="0"/>
          </a:p>
        </p:txBody>
      </p:sp>
      <p:sp>
        <p:nvSpPr>
          <p:cNvPr id="4" name="Slide Number Placeholder 3"/>
          <p:cNvSpPr>
            <a:spLocks noGrp="1"/>
          </p:cNvSpPr>
          <p:nvPr>
            <p:ph type="sldNum" sz="quarter" idx="5"/>
          </p:nvPr>
        </p:nvSpPr>
        <p:spPr/>
        <p:txBody>
          <a:bodyPr/>
          <a:lstStyle/>
          <a:p>
            <a:fld id="{E872414D-113A-475E-8E58-B8CFE60EA377}" type="slidenum">
              <a:rPr lang="en-US" smtClean="0"/>
              <a:t>15</a:t>
            </a:fld>
            <a:endParaRPr lang="en-US"/>
          </a:p>
        </p:txBody>
      </p:sp>
    </p:spTree>
    <p:extLst>
      <p:ext uri="{BB962C8B-B14F-4D97-AF65-F5344CB8AC3E}">
        <p14:creationId xmlns:p14="http://schemas.microsoft.com/office/powerpoint/2010/main" val="2225585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5A6D3B-F2E0-C948-C9E6-89885E626822}"/>
              </a:ext>
            </a:extLst>
          </p:cNvPr>
          <p:cNvSpPr>
            <a:spLocks noGrp="1"/>
          </p:cNvSpPr>
          <p:nvPr>
            <p:ph type="dt" sz="half" idx="10"/>
          </p:nvPr>
        </p:nvSpPr>
        <p:spPr/>
        <p:txBody>
          <a:bodyPr/>
          <a:lstStyle/>
          <a:p>
            <a:fld id="{C026FB83-75F5-4DD1-B6FF-AA421376BE3F}" type="datetimeFigureOut">
              <a:rPr lang="en-US" smtClean="0"/>
              <a:t>10/19/2026</a:t>
            </a:fld>
            <a:endParaRPr lang="en-US"/>
          </a:p>
        </p:txBody>
      </p:sp>
      <p:sp>
        <p:nvSpPr>
          <p:cNvPr id="3" name="Footer Placeholder 2">
            <a:extLst>
              <a:ext uri="{FF2B5EF4-FFF2-40B4-BE49-F238E27FC236}">
                <a16:creationId xmlns:a16="http://schemas.microsoft.com/office/drawing/2014/main" id="{1ACDAA0B-F13C-E6CC-BFC7-F7A3A97A28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9787A-7B65-BE8D-361A-9FB69A00B994}"/>
              </a:ext>
            </a:extLst>
          </p:cNvPr>
          <p:cNvSpPr>
            <a:spLocks noGrp="1"/>
          </p:cNvSpPr>
          <p:nvPr>
            <p:ph type="sldNum" sz="quarter" idx="12"/>
          </p:nvPr>
        </p:nvSpPr>
        <p:spPr/>
        <p:txBody>
          <a:bodyPr/>
          <a:lstStyle/>
          <a:p>
            <a:fld id="{22A99ED8-31D5-43F1-9F5F-020A0F342263}" type="slidenum">
              <a:rPr lang="en-US" smtClean="0"/>
              <a:t>‹#›</a:t>
            </a:fld>
            <a:endParaRPr lang="en-US"/>
          </a:p>
        </p:txBody>
      </p:sp>
    </p:spTree>
    <p:extLst>
      <p:ext uri="{BB962C8B-B14F-4D97-AF65-F5344CB8AC3E}">
        <p14:creationId xmlns:p14="http://schemas.microsoft.com/office/powerpoint/2010/main" val="9770845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FD665B-629C-6746-CFCB-65CBC68976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583C9C-F67A-24B8-A821-7D8058F22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88CF2-180C-1A22-5638-707ACA355E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26FB83-75F5-4DD1-B6FF-AA421376BE3F}" type="datetimeFigureOut">
              <a:rPr lang="en-US" smtClean="0"/>
              <a:t>10/19/2026</a:t>
            </a:fld>
            <a:endParaRPr lang="en-US"/>
          </a:p>
        </p:txBody>
      </p:sp>
      <p:sp>
        <p:nvSpPr>
          <p:cNvPr id="5" name="Footer Placeholder 4">
            <a:extLst>
              <a:ext uri="{FF2B5EF4-FFF2-40B4-BE49-F238E27FC236}">
                <a16:creationId xmlns:a16="http://schemas.microsoft.com/office/drawing/2014/main" id="{18C18AEA-19AB-FE1C-548E-096DCCF4F2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10227B-DDE8-9B23-D11B-59764D769B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A99ED8-31D5-43F1-9F5F-020A0F342263}" type="slidenum">
              <a:rPr lang="en-US" smtClean="0"/>
              <a:t>‹#›</a:t>
            </a:fld>
            <a:endParaRPr lang="en-US"/>
          </a:p>
        </p:txBody>
      </p:sp>
    </p:spTree>
    <p:extLst>
      <p:ext uri="{BB962C8B-B14F-4D97-AF65-F5344CB8AC3E}">
        <p14:creationId xmlns:p14="http://schemas.microsoft.com/office/powerpoint/2010/main" val="196329099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DEA12D-11FB-14A6-089E-69E2AA8A21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AD3D7-25B2-593A-9D97-55F4DBCBB5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FB1F50-F0C0-96E5-282A-F0C4FAB8A2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E221BB-0D8F-C9A6-3FA6-DEEF56F018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D62EF4-89A4-09D8-6D7E-6C56B9CC97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0EAF6E-F2CE-7413-BCC4-1D7532DD7C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2C8448-E1F6-D503-B3A2-5A87623B11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991EFC-F48B-4AF6-1D03-A027E91C77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B84E33-7976-8D91-C090-F6E82DEF4A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798E2D-352C-2F44-C57A-D5FC528C7C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657F51-1F73-36E2-C5CF-CEFBAF6796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105156-5227-CB62-F70A-D79F727D98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A24612-B73A-B336-169F-C4048E2BC8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3810DA-95CB-5B10-5BA0-9966DC6041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131D38-7935-9C2B-0287-9329CDEA7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243233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2505</Words>
  <Application>Microsoft Office PowerPoint</Application>
  <PresentationFormat>寬螢幕</PresentationFormat>
  <Paragraphs>103</Paragraphs>
  <Slides>15</Slides>
  <Notes>15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2026-08-28T08:23:46Z</dcterms:created>
  <dcterms:modified xsi:type="dcterms:W3CDTF">2026-10-19T15:38:28Z</dcterms:modified>
</cp:coreProperties>
</file>