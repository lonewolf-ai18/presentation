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112D02-89A3-4465-8910-E4A6058318BD}" v="18" dt="2026-08-28T08:55:01.5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0" autoAdjust="0"/>
    <p:restoredTop sz="87749"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8-28T08:55:22.644" v="63" actId="166"/>
      <pc:docMkLst>
        <pc:docMk/>
      </pc:docMkLst>
      <pc:sldChg chg="addSp delSp modSp mod modAnim modNotesTx">
        <pc:chgData name="Lai, Wilson" userId="2840974a-0d84-4886-90a9-9a3ed79f3a48" providerId="ADAL" clId="{9F23B798-9E84-4552-BA63-E776E805C424}" dt="2026-08-28T08:55:22.644" v="63" actId="166"/>
        <pc:sldMkLst>
          <pc:docMk/>
          <pc:sldMk cId="0" sldId="257"/>
        </pc:sldMkLst>
        <pc:spChg chg="add mod">
          <ac:chgData name="Lai, Wilson" userId="2840974a-0d84-4886-90a9-9a3ed79f3a48" providerId="ADAL" clId="{9F23B798-9E84-4552-BA63-E776E805C424}" dt="2026-08-28T07:59:46.610" v="8" actId="164"/>
          <ac:spMkLst>
            <pc:docMk/>
            <pc:sldMk cId="0" sldId="257"/>
            <ac:spMk id="5" creationId="{C07891FA-F5A6-51BF-C825-E71CE452D3C5}"/>
          </ac:spMkLst>
        </pc:spChg>
        <pc:grpChg chg="add mod">
          <ac:chgData name="Lai, Wilson" userId="2840974a-0d84-4886-90a9-9a3ed79f3a48" providerId="ADAL" clId="{9F23B798-9E84-4552-BA63-E776E805C424}" dt="2026-08-28T07:59:46.610" v="8" actId="164"/>
          <ac:grpSpMkLst>
            <pc:docMk/>
            <pc:sldMk cId="0" sldId="257"/>
            <ac:grpSpMk id="6" creationId="{B49F2D37-95A8-F2DE-9D29-76D5E748EE54}"/>
          </ac:grpSpMkLst>
        </pc:grpChg>
        <pc:picChg chg="del">
          <ac:chgData name="Lai, Wilson" userId="2840974a-0d84-4886-90a9-9a3ed79f3a48" providerId="ADAL" clId="{9F23B798-9E84-4552-BA63-E776E805C424}" dt="2026-08-28T08:25:55.449" v="9" actId="21"/>
          <ac:picMkLst>
            <pc:docMk/>
            <pc:sldMk cId="0" sldId="257"/>
            <ac:picMk id="2" creationId="{00000000-0000-0000-0000-000000000000}"/>
          </ac:picMkLst>
        </pc:picChg>
        <pc:picChg chg="add mod">
          <ac:chgData name="Lai, Wilson" userId="2840974a-0d84-4886-90a9-9a3ed79f3a48" providerId="ADAL" clId="{9F23B798-9E84-4552-BA63-E776E805C424}" dt="2026-08-28T07:59:46.610" v="8" actId="164"/>
          <ac:picMkLst>
            <pc:docMk/>
            <pc:sldMk cId="0" sldId="257"/>
            <ac:picMk id="3" creationId="{211F3B5F-1F87-E3EB-6B3C-2A6082550702}"/>
          </ac:picMkLst>
        </pc:picChg>
        <pc:picChg chg="add ord">
          <ac:chgData name="Lai, Wilson" userId="2840974a-0d84-4886-90a9-9a3ed79f3a48" providerId="ADAL" clId="{9F23B798-9E84-4552-BA63-E776E805C424}" dt="2026-08-28T08:55:22.644" v="63" actId="166"/>
          <ac:picMkLst>
            <pc:docMk/>
            <pc:sldMk cId="0" sldId="257"/>
            <ac:picMk id="7" creationId="{BE6695F6-644B-75F5-2465-7B4FCCFF7641}"/>
          </ac:picMkLst>
        </pc:picChg>
      </pc:sldChg>
      <pc:sldChg chg="addSp delSp mod">
        <pc:chgData name="Lai, Wilson" userId="2840974a-0d84-4886-90a9-9a3ed79f3a48" providerId="ADAL" clId="{9F23B798-9E84-4552-BA63-E776E805C424}" dt="2026-08-28T08:26:39.891" v="13" actId="22"/>
        <pc:sldMkLst>
          <pc:docMk/>
          <pc:sldMk cId="0" sldId="258"/>
        </pc:sldMkLst>
        <pc:picChg chg="del">
          <ac:chgData name="Lai, Wilson" userId="2840974a-0d84-4886-90a9-9a3ed79f3a48" providerId="ADAL" clId="{9F23B798-9E84-4552-BA63-E776E805C424}" dt="2026-08-28T08:26:31.513" v="12" actId="21"/>
          <ac:picMkLst>
            <pc:docMk/>
            <pc:sldMk cId="0" sldId="258"/>
            <ac:picMk id="2" creationId="{00000000-0000-0000-0000-000000000000}"/>
          </ac:picMkLst>
        </pc:picChg>
        <pc:picChg chg="add">
          <ac:chgData name="Lai, Wilson" userId="2840974a-0d84-4886-90a9-9a3ed79f3a48" providerId="ADAL" clId="{9F23B798-9E84-4552-BA63-E776E805C424}" dt="2026-08-28T08:26:39.891" v="13" actId="22"/>
          <ac:picMkLst>
            <pc:docMk/>
            <pc:sldMk cId="0" sldId="258"/>
            <ac:picMk id="4" creationId="{59EFFEA8-7511-C653-A53C-FF2C42BEEBE7}"/>
          </ac:picMkLst>
        </pc:picChg>
      </pc:sldChg>
      <pc:sldChg chg="addSp delSp mod modNotesTx">
        <pc:chgData name="Lai, Wilson" userId="2840974a-0d84-4886-90a9-9a3ed79f3a48" providerId="ADAL" clId="{9F23B798-9E84-4552-BA63-E776E805C424}" dt="2026-08-28T08:52:38.795" v="46" actId="12"/>
        <pc:sldMkLst>
          <pc:docMk/>
          <pc:sldMk cId="0" sldId="259"/>
        </pc:sldMkLst>
        <pc:picChg chg="del">
          <ac:chgData name="Lai, Wilson" userId="2840974a-0d84-4886-90a9-9a3ed79f3a48" providerId="ADAL" clId="{9F23B798-9E84-4552-BA63-E776E805C424}" dt="2026-08-28T08:26:42.079" v="14" actId="21"/>
          <ac:picMkLst>
            <pc:docMk/>
            <pc:sldMk cId="0" sldId="259"/>
            <ac:picMk id="2" creationId="{00000000-0000-0000-0000-000000000000}"/>
          </ac:picMkLst>
        </pc:picChg>
        <pc:picChg chg="add">
          <ac:chgData name="Lai, Wilson" userId="2840974a-0d84-4886-90a9-9a3ed79f3a48" providerId="ADAL" clId="{9F23B798-9E84-4552-BA63-E776E805C424}" dt="2026-08-28T08:26:49.918" v="15" actId="22"/>
          <ac:picMkLst>
            <pc:docMk/>
            <pc:sldMk cId="0" sldId="259"/>
            <ac:picMk id="4" creationId="{14C3EC6E-515E-420B-A2D5-83D193DAC4E5}"/>
          </ac:picMkLst>
        </pc:picChg>
      </pc:sldChg>
      <pc:sldChg chg="addSp delSp mod modNotesTx">
        <pc:chgData name="Lai, Wilson" userId="2840974a-0d84-4886-90a9-9a3ed79f3a48" providerId="ADAL" clId="{9F23B798-9E84-4552-BA63-E776E805C424}" dt="2026-08-28T08:52:53.927" v="48" actId="14"/>
        <pc:sldMkLst>
          <pc:docMk/>
          <pc:sldMk cId="0" sldId="260"/>
        </pc:sldMkLst>
        <pc:picChg chg="del">
          <ac:chgData name="Lai, Wilson" userId="2840974a-0d84-4886-90a9-9a3ed79f3a48" providerId="ADAL" clId="{9F23B798-9E84-4552-BA63-E776E805C424}" dt="2026-08-28T08:26:52.062" v="16" actId="21"/>
          <ac:picMkLst>
            <pc:docMk/>
            <pc:sldMk cId="0" sldId="260"/>
            <ac:picMk id="2" creationId="{00000000-0000-0000-0000-000000000000}"/>
          </ac:picMkLst>
        </pc:picChg>
        <pc:picChg chg="add">
          <ac:chgData name="Lai, Wilson" userId="2840974a-0d84-4886-90a9-9a3ed79f3a48" providerId="ADAL" clId="{9F23B798-9E84-4552-BA63-E776E805C424}" dt="2026-08-28T08:26:59.078" v="17" actId="22"/>
          <ac:picMkLst>
            <pc:docMk/>
            <pc:sldMk cId="0" sldId="260"/>
            <ac:picMk id="4" creationId="{628428C4-9F7C-2611-7F49-D61268A89C00}"/>
          </ac:picMkLst>
        </pc:picChg>
      </pc:sldChg>
      <pc:sldChg chg="addSp delSp mod modNotesTx">
        <pc:chgData name="Lai, Wilson" userId="2840974a-0d84-4886-90a9-9a3ed79f3a48" providerId="ADAL" clId="{9F23B798-9E84-4552-BA63-E776E805C424}" dt="2026-08-28T08:53:06.018" v="50" actId="14"/>
        <pc:sldMkLst>
          <pc:docMk/>
          <pc:sldMk cId="0" sldId="261"/>
        </pc:sldMkLst>
        <pc:picChg chg="del">
          <ac:chgData name="Lai, Wilson" userId="2840974a-0d84-4886-90a9-9a3ed79f3a48" providerId="ADAL" clId="{9F23B798-9E84-4552-BA63-E776E805C424}" dt="2026-08-28T08:27:01.204" v="18" actId="21"/>
          <ac:picMkLst>
            <pc:docMk/>
            <pc:sldMk cId="0" sldId="261"/>
            <ac:picMk id="2" creationId="{00000000-0000-0000-0000-000000000000}"/>
          </ac:picMkLst>
        </pc:picChg>
        <pc:picChg chg="add">
          <ac:chgData name="Lai, Wilson" userId="2840974a-0d84-4886-90a9-9a3ed79f3a48" providerId="ADAL" clId="{9F23B798-9E84-4552-BA63-E776E805C424}" dt="2026-08-28T08:27:11.391" v="19" actId="22"/>
          <ac:picMkLst>
            <pc:docMk/>
            <pc:sldMk cId="0" sldId="261"/>
            <ac:picMk id="4" creationId="{BF0C66F8-68BA-4D67-1648-BC21A25566EF}"/>
          </ac:picMkLst>
        </pc:picChg>
      </pc:sldChg>
      <pc:sldChg chg="addSp delSp mod">
        <pc:chgData name="Lai, Wilson" userId="2840974a-0d84-4886-90a9-9a3ed79f3a48" providerId="ADAL" clId="{9F23B798-9E84-4552-BA63-E776E805C424}" dt="2026-08-28T08:27:21.219" v="21" actId="22"/>
        <pc:sldMkLst>
          <pc:docMk/>
          <pc:sldMk cId="0" sldId="262"/>
        </pc:sldMkLst>
        <pc:picChg chg="del">
          <ac:chgData name="Lai, Wilson" userId="2840974a-0d84-4886-90a9-9a3ed79f3a48" providerId="ADAL" clId="{9F23B798-9E84-4552-BA63-E776E805C424}" dt="2026-08-28T08:27:13.294" v="20" actId="21"/>
          <ac:picMkLst>
            <pc:docMk/>
            <pc:sldMk cId="0" sldId="262"/>
            <ac:picMk id="2" creationId="{00000000-0000-0000-0000-000000000000}"/>
          </ac:picMkLst>
        </pc:picChg>
        <pc:picChg chg="add">
          <ac:chgData name="Lai, Wilson" userId="2840974a-0d84-4886-90a9-9a3ed79f3a48" providerId="ADAL" clId="{9F23B798-9E84-4552-BA63-E776E805C424}" dt="2026-08-28T08:27:21.219" v="21" actId="22"/>
          <ac:picMkLst>
            <pc:docMk/>
            <pc:sldMk cId="0" sldId="262"/>
            <ac:picMk id="4" creationId="{DA50E4B0-F07D-8DB2-CDC8-F2CF5D2A0CC7}"/>
          </ac:picMkLst>
        </pc:picChg>
      </pc:sldChg>
      <pc:sldChg chg="addSp delSp mod modNotesTx">
        <pc:chgData name="Lai, Wilson" userId="2840974a-0d84-4886-90a9-9a3ed79f3a48" providerId="ADAL" clId="{9F23B798-9E84-4552-BA63-E776E805C424}" dt="2026-08-28T08:53:26.857" v="52" actId="14"/>
        <pc:sldMkLst>
          <pc:docMk/>
          <pc:sldMk cId="0" sldId="263"/>
        </pc:sldMkLst>
        <pc:picChg chg="del">
          <ac:chgData name="Lai, Wilson" userId="2840974a-0d84-4886-90a9-9a3ed79f3a48" providerId="ADAL" clId="{9F23B798-9E84-4552-BA63-E776E805C424}" dt="2026-08-28T08:27:23.299" v="22" actId="21"/>
          <ac:picMkLst>
            <pc:docMk/>
            <pc:sldMk cId="0" sldId="263"/>
            <ac:picMk id="2" creationId="{00000000-0000-0000-0000-000000000000}"/>
          </ac:picMkLst>
        </pc:picChg>
        <pc:picChg chg="add">
          <ac:chgData name="Lai, Wilson" userId="2840974a-0d84-4886-90a9-9a3ed79f3a48" providerId="ADAL" clId="{9F23B798-9E84-4552-BA63-E776E805C424}" dt="2026-08-28T08:27:31.881" v="23" actId="22"/>
          <ac:picMkLst>
            <pc:docMk/>
            <pc:sldMk cId="0" sldId="263"/>
            <ac:picMk id="4" creationId="{E53C9D4C-BCE3-E55E-D463-131135DA18AA}"/>
          </ac:picMkLst>
        </pc:picChg>
      </pc:sldChg>
      <pc:sldChg chg="addSp delSp mod">
        <pc:chgData name="Lai, Wilson" userId="2840974a-0d84-4886-90a9-9a3ed79f3a48" providerId="ADAL" clId="{9F23B798-9E84-4552-BA63-E776E805C424}" dt="2026-08-28T08:27:42.332" v="25" actId="22"/>
        <pc:sldMkLst>
          <pc:docMk/>
          <pc:sldMk cId="0" sldId="264"/>
        </pc:sldMkLst>
        <pc:picChg chg="del">
          <ac:chgData name="Lai, Wilson" userId="2840974a-0d84-4886-90a9-9a3ed79f3a48" providerId="ADAL" clId="{9F23B798-9E84-4552-BA63-E776E805C424}" dt="2026-08-28T08:27:34.041" v="24" actId="21"/>
          <ac:picMkLst>
            <pc:docMk/>
            <pc:sldMk cId="0" sldId="264"/>
            <ac:picMk id="2" creationId="{00000000-0000-0000-0000-000000000000}"/>
          </ac:picMkLst>
        </pc:picChg>
        <pc:picChg chg="add">
          <ac:chgData name="Lai, Wilson" userId="2840974a-0d84-4886-90a9-9a3ed79f3a48" providerId="ADAL" clId="{9F23B798-9E84-4552-BA63-E776E805C424}" dt="2026-08-28T08:27:42.332" v="25" actId="22"/>
          <ac:picMkLst>
            <pc:docMk/>
            <pc:sldMk cId="0" sldId="264"/>
            <ac:picMk id="4" creationId="{2A3D2060-3758-7EEA-D123-9F05C3423CF2}"/>
          </ac:picMkLst>
        </pc:picChg>
      </pc:sldChg>
      <pc:sldChg chg="addSp delSp mod modNotesTx">
        <pc:chgData name="Lai, Wilson" userId="2840974a-0d84-4886-90a9-9a3ed79f3a48" providerId="ADAL" clId="{9F23B798-9E84-4552-BA63-E776E805C424}" dt="2026-08-28T08:53:49.529" v="54" actId="14"/>
        <pc:sldMkLst>
          <pc:docMk/>
          <pc:sldMk cId="0" sldId="265"/>
        </pc:sldMkLst>
        <pc:picChg chg="del">
          <ac:chgData name="Lai, Wilson" userId="2840974a-0d84-4886-90a9-9a3ed79f3a48" providerId="ADAL" clId="{9F23B798-9E84-4552-BA63-E776E805C424}" dt="2026-08-28T08:27:44.260" v="26" actId="21"/>
          <ac:picMkLst>
            <pc:docMk/>
            <pc:sldMk cId="0" sldId="265"/>
            <ac:picMk id="2" creationId="{00000000-0000-0000-0000-000000000000}"/>
          </ac:picMkLst>
        </pc:picChg>
        <pc:picChg chg="add">
          <ac:chgData name="Lai, Wilson" userId="2840974a-0d84-4886-90a9-9a3ed79f3a48" providerId="ADAL" clId="{9F23B798-9E84-4552-BA63-E776E805C424}" dt="2026-08-28T08:27:51.867" v="27" actId="22"/>
          <ac:picMkLst>
            <pc:docMk/>
            <pc:sldMk cId="0" sldId="265"/>
            <ac:picMk id="4" creationId="{A8132652-16C7-2245-86A3-F72017F3A3F0}"/>
          </ac:picMkLst>
        </pc:picChg>
      </pc:sldChg>
      <pc:sldChg chg="addSp delSp mod">
        <pc:chgData name="Lai, Wilson" userId="2840974a-0d84-4886-90a9-9a3ed79f3a48" providerId="ADAL" clId="{9F23B798-9E84-4552-BA63-E776E805C424}" dt="2026-08-28T08:28:02.415" v="29" actId="22"/>
        <pc:sldMkLst>
          <pc:docMk/>
          <pc:sldMk cId="0" sldId="266"/>
        </pc:sldMkLst>
        <pc:picChg chg="del">
          <ac:chgData name="Lai, Wilson" userId="2840974a-0d84-4886-90a9-9a3ed79f3a48" providerId="ADAL" clId="{9F23B798-9E84-4552-BA63-E776E805C424}" dt="2026-08-28T08:27:53.826" v="28" actId="21"/>
          <ac:picMkLst>
            <pc:docMk/>
            <pc:sldMk cId="0" sldId="266"/>
            <ac:picMk id="2" creationId="{00000000-0000-0000-0000-000000000000}"/>
          </ac:picMkLst>
        </pc:picChg>
        <pc:picChg chg="add">
          <ac:chgData name="Lai, Wilson" userId="2840974a-0d84-4886-90a9-9a3ed79f3a48" providerId="ADAL" clId="{9F23B798-9E84-4552-BA63-E776E805C424}" dt="2026-08-28T08:28:02.415" v="29" actId="22"/>
          <ac:picMkLst>
            <pc:docMk/>
            <pc:sldMk cId="0" sldId="266"/>
            <ac:picMk id="4" creationId="{965AF362-B81C-A96A-AF76-51A5DB487E1E}"/>
          </ac:picMkLst>
        </pc:picChg>
      </pc:sldChg>
      <pc:sldChg chg="addSp delSp mod modNotesTx">
        <pc:chgData name="Lai, Wilson" userId="2840974a-0d84-4886-90a9-9a3ed79f3a48" providerId="ADAL" clId="{9F23B798-9E84-4552-BA63-E776E805C424}" dt="2026-08-28T08:54:09.619" v="57" actId="12"/>
        <pc:sldMkLst>
          <pc:docMk/>
          <pc:sldMk cId="0" sldId="267"/>
        </pc:sldMkLst>
        <pc:picChg chg="del">
          <ac:chgData name="Lai, Wilson" userId="2840974a-0d84-4886-90a9-9a3ed79f3a48" providerId="ADAL" clId="{9F23B798-9E84-4552-BA63-E776E805C424}" dt="2026-08-28T08:28:04.588" v="30" actId="21"/>
          <ac:picMkLst>
            <pc:docMk/>
            <pc:sldMk cId="0" sldId="267"/>
            <ac:picMk id="2" creationId="{00000000-0000-0000-0000-000000000000}"/>
          </ac:picMkLst>
        </pc:picChg>
        <pc:picChg chg="add">
          <ac:chgData name="Lai, Wilson" userId="2840974a-0d84-4886-90a9-9a3ed79f3a48" providerId="ADAL" clId="{9F23B798-9E84-4552-BA63-E776E805C424}" dt="2026-08-28T08:28:18.157" v="31" actId="22"/>
          <ac:picMkLst>
            <pc:docMk/>
            <pc:sldMk cId="0" sldId="267"/>
            <ac:picMk id="4" creationId="{CA8276AE-712D-9946-BD08-285548DCC1BC}"/>
          </ac:picMkLst>
        </pc:picChg>
      </pc:sldChg>
      <pc:sldChg chg="addSp delSp mod">
        <pc:chgData name="Lai, Wilson" userId="2840974a-0d84-4886-90a9-9a3ed79f3a48" providerId="ADAL" clId="{9F23B798-9E84-4552-BA63-E776E805C424}" dt="2026-08-28T08:28:27.472" v="33" actId="22"/>
        <pc:sldMkLst>
          <pc:docMk/>
          <pc:sldMk cId="0" sldId="268"/>
        </pc:sldMkLst>
        <pc:picChg chg="del">
          <ac:chgData name="Lai, Wilson" userId="2840974a-0d84-4886-90a9-9a3ed79f3a48" providerId="ADAL" clId="{9F23B798-9E84-4552-BA63-E776E805C424}" dt="2026-08-28T08:28:20.132" v="32" actId="21"/>
          <ac:picMkLst>
            <pc:docMk/>
            <pc:sldMk cId="0" sldId="268"/>
            <ac:picMk id="2" creationId="{00000000-0000-0000-0000-000000000000}"/>
          </ac:picMkLst>
        </pc:picChg>
        <pc:picChg chg="add">
          <ac:chgData name="Lai, Wilson" userId="2840974a-0d84-4886-90a9-9a3ed79f3a48" providerId="ADAL" clId="{9F23B798-9E84-4552-BA63-E776E805C424}" dt="2026-08-28T08:28:27.472" v="33" actId="22"/>
          <ac:picMkLst>
            <pc:docMk/>
            <pc:sldMk cId="0" sldId="268"/>
            <ac:picMk id="4" creationId="{AE8D421D-5799-2FE2-26BF-CD372EF9FF42}"/>
          </ac:picMkLst>
        </pc:picChg>
      </pc:sldChg>
      <pc:sldChg chg="addSp delSp mod modNotesTx">
        <pc:chgData name="Lai, Wilson" userId="2840974a-0d84-4886-90a9-9a3ed79f3a48" providerId="ADAL" clId="{9F23B798-9E84-4552-BA63-E776E805C424}" dt="2026-08-28T08:54:35.762" v="59" actId="14"/>
        <pc:sldMkLst>
          <pc:docMk/>
          <pc:sldMk cId="0" sldId="269"/>
        </pc:sldMkLst>
        <pc:picChg chg="del">
          <ac:chgData name="Lai, Wilson" userId="2840974a-0d84-4886-90a9-9a3ed79f3a48" providerId="ADAL" clId="{9F23B798-9E84-4552-BA63-E776E805C424}" dt="2026-08-28T08:28:29.274" v="34" actId="21"/>
          <ac:picMkLst>
            <pc:docMk/>
            <pc:sldMk cId="0" sldId="269"/>
            <ac:picMk id="2" creationId="{00000000-0000-0000-0000-000000000000}"/>
          </ac:picMkLst>
        </pc:picChg>
        <pc:picChg chg="add">
          <ac:chgData name="Lai, Wilson" userId="2840974a-0d84-4886-90a9-9a3ed79f3a48" providerId="ADAL" clId="{9F23B798-9E84-4552-BA63-E776E805C424}" dt="2026-08-28T08:28:38.759" v="35" actId="22"/>
          <ac:picMkLst>
            <pc:docMk/>
            <pc:sldMk cId="0" sldId="269"/>
            <ac:picMk id="4" creationId="{AD8669E6-8043-2DE2-E8EC-4A8A44C43084}"/>
          </ac:picMkLst>
        </pc:picChg>
      </pc:sldChg>
      <pc:sldChg chg="addSp delSp mod">
        <pc:chgData name="Lai, Wilson" userId="2840974a-0d84-4886-90a9-9a3ed79f3a48" providerId="ADAL" clId="{9F23B798-9E84-4552-BA63-E776E805C424}" dt="2026-08-28T08:28:52.503" v="37" actId="22"/>
        <pc:sldMkLst>
          <pc:docMk/>
          <pc:sldMk cId="0" sldId="270"/>
        </pc:sldMkLst>
        <pc:picChg chg="del">
          <ac:chgData name="Lai, Wilson" userId="2840974a-0d84-4886-90a9-9a3ed79f3a48" providerId="ADAL" clId="{9F23B798-9E84-4552-BA63-E776E805C424}" dt="2026-08-28T08:28:43.642" v="36" actId="21"/>
          <ac:picMkLst>
            <pc:docMk/>
            <pc:sldMk cId="0" sldId="270"/>
            <ac:picMk id="2" creationId="{00000000-0000-0000-0000-000000000000}"/>
          </ac:picMkLst>
        </pc:picChg>
        <pc:picChg chg="add">
          <ac:chgData name="Lai, Wilson" userId="2840974a-0d84-4886-90a9-9a3ed79f3a48" providerId="ADAL" clId="{9F23B798-9E84-4552-BA63-E776E805C424}" dt="2026-08-28T08:28:52.503" v="37" actId="22"/>
          <ac:picMkLst>
            <pc:docMk/>
            <pc:sldMk cId="0" sldId="270"/>
            <ac:picMk id="4" creationId="{67526130-AAAB-1CFD-D2E3-FD490DE092F9}"/>
          </ac:picMkLst>
        </pc:picChg>
      </pc:sldChg>
      <pc:sldChg chg="addSp delSp mod modNotesTx">
        <pc:chgData name="Lai, Wilson" userId="2840974a-0d84-4886-90a9-9a3ed79f3a48" providerId="ADAL" clId="{9F23B798-9E84-4552-BA63-E776E805C424}" dt="2026-08-28T08:54:53.485" v="60" actId="12"/>
        <pc:sldMkLst>
          <pc:docMk/>
          <pc:sldMk cId="0" sldId="271"/>
        </pc:sldMkLst>
        <pc:picChg chg="del">
          <ac:chgData name="Lai, Wilson" userId="2840974a-0d84-4886-90a9-9a3ed79f3a48" providerId="ADAL" clId="{9F23B798-9E84-4552-BA63-E776E805C424}" dt="2026-08-28T08:28:55.407" v="38" actId="21"/>
          <ac:picMkLst>
            <pc:docMk/>
            <pc:sldMk cId="0" sldId="271"/>
            <ac:picMk id="2" creationId="{00000000-0000-0000-0000-000000000000}"/>
          </ac:picMkLst>
        </pc:picChg>
        <pc:picChg chg="add">
          <ac:chgData name="Lai, Wilson" userId="2840974a-0d84-4886-90a9-9a3ed79f3a48" providerId="ADAL" clId="{9F23B798-9E84-4552-BA63-E776E805C424}" dt="2026-08-28T08:29:04.950" v="39" actId="22"/>
          <ac:picMkLst>
            <pc:docMk/>
            <pc:sldMk cId="0" sldId="271"/>
            <ac:picMk id="4" creationId="{BA6A48C0-C2C8-E05B-9C48-6F6DEB9C378E}"/>
          </ac:picMkLst>
        </pc:picChg>
      </pc:sldChg>
      <pc:sldChg chg="modNotesTx">
        <pc:chgData name="Lai, Wilson" userId="2840974a-0d84-4886-90a9-9a3ed79f3a48" providerId="ADAL" clId="{9F23B798-9E84-4552-BA63-E776E805C424}" dt="2026-08-28T08:55:05.479" v="62" actId="14"/>
        <pc:sldMkLst>
          <pc:docMk/>
          <pc:sldMk cId="1460123029"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DBE6CF-20D2-4457-B796-CBFC68BB8ED4}" type="datetimeFigureOut">
              <a:rPr lang="en-US" smtClean="0"/>
              <a:t>10/19/2026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CCA572-EECA-4CD6-8C28-543999C0FD16}" type="slidenum">
              <a:rPr lang="en-US" smtClean="0"/>
              <a:t>‹#›</a:t>
            </a:fld>
            <a:endParaRPr lang="en-US"/>
          </a:p>
        </p:txBody>
      </p:sp>
    </p:spTree>
    <p:extLst>
      <p:ext uri="{BB962C8B-B14F-4D97-AF65-F5344CB8AC3E}">
        <p14:creationId xmlns:p14="http://schemas.microsoft.com/office/powerpoint/2010/main" val="401722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Good morning, everyone. Today, we are analyzing the operational playbook of Wade Foster, founder and CEO of Zapier. Zapier has grown into a $5B enterprise by serving as the connective glue for the internet's software ecosystem.</a:t>
            </a:r>
          </a:p>
          <a:p>
            <a:pPr lvl="0"/>
            <a:r>
              <a:rPr lang="en-US" sz="1200" kern="1200" dirty="0">
                <a:solidFill>
                  <a:schemeClr val="tx1"/>
                </a:solidFill>
                <a:effectLst/>
                <a:latin typeface="+mn-lt"/>
                <a:ea typeface="+mn-ea"/>
                <a:cs typeface="+mn-cs"/>
              </a:rPr>
              <a:t>However, as AI models have matured, Wade hasn't just built AI products for customers; he has completely transformed how he leads his own company. He operates what we call the </a:t>
            </a:r>
            <a:r>
              <a:rPr lang="en-US" sz="1200" b="1" kern="1200" dirty="0">
                <a:solidFill>
                  <a:schemeClr val="tx1"/>
                </a:solidFill>
                <a:effectLst/>
                <a:latin typeface="+mn-lt"/>
                <a:ea typeface="+mn-ea"/>
                <a:cs typeface="+mn-cs"/>
              </a:rPr>
              <a:t>$5B AI Command Center</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This paradigm consists of three primary pillars: </a:t>
            </a:r>
          </a:p>
          <a:p>
            <a:pPr marL="228600" lvl="0" indent="-228600">
              <a:buFont typeface="+mj-lt"/>
              <a:buAutoNum type="arabicPeriod"/>
            </a:pPr>
            <a:r>
              <a:rPr lang="en-US" sz="1200" b="1" kern="1200" dirty="0">
                <a:solidFill>
                  <a:schemeClr val="tx1"/>
                </a:solidFill>
                <a:effectLst/>
                <a:latin typeface="+mn-lt"/>
                <a:ea typeface="+mn-ea"/>
                <a:cs typeface="+mn-cs"/>
              </a:rPr>
              <a:t>Automation Agents</a:t>
            </a:r>
            <a:r>
              <a:rPr lang="en-US" sz="1200" kern="1200" dirty="0">
                <a:solidFill>
                  <a:schemeClr val="tx1"/>
                </a:solidFill>
                <a:effectLst/>
                <a:latin typeface="+mn-lt"/>
                <a:ea typeface="+mn-ea"/>
                <a:cs typeface="+mn-cs"/>
              </a:rPr>
              <a:t>: Handling background operational mechanics like schedule routing, task sorting, and email triage. </a:t>
            </a:r>
          </a:p>
          <a:p>
            <a:pPr marL="228600" lvl="0" indent="-228600">
              <a:buFont typeface="+mj-lt"/>
              <a:buAutoNum type="arabicPeriod"/>
            </a:pPr>
            <a:r>
              <a:rPr lang="en-US" sz="1200" b="1" kern="1200" dirty="0">
                <a:solidFill>
                  <a:schemeClr val="tx1"/>
                </a:solidFill>
                <a:effectLst/>
                <a:latin typeface="+mn-lt"/>
                <a:ea typeface="+mn-ea"/>
                <a:cs typeface="+mn-cs"/>
              </a:rPr>
              <a:t>AI Argument Partners</a:t>
            </a:r>
            <a:r>
              <a:rPr lang="en-US" sz="1200" kern="1200" dirty="0">
                <a:solidFill>
                  <a:schemeClr val="tx1"/>
                </a:solidFill>
                <a:effectLst/>
                <a:latin typeface="+mn-lt"/>
                <a:ea typeface="+mn-ea"/>
                <a:cs typeface="+mn-cs"/>
              </a:rPr>
              <a:t>: Using custom personas and agent networks to challenge executive bias, stress-test strategic initiatives, and eliminate echo chambers. </a:t>
            </a:r>
          </a:p>
          <a:p>
            <a:pPr marL="228600" lvl="0" indent="-228600">
              <a:buFont typeface="+mj-lt"/>
              <a:buAutoNum type="arabicPeriod"/>
            </a:pPr>
            <a:r>
              <a:rPr lang="en-US" sz="1200" b="1" kern="1200" dirty="0">
                <a:solidFill>
                  <a:schemeClr val="tx1"/>
                </a:solidFill>
                <a:effectLst/>
                <a:latin typeface="+mn-lt"/>
                <a:ea typeface="+mn-ea"/>
                <a:cs typeface="+mn-cs"/>
              </a:rPr>
              <a:t>Leadership Philosophy</a:t>
            </a:r>
            <a:r>
              <a:rPr lang="en-US" sz="1200" kern="1200" dirty="0">
                <a:solidFill>
                  <a:schemeClr val="tx1"/>
                </a:solidFill>
                <a:effectLst/>
                <a:latin typeface="+mn-lt"/>
                <a:ea typeface="+mn-ea"/>
                <a:cs typeface="+mn-cs"/>
              </a:rPr>
              <a:t>: Rethinking how leaders manage human talent, align corporate vision, and maintain psychological balance. </a:t>
            </a:r>
          </a:p>
          <a:p>
            <a:pPr lvl="0"/>
            <a:r>
              <a:rPr lang="en-US" sz="1200" kern="1200" dirty="0">
                <a:solidFill>
                  <a:schemeClr val="tx1"/>
                </a:solidFill>
                <a:effectLst/>
                <a:latin typeface="+mn-lt"/>
                <a:ea typeface="+mn-ea"/>
                <a:cs typeface="+mn-cs"/>
              </a:rPr>
              <a:t>Over the next 16 slides, we will unpack each workflow, technical architecture, and strategic philosophy that allows a modern founder to scale their impact far beyond traditional limits. </a:t>
            </a:r>
          </a:p>
          <a:p>
            <a:endParaRPr lang="en-US" dirty="0"/>
          </a:p>
          <a:p>
            <a:endParaRPr lang="en-US" dirty="0"/>
          </a:p>
          <a:p>
            <a:r>
              <a:rPr lang="en-US" dirty="0"/>
              <a:t>https://www.youtube.com/watch?v=TVpLs0F1zpA</a:t>
            </a:r>
          </a:p>
        </p:txBody>
      </p:sp>
      <p:sp>
        <p:nvSpPr>
          <p:cNvPr id="4" name="Slide Number Placeholder 3"/>
          <p:cNvSpPr>
            <a:spLocks noGrp="1"/>
          </p:cNvSpPr>
          <p:nvPr>
            <p:ph type="sldNum" sz="quarter" idx="5"/>
          </p:nvPr>
        </p:nvSpPr>
        <p:spPr/>
        <p:txBody>
          <a:bodyPr/>
          <a:lstStyle/>
          <a:p>
            <a:fld id="{604437A7-3522-4EAD-8D8E-256AB01A86C8}" type="slidenum">
              <a:rPr lang="en-US" smtClean="0"/>
              <a:t>1</a:t>
            </a:fld>
            <a:endParaRPr lang="en-US"/>
          </a:p>
        </p:txBody>
      </p:sp>
    </p:spTree>
    <p:extLst>
      <p:ext uri="{BB962C8B-B14F-4D97-AF65-F5344CB8AC3E}">
        <p14:creationId xmlns:p14="http://schemas.microsoft.com/office/powerpoint/2010/main" val="15395771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 this slide, we examine a fundamental shift in corporate architecture. The traditional top-down organizational chart relies on multi-tiered management to relay information up the chain and pass directives down. </a:t>
            </a:r>
          </a:p>
          <a:p>
            <a:pPr lvl="0"/>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New Model</a:t>
            </a:r>
            <a:r>
              <a:rPr lang="en-US" sz="1200" kern="1200" dirty="0">
                <a:solidFill>
                  <a:schemeClr val="tx1"/>
                </a:solidFill>
                <a:effectLst/>
                <a:latin typeface="+mn-lt"/>
                <a:ea typeface="+mn-ea"/>
                <a:cs typeface="+mn-cs"/>
              </a:rPr>
              <a:t>, an AI core serves as the central brain. It continuously ingests massive streams of operational data—including raw code commits, real-time customer Slack channels, and complex CRM records. </a:t>
            </a:r>
          </a:p>
          <a:p>
            <a:pPr lvl="0"/>
            <a:r>
              <a:rPr lang="en-US" sz="1200" kern="1200" dirty="0">
                <a:solidFill>
                  <a:schemeClr val="tx1"/>
                </a:solidFill>
                <a:effectLst/>
                <a:latin typeface="+mn-lt"/>
                <a:ea typeface="+mn-ea"/>
                <a:cs typeface="+mn-cs"/>
              </a:rPr>
              <a:t>Because an LLM can analyze millions of data points simultaneously, it can synthesize cross-functional context faster than any human executive.</a:t>
            </a:r>
          </a:p>
          <a:p>
            <a:pPr lvl="0"/>
            <a:r>
              <a:rPr lang="en-US" sz="1200" kern="1200" dirty="0">
                <a:solidFill>
                  <a:schemeClr val="tx1"/>
                </a:solidFill>
                <a:effectLst/>
                <a:latin typeface="+mn-lt"/>
                <a:ea typeface="+mn-ea"/>
                <a:cs typeface="+mn-cs"/>
              </a:rPr>
              <a:t>In this environment, human leaders transition from information bottlenecks into </a:t>
            </a:r>
            <a:r>
              <a:rPr lang="en-US" sz="1200" b="1" kern="1200" dirty="0">
                <a:solidFill>
                  <a:schemeClr val="tx1"/>
                </a:solidFill>
                <a:effectLst/>
                <a:latin typeface="+mn-lt"/>
                <a:ea typeface="+mn-ea"/>
                <a:cs typeface="+mn-cs"/>
              </a:rPr>
              <a:t>Human Sensors &amp; Final Judgment</a:t>
            </a:r>
            <a:r>
              <a:rPr lang="en-US" sz="1200" kern="1200" dirty="0">
                <a:solidFill>
                  <a:schemeClr val="tx1"/>
                </a:solidFill>
                <a:effectLst/>
                <a:latin typeface="+mn-lt"/>
                <a:ea typeface="+mn-ea"/>
                <a:cs typeface="+mn-cs"/>
              </a:rPr>
              <a:t>. Specialists in product strategy, data analysis, ethics, UX research, and operations review the AI's synthesized outputs and apply nuanced human reasoning. </a:t>
            </a:r>
          </a:p>
          <a:p>
            <a:pPr lvl="0"/>
            <a:r>
              <a:rPr lang="en-US" sz="1200" kern="1200" dirty="0">
                <a:solidFill>
                  <a:schemeClr val="tx1"/>
                </a:solidFill>
                <a:effectLst/>
                <a:latin typeface="+mn-lt"/>
                <a:ea typeface="+mn-ea"/>
                <a:cs typeface="+mn-cs"/>
              </a:rPr>
              <a:t>As noted at the bottom of the slide: </a:t>
            </a:r>
            <a:r>
              <a:rPr lang="en-US" sz="1200" i="1" kern="1200" dirty="0">
                <a:solidFill>
                  <a:schemeClr val="tx1"/>
                </a:solidFill>
                <a:effectLst/>
                <a:latin typeface="+mn-lt"/>
                <a:ea typeface="+mn-ea"/>
                <a:cs typeface="+mn-cs"/>
              </a:rPr>
              <a:t>The defining managerial skill of this decade is no longer how many direct reports you oversee, but how big of a fleet of AI agents you can effectively coordinate and govern.</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2</a:t>
            </a:fld>
            <a:endParaRPr lang="en-US"/>
          </a:p>
        </p:txBody>
      </p:sp>
    </p:spTree>
    <p:extLst>
      <p:ext uri="{BB962C8B-B14F-4D97-AF65-F5344CB8AC3E}">
        <p14:creationId xmlns:p14="http://schemas.microsoft.com/office/powerpoint/2010/main" val="2697985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Many executives attempt to deploy AI agents using standard off-the-shelf chatbots or native LLM interfaces. However, in business-critical environments, pure native agents frequently break down. </a:t>
            </a:r>
          </a:p>
          <a:p>
            <a:pPr lvl="0"/>
            <a:r>
              <a:rPr lang="en-US" sz="1200" kern="1200" dirty="0">
                <a:solidFill>
                  <a:schemeClr val="tx1"/>
                </a:solidFill>
                <a:effectLst/>
                <a:latin typeface="+mn-lt"/>
                <a:ea typeface="+mn-ea"/>
                <a:cs typeface="+mn-cs"/>
              </a:rPr>
              <a:t>Let's look at the diagnostic breakdown: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Native LLMs</a:t>
            </a:r>
            <a:r>
              <a:rPr lang="en-US" sz="1200" kern="1200" dirty="0">
                <a:solidFill>
                  <a:schemeClr val="tx1"/>
                </a:solidFill>
                <a:effectLst/>
                <a:latin typeface="+mn-lt"/>
                <a:ea typeface="+mn-ea"/>
                <a:cs typeface="+mn-cs"/>
              </a:rPr>
              <a:t> rely on broad internet intelligence. They operate through heavy token execution and "agentic guessing". When an agent guesses its next action, errors compound quickly, making the workflow unreliable and extremely expensive due to token burn.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Zapier Layer</a:t>
            </a:r>
            <a:r>
              <a:rPr lang="en-US" sz="1200" kern="1200" dirty="0">
                <a:solidFill>
                  <a:schemeClr val="tx1"/>
                </a:solidFill>
                <a:effectLst/>
                <a:latin typeface="+mn-lt"/>
                <a:ea typeface="+mn-ea"/>
                <a:cs typeface="+mn-cs"/>
              </a:rPr>
              <a:t>, by contrast, anchors the AI in hyper-specific internal data. It combines token-efficient logic with deterministic code rails. </a:t>
            </a:r>
          </a:p>
          <a:p>
            <a:pPr lvl="0"/>
            <a:r>
              <a:rPr lang="en-US" sz="1200" kern="1200" dirty="0">
                <a:solidFill>
                  <a:schemeClr val="tx1"/>
                </a:solidFill>
                <a:effectLst/>
                <a:latin typeface="+mn-lt"/>
                <a:ea typeface="+mn-ea"/>
                <a:cs typeface="+mn-cs"/>
              </a:rPr>
              <a:t>The key takeaway is highlighted on the slide: </a:t>
            </a:r>
            <a:r>
              <a:rPr lang="en-US" sz="1200" i="1" kern="1200" dirty="0">
                <a:solidFill>
                  <a:schemeClr val="tx1"/>
                </a:solidFill>
                <a:effectLst/>
                <a:latin typeface="+mn-lt"/>
                <a:ea typeface="+mn-ea"/>
                <a:cs typeface="+mn-cs"/>
              </a:rPr>
              <a:t>Native agents guess based on the open internet; deterministic agents execute based on your verified CRM and database rules.</a:t>
            </a:r>
            <a:r>
              <a:rPr lang="en-US" sz="1200" kern="1200" dirty="0">
                <a:solidFill>
                  <a:schemeClr val="tx1"/>
                </a:solidFill>
                <a:effectLst/>
                <a:latin typeface="+mn-lt"/>
                <a:ea typeface="+mn-ea"/>
                <a:cs typeface="+mn-cs"/>
              </a:rPr>
              <a:t> By using traditional software logic to handle execution and reserving AI purely for reasoning, you achieve near 100% operational reliability.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3</a:t>
            </a:fld>
            <a:endParaRPr lang="en-US"/>
          </a:p>
        </p:txBody>
      </p:sp>
    </p:spTree>
    <p:extLst>
      <p:ext uri="{BB962C8B-B14F-4D97-AF65-F5344CB8AC3E}">
        <p14:creationId xmlns:p14="http://schemas.microsoft.com/office/powerpoint/2010/main" val="2691338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Here is the first concrete workflow Wade uses daily: </a:t>
            </a:r>
            <a:r>
              <a:rPr lang="en-US" sz="1200" b="1" kern="1200" dirty="0">
                <a:solidFill>
                  <a:schemeClr val="tx1"/>
                </a:solidFill>
                <a:effectLst/>
                <a:latin typeface="+mn-lt"/>
                <a:ea typeface="+mn-ea"/>
                <a:cs typeface="+mn-cs"/>
              </a:rPr>
              <a:t>The Presidential Briefing</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Every morning at 6:00 AM—while Wade is still asleep and his laptop is closed—a cloud-based Zapier automation triggers automatically. </a:t>
            </a:r>
          </a:p>
          <a:p>
            <a:pPr lvl="0"/>
            <a:r>
              <a:rPr lang="en-US" sz="1200" kern="1200" dirty="0">
                <a:solidFill>
                  <a:schemeClr val="tx1"/>
                </a:solidFill>
                <a:effectLst/>
                <a:latin typeface="+mn-lt"/>
                <a:ea typeface="+mn-ea"/>
                <a:cs typeface="+mn-cs"/>
              </a:rPr>
              <a:t>It pulls data from four primary sources: </a:t>
            </a:r>
          </a:p>
          <a:p>
            <a:pPr marL="228600" lvl="0" indent="-228600">
              <a:buFont typeface="+mj-lt"/>
              <a:buAutoNum type="arabicPeriod"/>
            </a:pPr>
            <a:r>
              <a:rPr lang="en-US" sz="1200" kern="1200" dirty="0">
                <a:solidFill>
                  <a:schemeClr val="tx1"/>
                </a:solidFill>
                <a:effectLst/>
                <a:latin typeface="+mn-lt"/>
                <a:ea typeface="+mn-ea"/>
                <a:cs typeface="+mn-cs"/>
              </a:rPr>
              <a:t>Calendar APIs to review scheduled events. </a:t>
            </a:r>
          </a:p>
          <a:p>
            <a:pPr marL="228600" lvl="0" indent="-228600">
              <a:buFont typeface="+mj-lt"/>
              <a:buAutoNum type="arabicPeriod"/>
            </a:pPr>
            <a:r>
              <a:rPr lang="en-US" sz="1200" kern="1200" dirty="0">
                <a:solidFill>
                  <a:schemeClr val="tx1"/>
                </a:solidFill>
                <a:effectLst/>
                <a:latin typeface="+mn-lt"/>
                <a:ea typeface="+mn-ea"/>
                <a:cs typeface="+mn-cs"/>
              </a:rPr>
              <a:t>Email inbox to detect urgent unread messages. </a:t>
            </a:r>
          </a:p>
          <a:p>
            <a:pPr marL="228600" lvl="0" indent="-228600">
              <a:buFont typeface="+mj-lt"/>
              <a:buAutoNum type="arabicPeriod"/>
            </a:pPr>
            <a:r>
              <a:rPr lang="en-US" sz="1200" kern="1200" dirty="0">
                <a:solidFill>
                  <a:schemeClr val="tx1"/>
                </a:solidFill>
                <a:effectLst/>
                <a:latin typeface="+mn-lt"/>
                <a:ea typeface="+mn-ea"/>
                <a:cs typeface="+mn-cs"/>
              </a:rPr>
              <a:t>To-Do lists to pull current priorities. </a:t>
            </a:r>
          </a:p>
          <a:p>
            <a:pPr marL="228600" lvl="0" indent="-228600">
              <a:buFont typeface="+mj-lt"/>
              <a:buAutoNum type="arabicPeriod"/>
            </a:pPr>
            <a:r>
              <a:rPr lang="en-US" sz="1200" kern="1200" dirty="0">
                <a:solidFill>
                  <a:schemeClr val="tx1"/>
                </a:solidFill>
                <a:effectLst/>
                <a:latin typeface="+mn-lt"/>
                <a:ea typeface="+mn-ea"/>
                <a:cs typeface="+mn-cs"/>
              </a:rPr>
              <a:t>Granola meeting notes to capture leftover action items. </a:t>
            </a:r>
          </a:p>
          <a:p>
            <a:pPr lvl="0"/>
            <a:r>
              <a:rPr lang="en-US" sz="1200" kern="1200" dirty="0">
                <a:solidFill>
                  <a:schemeClr val="tx1"/>
                </a:solidFill>
                <a:effectLst/>
                <a:latin typeface="+mn-lt"/>
                <a:ea typeface="+mn-ea"/>
                <a:cs typeface="+mn-cs"/>
              </a:rPr>
              <a:t>This data is processed through an AI Synthesis Engine and delivered directly to Slack via a custom AI assistant persona named 'Ari'. Instead of waking up to email chaos, Wade receives a single, prioritized executive overview and a tailored motivation boost to set the day's focus.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4</a:t>
            </a:fld>
            <a:endParaRPr lang="en-US"/>
          </a:p>
        </p:txBody>
      </p:sp>
    </p:spTree>
    <p:extLst>
      <p:ext uri="{BB962C8B-B14F-4D97-AF65-F5344CB8AC3E}">
        <p14:creationId xmlns:p14="http://schemas.microsoft.com/office/powerpoint/2010/main" val="1966938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While the morning briefing prepares the leader, the </a:t>
            </a:r>
            <a:r>
              <a:rPr lang="en-US" sz="1200" b="1" kern="1200" dirty="0">
                <a:solidFill>
                  <a:schemeClr val="tx1"/>
                </a:solidFill>
                <a:effectLst/>
                <a:latin typeface="+mn-lt"/>
                <a:ea typeface="+mn-ea"/>
                <a:cs typeface="+mn-cs"/>
              </a:rPr>
              <a:t>Evening Scribe</a:t>
            </a:r>
            <a:r>
              <a:rPr lang="en-US" sz="1200" kern="1200" dirty="0">
                <a:solidFill>
                  <a:schemeClr val="tx1"/>
                </a:solidFill>
                <a:effectLst/>
                <a:latin typeface="+mn-lt"/>
                <a:ea typeface="+mn-ea"/>
                <a:cs typeface="+mn-cs"/>
              </a:rPr>
              <a:t> captures value at the end of the day. </a:t>
            </a:r>
          </a:p>
          <a:p>
            <a:pPr lvl="0"/>
            <a:r>
              <a:rPr lang="en-US" sz="1200" kern="1200" dirty="0">
                <a:solidFill>
                  <a:schemeClr val="tx1"/>
                </a:solidFill>
                <a:effectLst/>
                <a:latin typeface="+mn-lt"/>
                <a:ea typeface="+mn-ea"/>
                <a:cs typeface="+mn-cs"/>
              </a:rPr>
              <a:t>Historically, executive wrap-ups, follow-up emails, and task updates required nearly 2 hours of manual administrative work every evening. With the AI Scribe workflow, that overhead drops to just 15 minutes. </a:t>
            </a:r>
          </a:p>
          <a:p>
            <a:pPr lvl="0"/>
            <a:r>
              <a:rPr lang="en-US" sz="1200" kern="1200" dirty="0">
                <a:solidFill>
                  <a:schemeClr val="tx1"/>
                </a:solidFill>
                <a:effectLst/>
                <a:latin typeface="+mn-lt"/>
                <a:ea typeface="+mn-ea"/>
                <a:cs typeface="+mn-cs"/>
              </a:rPr>
              <a:t>Here is how it functions: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The AI prompts Wade with a simple question: </a:t>
            </a:r>
            <a:r>
              <a:rPr lang="en-US" sz="1200" i="1" kern="1200" dirty="0">
                <a:solidFill>
                  <a:schemeClr val="tx1"/>
                </a:solidFill>
                <a:effectLst/>
                <a:latin typeface="+mn-lt"/>
                <a:ea typeface="+mn-ea"/>
                <a:cs typeface="+mn-cs"/>
              </a:rPr>
              <a:t>"Was today a good or bad day, and why?"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Simultaneously, it reviews transcribed meeting notes and automatically drafts follow-up intro emails and action items.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a 90-day period, the AI logs this data and runs trend analysis. </a:t>
            </a:r>
          </a:p>
          <a:p>
            <a:pPr lvl="0"/>
            <a:r>
              <a:rPr lang="en-US" sz="1200" kern="1200" dirty="0">
                <a:solidFill>
                  <a:schemeClr val="tx1"/>
                </a:solidFill>
                <a:effectLst/>
                <a:latin typeface="+mn-lt"/>
                <a:ea typeface="+mn-ea"/>
                <a:cs typeface="+mn-cs"/>
              </a:rPr>
              <a:t>In Wade's case, the AI identified a crucial behavioral insight: his productivity depends heavily on uninterrupted morning focus. Based on this data, the system automatically instructed his Executive Assistant to block all meetings prior to 11:00 AM, permanently optimizing his peak energy hours.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5</a:t>
            </a:fld>
            <a:endParaRPr lang="en-US"/>
          </a:p>
        </p:txBody>
      </p:sp>
    </p:spTree>
    <p:extLst>
      <p:ext uri="{BB962C8B-B14F-4D97-AF65-F5344CB8AC3E}">
        <p14:creationId xmlns:p14="http://schemas.microsoft.com/office/powerpoint/2010/main" val="10172660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One of the most dangerous traps for CEOs and senior executives is the "Echo Chamber"—surrounding oneself with people (or AI models) who simply agree with every idea. </a:t>
            </a:r>
          </a:p>
          <a:p>
            <a:pPr lvl="0"/>
            <a:r>
              <a:rPr lang="en-US" sz="1200" kern="1200" dirty="0">
                <a:solidFill>
                  <a:schemeClr val="tx1"/>
                </a:solidFill>
                <a:effectLst/>
                <a:latin typeface="+mn-lt"/>
                <a:ea typeface="+mn-ea"/>
                <a:cs typeface="+mn-cs"/>
              </a:rPr>
              <a:t>Standard LLMs are RLHF-tuned to be agreeable and polite. When a founder says, </a:t>
            </a:r>
            <a:r>
              <a:rPr lang="en-US" sz="1200" i="1" kern="1200" dirty="0">
                <a:solidFill>
                  <a:schemeClr val="tx1"/>
                </a:solidFill>
                <a:effectLst/>
                <a:latin typeface="+mn-lt"/>
                <a:ea typeface="+mn-ea"/>
                <a:cs typeface="+mn-cs"/>
              </a:rPr>
              <a:t>"I want to kill our free tier,"</a:t>
            </a:r>
            <a:r>
              <a:rPr lang="en-US" sz="1200" kern="1200" dirty="0">
                <a:solidFill>
                  <a:schemeClr val="tx1"/>
                </a:solidFill>
                <a:effectLst/>
                <a:latin typeface="+mn-lt"/>
                <a:ea typeface="+mn-ea"/>
                <a:cs typeface="+mn-cs"/>
              </a:rPr>
              <a:t> a default LLM responds: </a:t>
            </a:r>
            <a:r>
              <a:rPr lang="en-US" sz="1200" i="1" kern="1200" dirty="0">
                <a:solidFill>
                  <a:schemeClr val="tx1"/>
                </a:solidFill>
                <a:effectLst/>
                <a:latin typeface="+mn-lt"/>
                <a:ea typeface="+mn-ea"/>
                <a:cs typeface="+mn-cs"/>
              </a:rPr>
              <a:t>"Great idea! This will increase short-term revenue."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Wade solves this by configuring custom instructions (AGENTS.md) to turn the AI into a </a:t>
            </a:r>
            <a:r>
              <a:rPr lang="en-US" sz="1200" b="1" kern="1200" dirty="0">
                <a:solidFill>
                  <a:schemeClr val="tx1"/>
                </a:solidFill>
                <a:effectLst/>
                <a:latin typeface="+mn-lt"/>
                <a:ea typeface="+mn-ea"/>
                <a:cs typeface="+mn-cs"/>
              </a:rPr>
              <a:t>Truth Teller</a:t>
            </a:r>
            <a:r>
              <a:rPr lang="en-US" sz="1200" kern="1200" dirty="0">
                <a:solidFill>
                  <a:schemeClr val="tx1"/>
                </a:solidFill>
                <a:effectLst/>
                <a:latin typeface="+mn-lt"/>
                <a:ea typeface="+mn-ea"/>
                <a:cs typeface="+mn-cs"/>
              </a:rPr>
              <a:t>. The prompt explicitly demands: </a:t>
            </a:r>
            <a:r>
              <a:rPr lang="en-US" sz="1200" i="1" kern="1200" dirty="0">
                <a:solidFill>
                  <a:schemeClr val="tx1"/>
                </a:solidFill>
                <a:effectLst/>
                <a:latin typeface="+mn-lt"/>
                <a:ea typeface="+mn-ea"/>
                <a:cs typeface="+mn-cs"/>
              </a:rPr>
              <a:t>"I need the truth my co-workers might be afraid to tell me. Poke holes in my thinking. Disagree when you genuinely disagree."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As shown on the slide, when presented with the same impulse idea, the Truth Teller pushes back: </a:t>
            </a:r>
            <a:r>
              <a:rPr lang="en-US" sz="1200" i="1" kern="1200" dirty="0">
                <a:solidFill>
                  <a:schemeClr val="tx1"/>
                </a:solidFill>
                <a:effectLst/>
                <a:latin typeface="+mn-lt"/>
                <a:ea typeface="+mn-ea"/>
                <a:cs typeface="+mn-cs"/>
              </a:rPr>
              <a:t>"That's a big move based on thin signal. Bring me the data first. What specific problem are you trying to solve?"</a:t>
            </a:r>
            <a:r>
              <a:rPr lang="en-US" sz="1200" kern="1200" dirty="0">
                <a:solidFill>
                  <a:schemeClr val="tx1"/>
                </a:solidFill>
                <a:effectLst/>
                <a:latin typeface="+mn-lt"/>
                <a:ea typeface="+mn-ea"/>
                <a:cs typeface="+mn-cs"/>
              </a:rPr>
              <a:t> This forces rigorous reflection before high-stakes capital or operational decisions are made.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6</a:t>
            </a:fld>
            <a:endParaRPr lang="en-US"/>
          </a:p>
        </p:txBody>
      </p:sp>
    </p:spTree>
    <p:extLst>
      <p:ext uri="{BB962C8B-B14F-4D97-AF65-F5344CB8AC3E}">
        <p14:creationId xmlns:p14="http://schemas.microsoft.com/office/powerpoint/2010/main" val="19396819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When evaluating major organizational decisions—such as executive hires, M&amp;A, or major product pivots—a single critic is not enough. You need a diverse board of advisors. </a:t>
            </a:r>
          </a:p>
          <a:p>
            <a:pPr lvl="0"/>
            <a:r>
              <a:rPr lang="en-US" sz="1200" kern="1200" dirty="0">
                <a:solidFill>
                  <a:schemeClr val="tx1"/>
                </a:solidFill>
                <a:effectLst/>
                <a:latin typeface="+mn-lt"/>
                <a:ea typeface="+mn-ea"/>
                <a:cs typeface="+mn-cs"/>
              </a:rPr>
              <a:t>Slide 7 illustrates </a:t>
            </a:r>
            <a:r>
              <a:rPr lang="en-US" sz="1200" b="1" kern="1200" dirty="0">
                <a:solidFill>
                  <a:schemeClr val="tx1"/>
                </a:solidFill>
                <a:effectLst/>
                <a:latin typeface="+mn-lt"/>
                <a:ea typeface="+mn-ea"/>
                <a:cs typeface="+mn-cs"/>
              </a:rPr>
              <a:t>The War Council</a:t>
            </a:r>
            <a:r>
              <a:rPr lang="en-US" sz="1200" kern="1200" dirty="0">
                <a:solidFill>
                  <a:schemeClr val="tx1"/>
                </a:solidFill>
                <a:effectLst/>
                <a:latin typeface="+mn-lt"/>
                <a:ea typeface="+mn-ea"/>
                <a:cs typeface="+mn-cs"/>
              </a:rPr>
              <a:t>, a specialized 7-agent network: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3 Fixed Standing Members</a:t>
            </a:r>
            <a:r>
              <a:rPr lang="en-US" sz="1200" kern="1200" dirty="0">
                <a:solidFill>
                  <a:schemeClr val="tx1"/>
                </a:solidFill>
                <a:effectLst/>
                <a:latin typeface="+mn-lt"/>
                <a:ea typeface="+mn-ea"/>
                <a:cs typeface="+mn-cs"/>
              </a:rPr>
              <a:t>: Always present to evaluate decisions. These include the </a:t>
            </a:r>
            <a:r>
              <a:rPr lang="en-US" sz="1200" i="1" kern="1200" dirty="0">
                <a:solidFill>
                  <a:schemeClr val="tx1"/>
                </a:solidFill>
                <a:effectLst/>
                <a:latin typeface="+mn-lt"/>
                <a:ea typeface="+mn-ea"/>
                <a:cs typeface="+mn-cs"/>
              </a:rPr>
              <a:t>Ruthless CFO</a:t>
            </a:r>
            <a:r>
              <a:rPr lang="en-US" sz="1200" kern="1200" dirty="0">
                <a:solidFill>
                  <a:schemeClr val="tx1"/>
                </a:solidFill>
                <a:effectLst/>
                <a:latin typeface="+mn-lt"/>
                <a:ea typeface="+mn-ea"/>
                <a:cs typeface="+mn-cs"/>
              </a:rPr>
              <a:t> (focused strictly on capital efficiency and margins), the </a:t>
            </a:r>
            <a:r>
              <a:rPr lang="en-US" sz="1200" i="1" kern="1200" dirty="0">
                <a:solidFill>
                  <a:schemeClr val="tx1"/>
                </a:solidFill>
                <a:effectLst/>
                <a:latin typeface="+mn-lt"/>
                <a:ea typeface="+mn-ea"/>
                <a:cs typeface="+mn-cs"/>
              </a:rPr>
              <a:t>Wartime COO</a:t>
            </a:r>
            <a:r>
              <a:rPr lang="en-US" sz="1200" kern="1200" dirty="0">
                <a:solidFill>
                  <a:schemeClr val="tx1"/>
                </a:solidFill>
                <a:effectLst/>
                <a:latin typeface="+mn-lt"/>
                <a:ea typeface="+mn-ea"/>
                <a:cs typeface="+mn-cs"/>
              </a:rPr>
              <a:t> (focused on execution speed and operational friction), and the </a:t>
            </a:r>
            <a:r>
              <a:rPr lang="en-US" sz="1200" i="1" kern="1200" dirty="0">
                <a:solidFill>
                  <a:schemeClr val="tx1"/>
                </a:solidFill>
                <a:effectLst/>
                <a:latin typeface="+mn-lt"/>
                <a:ea typeface="+mn-ea"/>
                <a:cs typeface="+mn-cs"/>
              </a:rPr>
              <a:t>Contrarian Board Member</a:t>
            </a:r>
            <a:r>
              <a:rPr lang="en-US" sz="1200" kern="1200" dirty="0">
                <a:solidFill>
                  <a:schemeClr val="tx1"/>
                </a:solidFill>
                <a:effectLst/>
                <a:latin typeface="+mn-lt"/>
                <a:ea typeface="+mn-ea"/>
                <a:cs typeface="+mn-cs"/>
              </a:rPr>
              <a:t> (focused on market risk and blind spots).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4 Dynamically Generated Personas</a:t>
            </a:r>
            <a:r>
              <a:rPr lang="en-US" sz="1200" kern="1200" dirty="0">
                <a:solidFill>
                  <a:schemeClr val="tx1"/>
                </a:solidFill>
                <a:effectLst/>
                <a:latin typeface="+mn-lt"/>
                <a:ea typeface="+mn-ea"/>
                <a:cs typeface="+mn-cs"/>
              </a:rPr>
              <a:t>: Tailored automatically based on the specific problem prompt (e.g., domain specialists, legal risk officers, or customer advocates). </a:t>
            </a:r>
          </a:p>
          <a:p>
            <a:pPr lvl="0"/>
            <a:r>
              <a:rPr lang="en-US" sz="1200" kern="1200" dirty="0">
                <a:solidFill>
                  <a:schemeClr val="tx1"/>
                </a:solidFill>
                <a:effectLst/>
                <a:latin typeface="+mn-lt"/>
                <a:ea typeface="+mn-ea"/>
                <a:cs typeface="+mn-cs"/>
              </a:rPr>
              <a:t>By routing complex scenarios—such as executive hiring decisions—through this 7-agent council, the founder receives uninhibited, multi-perspective feedback that catches critical flaws before execution.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7</a:t>
            </a:fld>
            <a:endParaRPr lang="en-US"/>
          </a:p>
        </p:txBody>
      </p:sp>
    </p:spTree>
    <p:extLst>
      <p:ext uri="{BB962C8B-B14F-4D97-AF65-F5344CB8AC3E}">
        <p14:creationId xmlns:p14="http://schemas.microsoft.com/office/powerpoint/2010/main" val="1649179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major barrier to AI adoption among leadership is a misunderstanding of how modern coding and agentic tools operate. </a:t>
            </a:r>
          </a:p>
          <a:p>
            <a:pPr lvl="0"/>
            <a:r>
              <a:rPr lang="en-US" sz="1200" kern="1200" dirty="0">
                <a:solidFill>
                  <a:schemeClr val="tx1"/>
                </a:solidFill>
                <a:effectLst/>
                <a:latin typeface="+mn-lt"/>
                <a:ea typeface="+mn-ea"/>
                <a:cs typeface="+mn-cs"/>
              </a:rPr>
              <a:t>Many executives hold the </a:t>
            </a:r>
            <a:r>
              <a:rPr lang="en-US" sz="1200" b="1" kern="1200" dirty="0">
                <a:solidFill>
                  <a:schemeClr val="tx1"/>
                </a:solidFill>
                <a:effectLst/>
                <a:latin typeface="+mn-lt"/>
                <a:ea typeface="+mn-ea"/>
                <a:cs typeface="+mn-cs"/>
              </a:rPr>
              <a:t>False Assumption</a:t>
            </a:r>
            <a:r>
              <a:rPr lang="en-US" sz="1200" kern="1200" dirty="0">
                <a:solidFill>
                  <a:schemeClr val="tx1"/>
                </a:solidFill>
                <a:effectLst/>
                <a:latin typeface="+mn-lt"/>
                <a:ea typeface="+mn-ea"/>
                <a:cs typeface="+mn-cs"/>
              </a:rPr>
              <a:t> that tools like Cursor or Claude Code are simply "faster typewriters" for engineers to write syntax faster. </a:t>
            </a:r>
          </a:p>
          <a:p>
            <a:pPr lvl="0"/>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True Assumption</a:t>
            </a:r>
            <a:r>
              <a:rPr lang="en-US" sz="1200" kern="1200" dirty="0">
                <a:solidFill>
                  <a:schemeClr val="tx1"/>
                </a:solidFill>
                <a:effectLst/>
                <a:latin typeface="+mn-lt"/>
                <a:ea typeface="+mn-ea"/>
                <a:cs typeface="+mn-cs"/>
              </a:rPr>
              <a:t> is that these tools represent the actual engineer sitting in the seat. </a:t>
            </a:r>
          </a:p>
          <a:p>
            <a:pPr lvl="0"/>
            <a:r>
              <a:rPr lang="en-US" sz="1200" kern="1200" dirty="0">
                <a:solidFill>
                  <a:schemeClr val="tx1"/>
                </a:solidFill>
                <a:effectLst/>
                <a:latin typeface="+mn-lt"/>
                <a:ea typeface="+mn-ea"/>
                <a:cs typeface="+mn-cs"/>
              </a:rPr>
              <a:t>As Wade notes: </a:t>
            </a:r>
            <a:r>
              <a:rPr lang="en-US" sz="1200" i="1" kern="1200" dirty="0">
                <a:solidFill>
                  <a:schemeClr val="tx1"/>
                </a:solidFill>
                <a:effectLst/>
                <a:latin typeface="+mn-lt"/>
                <a:ea typeface="+mn-ea"/>
                <a:cs typeface="+mn-cs"/>
              </a:rPr>
              <a:t>"I don't really write code anymore. I hire Cursor to build it for me."</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For executives and non-technical managers, the mental model must shift: do not treat agentic environments as software you learn to operate manually. Treat them as capable employees to whom you delegate architecture, workflows, and implementation tasks.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8</a:t>
            </a:fld>
            <a:endParaRPr lang="en-US"/>
          </a:p>
        </p:txBody>
      </p:sp>
    </p:spTree>
    <p:extLst>
      <p:ext uri="{BB962C8B-B14F-4D97-AF65-F5344CB8AC3E}">
        <p14:creationId xmlns:p14="http://schemas.microsoft.com/office/powerpoint/2010/main" val="3198738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code generation becomes frictionless, software functionality is rapidly commoditizing. Slide 9 maps out how competitive moats in software have evolved over time: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2010s</a:t>
            </a:r>
            <a:r>
              <a:rPr lang="en-US" sz="1200" kern="1200" dirty="0">
                <a:solidFill>
                  <a:schemeClr val="tx1"/>
                </a:solidFill>
                <a:effectLst/>
                <a:latin typeface="+mn-lt"/>
                <a:ea typeface="+mn-ea"/>
                <a:cs typeface="+mn-cs"/>
              </a:rPr>
              <a:t>: Differentiation was driven primarily by </a:t>
            </a:r>
            <a:r>
              <a:rPr lang="en-US" sz="1200" b="1" kern="1200" dirty="0">
                <a:solidFill>
                  <a:schemeClr val="tx1"/>
                </a:solidFill>
                <a:effectLst/>
                <a:latin typeface="+mn-lt"/>
                <a:ea typeface="+mn-ea"/>
                <a:cs typeface="+mn-cs"/>
              </a:rPr>
              <a:t>Features &amp; Price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2020s</a:t>
            </a:r>
            <a:r>
              <a:rPr lang="en-US" sz="1200" kern="1200" dirty="0">
                <a:solidFill>
                  <a:schemeClr val="tx1"/>
                </a:solidFill>
                <a:effectLst/>
                <a:latin typeface="+mn-lt"/>
                <a:ea typeface="+mn-ea"/>
                <a:cs typeface="+mn-cs"/>
              </a:rPr>
              <a:t>: Differentiation shifted to </a:t>
            </a:r>
            <a:r>
              <a:rPr lang="en-US" sz="1200" b="1" kern="1200" dirty="0">
                <a:solidFill>
                  <a:schemeClr val="tx1"/>
                </a:solidFill>
                <a:effectLst/>
                <a:latin typeface="+mn-lt"/>
                <a:ea typeface="+mn-ea"/>
                <a:cs typeface="+mn-cs"/>
              </a:rPr>
              <a:t>Design &amp; UI/UX</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AI Era</a:t>
            </a:r>
            <a:r>
              <a:rPr lang="en-US" sz="1200" kern="1200" dirty="0">
                <a:solidFill>
                  <a:schemeClr val="tx1"/>
                </a:solidFill>
                <a:effectLst/>
                <a:latin typeface="+mn-lt"/>
                <a:ea typeface="+mn-ea"/>
                <a:cs typeface="+mn-cs"/>
              </a:rPr>
              <a:t>: The new competition axis is </a:t>
            </a:r>
            <a:r>
              <a:rPr lang="en-US" sz="1200" b="1" kern="1200" dirty="0">
                <a:solidFill>
                  <a:schemeClr val="tx1"/>
                </a:solidFill>
                <a:effectLst/>
                <a:latin typeface="+mn-lt"/>
                <a:ea typeface="+mn-ea"/>
                <a:cs typeface="+mn-cs"/>
              </a:rPr>
              <a:t>Personality and Vibe</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Just as consumers choose between Nike and Adidas based on brand identity rather than basic shoe mechanics, users will select AI models and agents based on relational vibe. </a:t>
            </a:r>
          </a:p>
          <a:p>
            <a:pPr lvl="0"/>
            <a:r>
              <a:rPr lang="en-US" sz="1200" kern="1200" dirty="0">
                <a:solidFill>
                  <a:schemeClr val="tx1"/>
                </a:solidFill>
                <a:effectLst/>
                <a:latin typeface="+mn-lt"/>
                <a:ea typeface="+mn-ea"/>
                <a:cs typeface="+mn-cs"/>
              </a:rPr>
              <a:t>For instance, Wade uses </a:t>
            </a:r>
            <a:r>
              <a:rPr lang="en-US" sz="1200" b="1" kern="1200" dirty="0">
                <a:solidFill>
                  <a:schemeClr val="tx1"/>
                </a:solidFill>
                <a:effectLst/>
                <a:latin typeface="+mn-lt"/>
                <a:ea typeface="+mn-ea"/>
                <a:cs typeface="+mn-cs"/>
              </a:rPr>
              <a:t>Fable</a:t>
            </a:r>
            <a:r>
              <a:rPr lang="en-US" sz="1200" kern="1200" dirty="0">
                <a:solidFill>
                  <a:schemeClr val="tx1"/>
                </a:solidFill>
                <a:effectLst/>
                <a:latin typeface="+mn-lt"/>
                <a:ea typeface="+mn-ea"/>
                <a:cs typeface="+mn-cs"/>
              </a:rPr>
              <a:t> for complex technical tasks because it is brilliant, though stiff. Meanwhile, he uses </a:t>
            </a:r>
            <a:r>
              <a:rPr lang="en-US" sz="1200" b="1" kern="1200" dirty="0">
                <a:solidFill>
                  <a:schemeClr val="tx1"/>
                </a:solidFill>
                <a:effectLst/>
                <a:latin typeface="+mn-lt"/>
                <a:ea typeface="+mn-ea"/>
                <a:cs typeface="+mn-cs"/>
              </a:rPr>
              <a:t>Claude</a:t>
            </a:r>
            <a:r>
              <a:rPr lang="en-US" sz="1200" kern="1200" dirty="0">
                <a:solidFill>
                  <a:schemeClr val="tx1"/>
                </a:solidFill>
                <a:effectLst/>
                <a:latin typeface="+mn-lt"/>
                <a:ea typeface="+mn-ea"/>
                <a:cs typeface="+mn-cs"/>
              </a:rPr>
              <a:t> for strategic brainstorming because it feels like a "good hang"—an engaging, highly conversational partner.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9</a:t>
            </a:fld>
            <a:endParaRPr lang="en-US"/>
          </a:p>
        </p:txBody>
      </p:sp>
    </p:spTree>
    <p:extLst>
      <p:ext uri="{BB962C8B-B14F-4D97-AF65-F5344CB8AC3E}">
        <p14:creationId xmlns:p14="http://schemas.microsoft.com/office/powerpoint/2010/main" val="4080312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Hiring high-level executive talent is inherently fraught with interpersonal friction and human ego. </a:t>
            </a:r>
          </a:p>
          <a:p>
            <a:pPr lvl="0"/>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Pre-AI era</a:t>
            </a:r>
            <a:r>
              <a:rPr lang="en-US" sz="1200" kern="1200" dirty="0">
                <a:solidFill>
                  <a:schemeClr val="tx1"/>
                </a:solidFill>
                <a:effectLst/>
                <a:latin typeface="+mn-lt"/>
                <a:ea typeface="+mn-ea"/>
                <a:cs typeface="+mn-cs"/>
              </a:rPr>
              <a:t>, hiring relied heavily on the CEO's "smell test"—gut instincts refined over thousands of interviews. When a CEO expressed doubts without clear articulation, hiring managers became defensive, arguing over ego-driven questions like </a:t>
            </a:r>
            <a:r>
              <a:rPr lang="en-US" sz="1200" i="1" kern="1200" dirty="0">
                <a:solidFill>
                  <a:schemeClr val="tx1"/>
                </a:solidFill>
                <a:effectLst/>
                <a:latin typeface="+mn-lt"/>
                <a:ea typeface="+mn-ea"/>
                <a:cs typeface="+mn-cs"/>
              </a:rPr>
              <a:t>"Does Wade like them or not?"</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In the </a:t>
            </a:r>
            <a:r>
              <a:rPr lang="en-US" sz="1200" b="1" kern="1200" dirty="0">
                <a:solidFill>
                  <a:schemeClr val="tx1"/>
                </a:solidFill>
                <a:effectLst/>
                <a:latin typeface="+mn-lt"/>
                <a:ea typeface="+mn-ea"/>
                <a:cs typeface="+mn-cs"/>
              </a:rPr>
              <a:t>Post-AI era</a:t>
            </a:r>
            <a:r>
              <a:rPr lang="en-US" sz="1200" kern="1200" dirty="0">
                <a:solidFill>
                  <a:schemeClr val="tx1"/>
                </a:solidFill>
                <a:effectLst/>
                <a:latin typeface="+mn-lt"/>
                <a:ea typeface="+mn-ea"/>
                <a:cs typeface="+mn-cs"/>
              </a:rPr>
              <a:t>, the War Council agent analyzes full interview transcripts against historical high-performer data. The AI objectively highlights missed candidate evaluations or unexamined risk areas. </a:t>
            </a:r>
          </a:p>
          <a:p>
            <a:pPr lvl="0"/>
            <a:r>
              <a:rPr lang="en-US" sz="1200" kern="1200" dirty="0">
                <a:solidFill>
                  <a:schemeClr val="tx1"/>
                </a:solidFill>
                <a:effectLst/>
                <a:latin typeface="+mn-lt"/>
                <a:ea typeface="+mn-ea"/>
                <a:cs typeface="+mn-cs"/>
              </a:rPr>
              <a:t>Inserting an objective AI into the loop shifts team dynamics. Managers no longer argue against the CEO's personal authority; instead, they engage with the AI's logical points, offering missing context where necessary. Ego is removed, leading to healthier and more precise talent decisions.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10</a:t>
            </a:fld>
            <a:endParaRPr lang="en-US"/>
          </a:p>
        </p:txBody>
      </p:sp>
    </p:spTree>
    <p:extLst>
      <p:ext uri="{BB962C8B-B14F-4D97-AF65-F5344CB8AC3E}">
        <p14:creationId xmlns:p14="http://schemas.microsoft.com/office/powerpoint/2010/main" val="3229453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scale talent effectively without bureaucratic bloat, we must avoid the anti-pattern of over-assessing. </a:t>
            </a:r>
          </a:p>
          <a:p>
            <a:pPr lvl="0"/>
            <a:r>
              <a:rPr lang="en-US" sz="1200" kern="1200" dirty="0">
                <a:solidFill>
                  <a:schemeClr val="tx1"/>
                </a:solidFill>
                <a:effectLst/>
                <a:latin typeface="+mn-lt"/>
                <a:ea typeface="+mn-ea"/>
                <a:cs typeface="+mn-cs"/>
              </a:rPr>
              <a:t>Many organizations stack multiple diagnostic tools—Myers-Briggs tests, Culture Amp surveys, and 10-round interview panels. As Sean Puri notes in the episode, this mirrors self-driving cars loaded with too many conflicting radar and lidar sensors: it creates data noise and leads to faulty decisions. </a:t>
            </a:r>
          </a:p>
          <a:p>
            <a:pPr lvl="0"/>
            <a:r>
              <a:rPr lang="en-US" sz="1200" kern="1200" dirty="0">
                <a:solidFill>
                  <a:schemeClr val="tx1"/>
                </a:solidFill>
                <a:effectLst/>
                <a:latin typeface="+mn-lt"/>
                <a:ea typeface="+mn-ea"/>
                <a:cs typeface="+mn-cs"/>
              </a:rPr>
              <a:t>Instead, we adopt the </a:t>
            </a:r>
            <a:r>
              <a:rPr lang="en-US" sz="1200" b="1" kern="1200" dirty="0">
                <a:solidFill>
                  <a:schemeClr val="tx1"/>
                </a:solidFill>
                <a:effectLst/>
                <a:latin typeface="+mn-lt"/>
                <a:ea typeface="+mn-ea"/>
                <a:cs typeface="+mn-cs"/>
              </a:rPr>
              <a:t>Minimum Sensor Approach</a:t>
            </a:r>
            <a:r>
              <a:rPr lang="en-US" sz="1200" kern="1200" dirty="0">
                <a:solidFill>
                  <a:schemeClr val="tx1"/>
                </a:solidFill>
                <a:effectLst/>
                <a:latin typeface="+mn-lt"/>
                <a:ea typeface="+mn-ea"/>
                <a:cs typeface="+mn-cs"/>
              </a:rPr>
              <a:t>—focusing on two core metrics: </a:t>
            </a:r>
          </a:p>
          <a:p>
            <a:pPr marL="228600" lvl="0" indent="-228600">
              <a:buFont typeface="+mj-lt"/>
              <a:buAutoNum type="arabicPeriod"/>
            </a:pPr>
            <a:r>
              <a:rPr lang="en-US" sz="1200" b="1" kern="1200" dirty="0">
                <a:solidFill>
                  <a:schemeClr val="tx1"/>
                </a:solidFill>
                <a:effectLst/>
                <a:latin typeface="+mn-lt"/>
                <a:ea typeface="+mn-ea"/>
                <a:cs typeface="+mn-cs"/>
              </a:rPr>
              <a:t>Evidence of Exceptional Ability</a:t>
            </a:r>
            <a:r>
              <a:rPr lang="en-US" sz="1200" kern="1200" dirty="0">
                <a:solidFill>
                  <a:schemeClr val="tx1"/>
                </a:solidFill>
                <a:effectLst/>
                <a:latin typeface="+mn-lt"/>
                <a:ea typeface="+mn-ea"/>
                <a:cs typeface="+mn-cs"/>
              </a:rPr>
              <a:t>: Has this candidate achieved truly extraordinary, verifiable results in their past work? </a:t>
            </a:r>
          </a:p>
          <a:p>
            <a:pPr marL="228600" lvl="0" indent="-228600">
              <a:buFont typeface="+mj-lt"/>
              <a:buAutoNum type="arabicPeriod"/>
            </a:pPr>
            <a:r>
              <a:rPr lang="en-US" sz="1200" b="1" kern="1200" dirty="0">
                <a:solidFill>
                  <a:schemeClr val="tx1"/>
                </a:solidFill>
                <a:effectLst/>
                <a:latin typeface="+mn-lt"/>
                <a:ea typeface="+mn-ea"/>
                <a:cs typeface="+mn-cs"/>
              </a:rPr>
              <a:t>Creative Chemistry</a:t>
            </a:r>
            <a:r>
              <a:rPr lang="en-US" sz="1200" kern="1200" dirty="0">
                <a:solidFill>
                  <a:schemeClr val="tx1"/>
                </a:solidFill>
                <a:effectLst/>
                <a:latin typeface="+mn-lt"/>
                <a:ea typeface="+mn-ea"/>
                <a:cs typeface="+mn-cs"/>
              </a:rPr>
              <a:t>: Is this person an engaging, additive collaborator when solving complex problems live in a room? </a:t>
            </a:r>
          </a:p>
          <a:p>
            <a:pPr lvl="0"/>
            <a:r>
              <a:rPr lang="en-US" sz="1200" kern="1200" dirty="0">
                <a:solidFill>
                  <a:schemeClr val="tx1"/>
                </a:solidFill>
                <a:effectLst/>
                <a:latin typeface="+mn-lt"/>
                <a:ea typeface="+mn-ea"/>
                <a:cs typeface="+mn-cs"/>
              </a:rPr>
              <a:t>By training AI sensors strictly around these two dimensions, organizations streamline talent acquisition and raise the bar consistently.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11</a:t>
            </a:fld>
            <a:endParaRPr lang="en-US"/>
          </a:p>
        </p:txBody>
      </p:sp>
    </p:spTree>
    <p:extLst>
      <p:ext uri="{BB962C8B-B14F-4D97-AF65-F5344CB8AC3E}">
        <p14:creationId xmlns:p14="http://schemas.microsoft.com/office/powerpoint/2010/main" val="17559512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 common tech narrative suggests that AI agents will soon replace human organizations entirely. However, Slide 12 highlights two critical boundary conditions: </a:t>
            </a:r>
          </a:p>
          <a:p>
            <a:pPr lvl="0"/>
            <a:r>
              <a:rPr lang="en-US" sz="1200" b="1" kern="1200" dirty="0">
                <a:solidFill>
                  <a:schemeClr val="tx1"/>
                </a:solidFill>
                <a:effectLst/>
                <a:latin typeface="+mn-lt"/>
                <a:ea typeface="+mn-ea"/>
                <a:cs typeface="+mn-cs"/>
              </a:rPr>
              <a:t>1. Cognitive Limits in Management</a:t>
            </a:r>
            <a:r>
              <a:rPr lang="en-US" sz="1200" kern="1200" dirty="0">
                <a:solidFill>
                  <a:schemeClr val="tx1"/>
                </a:solidFill>
                <a:effectLst/>
                <a:latin typeface="+mn-lt"/>
                <a:ea typeface="+mn-ea"/>
                <a:cs typeface="+mn-cs"/>
              </a:rPr>
              <a:t>: Just as a human manager typically maxes out at managing 8 to 12 human direct reports, an operator cognitively maxes out at actively managing roughly 20 AI agents. Agents generate task streams, edge-case exceptions, and decisions that require human oversight, creating a natural cognitive ceiling. </a:t>
            </a:r>
          </a:p>
          <a:p>
            <a:pPr lvl="0"/>
            <a:r>
              <a:rPr lang="en-US" sz="1200" b="1" kern="1200" dirty="0">
                <a:solidFill>
                  <a:schemeClr val="tx1"/>
                </a:solidFill>
                <a:effectLst/>
                <a:latin typeface="+mn-lt"/>
                <a:ea typeface="+mn-ea"/>
                <a:cs typeface="+mn-cs"/>
              </a:rPr>
              <a:t>2. The Human Edge in High-Stakes Business</a:t>
            </a:r>
            <a:r>
              <a:rPr lang="en-US" sz="1200" kern="1200" dirty="0">
                <a:solidFill>
                  <a:schemeClr val="tx1"/>
                </a:solidFill>
                <a:effectLst/>
                <a:latin typeface="+mn-lt"/>
                <a:ea typeface="+mn-ea"/>
                <a:cs typeface="+mn-cs"/>
              </a:rPr>
              <a:t>: In enterprise sales and strategic partnerships, buyers ultimately build trust with people, not automated bots. </a:t>
            </a:r>
          </a:p>
          <a:p>
            <a:pPr lvl="0"/>
            <a:r>
              <a:rPr lang="en-US" sz="1200" kern="1200" dirty="0">
                <a:solidFill>
                  <a:schemeClr val="tx1"/>
                </a:solidFill>
                <a:effectLst/>
                <a:latin typeface="+mn-lt"/>
                <a:ea typeface="+mn-ea"/>
                <a:cs typeface="+mn-cs"/>
              </a:rPr>
              <a:t>The goal is not to build a enterprise devoid of people, but to deploy small, agile human teams who use agent fleets to multiply their operational leverage.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12</a:t>
            </a:fld>
            <a:endParaRPr lang="en-US"/>
          </a:p>
        </p:txBody>
      </p:sp>
    </p:spTree>
    <p:extLst>
      <p:ext uri="{BB962C8B-B14F-4D97-AF65-F5344CB8AC3E}">
        <p14:creationId xmlns:p14="http://schemas.microsoft.com/office/powerpoint/2010/main" val="17982772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Beyond mechanics and workflows, sustainable executive performance requires foundational psychological alignment. </a:t>
            </a:r>
          </a:p>
          <a:p>
            <a:pPr lvl="0"/>
            <a:r>
              <a:rPr lang="en-US" sz="1200" kern="1200" dirty="0">
                <a:solidFill>
                  <a:schemeClr val="tx1"/>
                </a:solidFill>
                <a:effectLst/>
                <a:latin typeface="+mn-lt"/>
                <a:ea typeface="+mn-ea"/>
                <a:cs typeface="+mn-cs"/>
              </a:rPr>
              <a:t>Drawing from </a:t>
            </a:r>
            <a:r>
              <a:rPr lang="en-US" sz="1200" kern="1200" dirty="0" err="1">
                <a:solidFill>
                  <a:schemeClr val="tx1"/>
                </a:solidFill>
                <a:effectLst/>
                <a:latin typeface="+mn-lt"/>
                <a:ea typeface="+mn-ea"/>
                <a:cs typeface="+mn-cs"/>
              </a:rPr>
              <a:t>Taiwán's</a:t>
            </a:r>
            <a:r>
              <a:rPr lang="en-US" sz="1200" kern="1200" dirty="0">
                <a:solidFill>
                  <a:schemeClr val="tx1"/>
                </a:solidFill>
                <a:effectLst/>
                <a:latin typeface="+mn-lt"/>
                <a:ea typeface="+mn-ea"/>
                <a:cs typeface="+mn-cs"/>
              </a:rPr>
              <a:t> book </a:t>
            </a:r>
            <a:r>
              <a:rPr lang="en-US" sz="1200" i="1" kern="1200" dirty="0">
                <a:solidFill>
                  <a:schemeClr val="tx1"/>
                </a:solidFill>
                <a:effectLst/>
                <a:latin typeface="+mn-lt"/>
                <a:ea typeface="+mn-ea"/>
                <a:cs typeface="+mn-cs"/>
              </a:rPr>
              <a:t>The Score</a:t>
            </a:r>
            <a:r>
              <a:rPr lang="en-US" sz="1200" kern="1200" dirty="0">
                <a:solidFill>
                  <a:schemeClr val="tx1"/>
                </a:solidFill>
                <a:effectLst/>
                <a:latin typeface="+mn-lt"/>
                <a:ea typeface="+mn-ea"/>
                <a:cs typeface="+mn-cs"/>
              </a:rPr>
              <a:t>, Slide 13 contrasts two mindsets: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Outcome-Based Play (A)</a:t>
            </a:r>
            <a:r>
              <a:rPr lang="en-US" sz="1200" kern="1200" dirty="0">
                <a:solidFill>
                  <a:schemeClr val="tx1"/>
                </a:solidFill>
                <a:effectLst/>
                <a:latin typeface="+mn-lt"/>
                <a:ea typeface="+mn-ea"/>
                <a:cs typeface="+mn-cs"/>
              </a:rPr>
              <a:t>: Chasing arbitrary social leaderboards—such as paper valuations, media recognition, or vanity metrics. This cycle often leads to burnout and dissatisfaction because the goalposts move constantly.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Striving Play (B)</a:t>
            </a:r>
            <a:r>
              <a:rPr lang="en-US" sz="1200" kern="1200" dirty="0">
                <a:solidFill>
                  <a:schemeClr val="tx1"/>
                </a:solidFill>
                <a:effectLst/>
                <a:latin typeface="+mn-lt"/>
                <a:ea typeface="+mn-ea"/>
                <a:cs typeface="+mn-cs"/>
              </a:rPr>
              <a:t>: Playing for the intrinsic joy of the craft itself—whether building great software or mastering a discipline. </a:t>
            </a:r>
          </a:p>
          <a:p>
            <a:pPr lvl="0"/>
            <a:r>
              <a:rPr lang="en-US" sz="1200" kern="1200" dirty="0">
                <a:solidFill>
                  <a:schemeClr val="tx1"/>
                </a:solidFill>
                <a:effectLst/>
                <a:latin typeface="+mn-lt"/>
                <a:ea typeface="+mn-ea"/>
                <a:cs typeface="+mn-cs"/>
              </a:rPr>
              <a:t>As highlighted on the slide: </a:t>
            </a:r>
            <a:r>
              <a:rPr lang="en-US" sz="1200" i="1" kern="1200" dirty="0">
                <a:solidFill>
                  <a:schemeClr val="tx1"/>
                </a:solidFill>
                <a:effectLst/>
                <a:latin typeface="+mn-lt"/>
                <a:ea typeface="+mn-ea"/>
                <a:cs typeface="+mn-cs"/>
              </a:rPr>
              <a:t>The games you choose dictate your goals, your daily behavior, and who you become.</a:t>
            </a:r>
            <a:r>
              <a:rPr lang="en-US" sz="1200" kern="1200" dirty="0">
                <a:solidFill>
                  <a:schemeClr val="tx1"/>
                </a:solidFill>
                <a:effectLst/>
                <a:latin typeface="+mn-lt"/>
                <a:ea typeface="+mn-ea"/>
                <a:cs typeface="+mn-cs"/>
              </a:rPr>
              <a:t> Leaders must define their own terms for winning; otherwise, they default to external societal metrics.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13</a:t>
            </a:fld>
            <a:endParaRPr lang="en-US"/>
          </a:p>
        </p:txBody>
      </p:sp>
    </p:spTree>
    <p:extLst>
      <p:ext uri="{BB962C8B-B14F-4D97-AF65-F5344CB8AC3E}">
        <p14:creationId xmlns:p14="http://schemas.microsoft.com/office/powerpoint/2010/main" val="2756435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During the interview, Wade shared a story about his grandfather that highlights what true wealth looks like. </a:t>
            </a:r>
          </a:p>
          <a:p>
            <a:pPr lvl="0"/>
            <a:r>
              <a:rPr lang="en-US" sz="1200" kern="1200" dirty="0">
                <a:solidFill>
                  <a:schemeClr val="tx1"/>
                </a:solidFill>
                <a:effectLst/>
                <a:latin typeface="+mn-lt"/>
                <a:ea typeface="+mn-ea"/>
                <a:cs typeface="+mn-cs"/>
              </a:rPr>
              <a:t>His grandfather was a World War II veteran who lived independently until age 98. Every day, he walked 3 miles and completed the </a:t>
            </a:r>
            <a:r>
              <a:rPr lang="en-US" sz="1200" i="1" kern="1200" dirty="0">
                <a:solidFill>
                  <a:schemeClr val="tx1"/>
                </a:solidFill>
                <a:effectLst/>
                <a:latin typeface="+mn-lt"/>
                <a:ea typeface="+mn-ea"/>
                <a:cs typeface="+mn-cs"/>
              </a:rPr>
              <a:t>New York Times</a:t>
            </a:r>
            <a:r>
              <a:rPr lang="en-US" sz="1200" kern="1200" dirty="0">
                <a:solidFill>
                  <a:schemeClr val="tx1"/>
                </a:solidFill>
                <a:effectLst/>
                <a:latin typeface="+mn-lt"/>
                <a:ea typeface="+mn-ea"/>
                <a:cs typeface="+mn-cs"/>
              </a:rPr>
              <a:t> crossword puzzle in pen. At his passing, his funeral saw a 3-hour receiving line of former students, state troopers, and community members paying respect. </a:t>
            </a:r>
          </a:p>
          <a:p>
            <a:pPr lvl="0"/>
            <a:r>
              <a:rPr lang="en-US" sz="1200" kern="1200" dirty="0">
                <a:solidFill>
                  <a:schemeClr val="tx1"/>
                </a:solidFill>
                <a:effectLst/>
                <a:latin typeface="+mn-lt"/>
                <a:ea typeface="+mn-ea"/>
                <a:cs typeface="+mn-cs"/>
              </a:rPr>
              <a:t>Wade summarized his legacy in a single sentence: </a:t>
            </a:r>
            <a:r>
              <a:rPr lang="en-US" sz="1200" i="1" kern="1200" dirty="0">
                <a:solidFill>
                  <a:schemeClr val="tx1"/>
                </a:solidFill>
                <a:effectLst/>
                <a:latin typeface="+mn-lt"/>
                <a:ea typeface="+mn-ea"/>
                <a:cs typeface="+mn-cs"/>
              </a:rPr>
              <a:t>"He didn't have it all, but he didn't need it all."</a:t>
            </a:r>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As co-host Sean Puri noted, true wealth is defined by what you do not need. If you do not rely on external approval, status symbols, or arbitrary leaderboards, you achieve true executive freedom.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14</a:t>
            </a:fld>
            <a:endParaRPr lang="en-US"/>
          </a:p>
        </p:txBody>
      </p:sp>
    </p:spTree>
    <p:extLst>
      <p:ext uri="{BB962C8B-B14F-4D97-AF65-F5344CB8AC3E}">
        <p14:creationId xmlns:p14="http://schemas.microsoft.com/office/powerpoint/2010/main" val="703396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Slide 15 synthesizes the key insights of the entire presentation into an actionable 3-part framework: </a:t>
            </a:r>
          </a:p>
          <a:p>
            <a:pPr marL="228600" lvl="0" indent="-228600">
              <a:buFont typeface="+mj-lt"/>
              <a:buAutoNum type="arabicPeriod"/>
            </a:pPr>
            <a:r>
              <a:rPr lang="en-US" sz="1200" b="1" kern="1200" dirty="0">
                <a:solidFill>
                  <a:schemeClr val="tx1"/>
                </a:solidFill>
                <a:effectLst/>
                <a:latin typeface="+mn-lt"/>
                <a:ea typeface="+mn-ea"/>
                <a:cs typeface="+mn-cs"/>
              </a:rPr>
              <a:t>Automate the Mechanics</a:t>
            </a:r>
            <a:r>
              <a:rPr lang="en-US" sz="1200" kern="1200" dirty="0">
                <a:solidFill>
                  <a:schemeClr val="tx1"/>
                </a:solidFill>
                <a:effectLst/>
                <a:latin typeface="+mn-lt"/>
                <a:ea typeface="+mn-ea"/>
                <a:cs typeface="+mn-cs"/>
              </a:rPr>
              <a:t>: Use deterministic software rails (Zapier) to run background business workflows reliably while you sleep. </a:t>
            </a:r>
          </a:p>
          <a:p>
            <a:pPr marL="228600" lvl="0" indent="-228600">
              <a:buFont typeface="+mj-lt"/>
              <a:buAutoNum type="arabicPeriod"/>
            </a:pPr>
            <a:r>
              <a:rPr lang="en-US" sz="1200" b="1" kern="1200" dirty="0">
                <a:solidFill>
                  <a:schemeClr val="tx1"/>
                </a:solidFill>
                <a:effectLst/>
                <a:latin typeface="+mn-lt"/>
                <a:ea typeface="+mn-ea"/>
                <a:cs typeface="+mn-cs"/>
              </a:rPr>
              <a:t>Challenge the Mind</a:t>
            </a:r>
            <a:r>
              <a:rPr lang="en-US" sz="1200" kern="1200" dirty="0">
                <a:solidFill>
                  <a:schemeClr val="tx1"/>
                </a:solidFill>
                <a:effectLst/>
                <a:latin typeface="+mn-lt"/>
                <a:ea typeface="+mn-ea"/>
                <a:cs typeface="+mn-cs"/>
              </a:rPr>
              <a:t>: Deploy agentic AI networks (The War Council and custom system prompts) to break echo chambers, stress-test strategy, and eliminate human ego from executive decisions. </a:t>
            </a:r>
          </a:p>
          <a:p>
            <a:pPr marL="228600" lvl="0" indent="-228600">
              <a:buFont typeface="+mj-lt"/>
              <a:buAutoNum type="arabicPeriod"/>
            </a:pPr>
            <a:r>
              <a:rPr lang="en-US" sz="1200" b="1" kern="1200" dirty="0">
                <a:solidFill>
                  <a:schemeClr val="tx1"/>
                </a:solidFill>
                <a:effectLst/>
                <a:latin typeface="+mn-lt"/>
                <a:ea typeface="+mn-ea"/>
                <a:cs typeface="+mn-cs"/>
              </a:rPr>
              <a:t>Protect the Soul</a:t>
            </a:r>
            <a:r>
              <a:rPr lang="en-US" sz="1200" kern="1200" dirty="0">
                <a:solidFill>
                  <a:schemeClr val="tx1"/>
                </a:solidFill>
                <a:effectLst/>
                <a:latin typeface="+mn-lt"/>
                <a:ea typeface="+mn-ea"/>
                <a:cs typeface="+mn-cs"/>
              </a:rPr>
              <a:t>: Turn off the automated systems to engage in striving games, build deep personal relationships, and define your own long-term metrics for a successful life. </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15</a:t>
            </a:fld>
            <a:endParaRPr lang="en-US"/>
          </a:p>
        </p:txBody>
      </p:sp>
    </p:spTree>
    <p:extLst>
      <p:ext uri="{BB962C8B-B14F-4D97-AF65-F5344CB8AC3E}">
        <p14:creationId xmlns:p14="http://schemas.microsoft.com/office/powerpoint/2010/main" val="520874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conclude our presentation, Slide 16 maps out the entire executive command system on a single page: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"Robot Staff"</a:t>
            </a:r>
            <a:r>
              <a:rPr lang="en-US" sz="1200" kern="1200" dirty="0">
                <a:solidFill>
                  <a:schemeClr val="tx1"/>
                </a:solidFill>
                <a:effectLst/>
                <a:latin typeface="+mn-lt"/>
                <a:ea typeface="+mn-ea"/>
                <a:cs typeface="+mn-cs"/>
              </a:rPr>
              <a:t>: Saves over 2 hours of daily administrative work by automating meeting summaries, inbox grooming, and follow-ups.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"Presidential" Morning Briefing</a:t>
            </a:r>
            <a:r>
              <a:rPr lang="en-US" sz="1200" kern="1200" dirty="0">
                <a:solidFill>
                  <a:schemeClr val="tx1"/>
                </a:solidFill>
                <a:effectLst/>
                <a:latin typeface="+mn-lt"/>
                <a:ea typeface="+mn-ea"/>
                <a:cs typeface="+mn-cs"/>
              </a:rPr>
              <a:t>: Delivers aggregated calendar events and daily focus summaries at 6:00 AM.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Strategic AI War Council</a:t>
            </a:r>
            <a:r>
              <a:rPr lang="en-US" sz="1200" kern="1200" dirty="0">
                <a:solidFill>
                  <a:schemeClr val="tx1"/>
                </a:solidFill>
                <a:effectLst/>
                <a:latin typeface="+mn-lt"/>
                <a:ea typeface="+mn-ea"/>
                <a:cs typeface="+mn-cs"/>
              </a:rPr>
              <a:t>: Employs sub-agent personas like the </a:t>
            </a:r>
            <a:r>
              <a:rPr lang="en-US" sz="1200" i="1" kern="1200" dirty="0">
                <a:solidFill>
                  <a:schemeClr val="tx1"/>
                </a:solidFill>
                <a:effectLst/>
                <a:latin typeface="+mn-lt"/>
                <a:ea typeface="+mn-ea"/>
                <a:cs typeface="+mn-cs"/>
              </a:rPr>
              <a:t>Ruthless CFO</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Contrarian Board Member</a:t>
            </a:r>
            <a:r>
              <a:rPr lang="en-US" sz="1200" kern="1200" dirty="0">
                <a:solidFill>
                  <a:schemeClr val="tx1"/>
                </a:solidFill>
                <a:effectLst/>
                <a:latin typeface="+mn-lt"/>
                <a:ea typeface="+mn-ea"/>
                <a:cs typeface="+mn-cs"/>
              </a:rPr>
              <a:t> to scrutinize strategic bets.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Deterministic Automation</a:t>
            </a:r>
            <a:r>
              <a:rPr lang="en-US" sz="1200" kern="1200" dirty="0">
                <a:solidFill>
                  <a:schemeClr val="tx1"/>
                </a:solidFill>
                <a:effectLst/>
                <a:latin typeface="+mn-lt"/>
                <a:ea typeface="+mn-ea"/>
                <a:cs typeface="+mn-cs"/>
              </a:rPr>
              <a:t>: Leverages AI for reasoning while relying on code-based platforms for cost-effective execution.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Objective Bar-Raiser</a:t>
            </a:r>
            <a:r>
              <a:rPr lang="en-US" sz="1200" kern="1200" dirty="0">
                <a:solidFill>
                  <a:schemeClr val="tx1"/>
                </a:solidFill>
                <a:effectLst/>
                <a:latin typeface="+mn-lt"/>
                <a:ea typeface="+mn-ea"/>
                <a:cs typeface="+mn-cs"/>
              </a:rPr>
              <a:t>: Uses transcript analysis in hiring loops to reduce interpersonal friction and maintain talent standards. </a:t>
            </a:r>
          </a:p>
          <a:p>
            <a:pPr lvl="0"/>
            <a:r>
              <a:rPr lang="en-US" sz="1200" kern="1200" dirty="0">
                <a:solidFill>
                  <a:schemeClr val="tx1"/>
                </a:solidFill>
                <a:effectLst/>
                <a:latin typeface="+mn-lt"/>
                <a:ea typeface="+mn-ea"/>
                <a:cs typeface="+mn-cs"/>
              </a:rPr>
              <a:t>By integrating these frameworks, modern leaders can multiply their operational output while maintaining strategic clarity and personal well-being. Thank you.</a:t>
            </a:r>
          </a:p>
          <a:p>
            <a:endParaRPr lang="en-US" dirty="0"/>
          </a:p>
        </p:txBody>
      </p:sp>
      <p:sp>
        <p:nvSpPr>
          <p:cNvPr id="4" name="Slide Number Placeholder 3"/>
          <p:cNvSpPr>
            <a:spLocks noGrp="1"/>
          </p:cNvSpPr>
          <p:nvPr>
            <p:ph type="sldNum" sz="quarter" idx="5"/>
          </p:nvPr>
        </p:nvSpPr>
        <p:spPr/>
        <p:txBody>
          <a:bodyPr/>
          <a:lstStyle/>
          <a:p>
            <a:fld id="{44CCA572-EECA-4CD6-8C28-543999C0FD16}" type="slidenum">
              <a:rPr lang="en-US" smtClean="0"/>
              <a:t>16</a:t>
            </a:fld>
            <a:endParaRPr lang="en-US"/>
          </a:p>
        </p:txBody>
      </p:sp>
    </p:spTree>
    <p:extLst>
      <p:ext uri="{BB962C8B-B14F-4D97-AF65-F5344CB8AC3E}">
        <p14:creationId xmlns:p14="http://schemas.microsoft.com/office/powerpoint/2010/main" val="23287320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1B39024-68DA-9DE6-B1E9-6FE7EA6554B6}"/>
              </a:ext>
            </a:extLst>
          </p:cNvPr>
          <p:cNvSpPr>
            <a:spLocks noGrp="1"/>
          </p:cNvSpPr>
          <p:nvPr>
            <p:ph type="dt" sz="half" idx="10"/>
          </p:nvPr>
        </p:nvSpPr>
        <p:spPr/>
        <p:txBody>
          <a:bodyPr/>
          <a:lstStyle/>
          <a:p>
            <a:fld id="{A20C85E8-A2A8-4A2F-BA28-AAC2A0F3709F}" type="datetimeFigureOut">
              <a:rPr lang="en-US" smtClean="0"/>
              <a:t>10/19/2026</a:t>
            </a:fld>
            <a:endParaRPr lang="en-US"/>
          </a:p>
        </p:txBody>
      </p:sp>
      <p:sp>
        <p:nvSpPr>
          <p:cNvPr id="3" name="Footer Placeholder 2">
            <a:extLst>
              <a:ext uri="{FF2B5EF4-FFF2-40B4-BE49-F238E27FC236}">
                <a16:creationId xmlns:a16="http://schemas.microsoft.com/office/drawing/2014/main" id="{56F04034-0584-3538-31E8-4A38E4044C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F0616F3-72C1-28AF-4092-3CD6ABA9F70A}"/>
              </a:ext>
            </a:extLst>
          </p:cNvPr>
          <p:cNvSpPr>
            <a:spLocks noGrp="1"/>
          </p:cNvSpPr>
          <p:nvPr>
            <p:ph type="sldNum" sz="quarter" idx="12"/>
          </p:nvPr>
        </p:nvSpPr>
        <p:spPr/>
        <p:txBody>
          <a:bodyPr/>
          <a:lstStyle/>
          <a:p>
            <a:fld id="{31E63B39-999C-44EA-85F7-B73609006B61}" type="slidenum">
              <a:rPr lang="en-US" smtClean="0"/>
              <a:t>‹#›</a:t>
            </a:fld>
            <a:endParaRPr lang="en-US"/>
          </a:p>
        </p:txBody>
      </p:sp>
    </p:spTree>
    <p:extLst>
      <p:ext uri="{BB962C8B-B14F-4D97-AF65-F5344CB8AC3E}">
        <p14:creationId xmlns:p14="http://schemas.microsoft.com/office/powerpoint/2010/main" val="229693297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4DCCC1-80D1-7974-0EB9-58228E452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28A1BA-1BDA-1091-3D62-13B43DFF36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B0F673-213E-31F1-F482-3CD5402578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20C85E8-A2A8-4A2F-BA28-AAC2A0F3709F}" type="datetimeFigureOut">
              <a:rPr lang="en-US" smtClean="0"/>
              <a:t>10/19/2026</a:t>
            </a:fld>
            <a:endParaRPr lang="en-US"/>
          </a:p>
        </p:txBody>
      </p:sp>
      <p:sp>
        <p:nvSpPr>
          <p:cNvPr id="5" name="Footer Placeholder 4">
            <a:extLst>
              <a:ext uri="{FF2B5EF4-FFF2-40B4-BE49-F238E27FC236}">
                <a16:creationId xmlns:a16="http://schemas.microsoft.com/office/drawing/2014/main" id="{08F10AE5-9B3F-C291-E256-CC0586892A6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C30FFBE-5E07-48CB-BBD0-168CCAE62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1E63B39-999C-44EA-85F7-B73609006B61}" type="slidenum">
              <a:rPr lang="en-US" smtClean="0"/>
              <a:t>‹#›</a:t>
            </a:fld>
            <a:endParaRPr lang="en-US"/>
          </a:p>
        </p:txBody>
      </p:sp>
    </p:spTree>
    <p:extLst>
      <p:ext uri="{BB962C8B-B14F-4D97-AF65-F5344CB8AC3E}">
        <p14:creationId xmlns:p14="http://schemas.microsoft.com/office/powerpoint/2010/main" val="5295319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6695F6-644B-75F5-2465-7B4FCCFF76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EFFEA8-7511-C653-A53C-FF2C42BEEB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C3EC6E-515E-420B-A2D5-83D193DAC4E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28428C4-9F7C-2611-7F49-D61268A89C0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0C66F8-68BA-4D67-1648-BC21A25566E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A50E4B0-F07D-8DB2-CDC8-F2CF5D2A0CC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3C9D4C-BCE3-E55E-D463-131135DA18A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3D2060-3758-7EEA-D123-9F05C3423C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8132652-16C7-2245-86A3-F72017F3A3F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65AF362-B81C-A96A-AF76-51A5DB487E1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8276AE-712D-9946-BD08-285548DCC1B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E8D421D-5799-2FE2-26BF-CD372EF9FF4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8669E6-8043-2DE2-E8EC-4A8A44C4308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526130-AAAB-1CFD-D2E3-FD490DE092F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A6A48C0-C2C8-E05B-9C48-6F6DEB9C37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4FB626E-46D2-9EDA-F212-013A413E76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1460123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2369</Words>
  <Application>Microsoft Office PowerPoint</Application>
  <PresentationFormat>寬螢幕</PresentationFormat>
  <Paragraphs>105</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2026-08-28T07:57:19Z</dcterms:created>
  <dcterms:modified xsi:type="dcterms:W3CDTF">2026-10-19T15:38:53Z</dcterms:modified>
</cp:coreProperties>
</file>