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9CF677-D785-4AD7-8157-499BB09FEAC0}" v="18" dt="2026-08-08T11:22:06.3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08T23:39:17.894" v="151" actId="166"/>
      <pc:docMkLst>
        <pc:docMk/>
      </pc:docMkLst>
      <pc:sldChg chg="addSp delSp modSp mod modAnim modNotesTx">
        <pc:chgData name="Lai, Wilson" userId="2840974a-0d84-4886-90a9-9a3ed79f3a48" providerId="ADAL" clId="{9F23B798-9E84-4552-BA63-E776E805C424}" dt="2026-08-08T23:39:17.894" v="151" actId="166"/>
        <pc:sldMkLst>
          <pc:docMk/>
          <pc:sldMk cId="0" sldId="257"/>
        </pc:sldMkLst>
        <pc:spChg chg="add mod">
          <ac:chgData name="Lai, Wilson" userId="2840974a-0d84-4886-90a9-9a3ed79f3a48" providerId="ADAL" clId="{9F23B798-9E84-4552-BA63-E776E805C424}" dt="2026-08-08T10:55:14.160" v="10" actId="164"/>
          <ac:spMkLst>
            <pc:docMk/>
            <pc:sldMk cId="0" sldId="257"/>
            <ac:spMk id="5" creationId="{BFE4EA57-BC2C-60CF-011F-D07B6907D143}"/>
          </ac:spMkLst>
        </pc:spChg>
        <pc:grpChg chg="add mod">
          <ac:chgData name="Lai, Wilson" userId="2840974a-0d84-4886-90a9-9a3ed79f3a48" providerId="ADAL" clId="{9F23B798-9E84-4552-BA63-E776E805C424}" dt="2026-08-08T10:55:14.160" v="10" actId="164"/>
          <ac:grpSpMkLst>
            <pc:docMk/>
            <pc:sldMk cId="0" sldId="257"/>
            <ac:grpSpMk id="6" creationId="{1FB7DE26-CE24-143C-E0D0-614324710A19}"/>
          </ac:grpSpMkLst>
        </pc:grpChg>
        <pc:picChg chg="del ord">
          <ac:chgData name="Lai, Wilson" userId="2840974a-0d84-4886-90a9-9a3ed79f3a48" providerId="ADAL" clId="{9F23B798-9E84-4552-BA63-E776E805C424}" dt="2026-08-08T11:12:22.846" v="12" actId="21"/>
          <ac:picMkLst>
            <pc:docMk/>
            <pc:sldMk cId="0" sldId="257"/>
            <ac:picMk id="2" creationId="{00000000-0000-0000-0000-000000000000}"/>
          </ac:picMkLst>
        </pc:picChg>
        <pc:picChg chg="add mod">
          <ac:chgData name="Lai, Wilson" userId="2840974a-0d84-4886-90a9-9a3ed79f3a48" providerId="ADAL" clId="{9F23B798-9E84-4552-BA63-E776E805C424}" dt="2026-08-08T10:55:14.160" v="10" actId="164"/>
          <ac:picMkLst>
            <pc:docMk/>
            <pc:sldMk cId="0" sldId="257"/>
            <ac:picMk id="3" creationId="{350E6588-71C7-7B15-B8E1-612628FA19DF}"/>
          </ac:picMkLst>
        </pc:picChg>
        <pc:picChg chg="add ord">
          <ac:chgData name="Lai, Wilson" userId="2840974a-0d84-4886-90a9-9a3ed79f3a48" providerId="ADAL" clId="{9F23B798-9E84-4552-BA63-E776E805C424}" dt="2026-08-08T23:39:17.894" v="151" actId="166"/>
          <ac:picMkLst>
            <pc:docMk/>
            <pc:sldMk cId="0" sldId="257"/>
            <ac:picMk id="7" creationId="{3A66F8A5-7C39-1968-1BC3-285FF5206F19}"/>
          </ac:picMkLst>
        </pc:picChg>
      </pc:sldChg>
      <pc:sldChg chg="addSp delSp mod modNotesTx">
        <pc:chgData name="Lai, Wilson" userId="2840974a-0d84-4886-90a9-9a3ed79f3a48" providerId="ADAL" clId="{9F23B798-9E84-4552-BA63-E776E805C424}" dt="2026-08-08T11:19:24.159" v="55" actId="20577"/>
        <pc:sldMkLst>
          <pc:docMk/>
          <pc:sldMk cId="0" sldId="258"/>
        </pc:sldMkLst>
        <pc:picChg chg="del">
          <ac:chgData name="Lai, Wilson" userId="2840974a-0d84-4886-90a9-9a3ed79f3a48" providerId="ADAL" clId="{9F23B798-9E84-4552-BA63-E776E805C424}" dt="2026-08-08T11:12:53.552" v="15" actId="21"/>
          <ac:picMkLst>
            <pc:docMk/>
            <pc:sldMk cId="0" sldId="258"/>
            <ac:picMk id="2" creationId="{00000000-0000-0000-0000-000000000000}"/>
          </ac:picMkLst>
        </pc:picChg>
        <pc:picChg chg="add">
          <ac:chgData name="Lai, Wilson" userId="2840974a-0d84-4886-90a9-9a3ed79f3a48" providerId="ADAL" clId="{9F23B798-9E84-4552-BA63-E776E805C424}" dt="2026-08-08T11:13:06.056" v="16" actId="22"/>
          <ac:picMkLst>
            <pc:docMk/>
            <pc:sldMk cId="0" sldId="258"/>
            <ac:picMk id="4" creationId="{3DE2BB47-88D9-F496-CCFD-C8328F19BFD3}"/>
          </ac:picMkLst>
        </pc:picChg>
      </pc:sldChg>
      <pc:sldChg chg="addSp delSp mod modNotesTx">
        <pc:chgData name="Lai, Wilson" userId="2840974a-0d84-4886-90a9-9a3ed79f3a48" providerId="ADAL" clId="{9F23B798-9E84-4552-BA63-E776E805C424}" dt="2026-08-08T11:19:49.380" v="67" actId="20577"/>
        <pc:sldMkLst>
          <pc:docMk/>
          <pc:sldMk cId="0" sldId="259"/>
        </pc:sldMkLst>
        <pc:picChg chg="del">
          <ac:chgData name="Lai, Wilson" userId="2840974a-0d84-4886-90a9-9a3ed79f3a48" providerId="ADAL" clId="{9F23B798-9E84-4552-BA63-E776E805C424}" dt="2026-08-08T11:13:09.121" v="17" actId="21"/>
          <ac:picMkLst>
            <pc:docMk/>
            <pc:sldMk cId="0" sldId="259"/>
            <ac:picMk id="2" creationId="{00000000-0000-0000-0000-000000000000}"/>
          </ac:picMkLst>
        </pc:picChg>
        <pc:picChg chg="add">
          <ac:chgData name="Lai, Wilson" userId="2840974a-0d84-4886-90a9-9a3ed79f3a48" providerId="ADAL" clId="{9F23B798-9E84-4552-BA63-E776E805C424}" dt="2026-08-08T11:13:21.861" v="18" actId="22"/>
          <ac:picMkLst>
            <pc:docMk/>
            <pc:sldMk cId="0" sldId="259"/>
            <ac:picMk id="4" creationId="{639FC78B-997A-00A9-BC2D-FA34E937C8A1}"/>
          </ac:picMkLst>
        </pc:picChg>
      </pc:sldChg>
      <pc:sldChg chg="addSp delSp mod modNotesTx">
        <pc:chgData name="Lai, Wilson" userId="2840974a-0d84-4886-90a9-9a3ed79f3a48" providerId="ADAL" clId="{9F23B798-9E84-4552-BA63-E776E805C424}" dt="2026-08-08T11:20:16.055" v="76" actId="20577"/>
        <pc:sldMkLst>
          <pc:docMk/>
          <pc:sldMk cId="0" sldId="260"/>
        </pc:sldMkLst>
        <pc:picChg chg="del">
          <ac:chgData name="Lai, Wilson" userId="2840974a-0d84-4886-90a9-9a3ed79f3a48" providerId="ADAL" clId="{9F23B798-9E84-4552-BA63-E776E805C424}" dt="2026-08-08T11:13:24.534" v="19" actId="21"/>
          <ac:picMkLst>
            <pc:docMk/>
            <pc:sldMk cId="0" sldId="260"/>
            <ac:picMk id="2" creationId="{00000000-0000-0000-0000-000000000000}"/>
          </ac:picMkLst>
        </pc:picChg>
        <pc:picChg chg="add">
          <ac:chgData name="Lai, Wilson" userId="2840974a-0d84-4886-90a9-9a3ed79f3a48" providerId="ADAL" clId="{9F23B798-9E84-4552-BA63-E776E805C424}" dt="2026-08-08T11:13:44.429" v="20" actId="22"/>
          <ac:picMkLst>
            <pc:docMk/>
            <pc:sldMk cId="0" sldId="260"/>
            <ac:picMk id="4" creationId="{96D5BBDB-422C-6E0F-CB02-BE2156BFBD9F}"/>
          </ac:picMkLst>
        </pc:picChg>
      </pc:sldChg>
      <pc:sldChg chg="addSp delSp mod modNotesTx">
        <pc:chgData name="Lai, Wilson" userId="2840974a-0d84-4886-90a9-9a3ed79f3a48" providerId="ADAL" clId="{9F23B798-9E84-4552-BA63-E776E805C424}" dt="2026-08-08T11:20:39.467" v="86" actId="20577"/>
        <pc:sldMkLst>
          <pc:docMk/>
          <pc:sldMk cId="0" sldId="261"/>
        </pc:sldMkLst>
        <pc:picChg chg="del">
          <ac:chgData name="Lai, Wilson" userId="2840974a-0d84-4886-90a9-9a3ed79f3a48" providerId="ADAL" clId="{9F23B798-9E84-4552-BA63-E776E805C424}" dt="2026-08-08T11:13:48.333" v="21" actId="21"/>
          <ac:picMkLst>
            <pc:docMk/>
            <pc:sldMk cId="0" sldId="261"/>
            <ac:picMk id="2" creationId="{00000000-0000-0000-0000-000000000000}"/>
          </ac:picMkLst>
        </pc:picChg>
        <pc:picChg chg="add">
          <ac:chgData name="Lai, Wilson" userId="2840974a-0d84-4886-90a9-9a3ed79f3a48" providerId="ADAL" clId="{9F23B798-9E84-4552-BA63-E776E805C424}" dt="2026-08-08T11:13:57.920" v="22" actId="22"/>
          <ac:picMkLst>
            <pc:docMk/>
            <pc:sldMk cId="0" sldId="261"/>
            <ac:picMk id="4" creationId="{3D5204E9-87B1-9324-26F7-136333742674}"/>
          </ac:picMkLst>
        </pc:picChg>
      </pc:sldChg>
      <pc:sldChg chg="addSp delSp mod modNotesTx">
        <pc:chgData name="Lai, Wilson" userId="2840974a-0d84-4886-90a9-9a3ed79f3a48" providerId="ADAL" clId="{9F23B798-9E84-4552-BA63-E776E805C424}" dt="2026-08-08T11:26:13.323" v="148" actId="6549"/>
        <pc:sldMkLst>
          <pc:docMk/>
          <pc:sldMk cId="0" sldId="262"/>
        </pc:sldMkLst>
        <pc:picChg chg="del">
          <ac:chgData name="Lai, Wilson" userId="2840974a-0d84-4886-90a9-9a3ed79f3a48" providerId="ADAL" clId="{9F23B798-9E84-4552-BA63-E776E805C424}" dt="2026-08-08T11:14:01.714" v="23" actId="21"/>
          <ac:picMkLst>
            <pc:docMk/>
            <pc:sldMk cId="0" sldId="262"/>
            <ac:picMk id="2" creationId="{00000000-0000-0000-0000-000000000000}"/>
          </ac:picMkLst>
        </pc:picChg>
        <pc:picChg chg="add">
          <ac:chgData name="Lai, Wilson" userId="2840974a-0d84-4886-90a9-9a3ed79f3a48" providerId="ADAL" clId="{9F23B798-9E84-4552-BA63-E776E805C424}" dt="2026-08-08T11:14:11.604" v="24" actId="22"/>
          <ac:picMkLst>
            <pc:docMk/>
            <pc:sldMk cId="0" sldId="262"/>
            <ac:picMk id="4" creationId="{C6C3AD88-6C02-9195-C391-F1E6E30A7E46}"/>
          </ac:picMkLst>
        </pc:picChg>
      </pc:sldChg>
      <pc:sldChg chg="addSp delSp mod modNotesTx">
        <pc:chgData name="Lai, Wilson" userId="2840974a-0d84-4886-90a9-9a3ed79f3a48" providerId="ADAL" clId="{9F23B798-9E84-4552-BA63-E776E805C424}" dt="2026-08-08T11:26:06.595" v="146" actId="6549"/>
        <pc:sldMkLst>
          <pc:docMk/>
          <pc:sldMk cId="0" sldId="263"/>
        </pc:sldMkLst>
        <pc:picChg chg="del">
          <ac:chgData name="Lai, Wilson" userId="2840974a-0d84-4886-90a9-9a3ed79f3a48" providerId="ADAL" clId="{9F23B798-9E84-4552-BA63-E776E805C424}" dt="2026-08-08T11:14:14.777" v="25" actId="21"/>
          <ac:picMkLst>
            <pc:docMk/>
            <pc:sldMk cId="0" sldId="263"/>
            <ac:picMk id="2" creationId="{00000000-0000-0000-0000-000000000000}"/>
          </ac:picMkLst>
        </pc:picChg>
        <pc:picChg chg="add">
          <ac:chgData name="Lai, Wilson" userId="2840974a-0d84-4886-90a9-9a3ed79f3a48" providerId="ADAL" clId="{9F23B798-9E84-4552-BA63-E776E805C424}" dt="2026-08-08T11:14:23.077" v="26" actId="22"/>
          <ac:picMkLst>
            <pc:docMk/>
            <pc:sldMk cId="0" sldId="263"/>
            <ac:picMk id="4" creationId="{2203691A-56DE-A4EB-3611-5F98A32C53C2}"/>
          </ac:picMkLst>
        </pc:picChg>
      </pc:sldChg>
      <pc:sldChg chg="addSp delSp mod modNotesTx">
        <pc:chgData name="Lai, Wilson" userId="2840974a-0d84-4886-90a9-9a3ed79f3a48" providerId="ADAL" clId="{9F23B798-9E84-4552-BA63-E776E805C424}" dt="2026-08-08T11:26:00.018" v="143" actId="6549"/>
        <pc:sldMkLst>
          <pc:docMk/>
          <pc:sldMk cId="0" sldId="264"/>
        </pc:sldMkLst>
        <pc:picChg chg="del">
          <ac:chgData name="Lai, Wilson" userId="2840974a-0d84-4886-90a9-9a3ed79f3a48" providerId="ADAL" clId="{9F23B798-9E84-4552-BA63-E776E805C424}" dt="2026-08-08T11:14:25.477" v="27" actId="21"/>
          <ac:picMkLst>
            <pc:docMk/>
            <pc:sldMk cId="0" sldId="264"/>
            <ac:picMk id="2" creationId="{00000000-0000-0000-0000-000000000000}"/>
          </ac:picMkLst>
        </pc:picChg>
        <pc:picChg chg="add">
          <ac:chgData name="Lai, Wilson" userId="2840974a-0d84-4886-90a9-9a3ed79f3a48" providerId="ADAL" clId="{9F23B798-9E84-4552-BA63-E776E805C424}" dt="2026-08-08T11:14:34.318" v="28" actId="22"/>
          <ac:picMkLst>
            <pc:docMk/>
            <pc:sldMk cId="0" sldId="264"/>
            <ac:picMk id="4" creationId="{AFFD2428-A5A3-9388-DE7E-9B91DD44FD6A}"/>
          </ac:picMkLst>
        </pc:picChg>
      </pc:sldChg>
      <pc:sldChg chg="addSp delSp mod modNotesTx">
        <pc:chgData name="Lai, Wilson" userId="2840974a-0d84-4886-90a9-9a3ed79f3a48" providerId="ADAL" clId="{9F23B798-9E84-4552-BA63-E776E805C424}" dt="2026-08-08T11:25:51.911" v="140" actId="6549"/>
        <pc:sldMkLst>
          <pc:docMk/>
          <pc:sldMk cId="0" sldId="265"/>
        </pc:sldMkLst>
        <pc:picChg chg="del">
          <ac:chgData name="Lai, Wilson" userId="2840974a-0d84-4886-90a9-9a3ed79f3a48" providerId="ADAL" clId="{9F23B798-9E84-4552-BA63-E776E805C424}" dt="2026-08-08T11:14:37.640" v="29" actId="21"/>
          <ac:picMkLst>
            <pc:docMk/>
            <pc:sldMk cId="0" sldId="265"/>
            <ac:picMk id="2" creationId="{00000000-0000-0000-0000-000000000000}"/>
          </ac:picMkLst>
        </pc:picChg>
        <pc:picChg chg="add">
          <ac:chgData name="Lai, Wilson" userId="2840974a-0d84-4886-90a9-9a3ed79f3a48" providerId="ADAL" clId="{9F23B798-9E84-4552-BA63-E776E805C424}" dt="2026-08-08T11:14:45.748" v="30" actId="22"/>
          <ac:picMkLst>
            <pc:docMk/>
            <pc:sldMk cId="0" sldId="265"/>
            <ac:picMk id="4" creationId="{9200FCB7-F80E-0D60-D375-974D6F810743}"/>
          </ac:picMkLst>
        </pc:picChg>
      </pc:sldChg>
      <pc:sldChg chg="addSp delSp mod modNotesTx">
        <pc:chgData name="Lai, Wilson" userId="2840974a-0d84-4886-90a9-9a3ed79f3a48" providerId="ADAL" clId="{9F23B798-9E84-4552-BA63-E776E805C424}" dt="2026-08-08T11:25:39.184" v="137" actId="20577"/>
        <pc:sldMkLst>
          <pc:docMk/>
          <pc:sldMk cId="0" sldId="266"/>
        </pc:sldMkLst>
        <pc:picChg chg="del">
          <ac:chgData name="Lai, Wilson" userId="2840974a-0d84-4886-90a9-9a3ed79f3a48" providerId="ADAL" clId="{9F23B798-9E84-4552-BA63-E776E805C424}" dt="2026-08-08T11:14:48.020" v="31" actId="21"/>
          <ac:picMkLst>
            <pc:docMk/>
            <pc:sldMk cId="0" sldId="266"/>
            <ac:picMk id="2" creationId="{00000000-0000-0000-0000-000000000000}"/>
          </ac:picMkLst>
        </pc:picChg>
        <pc:picChg chg="add">
          <ac:chgData name="Lai, Wilson" userId="2840974a-0d84-4886-90a9-9a3ed79f3a48" providerId="ADAL" clId="{9F23B798-9E84-4552-BA63-E776E805C424}" dt="2026-08-08T11:14:57.381" v="32" actId="22"/>
          <ac:picMkLst>
            <pc:docMk/>
            <pc:sldMk cId="0" sldId="266"/>
            <ac:picMk id="4" creationId="{EFC6D066-8138-68B1-FDB4-86488E45FFE0}"/>
          </ac:picMkLst>
        </pc:picChg>
      </pc:sldChg>
      <pc:sldChg chg="addSp delSp mod modNotesTx">
        <pc:chgData name="Lai, Wilson" userId="2840974a-0d84-4886-90a9-9a3ed79f3a48" providerId="ADAL" clId="{9F23B798-9E84-4552-BA63-E776E805C424}" dt="2026-08-08T11:23:41.022" v="132" actId="6549"/>
        <pc:sldMkLst>
          <pc:docMk/>
          <pc:sldMk cId="0" sldId="267"/>
        </pc:sldMkLst>
        <pc:picChg chg="del">
          <ac:chgData name="Lai, Wilson" userId="2840974a-0d84-4886-90a9-9a3ed79f3a48" providerId="ADAL" clId="{9F23B798-9E84-4552-BA63-E776E805C424}" dt="2026-08-08T11:15:00.493" v="33" actId="21"/>
          <ac:picMkLst>
            <pc:docMk/>
            <pc:sldMk cId="0" sldId="267"/>
            <ac:picMk id="2" creationId="{00000000-0000-0000-0000-000000000000}"/>
          </ac:picMkLst>
        </pc:picChg>
        <pc:picChg chg="add">
          <ac:chgData name="Lai, Wilson" userId="2840974a-0d84-4886-90a9-9a3ed79f3a48" providerId="ADAL" clId="{9F23B798-9E84-4552-BA63-E776E805C424}" dt="2026-08-08T11:15:08.562" v="34" actId="22"/>
          <ac:picMkLst>
            <pc:docMk/>
            <pc:sldMk cId="0" sldId="267"/>
            <ac:picMk id="4" creationId="{AF6B1CDE-4A66-72A5-5E6D-C5B54B5F7148}"/>
          </ac:picMkLst>
        </pc:picChg>
      </pc:sldChg>
      <pc:sldChg chg="addSp delSp mod modNotesTx">
        <pc:chgData name="Lai, Wilson" userId="2840974a-0d84-4886-90a9-9a3ed79f3a48" providerId="ADAL" clId="{9F23B798-9E84-4552-BA63-E776E805C424}" dt="2026-08-08T11:23:35.730" v="130" actId="6549"/>
        <pc:sldMkLst>
          <pc:docMk/>
          <pc:sldMk cId="0" sldId="268"/>
        </pc:sldMkLst>
        <pc:picChg chg="del">
          <ac:chgData name="Lai, Wilson" userId="2840974a-0d84-4886-90a9-9a3ed79f3a48" providerId="ADAL" clId="{9F23B798-9E84-4552-BA63-E776E805C424}" dt="2026-08-08T11:15:11.362" v="35" actId="21"/>
          <ac:picMkLst>
            <pc:docMk/>
            <pc:sldMk cId="0" sldId="268"/>
            <ac:picMk id="2" creationId="{00000000-0000-0000-0000-000000000000}"/>
          </ac:picMkLst>
        </pc:picChg>
        <pc:picChg chg="add">
          <ac:chgData name="Lai, Wilson" userId="2840974a-0d84-4886-90a9-9a3ed79f3a48" providerId="ADAL" clId="{9F23B798-9E84-4552-BA63-E776E805C424}" dt="2026-08-08T11:15:20.315" v="36" actId="22"/>
          <ac:picMkLst>
            <pc:docMk/>
            <pc:sldMk cId="0" sldId="268"/>
            <ac:picMk id="4" creationId="{6FAFAC81-2D8F-FFA3-4029-16162740C968}"/>
          </ac:picMkLst>
        </pc:picChg>
      </pc:sldChg>
      <pc:sldChg chg="addSp delSp mod modNotesTx">
        <pc:chgData name="Lai, Wilson" userId="2840974a-0d84-4886-90a9-9a3ed79f3a48" providerId="ADAL" clId="{9F23B798-9E84-4552-BA63-E776E805C424}" dt="2026-08-08T11:23:29.650" v="126" actId="6549"/>
        <pc:sldMkLst>
          <pc:docMk/>
          <pc:sldMk cId="0" sldId="269"/>
        </pc:sldMkLst>
        <pc:picChg chg="del">
          <ac:chgData name="Lai, Wilson" userId="2840974a-0d84-4886-90a9-9a3ed79f3a48" providerId="ADAL" clId="{9F23B798-9E84-4552-BA63-E776E805C424}" dt="2026-08-08T11:15:22.809" v="37" actId="21"/>
          <ac:picMkLst>
            <pc:docMk/>
            <pc:sldMk cId="0" sldId="269"/>
            <ac:picMk id="2" creationId="{00000000-0000-0000-0000-000000000000}"/>
          </ac:picMkLst>
        </pc:picChg>
        <pc:picChg chg="add">
          <ac:chgData name="Lai, Wilson" userId="2840974a-0d84-4886-90a9-9a3ed79f3a48" providerId="ADAL" clId="{9F23B798-9E84-4552-BA63-E776E805C424}" dt="2026-08-08T11:15:30.146" v="38" actId="22"/>
          <ac:picMkLst>
            <pc:docMk/>
            <pc:sldMk cId="0" sldId="269"/>
            <ac:picMk id="4" creationId="{C4B87D1C-8E3D-CAFA-4A8B-E8E835C300B6}"/>
          </ac:picMkLst>
        </pc:picChg>
      </pc:sldChg>
      <pc:sldChg chg="addSp delSp mod modNotesTx">
        <pc:chgData name="Lai, Wilson" userId="2840974a-0d84-4886-90a9-9a3ed79f3a48" providerId="ADAL" clId="{9F23B798-9E84-4552-BA63-E776E805C424}" dt="2026-08-08T11:23:22.700" v="123" actId="6549"/>
        <pc:sldMkLst>
          <pc:docMk/>
          <pc:sldMk cId="0" sldId="270"/>
        </pc:sldMkLst>
        <pc:picChg chg="del">
          <ac:chgData name="Lai, Wilson" userId="2840974a-0d84-4886-90a9-9a3ed79f3a48" providerId="ADAL" clId="{9F23B798-9E84-4552-BA63-E776E805C424}" dt="2026-08-08T11:15:32.950" v="39" actId="21"/>
          <ac:picMkLst>
            <pc:docMk/>
            <pc:sldMk cId="0" sldId="270"/>
            <ac:picMk id="2" creationId="{00000000-0000-0000-0000-000000000000}"/>
          </ac:picMkLst>
        </pc:picChg>
        <pc:picChg chg="add">
          <ac:chgData name="Lai, Wilson" userId="2840974a-0d84-4886-90a9-9a3ed79f3a48" providerId="ADAL" clId="{9F23B798-9E84-4552-BA63-E776E805C424}" dt="2026-08-08T11:15:47.629" v="40" actId="22"/>
          <ac:picMkLst>
            <pc:docMk/>
            <pc:sldMk cId="0" sldId="270"/>
            <ac:picMk id="4" creationId="{0AB02BE2-9C51-49F6-577E-4E5E5759C298}"/>
          </ac:picMkLst>
        </pc:picChg>
      </pc:sldChg>
      <pc:sldChg chg="modNotesTx">
        <pc:chgData name="Lai, Wilson" userId="2840974a-0d84-4886-90a9-9a3ed79f3a48" providerId="ADAL" clId="{9F23B798-9E84-4552-BA63-E776E805C424}" dt="2026-08-08T11:23:01.693" v="120" actId="6549"/>
        <pc:sldMkLst>
          <pc:docMk/>
          <pc:sldMk cId="1770017118"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17AF42-9DEA-4A5D-99B0-D70F2060EB3D}"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4D3756-002C-4FDA-A345-016A7C9EBBE7}" type="slidenum">
              <a:rPr lang="en-US" smtClean="0"/>
              <a:t>‹#›</a:t>
            </a:fld>
            <a:endParaRPr lang="en-US"/>
          </a:p>
        </p:txBody>
      </p:sp>
    </p:spTree>
    <p:extLst>
      <p:ext uri="{BB962C8B-B14F-4D97-AF65-F5344CB8AC3E}">
        <p14:creationId xmlns:p14="http://schemas.microsoft.com/office/powerpoint/2010/main" val="1160087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going to dive into what we consider one of the most misunderstood macroeconomic environments in recent history.</a:t>
            </a:r>
          </a:p>
          <a:p>
            <a:r>
              <a:rPr lang="en-US" sz="1200" kern="1200" dirty="0">
                <a:solidFill>
                  <a:schemeClr val="tx1"/>
                </a:solidFill>
                <a:effectLst/>
                <a:latin typeface="+mn-lt"/>
                <a:ea typeface="+mn-ea"/>
                <a:cs typeface="+mn-cs"/>
              </a:rPr>
              <a:t>While headline news and financial commentary continue to obsess over inflation scares, rate hikes, and weak headline data, beneath the surface lies a powerful structural engine: </a:t>
            </a:r>
            <a:r>
              <a:rPr lang="en-US" sz="1200" b="1" kern="1200" dirty="0">
                <a:solidFill>
                  <a:schemeClr val="tx1"/>
                </a:solidFill>
                <a:effectLst/>
                <a:latin typeface="+mn-lt"/>
                <a:ea typeface="+mn-ea"/>
                <a:cs typeface="+mn-cs"/>
              </a:rPr>
              <a:t>The Deflationary Boom</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Over the next 15 slides, we will unpack how technological leverage—specifically AI inference collapse, demographic shifts in labor, and aggressive capital expenditure—is driving good deflation, boosting productivity, and resetting corporate margins for a secular expansion.</a:t>
            </a:r>
          </a:p>
          <a:p>
            <a:endParaRPr lang="en-US" dirty="0"/>
          </a:p>
          <a:p>
            <a:r>
              <a:rPr lang="en-US" dirty="0"/>
              <a:t>https://www.youtube.com/watch?v=COmxq7bh-fM</a:t>
            </a:r>
          </a:p>
        </p:txBody>
      </p:sp>
      <p:sp>
        <p:nvSpPr>
          <p:cNvPr id="4" name="Slide Number Placeholder 3"/>
          <p:cNvSpPr>
            <a:spLocks noGrp="1"/>
          </p:cNvSpPr>
          <p:nvPr>
            <p:ph type="sldNum" sz="quarter" idx="5"/>
          </p:nvPr>
        </p:nvSpPr>
        <p:spPr/>
        <p:txBody>
          <a:bodyPr/>
          <a:lstStyle/>
          <a:p>
            <a:fld id="{724D3756-002C-4FDA-A345-016A7C9EBBE7}" type="slidenum">
              <a:rPr lang="en-US" smtClean="0"/>
              <a:t>1</a:t>
            </a:fld>
            <a:endParaRPr lang="en-US"/>
          </a:p>
        </p:txBody>
      </p:sp>
    </p:spTree>
    <p:extLst>
      <p:ext uri="{BB962C8B-B14F-4D97-AF65-F5344CB8AC3E}">
        <p14:creationId xmlns:p14="http://schemas.microsoft.com/office/powerpoint/2010/main" val="2158542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by looking at the headline labor data that has spooked the markets. Nonfarm payrolls recently surprised to the downside, contracting by 23,000 versus an expected +80,000 gain. On top of that, prior months were revised down by 103,000, bringing the three-month moving average down to a sluggish +20,000 jobs per month.</a:t>
            </a:r>
          </a:p>
          <a:p>
            <a:r>
              <a:rPr lang="en-US" sz="1200" kern="1200" dirty="0">
                <a:solidFill>
                  <a:schemeClr val="tx1"/>
                </a:solidFill>
                <a:effectLst/>
                <a:latin typeface="+mn-lt"/>
                <a:ea typeface="+mn-ea"/>
                <a:cs typeface="+mn-cs"/>
              </a:rPr>
              <a:t>On the surface, this looks like a weakening labor market. But when you parse through the internal mechanics, you find structural health.</a:t>
            </a:r>
          </a:p>
          <a:p>
            <a:r>
              <a:rPr lang="en-US" sz="1200" kern="1200" dirty="0">
                <a:solidFill>
                  <a:schemeClr val="tx1"/>
                </a:solidFill>
                <a:effectLst/>
                <a:latin typeface="+mn-lt"/>
                <a:ea typeface="+mn-ea"/>
                <a:cs typeface="+mn-cs"/>
              </a:rPr>
              <a:t>First, the unemployment rate actually dropped to 4.1%. Second, wage growth is cooling in a controlled manner—average hourly earnings rose just 0.1% month-over-month, bringing the YoY rate down from 3.4% to 3.2%.</a:t>
            </a:r>
          </a:p>
          <a:p>
            <a:r>
              <a:rPr lang="en-US" sz="1200" kern="1200" dirty="0">
                <a:solidFill>
                  <a:schemeClr val="tx1"/>
                </a:solidFill>
                <a:effectLst/>
                <a:latin typeface="+mn-lt"/>
                <a:ea typeface="+mn-ea"/>
                <a:cs typeface="+mn-cs"/>
              </a:rPr>
              <a:t>Crucially, US productivity growth is approaching 3%. With productivity keeping pace with earnings growth, </a:t>
            </a:r>
            <a:r>
              <a:rPr lang="en-US" sz="1200" b="1" kern="1200" dirty="0">
                <a:solidFill>
                  <a:schemeClr val="tx1"/>
                </a:solidFill>
                <a:effectLst/>
                <a:latin typeface="+mn-lt"/>
                <a:ea typeface="+mn-ea"/>
                <a:cs typeface="+mn-cs"/>
              </a:rPr>
              <a:t>unit labor costs are flat YoY</a:t>
            </a:r>
            <a:r>
              <a:rPr lang="en-US" sz="1200" kern="1200" dirty="0">
                <a:solidFill>
                  <a:schemeClr val="tx1"/>
                </a:solidFill>
                <a:effectLst/>
                <a:latin typeface="+mn-lt"/>
                <a:ea typeface="+mn-ea"/>
                <a:cs typeface="+mn-cs"/>
              </a:rPr>
              <a:t>. This means wage gains are being offset by efficiency rather than driving consumer inflation.</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2</a:t>
            </a:fld>
            <a:endParaRPr lang="en-US"/>
          </a:p>
        </p:txBody>
      </p:sp>
    </p:spTree>
    <p:extLst>
      <p:ext uri="{BB962C8B-B14F-4D97-AF65-F5344CB8AC3E}">
        <p14:creationId xmlns:p14="http://schemas.microsoft.com/office/powerpoint/2010/main" val="407969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are overall job numbers dropping while unemployment remains low? It comes down to a significant demographic labor churn across three key cohorts:</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Boomer Exit (55+):</a:t>
            </a:r>
            <a:r>
              <a:rPr lang="en-US" sz="1200" kern="1200" dirty="0">
                <a:solidFill>
                  <a:schemeClr val="tx1"/>
                </a:solidFill>
                <a:effectLst/>
                <a:latin typeface="+mn-lt"/>
                <a:ea typeface="+mn-ea"/>
                <a:cs typeface="+mn-cs"/>
              </a:rPr>
              <a:t> Baby Boomers are retiring at an accelerated pace. Supported by record-high equity accounts, many are choosing to exit early rather than navigate AI task integration.</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Prime-Age Ascension (25–55):</a:t>
            </a:r>
            <a:r>
              <a:rPr lang="en-US" sz="1200" kern="1200" dirty="0">
                <a:solidFill>
                  <a:schemeClr val="tx1"/>
                </a:solidFill>
                <a:effectLst/>
                <a:latin typeface="+mn-lt"/>
                <a:ea typeface="+mn-ea"/>
                <a:cs typeface="+mn-cs"/>
              </a:rPr>
              <a:t> Participation among 25-to-55-year-olds is rising rapidly to backfill vacancies left by exiting Boomers, opening fast-track career mobility.</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Youth Innovation (16–24):</a:t>
            </a:r>
            <a:r>
              <a:rPr lang="en-US" sz="1200" kern="1200" dirty="0">
                <a:solidFill>
                  <a:schemeClr val="tx1"/>
                </a:solidFill>
                <a:effectLst/>
                <a:latin typeface="+mn-lt"/>
                <a:ea typeface="+mn-ea"/>
                <a:cs typeface="+mn-cs"/>
              </a:rPr>
              <a:t> Younger cohorts are opting out of traditional entry-level jobs. Enabled by accessible AI tools, they are pursuing 'vibe coding' and building solo businesses. They drop out of traditional employment rolls temporarily, but they represent an upcoming entrepreneurial wave.</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3</a:t>
            </a:fld>
            <a:endParaRPr lang="en-US"/>
          </a:p>
        </p:txBody>
      </p:sp>
    </p:spTree>
    <p:extLst>
      <p:ext uri="{BB962C8B-B14F-4D97-AF65-F5344CB8AC3E}">
        <p14:creationId xmlns:p14="http://schemas.microsoft.com/office/powerpoint/2010/main" val="1392352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chart illustrates the core catalyst of the current tech paradigm: </a:t>
            </a:r>
            <a:r>
              <a:rPr lang="en-US" sz="1200" b="1" kern="1200" dirty="0">
                <a:solidFill>
                  <a:schemeClr val="tx1"/>
                </a:solidFill>
                <a:effectLst/>
                <a:latin typeface="+mn-lt"/>
                <a:ea typeface="+mn-ea"/>
                <a:cs typeface="+mn-cs"/>
              </a:rPr>
              <a:t>AI inference costs are collapsing by 99.99% annually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While frontier models costing $200 to $2,000/month serve enterprise heavyweights, falling API and compute costs mean small teams and solo founders can run high-capability AI workflows for pennies.</a:t>
            </a:r>
          </a:p>
          <a:p>
            <a:r>
              <a:rPr lang="en-US" sz="1200" kern="1200" dirty="0">
                <a:solidFill>
                  <a:schemeClr val="tx1"/>
                </a:solidFill>
                <a:effectLst/>
                <a:latin typeface="+mn-lt"/>
                <a:ea typeface="+mn-ea"/>
                <a:cs typeface="+mn-cs"/>
              </a:rPr>
              <a:t>We are entering the </a:t>
            </a:r>
            <a:r>
              <a:rPr lang="en-US" sz="1200" b="1" kern="1200" dirty="0">
                <a:solidFill>
                  <a:schemeClr val="tx1"/>
                </a:solidFill>
                <a:effectLst/>
                <a:latin typeface="+mn-lt"/>
                <a:ea typeface="+mn-ea"/>
                <a:cs typeface="+mn-cs"/>
              </a:rPr>
              <a:t>Solo-Entrepreneur Era</a:t>
            </a:r>
            <a:r>
              <a:rPr lang="en-US" sz="1200" kern="1200" dirty="0">
                <a:solidFill>
                  <a:schemeClr val="tx1"/>
                </a:solidFill>
                <a:effectLst/>
                <a:latin typeface="+mn-lt"/>
                <a:ea typeface="+mn-ea"/>
                <a:cs typeface="+mn-cs"/>
              </a:rPr>
              <a:t>. Tasks that previously required an entire G&amp;A department—software design, deck generation, legal drafting—can now be executed by a single individual utilizing AI leverage.</a:t>
            </a:r>
          </a:p>
        </p:txBody>
      </p:sp>
      <p:sp>
        <p:nvSpPr>
          <p:cNvPr id="4" name="Slide Number Placeholder 3"/>
          <p:cNvSpPr>
            <a:spLocks noGrp="1"/>
          </p:cNvSpPr>
          <p:nvPr>
            <p:ph type="sldNum" sz="quarter" idx="5"/>
          </p:nvPr>
        </p:nvSpPr>
        <p:spPr/>
        <p:txBody>
          <a:bodyPr/>
          <a:lstStyle/>
          <a:p>
            <a:fld id="{724D3756-002C-4FDA-A345-016A7C9EBBE7}" type="slidenum">
              <a:rPr lang="en-US" smtClean="0"/>
              <a:t>4</a:t>
            </a:fld>
            <a:endParaRPr lang="en-US"/>
          </a:p>
        </p:txBody>
      </p:sp>
    </p:spTree>
    <p:extLst>
      <p:ext uri="{BB962C8B-B14F-4D97-AF65-F5344CB8AC3E}">
        <p14:creationId xmlns:p14="http://schemas.microsoft.com/office/powerpoint/2010/main" val="3742830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From 1998 through 2022, non-defense capital goods orders remained capped below a historical resistance ceiling of ~$200 Billion. Companies were hesitant to deploy aggressive capital into long-term infrastructure.</a:t>
            </a:r>
          </a:p>
          <a:p>
            <a:r>
              <a:rPr lang="en-US" sz="1200" kern="1200" dirty="0">
                <a:solidFill>
                  <a:schemeClr val="tx1"/>
                </a:solidFill>
                <a:effectLst/>
                <a:latin typeface="+mn-lt"/>
                <a:ea typeface="+mn-ea"/>
                <a:cs typeface="+mn-cs"/>
              </a:rPr>
              <a:t>Today, that 25-year ceiling has officially broken.</a:t>
            </a:r>
          </a:p>
          <a:p>
            <a:r>
              <a:rPr lang="en-US" sz="1200" kern="1200" dirty="0">
                <a:solidFill>
                  <a:schemeClr val="tx1"/>
                </a:solidFill>
                <a:effectLst/>
                <a:latin typeface="+mn-lt"/>
                <a:ea typeface="+mn-ea"/>
                <a:cs typeface="+mn-cs"/>
              </a:rPr>
              <a:t>What is driving this breakout? Beyond the AI compute race, tax policy is providing significant tailwinds. Current fiscal packages allow </a:t>
            </a:r>
            <a:r>
              <a:rPr lang="en-US" sz="1200" b="1" kern="1200" dirty="0">
                <a:solidFill>
                  <a:schemeClr val="tx1"/>
                </a:solidFill>
                <a:effectLst/>
                <a:latin typeface="+mn-lt"/>
                <a:ea typeface="+mn-ea"/>
                <a:cs typeface="+mn-cs"/>
              </a:rPr>
              <a:t>100% Year 1 accelerated depreciation</a:t>
            </a:r>
            <a:r>
              <a:rPr lang="en-US" sz="1200" kern="1200" dirty="0">
                <a:solidFill>
                  <a:schemeClr val="tx1"/>
                </a:solidFill>
                <a:effectLst/>
                <a:latin typeface="+mn-lt"/>
                <a:ea typeface="+mn-ea"/>
                <a:cs typeface="+mn-cs"/>
              </a:rPr>
              <a:t> for manufacturing facilities, domestic R&amp;D, and software.</a:t>
            </a:r>
          </a:p>
          <a:p>
            <a:r>
              <a:rPr lang="en-US" sz="1200" kern="1200" dirty="0">
                <a:solidFill>
                  <a:schemeClr val="tx1"/>
                </a:solidFill>
                <a:effectLst/>
                <a:latin typeface="+mn-lt"/>
                <a:ea typeface="+mn-ea"/>
                <a:cs typeface="+mn-cs"/>
              </a:rPr>
              <a:t>This creates massive upfront tax refunds for corporations, providing direct capital to fund digital and physical infrastructure.</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5</a:t>
            </a:fld>
            <a:endParaRPr lang="en-US"/>
          </a:p>
        </p:txBody>
      </p:sp>
    </p:spTree>
    <p:extLst>
      <p:ext uri="{BB962C8B-B14F-4D97-AF65-F5344CB8AC3E}">
        <p14:creationId xmlns:p14="http://schemas.microsoft.com/office/powerpoint/2010/main" val="378176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seeing structural parallels between today's macroeconomic landscape and the early 1980s under Reaganomics.</a:t>
            </a:r>
          </a:p>
          <a:p>
            <a:r>
              <a:rPr lang="en-US" sz="1200" kern="1200" dirty="0">
                <a:solidFill>
                  <a:schemeClr val="tx1"/>
                </a:solidFill>
                <a:effectLst/>
                <a:latin typeface="+mn-lt"/>
                <a:ea typeface="+mn-ea"/>
                <a:cs typeface="+mn-cs"/>
              </a:rPr>
              <a:t>In the early 1980s, the US had a deficit-to-GDP ratio near 5.6% following rate hikes to break double-digit inflation. Deferred income tax cuts initially caused friction, but ultimately launched a multi-decade economic boom.</a:t>
            </a:r>
          </a:p>
          <a:p>
            <a:r>
              <a:rPr lang="en-US" sz="1200" kern="1200" dirty="0">
                <a:solidFill>
                  <a:schemeClr val="tx1"/>
                </a:solidFill>
                <a:effectLst/>
                <a:latin typeface="+mn-lt"/>
                <a:ea typeface="+mn-ea"/>
                <a:cs typeface="+mn-cs"/>
              </a:rPr>
              <a:t>Today, our deficit-to-GDP sits at 5.6% (projected to decline below 5%). Rather than inflationary fiscal strain, corporate tax benefits and accelerated depreciation are incentivizing high-ROI productivity investments, offsetting public-sector labor cuts and setting the stage for a long-term capital boom.</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6</a:t>
            </a:fld>
            <a:endParaRPr lang="en-US"/>
          </a:p>
        </p:txBody>
      </p:sp>
    </p:spTree>
    <p:extLst>
      <p:ext uri="{BB962C8B-B14F-4D97-AF65-F5344CB8AC3E}">
        <p14:creationId xmlns:p14="http://schemas.microsoft.com/office/powerpoint/2010/main" val="791643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common bearish narrative is that global central banks are dumping US Treasuries, which will push long-term yields out of control and crash the Dollar.</a:t>
            </a:r>
          </a:p>
          <a:p>
            <a:r>
              <a:rPr lang="en-US" sz="1200" kern="1200" dirty="0">
                <a:solidFill>
                  <a:schemeClr val="tx1"/>
                </a:solidFill>
                <a:effectLst/>
                <a:latin typeface="+mn-lt"/>
                <a:ea typeface="+mn-ea"/>
                <a:cs typeface="+mn-cs"/>
              </a:rPr>
              <a:t>Look at the actual mechanics: Japan sold ~5% YTD to defend the Yen via Euro sales; China and Canada have maintained selling pressure; Saudi Arabia is selling to cover budget deficits given current oil prices.</a:t>
            </a:r>
          </a:p>
          <a:p>
            <a:r>
              <a:rPr lang="en-US" sz="1200" kern="1200" dirty="0">
                <a:solidFill>
                  <a:schemeClr val="tx1"/>
                </a:solidFill>
                <a:effectLst/>
                <a:latin typeface="+mn-lt"/>
                <a:ea typeface="+mn-ea"/>
                <a:cs typeface="+mn-cs"/>
              </a:rPr>
              <a:t>Despite this global Treasury liquidation, </a:t>
            </a:r>
            <a:r>
              <a:rPr lang="en-US" sz="1200" b="1" kern="1200" dirty="0">
                <a:solidFill>
                  <a:schemeClr val="tx1"/>
                </a:solidFill>
                <a:effectLst/>
                <a:latin typeface="+mn-lt"/>
                <a:ea typeface="+mn-ea"/>
                <a:cs typeface="+mn-cs"/>
              </a:rPr>
              <a:t>10-year yields have consistently failed to break 5%</a:t>
            </a:r>
            <a:r>
              <a:rPr lang="en-US" sz="1200" kern="1200" dirty="0">
                <a:solidFill>
                  <a:schemeClr val="tx1"/>
                </a:solidFill>
                <a:effectLst/>
                <a:latin typeface="+mn-lt"/>
                <a:ea typeface="+mn-ea"/>
                <a:cs typeface="+mn-cs"/>
              </a:rPr>
              <a:t>, and the US Dollar index (DXY at 102.6) remains resilient. Global capital demand for US dollar assets continues to absorb foreign central bank selling.</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7</a:t>
            </a:fld>
            <a:endParaRPr lang="en-US"/>
          </a:p>
        </p:txBody>
      </p:sp>
    </p:spTree>
    <p:extLst>
      <p:ext uri="{BB962C8B-B14F-4D97-AF65-F5344CB8AC3E}">
        <p14:creationId xmlns:p14="http://schemas.microsoft.com/office/powerpoint/2010/main" val="2142143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Energy is another sector undergoing a structural shift. Oil prices peaked at $147/</a:t>
            </a:r>
            <a:r>
              <a:rPr lang="en-US" sz="1200" kern="1200" dirty="0" err="1">
                <a:solidFill>
                  <a:schemeClr val="tx1"/>
                </a:solidFill>
                <a:effectLst/>
                <a:latin typeface="+mn-lt"/>
                <a:ea typeface="+mn-ea"/>
                <a:cs typeface="+mn-cs"/>
              </a:rPr>
              <a:t>bbl</a:t>
            </a:r>
            <a:r>
              <a:rPr lang="en-US" sz="1200" kern="1200" dirty="0">
                <a:solidFill>
                  <a:schemeClr val="tx1"/>
                </a:solidFill>
                <a:effectLst/>
                <a:latin typeface="+mn-lt"/>
                <a:ea typeface="+mn-ea"/>
                <a:cs typeface="+mn-cs"/>
              </a:rPr>
              <a:t> in 2008 and have repeatedly failed to break higher, even amid geopolitical tension.</a:t>
            </a:r>
          </a:p>
          <a:p>
            <a:r>
              <a:rPr lang="en-US" sz="1200" kern="1200" dirty="0">
                <a:solidFill>
                  <a:schemeClr val="tx1"/>
                </a:solidFill>
                <a:effectLst/>
                <a:latin typeface="+mn-lt"/>
                <a:ea typeface="+mn-ea"/>
                <a:cs typeface="+mn-cs"/>
              </a:rPr>
              <a:t>In May, Abu Dhabi (UAE) parted ways with OPEC production quotas, surging supply to 4.11 million barrels/day.</a:t>
            </a:r>
          </a:p>
          <a:p>
            <a:r>
              <a:rPr lang="en-US" sz="1200" kern="1200" dirty="0">
                <a:solidFill>
                  <a:schemeClr val="tx1"/>
                </a:solidFill>
                <a:effectLst/>
                <a:latin typeface="+mn-lt"/>
                <a:ea typeface="+mn-ea"/>
                <a:cs typeface="+mn-cs"/>
              </a:rPr>
              <a:t>The strategic logic is straightforward: as leaders in AI and autonomous mobility, UAE leadership recognizes that the future energy grid will depend heavily on natural gas, solar, hydro, and renewables rather than crude oil. Their incentive is to maximize oil production now before oil risks becoming a stranded asset.</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8</a:t>
            </a:fld>
            <a:endParaRPr lang="en-US"/>
          </a:p>
        </p:txBody>
      </p:sp>
    </p:spTree>
    <p:extLst>
      <p:ext uri="{BB962C8B-B14F-4D97-AF65-F5344CB8AC3E}">
        <p14:creationId xmlns:p14="http://schemas.microsoft.com/office/powerpoint/2010/main" val="715177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Connecting these elements brings us to the core concept: </a:t>
            </a:r>
            <a:r>
              <a:rPr lang="en-US" sz="1200" b="1" kern="1200" dirty="0">
                <a:solidFill>
                  <a:schemeClr val="tx1"/>
                </a:solidFill>
                <a:effectLst/>
                <a:latin typeface="+mn-lt"/>
                <a:ea typeface="+mn-ea"/>
                <a:cs typeface="+mn-cs"/>
              </a:rPr>
              <a:t>The Deflationary Flywheel</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Three forces are acting together:" </a:t>
            </a:r>
          </a:p>
          <a:p>
            <a:pPr marL="228600" indent="-228600">
              <a:buFont typeface="+mj-lt"/>
              <a:buAutoNum type="arabicPeriod"/>
            </a:pPr>
            <a:r>
              <a:rPr lang="en-US" sz="1200" b="1" kern="1200" dirty="0">
                <a:solidFill>
                  <a:schemeClr val="tx1"/>
                </a:solidFill>
                <a:effectLst/>
                <a:latin typeface="+mn-lt"/>
                <a:ea typeface="+mn-ea"/>
                <a:cs typeface="+mn-cs"/>
              </a:rPr>
              <a:t>Global Energy Glut:</a:t>
            </a:r>
            <a:r>
              <a:rPr lang="en-US" sz="1200" kern="1200" dirty="0">
                <a:solidFill>
                  <a:schemeClr val="tx1"/>
                </a:solidFill>
                <a:effectLst/>
                <a:latin typeface="+mn-lt"/>
                <a:ea typeface="+mn-ea"/>
                <a:cs typeface="+mn-cs"/>
              </a:rPr>
              <a:t> Surging oil/gas supply lowers input costs, acting like a tax cut for consumers and logistics. </a:t>
            </a:r>
          </a:p>
          <a:p>
            <a:pPr marL="228600" indent="-228600">
              <a:buFont typeface="+mj-lt"/>
              <a:buAutoNum type="arabicPeriod"/>
            </a:pPr>
            <a:r>
              <a:rPr lang="en-US" sz="1200" b="1" kern="1200" dirty="0">
                <a:solidFill>
                  <a:schemeClr val="tx1"/>
                </a:solidFill>
                <a:effectLst/>
                <a:latin typeface="+mn-lt"/>
                <a:ea typeface="+mn-ea"/>
                <a:cs typeface="+mn-cs"/>
              </a:rPr>
              <a:t>AI Inference Collapse:</a:t>
            </a:r>
            <a:r>
              <a:rPr lang="en-US" sz="1200" kern="1200" dirty="0">
                <a:solidFill>
                  <a:schemeClr val="tx1"/>
                </a:solidFill>
                <a:effectLst/>
                <a:latin typeface="+mn-lt"/>
                <a:ea typeface="+mn-ea"/>
                <a:cs typeface="+mn-cs"/>
              </a:rPr>
              <a:t> Zero-marginal-cost intelligence reduces corporate software, development, and operational expenses. </a:t>
            </a:r>
          </a:p>
          <a:p>
            <a:pPr marL="228600" indent="-228600">
              <a:buFont typeface="+mj-lt"/>
              <a:buAutoNum type="arabicPeriod"/>
            </a:pPr>
            <a:r>
              <a:rPr lang="en-US" sz="1200" b="1" kern="1200" dirty="0">
                <a:solidFill>
                  <a:schemeClr val="tx1"/>
                </a:solidFill>
                <a:effectLst/>
                <a:latin typeface="+mn-lt"/>
                <a:ea typeface="+mn-ea"/>
                <a:cs typeface="+mn-cs"/>
              </a:rPr>
              <a:t>Accelerated Depreciation:</a:t>
            </a:r>
            <a:r>
              <a:rPr lang="en-US" sz="1200" kern="1200" dirty="0">
                <a:solidFill>
                  <a:schemeClr val="tx1"/>
                </a:solidFill>
                <a:effectLst/>
                <a:latin typeface="+mn-lt"/>
                <a:ea typeface="+mn-ea"/>
                <a:cs typeface="+mn-cs"/>
              </a:rPr>
              <a:t> Fiscal incentives drive capital spending into high-efficiency automation. </a:t>
            </a:r>
          </a:p>
          <a:p>
            <a:r>
              <a:rPr lang="en-US" sz="1200" kern="1200" dirty="0">
                <a:solidFill>
                  <a:schemeClr val="tx1"/>
                </a:solidFill>
                <a:effectLst/>
                <a:latin typeface="+mn-lt"/>
                <a:ea typeface="+mn-ea"/>
                <a:cs typeface="+mn-cs"/>
              </a:rPr>
              <a:t>When month-to-month CPI or PPI print negative (e.g., CPI -0.4%, PPI -0.3%), this is not demand-collapse recessionary deflation. This is </a:t>
            </a:r>
            <a:r>
              <a:rPr lang="en-US" sz="1200" b="1" kern="1200" dirty="0">
                <a:solidFill>
                  <a:schemeClr val="tx1"/>
                </a:solidFill>
                <a:effectLst/>
                <a:latin typeface="+mn-lt"/>
                <a:ea typeface="+mn-ea"/>
                <a:cs typeface="+mn-cs"/>
              </a:rPr>
              <a:t>Good Deflation</a:t>
            </a:r>
            <a:r>
              <a:rPr lang="en-US" sz="1200" kern="1200" dirty="0">
                <a:solidFill>
                  <a:schemeClr val="tx1"/>
                </a:solidFill>
                <a:effectLst/>
                <a:latin typeface="+mn-lt"/>
                <a:ea typeface="+mn-ea"/>
                <a:cs typeface="+mn-cs"/>
              </a:rPr>
              <a:t>—productivity-driven price reductions that expand corporate margins while improving consumer purchasing power.</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9</a:t>
            </a:fld>
            <a:endParaRPr lang="en-US"/>
          </a:p>
        </p:txBody>
      </p:sp>
    </p:spTree>
    <p:extLst>
      <p:ext uri="{BB962C8B-B14F-4D97-AF65-F5344CB8AC3E}">
        <p14:creationId xmlns:p14="http://schemas.microsoft.com/office/powerpoint/2010/main" val="834427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the macroeconomic backdrop is strong, consumer impact remains distinctly K-shaped:</a:t>
            </a:r>
          </a:p>
          <a:p>
            <a:r>
              <a:rPr lang="en-US" sz="1200" kern="1200" dirty="0">
                <a:solidFill>
                  <a:schemeClr val="tx1"/>
                </a:solidFill>
                <a:effectLst/>
                <a:latin typeface="+mn-lt"/>
                <a:ea typeface="+mn-ea"/>
                <a:cs typeface="+mn-cs"/>
              </a:rPr>
              <a:t>On the lower branch is </a:t>
            </a:r>
            <a:r>
              <a:rPr lang="en-US" sz="1200" b="1" kern="1200" dirty="0">
                <a:solidFill>
                  <a:schemeClr val="tx1"/>
                </a:solidFill>
                <a:effectLst/>
                <a:latin typeface="+mn-lt"/>
                <a:ea typeface="+mn-ea"/>
                <a:cs typeface="+mn-cs"/>
              </a:rPr>
              <a:t>The Trapped Consumer</a:t>
            </a:r>
            <a:r>
              <a:rPr lang="en-US" sz="1200" kern="1200" dirty="0">
                <a:solidFill>
                  <a:schemeClr val="tx1"/>
                </a:solidFill>
                <a:effectLst/>
                <a:latin typeface="+mn-lt"/>
                <a:ea typeface="+mn-ea"/>
                <a:cs typeface="+mn-cs"/>
              </a:rPr>
              <a:t>. Lower and middle-income households are facing real affordability pressures, tapping savings for daily expenses. Housing is frozen because existing homeowners are locked into 3% mortgages while prevailing rates sit near 7%. Clearing builder inventories will require home price adjustments.</a:t>
            </a:r>
          </a:p>
          <a:p>
            <a:r>
              <a:rPr lang="en-US" sz="1200" kern="1200" dirty="0">
                <a:solidFill>
                  <a:schemeClr val="tx1"/>
                </a:solidFill>
                <a:effectLst/>
                <a:latin typeface="+mn-lt"/>
                <a:ea typeface="+mn-ea"/>
                <a:cs typeface="+mn-cs"/>
              </a:rPr>
              <a:t>On the upper branch is </a:t>
            </a:r>
            <a:r>
              <a:rPr lang="en-US" sz="1200" b="1" kern="1200" dirty="0">
                <a:solidFill>
                  <a:schemeClr val="tx1"/>
                </a:solidFill>
                <a:effectLst/>
                <a:latin typeface="+mn-lt"/>
                <a:ea typeface="+mn-ea"/>
                <a:cs typeface="+mn-cs"/>
              </a:rPr>
              <a:t>The Asset Rich</a:t>
            </a:r>
            <a:r>
              <a:rPr lang="en-US" sz="1200" kern="1200" dirty="0">
                <a:solidFill>
                  <a:schemeClr val="tx1"/>
                </a:solidFill>
                <a:effectLst/>
                <a:latin typeface="+mn-lt"/>
                <a:ea typeface="+mn-ea"/>
                <a:cs typeface="+mn-cs"/>
              </a:rPr>
              <a:t>. Wealthier households hold all-time highs in equities with minimal cash allocations. Simultaneously, younger cohorts receiving intergenerational wealth transfers are putting capital directly into growth equities, crypto, and DeFi.</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10</a:t>
            </a:fld>
            <a:endParaRPr lang="en-US"/>
          </a:p>
        </p:txBody>
      </p:sp>
    </p:spTree>
    <p:extLst>
      <p:ext uri="{BB962C8B-B14F-4D97-AF65-F5344CB8AC3E}">
        <p14:creationId xmlns:p14="http://schemas.microsoft.com/office/powerpoint/2010/main" val="2977829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commodities market confirms this physical buildout. Copper is breaking out to all-time highs, driven by demand for data centers, grid electrification, and EVs.</a:t>
            </a:r>
          </a:p>
          <a:p>
            <a:r>
              <a:rPr lang="en-US" sz="1200" kern="1200" dirty="0">
                <a:solidFill>
                  <a:schemeClr val="tx1"/>
                </a:solidFill>
                <a:effectLst/>
                <a:latin typeface="+mn-lt"/>
                <a:ea typeface="+mn-ea"/>
                <a:cs typeface="+mn-cs"/>
              </a:rPr>
              <a:t>At the same time, gold is seeing downward relative pressure as fear-driven safe-haven demand softens.</a:t>
            </a:r>
          </a:p>
          <a:p>
            <a:r>
              <a:rPr lang="en-US" sz="1200" kern="1200" dirty="0">
                <a:solidFill>
                  <a:schemeClr val="tx1"/>
                </a:solidFill>
                <a:effectLst/>
                <a:latin typeface="+mn-lt"/>
                <a:ea typeface="+mn-ea"/>
                <a:cs typeface="+mn-cs"/>
              </a:rPr>
              <a:t>The historical positive correlation between the Metals-to-Gold ratio and Treasury yields is reasserting itself. The market is pricing in industrial infrastructure expansion rather than defensive hedging."</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11</a:t>
            </a:fld>
            <a:endParaRPr lang="en-US"/>
          </a:p>
        </p:txBody>
      </p:sp>
    </p:spTree>
    <p:extLst>
      <p:ext uri="{BB962C8B-B14F-4D97-AF65-F5344CB8AC3E}">
        <p14:creationId xmlns:p14="http://schemas.microsoft.com/office/powerpoint/2010/main" val="3449443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Digital assets are playing an active role in this technological integration:" </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Bitcoin &amp; AI:</a:t>
            </a:r>
            <a:r>
              <a:rPr lang="en-US" sz="1200" kern="1200" dirty="0">
                <a:solidFill>
                  <a:schemeClr val="tx1"/>
                </a:solidFill>
                <a:effectLst/>
                <a:latin typeface="+mn-lt"/>
                <a:ea typeface="+mn-ea"/>
                <a:cs typeface="+mn-cs"/>
              </a:rPr>
              <a:t> Autonomous AI agents require permissionless, 24/7 value-settlement layers. Bitcoin provides a standard rail for machine-to-machine economic transactions.</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Stablecoins:</a:t>
            </a:r>
            <a:r>
              <a:rPr lang="en-US" sz="1200" kern="1200" dirty="0">
                <a:solidFill>
                  <a:schemeClr val="tx1"/>
                </a:solidFill>
                <a:effectLst/>
                <a:latin typeface="+mn-lt"/>
                <a:ea typeface="+mn-ea"/>
                <a:cs typeface="+mn-cs"/>
              </a:rPr>
              <a:t> Stablecoins are becoming a primary settlement layer for global commerce, increasing net structural demand for short-duration US Treasuries.</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Systemic Health:</a:t>
            </a:r>
            <a:r>
              <a:rPr lang="en-US" sz="1200" kern="1200" dirty="0">
                <a:solidFill>
                  <a:schemeClr val="tx1"/>
                </a:solidFill>
                <a:effectLst/>
                <a:latin typeface="+mn-lt"/>
                <a:ea typeface="+mn-ea"/>
                <a:cs typeface="+mn-cs"/>
              </a:rPr>
              <a:t> Credit indicators remain stable. High-yield junk bond spreads relative to the 10-Year Treasury show no systemic distress across banking, private credit, or digital asset markets."</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12</a:t>
            </a:fld>
            <a:endParaRPr lang="en-US"/>
          </a:p>
        </p:txBody>
      </p:sp>
    </p:spTree>
    <p:extLst>
      <p:ext uri="{BB962C8B-B14F-4D97-AF65-F5344CB8AC3E}">
        <p14:creationId xmlns:p14="http://schemas.microsoft.com/office/powerpoint/2010/main" val="396731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 domestic corporate pre-tax profits are reaching multi-decade highs.</a:t>
            </a:r>
          </a:p>
          <a:p>
            <a:r>
              <a:rPr lang="en-US" sz="1200" kern="1200" dirty="0">
                <a:solidFill>
                  <a:schemeClr val="tx1"/>
                </a:solidFill>
                <a:effectLst/>
                <a:latin typeface="+mn-lt"/>
                <a:ea typeface="+mn-ea"/>
                <a:cs typeface="+mn-cs"/>
              </a:rPr>
              <a:t>Following COVID-era stimulus, critics expected profit margins to mean-revert downward. Instead, companies have preserved and expanded these baselines through AI-driven productivity.</a:t>
            </a:r>
          </a:p>
          <a:p>
            <a:r>
              <a:rPr lang="en-US" sz="1200" kern="1200" dirty="0">
                <a:solidFill>
                  <a:schemeClr val="tx1"/>
                </a:solidFill>
                <a:effectLst/>
                <a:latin typeface="+mn-lt"/>
                <a:ea typeface="+mn-ea"/>
                <a:cs typeface="+mn-cs"/>
              </a:rPr>
              <a:t>As efficiency increases, businesses can allocate surplus margins to retain key talent via higher compensation while selectively lowering end-user prices to gain market share.</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13</a:t>
            </a:fld>
            <a:endParaRPr lang="en-US"/>
          </a:p>
        </p:txBody>
      </p:sp>
    </p:spTree>
    <p:extLst>
      <p:ext uri="{BB962C8B-B14F-4D97-AF65-F5344CB8AC3E}">
        <p14:creationId xmlns:p14="http://schemas.microsoft.com/office/powerpoint/2010/main" val="1731720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Deflation is a tailwind for companies utilizing technology, but a threat to legacy operations.</a:t>
            </a:r>
          </a:p>
          <a:p>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Traditional blue-chip companies with heavy legacy cost structures will face margin compression as agile, AI-native competitors offer similar products at a fraction of the cost.</a:t>
            </a:r>
          </a:p>
          <a:p>
            <a:r>
              <a:rPr lang="en-US" sz="1200" b="1" kern="1200" dirty="0">
                <a:solidFill>
                  <a:schemeClr val="tx1"/>
                </a:solidFill>
                <a:effectLst/>
                <a:latin typeface="+mn-lt"/>
                <a:ea typeface="+mn-ea"/>
                <a:cs typeface="+mn-cs"/>
              </a:rPr>
              <a:t>The Opportunity:</a:t>
            </a:r>
            <a:r>
              <a:rPr lang="en-US" sz="1200" kern="1200" dirty="0">
                <a:solidFill>
                  <a:schemeClr val="tx1"/>
                </a:solidFill>
                <a:effectLst/>
                <a:latin typeface="+mn-lt"/>
                <a:ea typeface="+mn-ea"/>
                <a:cs typeface="+mn-cs"/>
              </a:rPr>
              <a:t> Passive index tracking may expose investors to legacy downside. Active management allows capital allocation toward the builders driving productivity-led deflation.</a:t>
            </a:r>
          </a:p>
          <a:p>
            <a:endParaRPr lang="en-US" dirty="0"/>
          </a:p>
        </p:txBody>
      </p:sp>
      <p:sp>
        <p:nvSpPr>
          <p:cNvPr id="4" name="Slide Number Placeholder 3"/>
          <p:cNvSpPr>
            <a:spLocks noGrp="1"/>
          </p:cNvSpPr>
          <p:nvPr>
            <p:ph type="sldNum" sz="quarter" idx="5"/>
          </p:nvPr>
        </p:nvSpPr>
        <p:spPr/>
        <p:txBody>
          <a:bodyPr/>
          <a:lstStyle/>
          <a:p>
            <a:fld id="{724D3756-002C-4FDA-A345-016A7C9EBBE7}" type="slidenum">
              <a:rPr lang="en-US" smtClean="0"/>
              <a:t>14</a:t>
            </a:fld>
            <a:endParaRPr lang="en-US"/>
          </a:p>
        </p:txBody>
      </p:sp>
    </p:spTree>
    <p:extLst>
      <p:ext uri="{BB962C8B-B14F-4D97-AF65-F5344CB8AC3E}">
        <p14:creationId xmlns:p14="http://schemas.microsoft.com/office/powerpoint/2010/main" val="1375217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pull everything together, what initially appeared to be a 'scary' jobs report is actually a signal of a structural pivot.</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Labor Pivot:</a:t>
            </a:r>
            <a:r>
              <a:rPr lang="en-US" sz="1200" kern="1200" dirty="0">
                <a:solidFill>
                  <a:schemeClr val="tx1"/>
                </a:solidFill>
                <a:effectLst/>
                <a:latin typeface="+mn-lt"/>
                <a:ea typeface="+mn-ea"/>
                <a:cs typeface="+mn-cs"/>
              </a:rPr>
              <a:t> -23,000 nonfarm payrolls reflect demographic retirement acceleration rather than economic collapse. 3% productivity growth keeps unit labor costs near zero.</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Innovation &amp; Cap-Ex:</a:t>
            </a:r>
            <a:r>
              <a:rPr lang="en-US" sz="1200" kern="1200" dirty="0">
                <a:solidFill>
                  <a:schemeClr val="tx1"/>
                </a:solidFill>
                <a:effectLst/>
                <a:latin typeface="+mn-lt"/>
                <a:ea typeface="+mn-ea"/>
                <a:cs typeface="+mn-cs"/>
              </a:rPr>
              <a:t> Collapsing AI inference costs (-99.99%) paired with tax-incentivized depreciation are fueling capital investment and solo entrepreneurship.</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Inflation Trend:</a:t>
            </a:r>
            <a:r>
              <a:rPr lang="en-US" sz="1200" kern="1200" dirty="0">
                <a:solidFill>
                  <a:schemeClr val="tx1"/>
                </a:solidFill>
                <a:effectLst/>
                <a:latin typeface="+mn-lt"/>
                <a:ea typeface="+mn-ea"/>
                <a:cs typeface="+mn-cs"/>
              </a:rPr>
              <a:t> Lower input costs from energy and software efficiency are pushing inflation metrics downward in a controlled manner.</a:t>
            </a:r>
          </a:p>
          <a:p>
            <a:r>
              <a:rPr lang="en-US" sz="1200" kern="1200" dirty="0">
                <a:solidFill>
                  <a:schemeClr val="tx1"/>
                </a:solidFill>
                <a:effectLst/>
                <a:latin typeface="+mn-lt"/>
                <a:ea typeface="+mn-ea"/>
                <a:cs typeface="+mn-cs"/>
              </a:rPr>
              <a:t>In short, we are transitioning from a high-cost, inflationary environment into a </a:t>
            </a:r>
            <a:r>
              <a:rPr lang="en-US" sz="1200" b="1" kern="1200" dirty="0">
                <a:solidFill>
                  <a:schemeClr val="tx1"/>
                </a:solidFill>
                <a:effectLst/>
                <a:latin typeface="+mn-lt"/>
                <a:ea typeface="+mn-ea"/>
                <a:cs typeface="+mn-cs"/>
              </a:rPr>
              <a:t>high-productivity Deflationary Boom</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724D3756-002C-4FDA-A345-016A7C9EBBE7}" type="slidenum">
              <a:rPr lang="en-US" smtClean="0"/>
              <a:t>15</a:t>
            </a:fld>
            <a:endParaRPr lang="en-US"/>
          </a:p>
        </p:txBody>
      </p:sp>
    </p:spTree>
    <p:extLst>
      <p:ext uri="{BB962C8B-B14F-4D97-AF65-F5344CB8AC3E}">
        <p14:creationId xmlns:p14="http://schemas.microsoft.com/office/powerpoint/2010/main" val="3829844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1C2AED-6869-EC05-2DE8-E3301C1177AA}"/>
              </a:ext>
            </a:extLst>
          </p:cNvPr>
          <p:cNvSpPr>
            <a:spLocks noGrp="1"/>
          </p:cNvSpPr>
          <p:nvPr>
            <p:ph type="dt" sz="half" idx="10"/>
          </p:nvPr>
        </p:nvSpPr>
        <p:spPr/>
        <p:txBody>
          <a:bodyPr/>
          <a:lstStyle/>
          <a:p>
            <a:fld id="{8CFC8EFC-B4C9-4EDB-99FD-F373B61487CD}" type="datetimeFigureOut">
              <a:rPr lang="en-US" smtClean="0"/>
              <a:t>10/19/2026</a:t>
            </a:fld>
            <a:endParaRPr lang="en-US"/>
          </a:p>
        </p:txBody>
      </p:sp>
      <p:sp>
        <p:nvSpPr>
          <p:cNvPr id="3" name="Footer Placeholder 2">
            <a:extLst>
              <a:ext uri="{FF2B5EF4-FFF2-40B4-BE49-F238E27FC236}">
                <a16:creationId xmlns:a16="http://schemas.microsoft.com/office/drawing/2014/main" id="{E75F1A3F-2482-4608-FB24-9E14042ACA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953EB1-9E41-F70E-585A-B7A0300AD56D}"/>
              </a:ext>
            </a:extLst>
          </p:cNvPr>
          <p:cNvSpPr>
            <a:spLocks noGrp="1"/>
          </p:cNvSpPr>
          <p:nvPr>
            <p:ph type="sldNum" sz="quarter" idx="12"/>
          </p:nvPr>
        </p:nvSpPr>
        <p:spPr/>
        <p:txBody>
          <a:bodyPr/>
          <a:lstStyle/>
          <a:p>
            <a:fld id="{CB285F51-3220-4D02-A846-6E26CA3100D8}" type="slidenum">
              <a:rPr lang="en-US" smtClean="0"/>
              <a:t>‹#›</a:t>
            </a:fld>
            <a:endParaRPr lang="en-US"/>
          </a:p>
        </p:txBody>
      </p:sp>
    </p:spTree>
    <p:extLst>
      <p:ext uri="{BB962C8B-B14F-4D97-AF65-F5344CB8AC3E}">
        <p14:creationId xmlns:p14="http://schemas.microsoft.com/office/powerpoint/2010/main" val="361704846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83ACA8-2E6F-B163-DC0B-DDFC3FF783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3123E2-6C11-24E5-8037-46B620A25C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D5CC1A-95DF-CA88-106A-F13E26352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FC8EFC-B4C9-4EDB-99FD-F373B61487CD}" type="datetimeFigureOut">
              <a:rPr lang="en-US" smtClean="0"/>
              <a:t>10/19/2026</a:t>
            </a:fld>
            <a:endParaRPr lang="en-US"/>
          </a:p>
        </p:txBody>
      </p:sp>
      <p:sp>
        <p:nvSpPr>
          <p:cNvPr id="5" name="Footer Placeholder 4">
            <a:extLst>
              <a:ext uri="{FF2B5EF4-FFF2-40B4-BE49-F238E27FC236}">
                <a16:creationId xmlns:a16="http://schemas.microsoft.com/office/drawing/2014/main" id="{DE4A52B5-1515-D4E6-D165-2A45876EAA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C68B0C-FB7B-22D0-09DB-A2498C6AF0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285F51-3220-4D02-A846-6E26CA3100D8}" type="slidenum">
              <a:rPr lang="en-US" smtClean="0"/>
              <a:t>‹#›</a:t>
            </a:fld>
            <a:endParaRPr lang="en-US"/>
          </a:p>
        </p:txBody>
      </p:sp>
    </p:spTree>
    <p:extLst>
      <p:ext uri="{BB962C8B-B14F-4D97-AF65-F5344CB8AC3E}">
        <p14:creationId xmlns:p14="http://schemas.microsoft.com/office/powerpoint/2010/main" val="210743257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66F8A5-7C39-1968-1BC3-285FF5206F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E2BB47-88D9-F496-CCFD-C8328F19BF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9FC78B-997A-00A9-BC2D-FA34E937C8A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D5BBDB-422C-6E0F-CB02-BE2156BFBD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5204E9-87B1-9324-26F7-1363337426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C3AD88-6C02-9195-C391-F1E6E30A7E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03691A-56DE-A4EB-3611-5F98A32C53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FD2428-A5A3-9388-DE7E-9B91DD44FD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00FCB7-F80E-0D60-D375-974D6F8107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C6D066-8138-68B1-FDB4-86488E45FF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6B1CDE-4A66-72A5-5E6D-C5B54B5F71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AFAC81-2D8F-FFA3-4029-16162740C9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B87D1C-8E3D-CAFA-4A8B-E8E835C300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B02BE2-9C51-49F6-577E-4E5E5759C2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86761D-86C3-02CD-D294-92E5B355B6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770017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1601</Words>
  <Application>Microsoft Office PowerPoint</Application>
  <PresentationFormat>寬螢幕</PresentationFormat>
  <Paragraphs>71</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2026-08-08T10:28:40Z</dcterms:created>
  <dcterms:modified xsi:type="dcterms:W3CDTF">2026-10-19T15:41:46Z</dcterms:modified>
</cp:coreProperties>
</file>