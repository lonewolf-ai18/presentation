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98EE4D-5AC1-4ECB-B2E1-45705E34D852}" v="27" dt="2026-08-25T01:23:07.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8532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25T01:24:06.916" v="152" actId="166"/>
      <pc:docMkLst>
        <pc:docMk/>
      </pc:docMkLst>
      <pc:sldChg chg="addSp delSp modSp mod modAnim modNotes modNotesTx">
        <pc:chgData name="Lai, Wilson" userId="2840974a-0d84-4886-90a9-9a3ed79f3a48" providerId="ADAL" clId="{9F23B798-9E84-4552-BA63-E776E805C424}" dt="2026-08-25T01:24:06.916" v="152" actId="166"/>
        <pc:sldMkLst>
          <pc:docMk/>
          <pc:sldMk cId="0" sldId="257"/>
        </pc:sldMkLst>
        <pc:spChg chg="add mod topLvl">
          <ac:chgData name="Lai, Wilson" userId="2840974a-0d84-4886-90a9-9a3ed79f3a48" providerId="ADAL" clId="{9F23B798-9E84-4552-BA63-E776E805C424}" dt="2026-08-24T11:23:54.718" v="53" actId="164"/>
          <ac:spMkLst>
            <pc:docMk/>
            <pc:sldMk cId="0" sldId="257"/>
            <ac:spMk id="5" creationId="{A776A448-B4D9-6988-A384-7EAE9A3E3AC4}"/>
          </ac:spMkLst>
        </pc:spChg>
        <pc:grpChg chg="add mod">
          <ac:chgData name="Lai, Wilson" userId="2840974a-0d84-4886-90a9-9a3ed79f3a48" providerId="ADAL" clId="{9F23B798-9E84-4552-BA63-E776E805C424}" dt="2026-08-24T11:23:54.718" v="53" actId="164"/>
          <ac:grpSpMkLst>
            <pc:docMk/>
            <pc:sldMk cId="0" sldId="257"/>
            <ac:grpSpMk id="3" creationId="{8AD88324-E6E8-8251-E1A4-4AD38186080D}"/>
          </ac:grpSpMkLst>
        </pc:grpChg>
        <pc:grpChg chg="add del mod">
          <ac:chgData name="Lai, Wilson" userId="2840974a-0d84-4886-90a9-9a3ed79f3a48" providerId="ADAL" clId="{9F23B798-9E84-4552-BA63-E776E805C424}" dt="2026-08-24T11:23:48.877" v="52" actId="165"/>
          <ac:grpSpMkLst>
            <pc:docMk/>
            <pc:sldMk cId="0" sldId="257"/>
            <ac:grpSpMk id="7" creationId="{39BC53A1-FC20-BBD9-3F77-31AEAB5A7CFE}"/>
          </ac:grpSpMkLst>
        </pc:grpChg>
        <pc:picChg chg="del">
          <ac:chgData name="Lai, Wilson" userId="2840974a-0d84-4886-90a9-9a3ed79f3a48" providerId="ADAL" clId="{9F23B798-9E84-4552-BA63-E776E805C424}" dt="2026-08-24T09:04:02.866" v="0" actId="21"/>
          <ac:picMkLst>
            <pc:docMk/>
            <pc:sldMk cId="0" sldId="257"/>
            <ac:picMk id="2" creationId="{00000000-0000-0000-0000-000000000000}"/>
          </ac:picMkLst>
        </pc:picChg>
        <pc:picChg chg="add mod topLvl">
          <ac:chgData name="Lai, Wilson" userId="2840974a-0d84-4886-90a9-9a3ed79f3a48" providerId="ADAL" clId="{9F23B798-9E84-4552-BA63-E776E805C424}" dt="2026-08-24T11:23:54.718" v="53" actId="164"/>
          <ac:picMkLst>
            <pc:docMk/>
            <pc:sldMk cId="0" sldId="257"/>
            <ac:picMk id="2" creationId="{BF0F64CC-CE99-F4BD-36C3-B76ED4BA4547}"/>
          </ac:picMkLst>
        </pc:picChg>
        <pc:picChg chg="add mod ord topLvl">
          <ac:chgData name="Lai, Wilson" userId="2840974a-0d84-4886-90a9-9a3ed79f3a48" providerId="ADAL" clId="{9F23B798-9E84-4552-BA63-E776E805C424}" dt="2026-08-25T01:24:06.916" v="152" actId="166"/>
          <ac:picMkLst>
            <pc:docMk/>
            <pc:sldMk cId="0" sldId="257"/>
            <ac:picMk id="4" creationId="{0852545A-7848-CF24-18C4-14B2112E6321}"/>
          </ac:picMkLst>
        </pc:picChg>
        <pc:picChg chg="add mod">
          <ac:chgData name="Lai, Wilson" userId="2840974a-0d84-4886-90a9-9a3ed79f3a48" providerId="ADAL" clId="{9F23B798-9E84-4552-BA63-E776E805C424}" dt="2026-08-24T11:17:08.717" v="39" actId="571"/>
          <ac:picMkLst>
            <pc:docMk/>
            <pc:sldMk cId="0" sldId="257"/>
            <ac:picMk id="6" creationId="{C8EA56AA-51A5-0509-9B74-7910852BE02F}"/>
          </ac:picMkLst>
        </pc:picChg>
      </pc:sldChg>
      <pc:sldChg chg="addSp delSp mod modNotes modNotesTx">
        <pc:chgData name="Lai, Wilson" userId="2840974a-0d84-4886-90a9-9a3ed79f3a48" providerId="ADAL" clId="{9F23B798-9E84-4552-BA63-E776E805C424}" dt="2026-08-25T01:23:07.146" v="150"/>
        <pc:sldMkLst>
          <pc:docMk/>
          <pc:sldMk cId="0" sldId="258"/>
        </pc:sldMkLst>
        <pc:picChg chg="del">
          <ac:chgData name="Lai, Wilson" userId="2840974a-0d84-4886-90a9-9a3ed79f3a48" providerId="ADAL" clId="{9F23B798-9E84-4552-BA63-E776E805C424}" dt="2026-08-24T09:04:17.465" v="2" actId="21"/>
          <ac:picMkLst>
            <pc:docMk/>
            <pc:sldMk cId="0" sldId="258"/>
            <ac:picMk id="2" creationId="{00000000-0000-0000-0000-000000000000}"/>
          </ac:picMkLst>
        </pc:picChg>
        <pc:picChg chg="add">
          <ac:chgData name="Lai, Wilson" userId="2840974a-0d84-4886-90a9-9a3ed79f3a48" providerId="ADAL" clId="{9F23B798-9E84-4552-BA63-E776E805C424}" dt="2026-08-24T09:04:24.849" v="3" actId="22"/>
          <ac:picMkLst>
            <pc:docMk/>
            <pc:sldMk cId="0" sldId="258"/>
            <ac:picMk id="4" creationId="{BFF63EB5-2C9C-E884-B0C6-0BB189420ADD}"/>
          </ac:picMkLst>
        </pc:picChg>
      </pc:sldChg>
      <pc:sldChg chg="addSp delSp mod modNotes modNotesTx">
        <pc:chgData name="Lai, Wilson" userId="2840974a-0d84-4886-90a9-9a3ed79f3a48" providerId="ADAL" clId="{9F23B798-9E84-4552-BA63-E776E805C424}" dt="2026-08-25T01:23:07.146" v="150"/>
        <pc:sldMkLst>
          <pc:docMk/>
          <pc:sldMk cId="0" sldId="259"/>
        </pc:sldMkLst>
        <pc:picChg chg="del">
          <ac:chgData name="Lai, Wilson" userId="2840974a-0d84-4886-90a9-9a3ed79f3a48" providerId="ADAL" clId="{9F23B798-9E84-4552-BA63-E776E805C424}" dt="2026-08-24T09:04:30.608" v="4" actId="21"/>
          <ac:picMkLst>
            <pc:docMk/>
            <pc:sldMk cId="0" sldId="259"/>
            <ac:picMk id="2" creationId="{00000000-0000-0000-0000-000000000000}"/>
          </ac:picMkLst>
        </pc:picChg>
        <pc:picChg chg="add">
          <ac:chgData name="Lai, Wilson" userId="2840974a-0d84-4886-90a9-9a3ed79f3a48" providerId="ADAL" clId="{9F23B798-9E84-4552-BA63-E776E805C424}" dt="2026-08-24T09:04:44.483" v="5" actId="22"/>
          <ac:picMkLst>
            <pc:docMk/>
            <pc:sldMk cId="0" sldId="259"/>
            <ac:picMk id="4" creationId="{EB800866-9B17-BA22-9072-35DEF7A3F4C0}"/>
          </ac:picMkLst>
        </pc:picChg>
      </pc:sldChg>
      <pc:sldChg chg="addSp delSp mod modNotes modNotesTx">
        <pc:chgData name="Lai, Wilson" userId="2840974a-0d84-4886-90a9-9a3ed79f3a48" providerId="ADAL" clId="{9F23B798-9E84-4552-BA63-E776E805C424}" dt="2026-08-25T01:23:07.146" v="150"/>
        <pc:sldMkLst>
          <pc:docMk/>
          <pc:sldMk cId="0" sldId="260"/>
        </pc:sldMkLst>
        <pc:picChg chg="del">
          <ac:chgData name="Lai, Wilson" userId="2840974a-0d84-4886-90a9-9a3ed79f3a48" providerId="ADAL" clId="{9F23B798-9E84-4552-BA63-E776E805C424}" dt="2026-08-24T09:04:47.296" v="6" actId="21"/>
          <ac:picMkLst>
            <pc:docMk/>
            <pc:sldMk cId="0" sldId="260"/>
            <ac:picMk id="2" creationId="{00000000-0000-0000-0000-000000000000}"/>
          </ac:picMkLst>
        </pc:picChg>
        <pc:picChg chg="add">
          <ac:chgData name="Lai, Wilson" userId="2840974a-0d84-4886-90a9-9a3ed79f3a48" providerId="ADAL" clId="{9F23B798-9E84-4552-BA63-E776E805C424}" dt="2026-08-24T09:04:56.241" v="7" actId="22"/>
          <ac:picMkLst>
            <pc:docMk/>
            <pc:sldMk cId="0" sldId="260"/>
            <ac:picMk id="4" creationId="{E01F5146-FDAB-4995-79EA-6B6D636C6824}"/>
          </ac:picMkLst>
        </pc:picChg>
      </pc:sldChg>
      <pc:sldChg chg="addSp delSp mod modNotes modNotesTx">
        <pc:chgData name="Lai, Wilson" userId="2840974a-0d84-4886-90a9-9a3ed79f3a48" providerId="ADAL" clId="{9F23B798-9E84-4552-BA63-E776E805C424}" dt="2026-08-25T01:23:07.146" v="150"/>
        <pc:sldMkLst>
          <pc:docMk/>
          <pc:sldMk cId="0" sldId="261"/>
        </pc:sldMkLst>
        <pc:picChg chg="del">
          <ac:chgData name="Lai, Wilson" userId="2840974a-0d84-4886-90a9-9a3ed79f3a48" providerId="ADAL" clId="{9F23B798-9E84-4552-BA63-E776E805C424}" dt="2026-08-24T09:04:59.850" v="8" actId="21"/>
          <ac:picMkLst>
            <pc:docMk/>
            <pc:sldMk cId="0" sldId="261"/>
            <ac:picMk id="2" creationId="{00000000-0000-0000-0000-000000000000}"/>
          </ac:picMkLst>
        </pc:picChg>
        <pc:picChg chg="add">
          <ac:chgData name="Lai, Wilson" userId="2840974a-0d84-4886-90a9-9a3ed79f3a48" providerId="ADAL" clId="{9F23B798-9E84-4552-BA63-E776E805C424}" dt="2026-08-24T09:05:07.939" v="9" actId="22"/>
          <ac:picMkLst>
            <pc:docMk/>
            <pc:sldMk cId="0" sldId="261"/>
            <ac:picMk id="4" creationId="{079253AB-B505-B1CB-BBED-059A1C2141B5}"/>
          </ac:picMkLst>
        </pc:picChg>
      </pc:sldChg>
      <pc:sldChg chg="addSp delSp mod modNotes modNotesTx">
        <pc:chgData name="Lai, Wilson" userId="2840974a-0d84-4886-90a9-9a3ed79f3a48" providerId="ADAL" clId="{9F23B798-9E84-4552-BA63-E776E805C424}" dt="2026-08-25T01:23:07.146" v="150"/>
        <pc:sldMkLst>
          <pc:docMk/>
          <pc:sldMk cId="0" sldId="262"/>
        </pc:sldMkLst>
        <pc:picChg chg="del">
          <ac:chgData name="Lai, Wilson" userId="2840974a-0d84-4886-90a9-9a3ed79f3a48" providerId="ADAL" clId="{9F23B798-9E84-4552-BA63-E776E805C424}" dt="2026-08-24T09:05:11.017" v="10" actId="21"/>
          <ac:picMkLst>
            <pc:docMk/>
            <pc:sldMk cId="0" sldId="262"/>
            <ac:picMk id="2" creationId="{00000000-0000-0000-0000-000000000000}"/>
          </ac:picMkLst>
        </pc:picChg>
        <pc:picChg chg="add">
          <ac:chgData name="Lai, Wilson" userId="2840974a-0d84-4886-90a9-9a3ed79f3a48" providerId="ADAL" clId="{9F23B798-9E84-4552-BA63-E776E805C424}" dt="2026-08-24T09:05:17.943" v="11" actId="22"/>
          <ac:picMkLst>
            <pc:docMk/>
            <pc:sldMk cId="0" sldId="262"/>
            <ac:picMk id="4" creationId="{8499B60A-C642-C27D-392B-FA3ABEA2C673}"/>
          </ac:picMkLst>
        </pc:picChg>
      </pc:sldChg>
      <pc:sldChg chg="addSp delSp mod modNotes modNotesTx">
        <pc:chgData name="Lai, Wilson" userId="2840974a-0d84-4886-90a9-9a3ed79f3a48" providerId="ADAL" clId="{9F23B798-9E84-4552-BA63-E776E805C424}" dt="2026-08-25T01:23:07.146" v="150"/>
        <pc:sldMkLst>
          <pc:docMk/>
          <pc:sldMk cId="0" sldId="263"/>
        </pc:sldMkLst>
        <pc:picChg chg="del">
          <ac:chgData name="Lai, Wilson" userId="2840974a-0d84-4886-90a9-9a3ed79f3a48" providerId="ADAL" clId="{9F23B798-9E84-4552-BA63-E776E805C424}" dt="2026-08-24T09:05:20.750" v="12" actId="21"/>
          <ac:picMkLst>
            <pc:docMk/>
            <pc:sldMk cId="0" sldId="263"/>
            <ac:picMk id="2" creationId="{00000000-0000-0000-0000-000000000000}"/>
          </ac:picMkLst>
        </pc:picChg>
        <pc:picChg chg="add">
          <ac:chgData name="Lai, Wilson" userId="2840974a-0d84-4886-90a9-9a3ed79f3a48" providerId="ADAL" clId="{9F23B798-9E84-4552-BA63-E776E805C424}" dt="2026-08-24T09:05:54.058" v="13" actId="22"/>
          <ac:picMkLst>
            <pc:docMk/>
            <pc:sldMk cId="0" sldId="263"/>
            <ac:picMk id="4" creationId="{6B4A240A-615F-4A9E-DA10-C1A23575154D}"/>
          </ac:picMkLst>
        </pc:picChg>
      </pc:sldChg>
      <pc:sldChg chg="addSp delSp mod modNotes modNotesTx">
        <pc:chgData name="Lai, Wilson" userId="2840974a-0d84-4886-90a9-9a3ed79f3a48" providerId="ADAL" clId="{9F23B798-9E84-4552-BA63-E776E805C424}" dt="2026-08-25T01:23:07.146" v="150"/>
        <pc:sldMkLst>
          <pc:docMk/>
          <pc:sldMk cId="0" sldId="264"/>
        </pc:sldMkLst>
        <pc:picChg chg="del">
          <ac:chgData name="Lai, Wilson" userId="2840974a-0d84-4886-90a9-9a3ed79f3a48" providerId="ADAL" clId="{9F23B798-9E84-4552-BA63-E776E805C424}" dt="2026-08-24T09:05:55.976" v="14" actId="21"/>
          <ac:picMkLst>
            <pc:docMk/>
            <pc:sldMk cId="0" sldId="264"/>
            <ac:picMk id="2" creationId="{00000000-0000-0000-0000-000000000000}"/>
          </ac:picMkLst>
        </pc:picChg>
        <pc:picChg chg="add">
          <ac:chgData name="Lai, Wilson" userId="2840974a-0d84-4886-90a9-9a3ed79f3a48" providerId="ADAL" clId="{9F23B798-9E84-4552-BA63-E776E805C424}" dt="2026-08-24T09:06:02.812" v="15" actId="22"/>
          <ac:picMkLst>
            <pc:docMk/>
            <pc:sldMk cId="0" sldId="264"/>
            <ac:picMk id="4" creationId="{08A77F17-B624-1B72-8D83-B5D33AFBD0C5}"/>
          </ac:picMkLst>
        </pc:picChg>
      </pc:sldChg>
      <pc:sldChg chg="addSp delSp mod modNotes modNotesTx">
        <pc:chgData name="Lai, Wilson" userId="2840974a-0d84-4886-90a9-9a3ed79f3a48" providerId="ADAL" clId="{9F23B798-9E84-4552-BA63-E776E805C424}" dt="2026-08-25T01:23:07.146" v="150"/>
        <pc:sldMkLst>
          <pc:docMk/>
          <pc:sldMk cId="0" sldId="265"/>
        </pc:sldMkLst>
        <pc:picChg chg="del">
          <ac:chgData name="Lai, Wilson" userId="2840974a-0d84-4886-90a9-9a3ed79f3a48" providerId="ADAL" clId="{9F23B798-9E84-4552-BA63-E776E805C424}" dt="2026-08-24T09:06:04.609" v="16" actId="21"/>
          <ac:picMkLst>
            <pc:docMk/>
            <pc:sldMk cId="0" sldId="265"/>
            <ac:picMk id="2" creationId="{00000000-0000-0000-0000-000000000000}"/>
          </ac:picMkLst>
        </pc:picChg>
        <pc:picChg chg="add">
          <ac:chgData name="Lai, Wilson" userId="2840974a-0d84-4886-90a9-9a3ed79f3a48" providerId="ADAL" clId="{9F23B798-9E84-4552-BA63-E776E805C424}" dt="2026-08-24T09:06:11.757" v="17" actId="22"/>
          <ac:picMkLst>
            <pc:docMk/>
            <pc:sldMk cId="0" sldId="265"/>
            <ac:picMk id="4" creationId="{EAA9B189-F66F-10CD-C498-E630A0DE473E}"/>
          </ac:picMkLst>
        </pc:picChg>
      </pc:sldChg>
      <pc:sldChg chg="addSp delSp mod modNotes modNotesTx">
        <pc:chgData name="Lai, Wilson" userId="2840974a-0d84-4886-90a9-9a3ed79f3a48" providerId="ADAL" clId="{9F23B798-9E84-4552-BA63-E776E805C424}" dt="2026-08-25T01:23:07.146" v="150"/>
        <pc:sldMkLst>
          <pc:docMk/>
          <pc:sldMk cId="0" sldId="266"/>
        </pc:sldMkLst>
        <pc:picChg chg="del">
          <ac:chgData name="Lai, Wilson" userId="2840974a-0d84-4886-90a9-9a3ed79f3a48" providerId="ADAL" clId="{9F23B798-9E84-4552-BA63-E776E805C424}" dt="2026-08-24T09:06:13.364" v="18" actId="21"/>
          <ac:picMkLst>
            <pc:docMk/>
            <pc:sldMk cId="0" sldId="266"/>
            <ac:picMk id="2" creationId="{00000000-0000-0000-0000-000000000000}"/>
          </ac:picMkLst>
        </pc:picChg>
        <pc:picChg chg="add">
          <ac:chgData name="Lai, Wilson" userId="2840974a-0d84-4886-90a9-9a3ed79f3a48" providerId="ADAL" clId="{9F23B798-9E84-4552-BA63-E776E805C424}" dt="2026-08-24T09:06:20.230" v="19" actId="22"/>
          <ac:picMkLst>
            <pc:docMk/>
            <pc:sldMk cId="0" sldId="266"/>
            <ac:picMk id="4" creationId="{6975D2C0-19C9-C851-F714-155C03DDA428}"/>
          </ac:picMkLst>
        </pc:picChg>
      </pc:sldChg>
      <pc:sldChg chg="addSp delSp mod modNotes modNotesTx">
        <pc:chgData name="Lai, Wilson" userId="2840974a-0d84-4886-90a9-9a3ed79f3a48" providerId="ADAL" clId="{9F23B798-9E84-4552-BA63-E776E805C424}" dt="2026-08-25T01:23:07.146" v="150"/>
        <pc:sldMkLst>
          <pc:docMk/>
          <pc:sldMk cId="0" sldId="267"/>
        </pc:sldMkLst>
        <pc:picChg chg="del">
          <ac:chgData name="Lai, Wilson" userId="2840974a-0d84-4886-90a9-9a3ed79f3a48" providerId="ADAL" clId="{9F23B798-9E84-4552-BA63-E776E805C424}" dt="2026-08-24T09:06:22.075" v="20" actId="21"/>
          <ac:picMkLst>
            <pc:docMk/>
            <pc:sldMk cId="0" sldId="267"/>
            <ac:picMk id="2" creationId="{00000000-0000-0000-0000-000000000000}"/>
          </ac:picMkLst>
        </pc:picChg>
        <pc:picChg chg="add">
          <ac:chgData name="Lai, Wilson" userId="2840974a-0d84-4886-90a9-9a3ed79f3a48" providerId="ADAL" clId="{9F23B798-9E84-4552-BA63-E776E805C424}" dt="2026-08-24T09:06:28.691" v="21" actId="22"/>
          <ac:picMkLst>
            <pc:docMk/>
            <pc:sldMk cId="0" sldId="267"/>
            <ac:picMk id="4" creationId="{2B063B3C-A704-ED6E-FD4B-A69D1E2B1EA3}"/>
          </ac:picMkLst>
        </pc:picChg>
      </pc:sldChg>
      <pc:sldChg chg="addSp delSp modSp mod modNotes modNotesTx">
        <pc:chgData name="Lai, Wilson" userId="2840974a-0d84-4886-90a9-9a3ed79f3a48" providerId="ADAL" clId="{9F23B798-9E84-4552-BA63-E776E805C424}" dt="2026-08-25T01:23:07.146" v="150"/>
        <pc:sldMkLst>
          <pc:docMk/>
          <pc:sldMk cId="0" sldId="268"/>
        </pc:sldMkLst>
        <pc:picChg chg="del">
          <ac:chgData name="Lai, Wilson" userId="2840974a-0d84-4886-90a9-9a3ed79f3a48" providerId="ADAL" clId="{9F23B798-9E84-4552-BA63-E776E805C424}" dt="2026-08-24T09:06:30.971" v="22" actId="21"/>
          <ac:picMkLst>
            <pc:docMk/>
            <pc:sldMk cId="0" sldId="268"/>
            <ac:picMk id="2" creationId="{00000000-0000-0000-0000-000000000000}"/>
          </ac:picMkLst>
        </pc:picChg>
        <pc:picChg chg="add mod">
          <ac:chgData name="Lai, Wilson" userId="2840974a-0d84-4886-90a9-9a3ed79f3a48" providerId="ADAL" clId="{9F23B798-9E84-4552-BA63-E776E805C424}" dt="2026-08-25T01:20:21.951" v="123" actId="14100"/>
          <ac:picMkLst>
            <pc:docMk/>
            <pc:sldMk cId="0" sldId="268"/>
            <ac:picMk id="4" creationId="{2137CBEC-A8A2-408A-804A-785E6BF75277}"/>
          </ac:picMkLst>
        </pc:picChg>
      </pc:sldChg>
      <pc:sldChg chg="addSp delSp mod modNotes modNotesTx">
        <pc:chgData name="Lai, Wilson" userId="2840974a-0d84-4886-90a9-9a3ed79f3a48" providerId="ADAL" clId="{9F23B798-9E84-4552-BA63-E776E805C424}" dt="2026-08-25T01:23:07.146" v="150"/>
        <pc:sldMkLst>
          <pc:docMk/>
          <pc:sldMk cId="0" sldId="269"/>
        </pc:sldMkLst>
        <pc:picChg chg="del">
          <ac:chgData name="Lai, Wilson" userId="2840974a-0d84-4886-90a9-9a3ed79f3a48" providerId="ADAL" clId="{9F23B798-9E84-4552-BA63-E776E805C424}" dt="2026-08-24T09:06:41.685" v="24" actId="21"/>
          <ac:picMkLst>
            <pc:docMk/>
            <pc:sldMk cId="0" sldId="269"/>
            <ac:picMk id="2" creationId="{00000000-0000-0000-0000-000000000000}"/>
          </ac:picMkLst>
        </pc:picChg>
        <pc:picChg chg="add">
          <ac:chgData name="Lai, Wilson" userId="2840974a-0d84-4886-90a9-9a3ed79f3a48" providerId="ADAL" clId="{9F23B798-9E84-4552-BA63-E776E805C424}" dt="2026-08-24T09:06:49.587" v="25" actId="22"/>
          <ac:picMkLst>
            <pc:docMk/>
            <pc:sldMk cId="0" sldId="269"/>
            <ac:picMk id="4" creationId="{9DD879F6-C747-59C8-CBAD-A22B9857EF2B}"/>
          </ac:picMkLst>
        </pc:picChg>
      </pc:sldChg>
      <pc:sldChg chg="addSp delSp mod modNotes modNotesTx">
        <pc:chgData name="Lai, Wilson" userId="2840974a-0d84-4886-90a9-9a3ed79f3a48" providerId="ADAL" clId="{9F23B798-9E84-4552-BA63-E776E805C424}" dt="2026-08-25T01:23:07.146" v="150"/>
        <pc:sldMkLst>
          <pc:docMk/>
          <pc:sldMk cId="0" sldId="270"/>
        </pc:sldMkLst>
        <pc:picChg chg="del">
          <ac:chgData name="Lai, Wilson" userId="2840974a-0d84-4886-90a9-9a3ed79f3a48" providerId="ADAL" clId="{9F23B798-9E84-4552-BA63-E776E805C424}" dt="2026-08-24T09:06:51.868" v="26" actId="21"/>
          <ac:picMkLst>
            <pc:docMk/>
            <pc:sldMk cId="0" sldId="270"/>
            <ac:picMk id="2" creationId="{00000000-0000-0000-0000-000000000000}"/>
          </ac:picMkLst>
        </pc:picChg>
        <pc:picChg chg="add">
          <ac:chgData name="Lai, Wilson" userId="2840974a-0d84-4886-90a9-9a3ed79f3a48" providerId="ADAL" clId="{9F23B798-9E84-4552-BA63-E776E805C424}" dt="2026-08-24T09:06:59.429" v="27" actId="22"/>
          <ac:picMkLst>
            <pc:docMk/>
            <pc:sldMk cId="0" sldId="270"/>
            <ac:picMk id="4" creationId="{A32599F0-7A09-3E58-C8AE-367CC21B0E1C}"/>
          </ac:picMkLst>
        </pc:picChg>
      </pc:sldChg>
      <pc:sldChg chg="addSp delSp mod modNotes modNotesTx">
        <pc:chgData name="Lai, Wilson" userId="2840974a-0d84-4886-90a9-9a3ed79f3a48" providerId="ADAL" clId="{9F23B798-9E84-4552-BA63-E776E805C424}" dt="2026-08-25T01:23:07.146" v="150"/>
        <pc:sldMkLst>
          <pc:docMk/>
          <pc:sldMk cId="0" sldId="271"/>
        </pc:sldMkLst>
        <pc:picChg chg="del">
          <ac:chgData name="Lai, Wilson" userId="2840974a-0d84-4886-90a9-9a3ed79f3a48" providerId="ADAL" clId="{9F23B798-9E84-4552-BA63-E776E805C424}" dt="2026-08-24T09:07:01.742" v="28" actId="21"/>
          <ac:picMkLst>
            <pc:docMk/>
            <pc:sldMk cId="0" sldId="271"/>
            <ac:picMk id="2" creationId="{00000000-0000-0000-0000-000000000000}"/>
          </ac:picMkLst>
        </pc:picChg>
        <pc:picChg chg="add">
          <ac:chgData name="Lai, Wilson" userId="2840974a-0d84-4886-90a9-9a3ed79f3a48" providerId="ADAL" clId="{9F23B798-9E84-4552-BA63-E776E805C424}" dt="2026-08-24T09:07:12.852" v="29" actId="22"/>
          <ac:picMkLst>
            <pc:docMk/>
            <pc:sldMk cId="0" sldId="271"/>
            <ac:picMk id="4" creationId="{EA177198-EC46-BB0D-28D6-1B92B78817FE}"/>
          </ac:picMkLst>
        </pc:picChg>
      </pc:sldChg>
      <pc:sldChg chg="addSp delSp mod modNotes modNotesTx">
        <pc:chgData name="Lai, Wilson" userId="2840974a-0d84-4886-90a9-9a3ed79f3a48" providerId="ADAL" clId="{9F23B798-9E84-4552-BA63-E776E805C424}" dt="2026-08-25T01:23:07.146" v="150"/>
        <pc:sldMkLst>
          <pc:docMk/>
          <pc:sldMk cId="1763137734" sldId="272"/>
        </pc:sldMkLst>
        <pc:picChg chg="add del">
          <ac:chgData name="Lai, Wilson" userId="2840974a-0d84-4886-90a9-9a3ed79f3a48" providerId="ADAL" clId="{9F23B798-9E84-4552-BA63-E776E805C424}" dt="2026-08-24T09:07:17.179" v="31" actId="21"/>
          <ac:picMkLst>
            <pc:docMk/>
            <pc:sldMk cId="1763137734" sldId="272"/>
            <ac:picMk id="3" creationId="{55056471-DB46-9264-8102-7D6813366F15}"/>
          </ac:picMkLst>
        </pc:picChg>
      </pc:sldChg>
      <pc:sldMasterChg chg="setBg">
        <pc:chgData name="Lai, Wilson" userId="2840974a-0d84-4886-90a9-9a3ed79f3a48" providerId="ADAL" clId="{9F23B798-9E84-4552-BA63-E776E805C424}" dt="2026-08-24T11:18:10.886" v="51"/>
        <pc:sldMasterMkLst>
          <pc:docMk/>
          <pc:sldMasterMk cId="64694607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02A5B1-6C49-4276-982E-F810E1C7F5E5}"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DA32DD-DC17-4EA9-93EE-D3A3C3A7553F}" type="slidenum">
              <a:rPr lang="en-US" smtClean="0"/>
              <a:t>‹#›</a:t>
            </a:fld>
            <a:endParaRPr lang="en-US"/>
          </a:p>
        </p:txBody>
      </p:sp>
    </p:spTree>
    <p:extLst>
      <p:ext uri="{BB962C8B-B14F-4D97-AF65-F5344CB8AC3E}">
        <p14:creationId xmlns:p14="http://schemas.microsoft.com/office/powerpoint/2010/main" val="1797733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Opener &amp; Hook:</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Welcome </a:t>
            </a:r>
            <a:r>
              <a:rPr lang="en-US" sz="1200" kern="1200" dirty="0">
                <a:solidFill>
                  <a:schemeClr val="tx1"/>
                </a:solidFill>
                <a:effectLst/>
                <a:latin typeface="+mn-lt"/>
                <a:ea typeface="+mn-ea"/>
                <a:cs typeface="+mn-cs"/>
              </a:rPr>
              <a:t>everyone. Today we are diving into Seth Godin’s latest framework for breaking out of modern inertia. The title of this presentation is </a:t>
            </a:r>
            <a:r>
              <a:rPr lang="en-US" sz="1200" i="1" kern="1200" dirty="0">
                <a:solidFill>
                  <a:schemeClr val="tx1"/>
                </a:solidFill>
                <a:effectLst/>
                <a:latin typeface="+mn-lt"/>
                <a:ea typeface="+mn-ea"/>
                <a:cs typeface="+mn-cs"/>
              </a:rPr>
              <a:t>Illuminating the Knot</a:t>
            </a:r>
            <a:r>
              <a:rPr lang="en-US" sz="1200" kern="1200" dirty="0">
                <a:solidFill>
                  <a:schemeClr val="tx1"/>
                </a:solidFill>
                <a:effectLst/>
                <a:latin typeface="+mn-lt"/>
                <a:ea typeface="+mn-ea"/>
                <a:cs typeface="+mn-cs"/>
              </a:rPr>
              <a:t>—a blueprint for unlearning mediocrity, untangling false risks, and doing work that actually matters. Ask yourself: How often do you feel trapped by invisible rules, expectations, or fear of failure? Today, we’re learning how to untie that </a:t>
            </a:r>
            <a:r>
              <a:rPr lang="en-US" sz="1200" kern="1200">
                <a:solidFill>
                  <a:schemeClr val="tx1"/>
                </a:solidFill>
                <a:effectLst/>
                <a:latin typeface="+mn-lt"/>
                <a:ea typeface="+mn-ea"/>
                <a:cs typeface="+mn-cs"/>
              </a:rPr>
              <a:t>knot.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Mediocrity is an System, Not a Flaw:</a:t>
            </a:r>
            <a:r>
              <a:rPr lang="en-US" sz="1200" kern="1200" dirty="0">
                <a:solidFill>
                  <a:schemeClr val="tx1"/>
                </a:solidFill>
                <a:effectLst/>
                <a:latin typeface="+mn-lt"/>
                <a:ea typeface="+mn-ea"/>
                <a:cs typeface="+mn-cs"/>
              </a:rPr>
              <a:t> Mediocrity is rarely an individual character failure. It is the logical byproduct of an industrial system designed to reward conformity over original agency.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Core Thesis:</a:t>
            </a:r>
            <a:r>
              <a:rPr lang="en-US" sz="1200" kern="1200" dirty="0">
                <a:solidFill>
                  <a:schemeClr val="tx1"/>
                </a:solidFill>
                <a:effectLst/>
                <a:latin typeface="+mn-lt"/>
                <a:ea typeface="+mn-ea"/>
                <a:cs typeface="+mn-cs"/>
              </a:rPr>
              <a:t> We will explore how industrial conditioning trapped us into compliant habits, how we miscalculate risk, and how returning to 'work that matters for people who care' restores our creative momentum. </a:t>
            </a:r>
          </a:p>
          <a:p>
            <a:pPr lvl="0"/>
            <a:r>
              <a:rPr lang="en-US" sz="1200" b="1" kern="1200" dirty="0">
                <a:solidFill>
                  <a:schemeClr val="tx1"/>
                </a:solidFill>
                <a:effectLst/>
                <a:latin typeface="+mn-lt"/>
                <a:ea typeface="+mn-ea"/>
                <a:cs typeface="+mn-cs"/>
              </a:rPr>
              <a:t>Transition to Next Slide: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To </a:t>
            </a:r>
            <a:r>
              <a:rPr lang="en-US" sz="1200" kern="1200" dirty="0">
                <a:solidFill>
                  <a:schemeClr val="tx1"/>
                </a:solidFill>
                <a:effectLst/>
                <a:latin typeface="+mn-lt"/>
                <a:ea typeface="+mn-ea"/>
                <a:cs typeface="+mn-cs"/>
              </a:rPr>
              <a:t>understand why so many talented individuals default to staying average, we first have to examine the anatomy of the engine that built our modern workforce: The </a:t>
            </a:r>
            <a:r>
              <a:rPr lang="en-US" sz="1200" kern="1200">
                <a:solidFill>
                  <a:schemeClr val="tx1"/>
                </a:solidFill>
                <a:effectLst/>
                <a:latin typeface="+mn-lt"/>
                <a:ea typeface="+mn-ea"/>
                <a:cs typeface="+mn-cs"/>
              </a:rPr>
              <a:t>Factory. </a:t>
            </a:r>
            <a:endParaRPr lang="en-US" sz="1200" kern="1200" dirty="0">
              <a:solidFill>
                <a:schemeClr val="tx1"/>
              </a:solidFill>
              <a:effectLst/>
              <a:latin typeface="+mn-lt"/>
              <a:ea typeface="+mn-ea"/>
              <a:cs typeface="+mn-cs"/>
            </a:endParaRPr>
          </a:p>
          <a:p>
            <a:endParaRPr lang="en-US" dirty="0"/>
          </a:p>
          <a:p>
            <a:endParaRPr lang="en-US" dirty="0"/>
          </a:p>
          <a:p>
            <a:r>
              <a:rPr lang="en-US" dirty="0"/>
              <a:t>https://youtube.com/watch?v=o8yD6nt71Cs</a:t>
            </a:r>
          </a:p>
        </p:txBody>
      </p:sp>
      <p:sp>
        <p:nvSpPr>
          <p:cNvPr id="4" name="Slide Number Placeholder 3"/>
          <p:cNvSpPr>
            <a:spLocks noGrp="1"/>
          </p:cNvSpPr>
          <p:nvPr>
            <p:ph type="sldNum" sz="quarter" idx="5"/>
          </p:nvPr>
        </p:nvSpPr>
        <p:spPr/>
        <p:txBody>
          <a:bodyPr/>
          <a:lstStyle/>
          <a:p>
            <a:fld id="{E2DA32DD-DC17-4EA9-93EE-D3A3C3A7553F}" type="slidenum">
              <a:rPr lang="en-US" smtClean="0"/>
              <a:t>1</a:t>
            </a:fld>
            <a:endParaRPr lang="en-US"/>
          </a:p>
        </p:txBody>
      </p:sp>
    </p:spTree>
    <p:extLst>
      <p:ext uri="{BB962C8B-B14F-4D97-AF65-F5344CB8AC3E}">
        <p14:creationId xmlns:p14="http://schemas.microsoft.com/office/powerpoint/2010/main" val="2515980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Contextual Framing:</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Let’s </a:t>
            </a:r>
            <a:r>
              <a:rPr lang="en-US" sz="1200" kern="1200" dirty="0">
                <a:solidFill>
                  <a:schemeClr val="tx1"/>
                </a:solidFill>
                <a:effectLst/>
                <a:latin typeface="+mn-lt"/>
                <a:ea typeface="+mn-ea"/>
                <a:cs typeface="+mn-cs"/>
              </a:rPr>
              <a:t>trace where our habits come from. As Seth notes, the industrial system gave us standard cars, affordable electronics, and global scale. But factory systems demand two things: </a:t>
            </a:r>
            <a:r>
              <a:rPr lang="en-US" sz="1200" b="1" kern="1200" dirty="0">
                <a:solidFill>
                  <a:schemeClr val="tx1"/>
                </a:solidFill>
                <a:effectLst/>
                <a:latin typeface="+mn-lt"/>
                <a:ea typeface="+mn-ea"/>
                <a:cs typeface="+mn-cs"/>
              </a:rPr>
              <a:t>repetitiveness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interchangeable </a:t>
            </a:r>
            <a:r>
              <a:rPr lang="en-US" sz="1200" b="1" kern="1200">
                <a:solidFill>
                  <a:schemeClr val="tx1"/>
                </a:solidFill>
                <a:effectLst/>
                <a:latin typeface="+mn-lt"/>
                <a:ea typeface="+mn-ea"/>
                <a:cs typeface="+mn-cs"/>
              </a:rPr>
              <a:t>parts</a:t>
            </a:r>
            <a:r>
              <a:rPr lang="en-US" sz="1200" kern="120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Step-by-Step Breakdown:</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Factory:</a:t>
            </a:r>
            <a:r>
              <a:rPr lang="en-US" sz="1200" kern="1200" dirty="0">
                <a:solidFill>
                  <a:schemeClr val="tx1"/>
                </a:solidFill>
                <a:effectLst/>
                <a:latin typeface="+mn-lt"/>
                <a:ea typeface="+mn-ea"/>
                <a:cs typeface="+mn-cs"/>
              </a:rPr>
              <a:t> Built on assembly lines, whether in automotive plants or white-collar insurance claim processing. It requires compliant workers who fit into pre-defined roles without causing friction. </a:t>
            </a:r>
          </a:p>
          <a:p>
            <a:pPr marL="228600" lvl="0" indent="-228600">
              <a:buFont typeface="+mj-lt"/>
              <a:buAutoNum type="arabicPeriod"/>
            </a:pPr>
            <a:r>
              <a:rPr lang="en-US" sz="1200" b="1" kern="1200" dirty="0">
                <a:solidFill>
                  <a:schemeClr val="tx1"/>
                </a:solidFill>
                <a:effectLst/>
                <a:latin typeface="+mn-lt"/>
                <a:ea typeface="+mn-ea"/>
                <a:cs typeface="+mn-cs"/>
              </a:rPr>
              <a:t>The Threat (Fear):</a:t>
            </a:r>
            <a:r>
              <a:rPr lang="en-US" sz="1200" kern="1200" dirty="0">
                <a:solidFill>
                  <a:schemeClr val="tx1"/>
                </a:solidFill>
                <a:effectLst/>
                <a:latin typeface="+mn-lt"/>
                <a:ea typeface="+mn-ea"/>
                <a:cs typeface="+mn-cs"/>
              </a:rPr>
              <a:t> To keep parts interchangeable, factories use fear</a:t>
            </a:r>
            <a:r>
              <a:rPr lang="en-US" sz="1200" kern="1200">
                <a:solidFill>
                  <a:schemeClr val="tx1"/>
                </a:solidFill>
                <a:effectLst/>
                <a:latin typeface="+mn-lt"/>
                <a:ea typeface="+mn-ea"/>
                <a:cs typeface="+mn-cs"/>
              </a:rPr>
              <a:t>. Do </a:t>
            </a:r>
            <a:r>
              <a:rPr lang="en-US" sz="1200" kern="1200" dirty="0">
                <a:solidFill>
                  <a:schemeClr val="tx1"/>
                </a:solidFill>
                <a:effectLst/>
                <a:latin typeface="+mn-lt"/>
                <a:ea typeface="+mn-ea"/>
                <a:cs typeface="+mn-cs"/>
              </a:rPr>
              <a:t>what you're told, or you’re out the </a:t>
            </a:r>
            <a:r>
              <a:rPr lang="en-US" sz="1200" kern="1200">
                <a:solidFill>
                  <a:schemeClr val="tx1"/>
                </a:solidFill>
                <a:effectLst/>
                <a:latin typeface="+mn-lt"/>
                <a:ea typeface="+mn-ea"/>
                <a:cs typeface="+mn-cs"/>
              </a:rPr>
              <a:t>door. </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Goal (Compliance):</a:t>
            </a:r>
            <a:r>
              <a:rPr lang="en-US" sz="1200" kern="1200" dirty="0">
                <a:solidFill>
                  <a:schemeClr val="tx1"/>
                </a:solidFill>
                <a:effectLst/>
                <a:latin typeface="+mn-lt"/>
                <a:ea typeface="+mn-ea"/>
                <a:cs typeface="+mn-cs"/>
              </a:rPr>
              <a:t> Workers adapt to survive</a:t>
            </a:r>
            <a:r>
              <a:rPr lang="en-US" sz="1200" kern="1200">
                <a:solidFill>
                  <a:schemeClr val="tx1"/>
                </a:solidFill>
                <a:effectLst/>
                <a:latin typeface="+mn-lt"/>
                <a:ea typeface="+mn-ea"/>
                <a:cs typeface="+mn-cs"/>
              </a:rPr>
              <a:t>: How </a:t>
            </a:r>
            <a:r>
              <a:rPr lang="en-US" sz="1200" kern="1200" dirty="0">
                <a:solidFill>
                  <a:schemeClr val="tx1"/>
                </a:solidFill>
                <a:effectLst/>
                <a:latin typeface="+mn-lt"/>
                <a:ea typeface="+mn-ea"/>
                <a:cs typeface="+mn-cs"/>
              </a:rPr>
              <a:t>do I sit safely in the middle so management doesn't single me </a:t>
            </a:r>
            <a:r>
              <a:rPr lang="en-US" sz="1200" kern="1200">
                <a:solidFill>
                  <a:schemeClr val="tx1"/>
                </a:solidFill>
                <a:effectLst/>
                <a:latin typeface="+mn-lt"/>
                <a:ea typeface="+mn-ea"/>
                <a:cs typeface="+mn-cs"/>
              </a:rPr>
              <a:t>out? </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Result (Mediocrity):</a:t>
            </a:r>
            <a:r>
              <a:rPr lang="en-US" sz="1200" kern="1200" dirty="0">
                <a:solidFill>
                  <a:schemeClr val="tx1"/>
                </a:solidFill>
                <a:effectLst/>
                <a:latin typeface="+mn-lt"/>
                <a:ea typeface="+mn-ea"/>
                <a:cs typeface="+mn-cs"/>
              </a:rPr>
              <a:t> To avoid criticism or risk, we sand off every sharp or unique edge of our work until it becomes completely banal. </a:t>
            </a:r>
          </a:p>
          <a:p>
            <a:pPr lvl="0"/>
            <a:r>
              <a:rPr lang="en-US" sz="1200" b="1" kern="1200" dirty="0">
                <a:solidFill>
                  <a:schemeClr val="tx1"/>
                </a:solidFill>
                <a:effectLst/>
                <a:latin typeface="+mn-lt"/>
                <a:ea typeface="+mn-ea"/>
                <a:cs typeface="+mn-cs"/>
              </a:rPr>
              <a:t>Core Takeaway: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As </a:t>
            </a:r>
            <a:r>
              <a:rPr lang="en-US" sz="1200" kern="1200" dirty="0">
                <a:solidFill>
                  <a:schemeClr val="tx1"/>
                </a:solidFill>
                <a:effectLst/>
                <a:latin typeface="+mn-lt"/>
                <a:ea typeface="+mn-ea"/>
                <a:cs typeface="+mn-cs"/>
              </a:rPr>
              <a:t>Seth summarized in the interview: </a:t>
            </a:r>
            <a:r>
              <a:rPr lang="en-US" sz="1200" i="1" kern="1200" dirty="0">
                <a:solidFill>
                  <a:schemeClr val="tx1"/>
                </a:solidFill>
                <a:effectLst/>
                <a:latin typeface="+mn-lt"/>
                <a:ea typeface="+mn-ea"/>
                <a:cs typeface="+mn-cs"/>
              </a:rPr>
              <a:t>'The industrial age brought compliance, and compliance brought fear, and fear brought us mediocrity.'</a:t>
            </a:r>
            <a:r>
              <a:rPr lang="en-US" sz="1200" kern="1200" dirty="0">
                <a:solidFill>
                  <a:schemeClr val="tx1"/>
                </a:solidFill>
                <a:effectLst/>
                <a:latin typeface="+mn-lt"/>
                <a:ea typeface="+mn-ea"/>
                <a:cs typeface="+mn-cs"/>
              </a:rPr>
              <a:t> When you default to staying invisible, you are operating as a cog in someone else's </a:t>
            </a:r>
            <a:r>
              <a:rPr lang="en-US" sz="1200" kern="1200">
                <a:solidFill>
                  <a:schemeClr val="tx1"/>
                </a:solidFill>
                <a:effectLst/>
                <a:latin typeface="+mn-lt"/>
                <a:ea typeface="+mn-ea"/>
                <a:cs typeface="+mn-cs"/>
              </a:rPr>
              <a:t>system.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2</a:t>
            </a:fld>
            <a:endParaRPr lang="en-US"/>
          </a:p>
        </p:txBody>
      </p:sp>
    </p:spTree>
    <p:extLst>
      <p:ext uri="{BB962C8B-B14F-4D97-AF65-F5344CB8AC3E}">
        <p14:creationId xmlns:p14="http://schemas.microsoft.com/office/powerpoint/2010/main" val="3083527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High School Metaphor:</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When </a:t>
            </a:r>
            <a:r>
              <a:rPr lang="en-US" sz="1200" kern="1200" dirty="0">
                <a:solidFill>
                  <a:schemeClr val="tx1"/>
                </a:solidFill>
                <a:effectLst/>
                <a:latin typeface="+mn-lt"/>
                <a:ea typeface="+mn-ea"/>
                <a:cs typeface="+mn-cs"/>
              </a:rPr>
              <a:t>you feel uncertain about your career desires, Seth suggests looking back at high school. High school was where mass indoctrination began: learning hierarchies, chasing status, seeking affiliation, and asking the classic compliant question: </a:t>
            </a:r>
            <a:r>
              <a:rPr lang="en-US" sz="1200" i="1" kern="1200" dirty="0">
                <a:solidFill>
                  <a:schemeClr val="tx1"/>
                </a:solidFill>
                <a:effectLst/>
                <a:latin typeface="+mn-lt"/>
                <a:ea typeface="+mn-ea"/>
                <a:cs typeface="+mn-cs"/>
              </a:rPr>
              <a:t>'Will this be on the </a:t>
            </a:r>
            <a:r>
              <a:rPr lang="en-US" sz="1200" i="1" kern="1200">
                <a:solidFill>
                  <a:schemeClr val="tx1"/>
                </a:solidFill>
                <a:effectLst/>
                <a:latin typeface="+mn-lt"/>
                <a:ea typeface="+mn-ea"/>
                <a:cs typeface="+mn-cs"/>
              </a:rPr>
              <a:t>test?'</a:t>
            </a:r>
            <a:r>
              <a:rPr lang="en-US" sz="1200" kern="120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Differentiating Indoctrination and Agency: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Indoctrination:</a:t>
            </a:r>
            <a:r>
              <a:rPr lang="en-US" sz="1200" kern="1200" dirty="0">
                <a:solidFill>
                  <a:schemeClr val="tx1"/>
                </a:solidFill>
                <a:effectLst/>
                <a:latin typeface="+mn-lt"/>
                <a:ea typeface="+mn-ea"/>
                <a:cs typeface="+mn-cs"/>
              </a:rPr>
              <a:t> Doing what the boss says solely to maintain insider status, </a:t>
            </a:r>
            <a:r>
              <a:rPr lang="en-US" sz="1200" kern="1200" dirty="0" err="1">
                <a:solidFill>
                  <a:schemeClr val="tx1"/>
                </a:solidFill>
                <a:effectLst/>
                <a:latin typeface="+mn-lt"/>
                <a:ea typeface="+mn-ea"/>
                <a:cs typeface="+mn-cs"/>
              </a:rPr>
              <a:t>playig</a:t>
            </a:r>
            <a:r>
              <a:rPr lang="en-US" sz="1200" kern="1200" dirty="0">
                <a:solidFill>
                  <a:schemeClr val="tx1"/>
                </a:solidFill>
                <a:effectLst/>
                <a:latin typeface="+mn-lt"/>
                <a:ea typeface="+mn-ea"/>
                <a:cs typeface="+mn-cs"/>
              </a:rPr>
              <a:t> social politics, and living according to someone else’s rubric.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Agency:</a:t>
            </a:r>
            <a:r>
              <a:rPr lang="en-US" sz="1200" kern="1200" dirty="0">
                <a:solidFill>
                  <a:schemeClr val="tx1"/>
                </a:solidFill>
                <a:effectLst/>
                <a:latin typeface="+mn-lt"/>
                <a:ea typeface="+mn-ea"/>
                <a:cs typeface="+mn-cs"/>
              </a:rPr>
              <a:t> Treating your career and life as an active art project. Stepping off the standardized track to build generous, high-value work for a targeted few. </a:t>
            </a:r>
          </a:p>
          <a:p>
            <a:pPr lvl="0"/>
            <a:r>
              <a:rPr lang="en-US" sz="1200" b="1" kern="1200" dirty="0">
                <a:solidFill>
                  <a:schemeClr val="tx1"/>
                </a:solidFill>
                <a:effectLst/>
                <a:latin typeface="+mn-lt"/>
                <a:ea typeface="+mn-ea"/>
                <a:cs typeface="+mn-cs"/>
              </a:rPr>
              <a:t>Call to Reflection:</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If </a:t>
            </a:r>
            <a:r>
              <a:rPr lang="en-US" sz="1200" kern="1200" dirty="0">
                <a:solidFill>
                  <a:schemeClr val="tx1"/>
                </a:solidFill>
                <a:effectLst/>
                <a:latin typeface="+mn-lt"/>
                <a:ea typeface="+mn-ea"/>
                <a:cs typeface="+mn-cs"/>
              </a:rPr>
              <a:t>you are constantly measuring how well you fit in with the 'cool kids' or corporate gatekeepers, ask yourself: Who is actually benefiting from your compliance? Usually, it’s the platform or the corporation—not </a:t>
            </a:r>
            <a:r>
              <a:rPr lang="en-US" sz="1200" kern="1200">
                <a:solidFill>
                  <a:schemeClr val="tx1"/>
                </a:solidFill>
                <a:effectLst/>
                <a:latin typeface="+mn-lt"/>
                <a:ea typeface="+mn-ea"/>
                <a:cs typeface="+mn-cs"/>
              </a:rPr>
              <a:t>you.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3</a:t>
            </a:fld>
            <a:endParaRPr lang="en-US"/>
          </a:p>
        </p:txBody>
      </p:sp>
    </p:spTree>
    <p:extLst>
      <p:ext uri="{BB962C8B-B14F-4D97-AF65-F5344CB8AC3E}">
        <p14:creationId xmlns:p14="http://schemas.microsoft.com/office/powerpoint/2010/main" val="2959138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What </a:t>
            </a:r>
            <a:r>
              <a:rPr lang="en-US" sz="1200" kern="1200" dirty="0">
                <a:solidFill>
                  <a:schemeClr val="tx1"/>
                </a:solidFill>
                <a:effectLst/>
                <a:latin typeface="+mn-lt"/>
                <a:ea typeface="+mn-ea"/>
                <a:cs typeface="+mn-cs"/>
              </a:rPr>
              <a:t>keeps us safely stuck in the average? Seth identifies four behavioral defense mechanisms—the Four Horsemen of </a:t>
            </a:r>
            <a:r>
              <a:rPr lang="en-US" sz="1200" kern="1200">
                <a:solidFill>
                  <a:schemeClr val="tx1"/>
                </a:solidFill>
                <a:effectLst/>
                <a:latin typeface="+mn-lt"/>
                <a:ea typeface="+mn-ea"/>
                <a:cs typeface="+mn-cs"/>
              </a:rPr>
              <a:t>Mediocrity.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Detailed Breakdown:</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1. Deniability:</a:t>
            </a:r>
            <a:r>
              <a:rPr lang="en-US" sz="1200" kern="1200" dirty="0">
                <a:solidFill>
                  <a:schemeClr val="tx1"/>
                </a:solidFill>
                <a:effectLst/>
                <a:latin typeface="+mn-lt"/>
                <a:ea typeface="+mn-ea"/>
                <a:cs typeface="+mn-cs"/>
              </a:rPr>
              <a:t> Hiding behind group consensus</a:t>
            </a:r>
            <a:r>
              <a:rPr lang="en-US" sz="1200" kern="1200">
                <a:solidFill>
                  <a:schemeClr val="tx1"/>
                </a:solidFill>
                <a:effectLst/>
                <a:latin typeface="+mn-lt"/>
                <a:ea typeface="+mn-ea"/>
                <a:cs typeface="+mn-cs"/>
              </a:rPr>
              <a:t>. I </a:t>
            </a:r>
            <a:r>
              <a:rPr lang="en-US" sz="1200" kern="1200" dirty="0">
                <a:solidFill>
                  <a:schemeClr val="tx1"/>
                </a:solidFill>
                <a:effectLst/>
                <a:latin typeface="+mn-lt"/>
                <a:ea typeface="+mn-ea"/>
                <a:cs typeface="+mn-cs"/>
              </a:rPr>
              <a:t>don't have to put my name on this because I'm just doing what everyone else was </a:t>
            </a:r>
            <a:r>
              <a:rPr lang="en-US" sz="1200" kern="1200">
                <a:solidFill>
                  <a:schemeClr val="tx1"/>
                </a:solidFill>
                <a:effectLst/>
                <a:latin typeface="+mn-lt"/>
                <a:ea typeface="+mn-ea"/>
                <a:cs typeface="+mn-cs"/>
              </a:rPr>
              <a:t>doing.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2. Helplessness:</a:t>
            </a:r>
            <a:r>
              <a:rPr lang="en-US" sz="1200" kern="1200" dirty="0">
                <a:solidFill>
                  <a:schemeClr val="tx1"/>
                </a:solidFill>
                <a:effectLst/>
                <a:latin typeface="+mn-lt"/>
                <a:ea typeface="+mn-ea"/>
                <a:cs typeface="+mn-cs"/>
              </a:rPr>
              <a:t> The learned helplessness that claims you lack personal agency to make real decisions</a:t>
            </a:r>
            <a:r>
              <a:rPr lang="en-US" sz="1200" kern="1200">
                <a:solidFill>
                  <a:schemeClr val="tx1"/>
                </a:solidFill>
                <a:effectLst/>
                <a:latin typeface="+mn-lt"/>
                <a:ea typeface="+mn-ea"/>
                <a:cs typeface="+mn-cs"/>
              </a:rPr>
              <a:t>. I </a:t>
            </a:r>
            <a:r>
              <a:rPr lang="en-US" sz="1200" kern="1200" dirty="0">
                <a:solidFill>
                  <a:schemeClr val="tx1"/>
                </a:solidFill>
                <a:effectLst/>
                <a:latin typeface="+mn-lt"/>
                <a:ea typeface="+mn-ea"/>
                <a:cs typeface="+mn-cs"/>
              </a:rPr>
              <a:t>have no choice, I just have to do what they tell </a:t>
            </a:r>
            <a:r>
              <a:rPr lang="en-US" sz="1200" kern="1200">
                <a:solidFill>
                  <a:schemeClr val="tx1"/>
                </a:solidFill>
                <a:effectLst/>
                <a:latin typeface="+mn-lt"/>
                <a:ea typeface="+mn-ea"/>
                <a:cs typeface="+mn-cs"/>
              </a:rPr>
              <a:t>me.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3. Contempt:</a:t>
            </a:r>
            <a:r>
              <a:rPr lang="en-US" sz="1200" kern="1200" dirty="0">
                <a:solidFill>
                  <a:schemeClr val="tx1"/>
                </a:solidFill>
                <a:effectLst/>
                <a:latin typeface="+mn-lt"/>
                <a:ea typeface="+mn-ea"/>
                <a:cs typeface="+mn-cs"/>
              </a:rPr>
              <a:t> Disconnecting emotionally from your craft. Saying</a:t>
            </a:r>
            <a:r>
              <a:rPr lang="en-US" sz="1200" kern="1200">
                <a:solidFill>
                  <a:schemeClr val="tx1"/>
                </a:solidFill>
                <a:effectLst/>
                <a:latin typeface="+mn-lt"/>
                <a:ea typeface="+mn-ea"/>
                <a:cs typeface="+mn-cs"/>
              </a:rPr>
              <a:t>, I'm </a:t>
            </a:r>
            <a:r>
              <a:rPr lang="en-US" sz="1200" kern="1200" dirty="0">
                <a:solidFill>
                  <a:schemeClr val="tx1"/>
                </a:solidFill>
                <a:effectLst/>
                <a:latin typeface="+mn-lt"/>
                <a:ea typeface="+mn-ea"/>
                <a:cs typeface="+mn-cs"/>
              </a:rPr>
              <a:t>just doing my </a:t>
            </a:r>
            <a:r>
              <a:rPr lang="en-US" sz="1200" kern="1200">
                <a:solidFill>
                  <a:schemeClr val="tx1"/>
                </a:solidFill>
                <a:effectLst/>
                <a:latin typeface="+mn-lt"/>
                <a:ea typeface="+mn-ea"/>
                <a:cs typeface="+mn-cs"/>
              </a:rPr>
              <a:t>job. </a:t>
            </a:r>
            <a:r>
              <a:rPr lang="en-US" sz="1200" kern="1200" dirty="0">
                <a:solidFill>
                  <a:schemeClr val="tx1"/>
                </a:solidFill>
                <a:effectLst/>
                <a:latin typeface="+mn-lt"/>
                <a:ea typeface="+mn-ea"/>
                <a:cs typeface="+mn-cs"/>
              </a:rPr>
              <a:t>It’s the reaction to a toxic system that has eroded your relationship with your work. </a:t>
            </a:r>
          </a:p>
          <a:p>
            <a:pPr lvl="0"/>
            <a:r>
              <a:rPr lang="en-US" sz="1200" b="1" kern="1200" dirty="0">
                <a:solidFill>
                  <a:schemeClr val="tx1"/>
                </a:solidFill>
                <a:effectLst/>
                <a:latin typeface="+mn-lt"/>
                <a:ea typeface="+mn-ea"/>
                <a:cs typeface="+mn-cs"/>
              </a:rPr>
              <a:t>4. Fear:</a:t>
            </a:r>
            <a:r>
              <a:rPr lang="en-US" sz="1200" kern="1200" dirty="0">
                <a:solidFill>
                  <a:schemeClr val="tx1"/>
                </a:solidFill>
                <a:effectLst/>
                <a:latin typeface="+mn-lt"/>
                <a:ea typeface="+mn-ea"/>
                <a:cs typeface="+mn-cs"/>
              </a:rPr>
              <a:t> Demanding a ironclad guarantee before acting—requiring reassurance that everyone will love your idea and that nothing bad will happen. </a:t>
            </a:r>
          </a:p>
          <a:p>
            <a:pPr lvl="0"/>
            <a:r>
              <a:rPr lang="en-US" sz="1200" b="1" kern="1200" dirty="0">
                <a:solidFill>
                  <a:schemeClr val="tx1"/>
                </a:solidFill>
                <a:effectLst/>
                <a:latin typeface="+mn-lt"/>
                <a:ea typeface="+mn-ea"/>
                <a:cs typeface="+mn-cs"/>
              </a:rPr>
              <a:t>Summary: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When </a:t>
            </a:r>
            <a:r>
              <a:rPr lang="en-US" sz="1200" kern="1200" dirty="0">
                <a:solidFill>
                  <a:schemeClr val="tx1"/>
                </a:solidFill>
                <a:effectLst/>
                <a:latin typeface="+mn-lt"/>
                <a:ea typeface="+mn-ea"/>
                <a:cs typeface="+mn-cs"/>
              </a:rPr>
              <a:t>you demand guaranteed approval before putting work into the world, you guarantee mediocrity instead. Real creation requires acting without total </a:t>
            </a:r>
            <a:r>
              <a:rPr lang="en-US" sz="1200" kern="1200">
                <a:solidFill>
                  <a:schemeClr val="tx1"/>
                </a:solidFill>
                <a:effectLst/>
                <a:latin typeface="+mn-lt"/>
                <a:ea typeface="+mn-ea"/>
                <a:cs typeface="+mn-cs"/>
              </a:rPr>
              <a:t>certainty.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4</a:t>
            </a:fld>
            <a:endParaRPr lang="en-US"/>
          </a:p>
        </p:txBody>
      </p:sp>
    </p:spTree>
    <p:extLst>
      <p:ext uri="{BB962C8B-B14F-4D97-AF65-F5344CB8AC3E}">
        <p14:creationId xmlns:p14="http://schemas.microsoft.com/office/powerpoint/2010/main" val="1558634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Problem with Easy Metrics:</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We </a:t>
            </a:r>
            <a:r>
              <a:rPr lang="en-US" sz="1200" kern="1200" dirty="0">
                <a:solidFill>
                  <a:schemeClr val="tx1"/>
                </a:solidFill>
                <a:effectLst/>
                <a:latin typeface="+mn-lt"/>
                <a:ea typeface="+mn-ea"/>
                <a:cs typeface="+mn-cs"/>
              </a:rPr>
              <a:t>get what we measure, but most of us are measuring the wrong things. Platforms design feedback loops that serve </a:t>
            </a:r>
            <a:r>
              <a:rPr lang="en-US" sz="1200" i="1" kern="1200" dirty="0">
                <a:solidFill>
                  <a:schemeClr val="tx1"/>
                </a:solidFill>
                <a:effectLst/>
                <a:latin typeface="+mn-lt"/>
                <a:ea typeface="+mn-ea"/>
                <a:cs typeface="+mn-cs"/>
              </a:rPr>
              <a:t>their</a:t>
            </a:r>
            <a:r>
              <a:rPr lang="en-US" sz="1200" kern="1200" dirty="0">
                <a:solidFill>
                  <a:schemeClr val="tx1"/>
                </a:solidFill>
                <a:effectLst/>
                <a:latin typeface="+mn-lt"/>
                <a:ea typeface="+mn-ea"/>
                <a:cs typeface="+mn-cs"/>
              </a:rPr>
              <a:t> business model, not your personal </a:t>
            </a:r>
            <a:r>
              <a:rPr lang="en-US" sz="1200" kern="1200">
                <a:solidFill>
                  <a:schemeClr val="tx1"/>
                </a:solidFill>
                <a:effectLst/>
                <a:latin typeface="+mn-lt"/>
                <a:ea typeface="+mn-ea"/>
                <a:cs typeface="+mn-cs"/>
              </a:rPr>
              <a:t>growth.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Vanity Metrics vs. Genuine Value: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Vanity Metrics:</a:t>
            </a:r>
            <a:r>
              <a:rPr lang="en-US" sz="1200" kern="1200" dirty="0">
                <a:solidFill>
                  <a:schemeClr val="tx1"/>
                </a:solidFill>
                <a:effectLst/>
                <a:latin typeface="+mn-lt"/>
                <a:ea typeface="+mn-ea"/>
                <a:cs typeface="+mn-cs"/>
              </a:rPr>
              <a:t> Likes, subscriber counts, viral YouTube views, or buying a spot on a bestseller list. Mark Zuckerberg or algorithms want you hooked on these numbers so you work for free while advertisers buy attention.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True Value Metrics:</a:t>
            </a:r>
            <a:r>
              <a:rPr lang="en-US" sz="1200" kern="1200" dirty="0">
                <a:solidFill>
                  <a:schemeClr val="tx1"/>
                </a:solidFill>
                <a:effectLst/>
                <a:latin typeface="+mn-lt"/>
                <a:ea typeface="+mn-ea"/>
                <a:cs typeface="+mn-cs"/>
              </a:rPr>
              <a:t> Engagement, connection, and trust built with your </a:t>
            </a:r>
            <a:r>
              <a:rPr lang="en-US" sz="1200" b="1" kern="1200" dirty="0">
                <a:solidFill>
                  <a:schemeClr val="tx1"/>
                </a:solidFill>
                <a:effectLst/>
                <a:latin typeface="+mn-lt"/>
                <a:ea typeface="+mn-ea"/>
                <a:cs typeface="+mn-cs"/>
              </a:rPr>
              <a:t>smallest viable audience</a:t>
            </a:r>
            <a:r>
              <a:rPr lang="en-US" sz="1200" kern="1200" dirty="0">
                <a:solidFill>
                  <a:schemeClr val="tx1"/>
                </a:solidFill>
                <a:effectLst/>
                <a:latin typeface="+mn-lt"/>
                <a:ea typeface="+mn-ea"/>
                <a:cs typeface="+mn-cs"/>
              </a:rPr>
              <a:t>. Creating meaningful tension for people who would genuine miss your work if you stopped producing it. </a:t>
            </a:r>
          </a:p>
          <a:p>
            <a:pPr lvl="0"/>
            <a:r>
              <a:rPr lang="en-US" sz="1200" b="1" kern="1200" dirty="0">
                <a:solidFill>
                  <a:schemeClr val="tx1"/>
                </a:solidFill>
                <a:effectLst/>
                <a:latin typeface="+mn-lt"/>
                <a:ea typeface="+mn-ea"/>
                <a:cs typeface="+mn-cs"/>
              </a:rPr>
              <a:t>Key Example: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Seth </a:t>
            </a:r>
            <a:r>
              <a:rPr lang="en-US" sz="1200" kern="1200" dirty="0">
                <a:solidFill>
                  <a:schemeClr val="tx1"/>
                </a:solidFill>
                <a:effectLst/>
                <a:latin typeface="+mn-lt"/>
                <a:ea typeface="+mn-ea"/>
                <a:cs typeface="+mn-cs"/>
              </a:rPr>
              <a:t>mentions going to the gym and seeing someone lean heavily on the </a:t>
            </a:r>
            <a:r>
              <a:rPr lang="en-US" sz="1200" kern="1200" dirty="0" err="1">
                <a:solidFill>
                  <a:schemeClr val="tx1"/>
                </a:solidFill>
                <a:effectLst/>
                <a:latin typeface="+mn-lt"/>
                <a:ea typeface="+mn-ea"/>
                <a:cs typeface="+mn-cs"/>
              </a:rPr>
              <a:t>stairmaster</a:t>
            </a:r>
            <a:r>
              <a:rPr lang="en-US" sz="1200" kern="1200" dirty="0">
                <a:solidFill>
                  <a:schemeClr val="tx1"/>
                </a:solidFill>
                <a:effectLst/>
                <a:latin typeface="+mn-lt"/>
                <a:ea typeface="+mn-ea"/>
                <a:cs typeface="+mn-cs"/>
              </a:rPr>
              <a:t> handles. It hurts their back and yields a worse workout, but it makes the digital step counter go up! Are you optimizing for real value, or just making your vanity metric go </a:t>
            </a:r>
            <a:r>
              <a:rPr lang="en-US" sz="1200" kern="1200">
                <a:solidFill>
                  <a:schemeClr val="tx1"/>
                </a:solidFill>
                <a:effectLst/>
                <a:latin typeface="+mn-lt"/>
                <a:ea typeface="+mn-ea"/>
                <a:cs typeface="+mn-cs"/>
              </a:rPr>
              <a:t>up?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5</a:t>
            </a:fld>
            <a:endParaRPr lang="en-US"/>
          </a:p>
        </p:txBody>
      </p:sp>
    </p:spTree>
    <p:extLst>
      <p:ext uri="{BB962C8B-B14F-4D97-AF65-F5344CB8AC3E}">
        <p14:creationId xmlns:p14="http://schemas.microsoft.com/office/powerpoint/2010/main" val="3640558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Entanglements:</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The </a:t>
            </a:r>
            <a:r>
              <a:rPr lang="en-US" sz="1200" kern="1200" dirty="0">
                <a:solidFill>
                  <a:schemeClr val="tx1"/>
                </a:solidFill>
                <a:effectLst/>
                <a:latin typeface="+mn-lt"/>
                <a:ea typeface="+mn-ea"/>
                <a:cs typeface="+mn-cs"/>
              </a:rPr>
              <a:t>stickiest entanglements in work and life don't feel like traps—they feel like undeniable facts. Seth defines them as invisible 'spooky action at a distance'—like spending 15 years as a dentist you dislike because you spent $300,000 on dental school years </a:t>
            </a:r>
            <a:r>
              <a:rPr lang="en-US" sz="1200" kern="1200">
                <a:solidFill>
                  <a:schemeClr val="tx1"/>
                </a:solidFill>
                <a:effectLst/>
                <a:latin typeface="+mn-lt"/>
                <a:ea typeface="+mn-ea"/>
                <a:cs typeface="+mn-cs"/>
              </a:rPr>
              <a:t>ago.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Parable of the Gordian Knot:</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When </a:t>
            </a:r>
            <a:r>
              <a:rPr lang="en-US" sz="1200" kern="1200" dirty="0">
                <a:solidFill>
                  <a:schemeClr val="tx1"/>
                </a:solidFill>
                <a:effectLst/>
                <a:latin typeface="+mn-lt"/>
                <a:ea typeface="+mn-ea"/>
                <a:cs typeface="+mn-cs"/>
              </a:rPr>
              <a:t>Alexander faced the famous Gordian Knot in Turkey, he didn't just hack at it blindly. He noticed a central wooden post holding the structure. By pulling out the central post, the entire knot naturally </a:t>
            </a:r>
            <a:r>
              <a:rPr lang="en-US" sz="1200" kern="1200">
                <a:solidFill>
                  <a:schemeClr val="tx1"/>
                </a:solidFill>
                <a:effectLst/>
                <a:latin typeface="+mn-lt"/>
                <a:ea typeface="+mn-ea"/>
                <a:cs typeface="+mn-cs"/>
              </a:rPr>
              <a:t>unraveled.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Actionable Application:</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Entanglements </a:t>
            </a:r>
            <a:r>
              <a:rPr lang="en-US" sz="1200" kern="1200" dirty="0">
                <a:solidFill>
                  <a:schemeClr val="tx1"/>
                </a:solidFill>
                <a:effectLst/>
                <a:latin typeface="+mn-lt"/>
                <a:ea typeface="+mn-ea"/>
                <a:cs typeface="+mn-cs"/>
              </a:rPr>
              <a:t>wither under the sunlight of truth. Pulling the post means saying the quiet truth out loud: </a:t>
            </a:r>
            <a:r>
              <a:rPr lang="en-US" sz="1200" i="1" kern="1200" dirty="0">
                <a:solidFill>
                  <a:schemeClr val="tx1"/>
                </a:solidFill>
                <a:effectLst/>
                <a:latin typeface="+mn-lt"/>
                <a:ea typeface="+mn-ea"/>
                <a:cs typeface="+mn-cs"/>
              </a:rPr>
              <a:t>'We are having this 2-hour Thursday meeting because the boss likes us to sit in a circle and agree with her.'</a:t>
            </a:r>
            <a:r>
              <a:rPr lang="en-US" sz="1200" kern="1200" dirty="0">
                <a:solidFill>
                  <a:schemeClr val="tx1"/>
                </a:solidFill>
                <a:effectLst/>
                <a:latin typeface="+mn-lt"/>
                <a:ea typeface="+mn-ea"/>
                <a:cs typeface="+mn-cs"/>
              </a:rPr>
              <a:t> Once you name the post, you untie the </a:t>
            </a:r>
            <a:r>
              <a:rPr lang="en-US" sz="1200" kern="1200">
                <a:solidFill>
                  <a:schemeClr val="tx1"/>
                </a:solidFill>
                <a:effectLst/>
                <a:latin typeface="+mn-lt"/>
                <a:ea typeface="+mn-ea"/>
                <a:cs typeface="+mn-cs"/>
              </a:rPr>
              <a:t>knot.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6</a:t>
            </a:fld>
            <a:endParaRPr lang="en-US"/>
          </a:p>
        </p:txBody>
      </p:sp>
    </p:spTree>
    <p:extLst>
      <p:ext uri="{BB962C8B-B14F-4D97-AF65-F5344CB8AC3E}">
        <p14:creationId xmlns:p14="http://schemas.microsoft.com/office/powerpoint/2010/main" val="3572920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Conflict:</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Many </a:t>
            </a:r>
            <a:r>
              <a:rPr lang="en-US" sz="1200" kern="1200" dirty="0">
                <a:solidFill>
                  <a:schemeClr val="tx1"/>
                </a:solidFill>
                <a:effectLst/>
                <a:latin typeface="+mn-lt"/>
                <a:ea typeface="+mn-ea"/>
                <a:cs typeface="+mn-cs"/>
              </a:rPr>
              <a:t>creators and leaders suffer from a fatal internal contradiction: wanting to produce groundbreaking work on the frontier while demanding guaranteed commercial success and immediate, universal </a:t>
            </a:r>
            <a:r>
              <a:rPr lang="en-US" sz="1200" kern="1200">
                <a:solidFill>
                  <a:schemeClr val="tx1"/>
                </a:solidFill>
                <a:effectLst/>
                <a:latin typeface="+mn-lt"/>
                <a:ea typeface="+mn-ea"/>
                <a:cs typeface="+mn-cs"/>
              </a:rPr>
              <a:t>praise.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Cautionary Tale: Jackson Pollock:</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In </a:t>
            </a:r>
            <a:r>
              <a:rPr lang="en-US" sz="1200" kern="1200" dirty="0">
                <a:solidFill>
                  <a:schemeClr val="tx1"/>
                </a:solidFill>
                <a:effectLst/>
                <a:latin typeface="+mn-lt"/>
                <a:ea typeface="+mn-ea"/>
                <a:cs typeface="+mn-cs"/>
              </a:rPr>
              <a:t>the 1950s, Jackson Pollock was a celebrated artist. Wanting to evolve beyond his drip paintings, he retreated to his studio and created radical new work. When showcased, critics hated it and nobody bought it. Pollock broke under the strain because he wanted </a:t>
            </a:r>
            <a:r>
              <a:rPr lang="en-US" sz="1200" i="1" kern="1200" dirty="0">
                <a:solidFill>
                  <a:schemeClr val="tx1"/>
                </a:solidFill>
                <a:effectLst/>
                <a:latin typeface="+mn-lt"/>
                <a:ea typeface="+mn-ea"/>
                <a:cs typeface="+mn-cs"/>
              </a:rPr>
              <a:t>both</a:t>
            </a:r>
            <a:r>
              <a:rPr lang="en-US" sz="1200" kern="1200" dirty="0">
                <a:solidFill>
                  <a:schemeClr val="tx1"/>
                </a:solidFill>
                <a:effectLst/>
                <a:latin typeface="+mn-lt"/>
                <a:ea typeface="+mn-ea"/>
                <a:cs typeface="+mn-cs"/>
              </a:rPr>
              <a:t> radical edge AND guaranteed sellout </a:t>
            </a:r>
            <a:r>
              <a:rPr lang="en-US" sz="1200" kern="1200">
                <a:solidFill>
                  <a:schemeClr val="tx1"/>
                </a:solidFill>
                <a:effectLst/>
                <a:latin typeface="+mn-lt"/>
                <a:ea typeface="+mn-ea"/>
                <a:cs typeface="+mn-cs"/>
              </a:rPr>
              <a:t>status.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Turning 'But' into 'And':</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Replace </a:t>
            </a:r>
            <a:r>
              <a:rPr lang="en-US" sz="1200" kern="1200" dirty="0">
                <a:solidFill>
                  <a:schemeClr val="tx1"/>
                </a:solidFill>
                <a:effectLst/>
                <a:latin typeface="+mn-lt"/>
                <a:ea typeface="+mn-ea"/>
                <a:cs typeface="+mn-cs"/>
              </a:rPr>
              <a:t>your 'But' with 'And'. Don't say: </a:t>
            </a:r>
            <a:r>
              <a:rPr lang="en-US" sz="1200" i="1" kern="1200" dirty="0">
                <a:solidFill>
                  <a:schemeClr val="tx1"/>
                </a:solidFill>
                <a:effectLst/>
                <a:latin typeface="+mn-lt"/>
                <a:ea typeface="+mn-ea"/>
                <a:cs typeface="+mn-cs"/>
              </a:rPr>
              <a:t>'I want to run a marathon BUT I don't want to get tired.'</a:t>
            </a:r>
            <a:r>
              <a:rPr lang="en-US" sz="1200" kern="1200" dirty="0">
                <a:solidFill>
                  <a:schemeClr val="tx1"/>
                </a:solidFill>
                <a:effectLst/>
                <a:latin typeface="+mn-lt"/>
                <a:ea typeface="+mn-ea"/>
                <a:cs typeface="+mn-cs"/>
              </a:rPr>
              <a:t> Say: </a:t>
            </a:r>
            <a:r>
              <a:rPr lang="en-US" sz="1200" i="1" kern="1200" dirty="0">
                <a:solidFill>
                  <a:schemeClr val="tx1"/>
                </a:solidFill>
                <a:effectLst/>
                <a:latin typeface="+mn-lt"/>
                <a:ea typeface="+mn-ea"/>
                <a:cs typeface="+mn-cs"/>
              </a:rPr>
              <a:t>'I'm going to run the marathon AND I'm going to get tired.'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'I'm going to make weird, original art AND I accept that traditional critics might dislike </a:t>
            </a:r>
            <a:r>
              <a:rPr lang="en-US" sz="1200" i="1" kern="1200">
                <a:solidFill>
                  <a:schemeClr val="tx1"/>
                </a:solidFill>
                <a:effectLst/>
                <a:latin typeface="+mn-lt"/>
                <a:ea typeface="+mn-ea"/>
                <a:cs typeface="+mn-cs"/>
              </a:rPr>
              <a:t>it.'</a:t>
            </a:r>
            <a:r>
              <a:rPr lang="en-US" sz="1200" kern="120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7</a:t>
            </a:fld>
            <a:endParaRPr lang="en-US"/>
          </a:p>
        </p:txBody>
      </p:sp>
    </p:spTree>
    <p:extLst>
      <p:ext uri="{BB962C8B-B14F-4D97-AF65-F5344CB8AC3E}">
        <p14:creationId xmlns:p14="http://schemas.microsoft.com/office/powerpoint/2010/main" val="2628297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Illusion of Risk:</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Modern </a:t>
            </a:r>
            <a:r>
              <a:rPr lang="en-US" sz="1200" kern="1200" dirty="0">
                <a:solidFill>
                  <a:schemeClr val="tx1"/>
                </a:solidFill>
                <a:effectLst/>
                <a:latin typeface="+mn-lt"/>
                <a:ea typeface="+mn-ea"/>
                <a:cs typeface="+mn-cs"/>
              </a:rPr>
              <a:t>risk is largely an illusion created by short-term conflict avoidance. Human evolutionary biology treats social awkwardness as a threat, but emotional friction is rarely </a:t>
            </a:r>
            <a:r>
              <a:rPr lang="en-US" sz="1200" kern="1200">
                <a:solidFill>
                  <a:schemeClr val="tx1"/>
                </a:solidFill>
                <a:effectLst/>
                <a:latin typeface="+mn-lt"/>
                <a:ea typeface="+mn-ea"/>
                <a:cs typeface="+mn-cs"/>
              </a:rPr>
              <a:t>dangerous.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Analyzing the Quadrants: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Magic Zone (High Discomfort, Low Actual Danger):</a:t>
            </a:r>
            <a:r>
              <a:rPr lang="en-US" sz="1200" kern="1200" dirty="0">
                <a:solidFill>
                  <a:schemeClr val="tx1"/>
                </a:solidFill>
                <a:effectLst/>
                <a:latin typeface="+mn-lt"/>
                <a:ea typeface="+mn-ea"/>
                <a:cs typeface="+mn-cs"/>
              </a:rPr>
              <a:t> Public speaking, launching a blog, requesting a structural shift from your employer, or selling an $18 item on eBay. It feels terrifying, but the downside risk is negligible.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Accepted/Invisible Risk:</a:t>
            </a:r>
            <a:r>
              <a:rPr lang="en-US" sz="1200" kern="1200" dirty="0">
                <a:solidFill>
                  <a:schemeClr val="tx1"/>
                </a:solidFill>
                <a:effectLst/>
                <a:latin typeface="+mn-lt"/>
                <a:ea typeface="+mn-ea"/>
                <a:cs typeface="+mn-cs"/>
              </a:rPr>
              <a:t> Driving on a highway to the airport. Statistically far more dangerous than public speaking, yet done routinely without anxiety.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True Physical Danger:</a:t>
            </a:r>
            <a:r>
              <a:rPr lang="en-US" sz="1200" kern="1200" dirty="0">
                <a:solidFill>
                  <a:schemeClr val="tx1"/>
                </a:solidFill>
                <a:effectLst/>
                <a:latin typeface="+mn-lt"/>
                <a:ea typeface="+mn-ea"/>
                <a:cs typeface="+mn-cs"/>
              </a:rPr>
              <a:t> Working deep in a 19th-century coal mine.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Comfort Zone:</a:t>
            </a:r>
            <a:r>
              <a:rPr lang="en-US" sz="1200" kern="1200" dirty="0">
                <a:solidFill>
                  <a:schemeClr val="tx1"/>
                </a:solidFill>
                <a:effectLst/>
                <a:latin typeface="+mn-lt"/>
                <a:ea typeface="+mn-ea"/>
                <a:cs typeface="+mn-cs"/>
              </a:rPr>
              <a:t> Remaining in a soul-crushing, stagnant job out of fear.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Top </a:t>
            </a:r>
            <a:r>
              <a:rPr lang="en-US" sz="1200" kern="1200" dirty="0">
                <a:solidFill>
                  <a:schemeClr val="tx1"/>
                </a:solidFill>
                <a:effectLst/>
                <a:latin typeface="+mn-lt"/>
                <a:ea typeface="+mn-ea"/>
                <a:cs typeface="+mn-cs"/>
              </a:rPr>
              <a:t>performers don't necessarily possess superior courage; they simply accurately distinguish between what is genuinely risky and what merely </a:t>
            </a:r>
            <a:r>
              <a:rPr lang="en-US" sz="1200" i="1" kern="1200" dirty="0">
                <a:solidFill>
                  <a:schemeClr val="tx1"/>
                </a:solidFill>
                <a:effectLst/>
                <a:latin typeface="+mn-lt"/>
                <a:ea typeface="+mn-ea"/>
                <a:cs typeface="+mn-cs"/>
              </a:rPr>
              <a:t>feels</a:t>
            </a:r>
            <a:r>
              <a:rPr lang="en-US" sz="1200" kern="1200" dirty="0">
                <a:solidFill>
                  <a:schemeClr val="tx1"/>
                </a:solidFill>
                <a:effectLst/>
                <a:latin typeface="+mn-lt"/>
                <a:ea typeface="+mn-ea"/>
                <a:cs typeface="+mn-cs"/>
              </a:rPr>
              <a:t> </a:t>
            </a:r>
            <a:r>
              <a:rPr lang="en-US" sz="1200" kern="1200">
                <a:solidFill>
                  <a:schemeClr val="tx1"/>
                </a:solidFill>
                <a:effectLst/>
                <a:latin typeface="+mn-lt"/>
                <a:ea typeface="+mn-ea"/>
                <a:cs typeface="+mn-cs"/>
              </a:rPr>
              <a:t>risky.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8</a:t>
            </a:fld>
            <a:endParaRPr lang="en-US"/>
          </a:p>
        </p:txBody>
      </p:sp>
    </p:spTree>
    <p:extLst>
      <p:ext uri="{BB962C8B-B14F-4D97-AF65-F5344CB8AC3E}">
        <p14:creationId xmlns:p14="http://schemas.microsoft.com/office/powerpoint/2010/main" val="1845354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the Boundary: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Before </a:t>
            </a:r>
            <a:r>
              <a:rPr lang="en-US" sz="1200" kern="1200" dirty="0">
                <a:solidFill>
                  <a:schemeClr val="tx1"/>
                </a:solidFill>
                <a:effectLst/>
                <a:latin typeface="+mn-lt"/>
                <a:ea typeface="+mn-ea"/>
                <a:cs typeface="+mn-cs"/>
              </a:rPr>
              <a:t>expending mental effort, we must categorize our challenges into Situations or </a:t>
            </a:r>
            <a:r>
              <a:rPr lang="en-US" sz="1200" kern="1200">
                <a:solidFill>
                  <a:schemeClr val="tx1"/>
                </a:solidFill>
                <a:effectLst/>
                <a:latin typeface="+mn-lt"/>
                <a:ea typeface="+mn-ea"/>
                <a:cs typeface="+mn-cs"/>
              </a:rPr>
              <a:t>Problems.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Comparing Definitions: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 Situation:</a:t>
            </a:r>
            <a:r>
              <a:rPr lang="en-US" sz="1200" kern="1200" dirty="0">
                <a:solidFill>
                  <a:schemeClr val="tx1"/>
                </a:solidFill>
                <a:effectLst/>
                <a:latin typeface="+mn-lt"/>
                <a:ea typeface="+mn-ea"/>
                <a:cs typeface="+mn-cs"/>
              </a:rPr>
              <a:t> A reality that must be accepted. It may be uncomfortable or unfair, but it cannot be changed through personal effort. Example: Gravity or market macroeconomic shifts. Your only action is acceptance.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 Problem:</a:t>
            </a:r>
            <a:r>
              <a:rPr lang="en-US" sz="1200" kern="1200" dirty="0">
                <a:solidFill>
                  <a:schemeClr val="tx1"/>
                </a:solidFill>
                <a:effectLst/>
                <a:latin typeface="+mn-lt"/>
                <a:ea typeface="+mn-ea"/>
                <a:cs typeface="+mn-cs"/>
              </a:rPr>
              <a:t> A point of friction where your personal agency, trial, and iterative effort can directly yield improvement. Example: Deciding who loads the office dishwasher, curing tuberculosis, or refining product messaging. Your action is active solution. </a:t>
            </a:r>
          </a:p>
          <a:p>
            <a:pPr lvl="0"/>
            <a:r>
              <a:rPr lang="en-US" sz="1200" b="1" kern="1200" dirty="0">
                <a:solidFill>
                  <a:schemeClr val="tx1"/>
                </a:solidFill>
                <a:effectLst/>
                <a:latin typeface="+mn-lt"/>
                <a:ea typeface="+mn-ea"/>
                <a:cs typeface="+mn-cs"/>
              </a:rPr>
              <a:t>Closing Thought:</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Stop </a:t>
            </a:r>
            <a:r>
              <a:rPr lang="en-US" sz="1200" kern="1200" dirty="0">
                <a:solidFill>
                  <a:schemeClr val="tx1"/>
                </a:solidFill>
                <a:effectLst/>
                <a:latin typeface="+mn-lt"/>
                <a:ea typeface="+mn-ea"/>
                <a:cs typeface="+mn-cs"/>
              </a:rPr>
              <a:t>exhausting your finite capacity attempting to negotiate with gravity. Reserve your energy exclusively for problems you can </a:t>
            </a:r>
            <a:r>
              <a:rPr lang="en-US" sz="1200" kern="1200">
                <a:solidFill>
                  <a:schemeClr val="tx1"/>
                </a:solidFill>
                <a:effectLst/>
                <a:latin typeface="+mn-lt"/>
                <a:ea typeface="+mn-ea"/>
                <a:cs typeface="+mn-cs"/>
              </a:rPr>
              <a:t>solve.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9</a:t>
            </a:fld>
            <a:endParaRPr lang="en-US"/>
          </a:p>
        </p:txBody>
      </p:sp>
    </p:spTree>
    <p:extLst>
      <p:ext uri="{BB962C8B-B14F-4D97-AF65-F5344CB8AC3E}">
        <p14:creationId xmlns:p14="http://schemas.microsoft.com/office/powerpoint/2010/main" val="1891144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Challenging the Stigma:</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We've </a:t>
            </a:r>
            <a:r>
              <a:rPr lang="en-US" sz="1200" kern="1200" dirty="0">
                <a:solidFill>
                  <a:schemeClr val="tx1"/>
                </a:solidFill>
                <a:effectLst/>
                <a:latin typeface="+mn-lt"/>
                <a:ea typeface="+mn-ea"/>
                <a:cs typeface="+mn-cs"/>
              </a:rPr>
              <a:t>been fed Lombardi's line that 'winners never quit.' Seth argues the opposite: Successful innovators quit constantly, provided their quitting is </a:t>
            </a:r>
            <a:r>
              <a:rPr lang="en-US" sz="1200" kern="1200">
                <a:solidFill>
                  <a:schemeClr val="tx1"/>
                </a:solidFill>
                <a:effectLst/>
                <a:latin typeface="+mn-lt"/>
                <a:ea typeface="+mn-ea"/>
                <a:cs typeface="+mn-cs"/>
              </a:rPr>
              <a:t>strategic.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Navigating the Curve: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Quit Before You Start:</a:t>
            </a:r>
            <a:r>
              <a:rPr lang="en-US" sz="1200" kern="1200" dirty="0">
                <a:solidFill>
                  <a:schemeClr val="tx1"/>
                </a:solidFill>
                <a:effectLst/>
                <a:latin typeface="+mn-lt"/>
                <a:ea typeface="+mn-ea"/>
                <a:cs typeface="+mn-cs"/>
              </a:rPr>
              <a:t> If you lack the resources, stamina, or interest to survive the upcoming difficult stretch ('the dip'), quit before making the initial commitment.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 Not Quit at the Hard Part:</a:t>
            </a:r>
            <a:r>
              <a:rPr lang="en-US" sz="1200" kern="1200" dirty="0">
                <a:solidFill>
                  <a:schemeClr val="tx1"/>
                </a:solidFill>
                <a:effectLst/>
                <a:latin typeface="+mn-lt"/>
                <a:ea typeface="+mn-ea"/>
                <a:cs typeface="+mn-cs"/>
              </a:rPr>
              <a:t> The hard part is the precise filter that creates market value. Quitting mid-trough is true failure.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Strategic Quit (Post-Trough):</a:t>
            </a:r>
            <a:r>
              <a:rPr lang="en-US" sz="1200" kern="1200" dirty="0">
                <a:solidFill>
                  <a:schemeClr val="tx1"/>
                </a:solidFill>
                <a:effectLst/>
                <a:latin typeface="+mn-lt"/>
                <a:ea typeface="+mn-ea"/>
                <a:cs typeface="+mn-cs"/>
              </a:rPr>
              <a:t> Quit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mastering a skill or overcoming a barrier if the environment shifts or if it no longer serves your future objectives. </a:t>
            </a:r>
          </a:p>
          <a:p>
            <a:pPr lvl="0"/>
            <a:r>
              <a:rPr lang="en-US" sz="1200" b="1" kern="1200" dirty="0">
                <a:solidFill>
                  <a:schemeClr val="tx1"/>
                </a:solidFill>
                <a:effectLst/>
                <a:latin typeface="+mn-lt"/>
                <a:ea typeface="+mn-ea"/>
                <a:cs typeface="+mn-cs"/>
              </a:rPr>
              <a:t>Ignoring Sunk Costs:</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Treat </a:t>
            </a:r>
            <a:r>
              <a:rPr lang="en-US" sz="1200" kern="1200" dirty="0">
                <a:solidFill>
                  <a:schemeClr val="tx1"/>
                </a:solidFill>
                <a:effectLst/>
                <a:latin typeface="+mn-lt"/>
                <a:ea typeface="+mn-ea"/>
                <a:cs typeface="+mn-cs"/>
              </a:rPr>
              <a:t>past investments as a generous gift from your former self. You are free to decline the gift if it no longer serves your current </a:t>
            </a:r>
            <a:r>
              <a:rPr lang="en-US" sz="1200" kern="1200">
                <a:solidFill>
                  <a:schemeClr val="tx1"/>
                </a:solidFill>
                <a:effectLst/>
                <a:latin typeface="+mn-lt"/>
                <a:ea typeface="+mn-ea"/>
                <a:cs typeface="+mn-cs"/>
              </a:rPr>
              <a:t>vision.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10</a:t>
            </a:fld>
            <a:endParaRPr lang="en-US"/>
          </a:p>
        </p:txBody>
      </p:sp>
    </p:spTree>
    <p:extLst>
      <p:ext uri="{BB962C8B-B14F-4D97-AF65-F5344CB8AC3E}">
        <p14:creationId xmlns:p14="http://schemas.microsoft.com/office/powerpoint/2010/main" val="1329985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Fallacy of Mass Appeal:</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Designing </a:t>
            </a:r>
            <a:r>
              <a:rPr lang="en-US" sz="1200" kern="1200" dirty="0">
                <a:solidFill>
                  <a:schemeClr val="tx1"/>
                </a:solidFill>
                <a:effectLst/>
                <a:latin typeface="+mn-lt"/>
                <a:ea typeface="+mn-ea"/>
                <a:cs typeface="+mn-cs"/>
              </a:rPr>
              <a:t>for the mass market forces you to dilute your work until it loses all distinct flavor. The internet is a terrible mass medium, but an extraordinary </a:t>
            </a:r>
            <a:r>
              <a:rPr lang="en-US" sz="1200" kern="1200">
                <a:solidFill>
                  <a:schemeClr val="tx1"/>
                </a:solidFill>
                <a:effectLst/>
                <a:latin typeface="+mn-lt"/>
                <a:ea typeface="+mn-ea"/>
                <a:cs typeface="+mn-cs"/>
              </a:rPr>
              <a:t>micro-medium.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Magic Room Analogy: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Consider </a:t>
            </a:r>
            <a:r>
              <a:rPr lang="en-US" sz="1200" i="1" kern="1200" dirty="0">
                <a:solidFill>
                  <a:schemeClr val="tx1"/>
                </a:solidFill>
                <a:effectLst/>
                <a:latin typeface="+mn-lt"/>
                <a:ea typeface="+mn-ea"/>
                <a:cs typeface="+mn-cs"/>
              </a:rPr>
              <a:t>69 Atlantic</a:t>
            </a:r>
            <a:r>
              <a:rPr lang="en-US" sz="1200" kern="1200" dirty="0">
                <a:solidFill>
                  <a:schemeClr val="tx1"/>
                </a:solidFill>
                <a:effectLst/>
                <a:latin typeface="+mn-lt"/>
                <a:ea typeface="+mn-ea"/>
                <a:cs typeface="+mn-cs"/>
              </a:rPr>
              <a:t> in Brooklyn—a hidden room with only 24 seats where world-class magicians perform. If you expanded it to 240 seats, the intimacy and magic would vanish completely. The constraint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the </a:t>
            </a:r>
            <a:r>
              <a:rPr lang="en-US" sz="1200" kern="1200">
                <a:solidFill>
                  <a:schemeClr val="tx1"/>
                </a:solidFill>
                <a:effectLst/>
                <a:latin typeface="+mn-lt"/>
                <a:ea typeface="+mn-ea"/>
                <a:cs typeface="+mn-cs"/>
              </a:rPr>
              <a:t>feature.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Iterative Learning:</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When </a:t>
            </a:r>
            <a:r>
              <a:rPr lang="en-US" sz="1200" kern="1200" dirty="0">
                <a:solidFill>
                  <a:schemeClr val="tx1"/>
                </a:solidFill>
                <a:effectLst/>
                <a:latin typeface="+mn-lt"/>
                <a:ea typeface="+mn-ea"/>
                <a:cs typeface="+mn-cs"/>
              </a:rPr>
              <a:t>Seth received 800 rejection letters in one year from book publishers, it wasn't personal failure. It was an iterative loop allowing him to refine his offering until he found the specific audience that needed it. Master the phrase: </a:t>
            </a:r>
            <a:r>
              <a:rPr lang="en-US" sz="1200" i="1" kern="1200" dirty="0">
                <a:solidFill>
                  <a:schemeClr val="tx1"/>
                </a:solidFill>
                <a:effectLst/>
                <a:latin typeface="+mn-lt"/>
                <a:ea typeface="+mn-ea"/>
                <a:cs typeface="+mn-cs"/>
              </a:rPr>
              <a:t>'Thank you, it's not for </a:t>
            </a:r>
            <a:r>
              <a:rPr lang="en-US" sz="1200" i="1" kern="1200">
                <a:solidFill>
                  <a:schemeClr val="tx1"/>
                </a:solidFill>
                <a:effectLst/>
                <a:latin typeface="+mn-lt"/>
                <a:ea typeface="+mn-ea"/>
                <a:cs typeface="+mn-cs"/>
              </a:rPr>
              <a:t>you.'</a:t>
            </a:r>
            <a:r>
              <a:rPr lang="en-US" sz="1200" kern="120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11</a:t>
            </a:fld>
            <a:endParaRPr lang="en-US"/>
          </a:p>
        </p:txBody>
      </p:sp>
    </p:spTree>
    <p:extLst>
      <p:ext uri="{BB962C8B-B14F-4D97-AF65-F5344CB8AC3E}">
        <p14:creationId xmlns:p14="http://schemas.microsoft.com/office/powerpoint/2010/main" val="1423994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the Split:</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Management </a:t>
            </a:r>
            <a:r>
              <a:rPr lang="en-US" sz="1200" kern="1200" dirty="0">
                <a:solidFill>
                  <a:schemeClr val="tx1"/>
                </a:solidFill>
                <a:effectLst/>
                <a:latin typeface="+mn-lt"/>
                <a:ea typeface="+mn-ea"/>
                <a:cs typeface="+mn-cs"/>
              </a:rPr>
              <a:t>and Leadership are fundamentally different operating </a:t>
            </a:r>
            <a:r>
              <a:rPr lang="en-US" sz="1200" kern="1200">
                <a:solidFill>
                  <a:schemeClr val="tx1"/>
                </a:solidFill>
                <a:effectLst/>
                <a:latin typeface="+mn-lt"/>
                <a:ea typeface="+mn-ea"/>
                <a:cs typeface="+mn-cs"/>
              </a:rPr>
              <a:t>systems.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Core Comparison: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Manager:</a:t>
            </a:r>
            <a:r>
              <a:rPr lang="en-US" sz="1200" kern="1200" dirty="0">
                <a:solidFill>
                  <a:schemeClr val="tx1"/>
                </a:solidFill>
                <a:effectLst/>
                <a:latin typeface="+mn-lt"/>
                <a:ea typeface="+mn-ea"/>
                <a:cs typeface="+mn-cs"/>
              </a:rPr>
              <a:t> Leverages positional power, authority, and metrics to enforce compliance on known, repeatable tasks (e.g., fast-food chains, medical device manufacturing). Managers desire authority.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Leader:</a:t>
            </a:r>
            <a:r>
              <a:rPr lang="en-US" sz="1200" kern="1200" dirty="0">
                <a:solidFill>
                  <a:schemeClr val="tx1"/>
                </a:solidFill>
                <a:effectLst/>
                <a:latin typeface="+mn-lt"/>
                <a:ea typeface="+mn-ea"/>
                <a:cs typeface="+mn-cs"/>
              </a:rPr>
              <a:t> Operates through vision, enrollment, and voluntary participation. Leaders step into uncharted territory and announce</a:t>
            </a:r>
            <a:r>
              <a:rPr lang="en-US" sz="1200" kern="1200">
                <a:solidFill>
                  <a:schemeClr val="tx1"/>
                </a:solidFill>
                <a:effectLst/>
                <a:latin typeface="+mn-lt"/>
                <a:ea typeface="+mn-ea"/>
                <a:cs typeface="+mn-cs"/>
              </a:rPr>
              <a:t>: </a:t>
            </a:r>
            <a:r>
              <a:rPr lang="en-US" sz="1200" i="1" kern="1200">
                <a:solidFill>
                  <a:schemeClr val="tx1"/>
                </a:solidFill>
                <a:effectLst/>
                <a:latin typeface="+mn-lt"/>
                <a:ea typeface="+mn-ea"/>
                <a:cs typeface="+mn-cs"/>
              </a:rPr>
              <a:t>I </a:t>
            </a:r>
            <a:r>
              <a:rPr lang="en-US" sz="1200" i="1" kern="1200" dirty="0">
                <a:solidFill>
                  <a:schemeClr val="tx1"/>
                </a:solidFill>
                <a:effectLst/>
                <a:latin typeface="+mn-lt"/>
                <a:ea typeface="+mn-ea"/>
                <a:cs typeface="+mn-cs"/>
              </a:rPr>
              <a:t>am going over there, who wants to </a:t>
            </a:r>
            <a:r>
              <a:rPr lang="en-US" sz="1200" i="1" kern="1200">
                <a:solidFill>
                  <a:schemeClr val="tx1"/>
                </a:solidFill>
                <a:effectLst/>
                <a:latin typeface="+mn-lt"/>
                <a:ea typeface="+mn-ea"/>
                <a:cs typeface="+mn-cs"/>
              </a:rPr>
              <a:t>come?</a:t>
            </a:r>
            <a:r>
              <a:rPr lang="en-US" sz="1200" kern="1200">
                <a:solidFill>
                  <a:schemeClr val="tx1"/>
                </a:solidFill>
                <a:effectLst/>
                <a:latin typeface="+mn-lt"/>
                <a:ea typeface="+mn-ea"/>
                <a:cs typeface="+mn-cs"/>
              </a:rPr>
              <a:t> </a:t>
            </a:r>
            <a:r>
              <a:rPr lang="en-US" sz="1200" kern="1200" dirty="0">
                <a:solidFill>
                  <a:schemeClr val="tx1"/>
                </a:solidFill>
                <a:effectLst/>
                <a:latin typeface="+mn-lt"/>
                <a:ea typeface="+mn-ea"/>
                <a:cs typeface="+mn-cs"/>
              </a:rPr>
              <a:t>Leaders accept responsibility. </a:t>
            </a:r>
          </a:p>
          <a:p>
            <a:pPr lvl="0"/>
            <a:r>
              <a:rPr lang="en-US" sz="1200" b="1" kern="1200" dirty="0">
                <a:solidFill>
                  <a:schemeClr val="tx1"/>
                </a:solidFill>
                <a:effectLst/>
                <a:latin typeface="+mn-lt"/>
                <a:ea typeface="+mn-ea"/>
                <a:cs typeface="+mn-cs"/>
              </a:rPr>
              <a:t>Application:</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Compliance </a:t>
            </a:r>
            <a:r>
              <a:rPr lang="en-US" sz="1200" kern="1200" dirty="0">
                <a:solidFill>
                  <a:schemeClr val="tx1"/>
                </a:solidFill>
                <a:effectLst/>
                <a:latin typeface="+mn-lt"/>
                <a:ea typeface="+mn-ea"/>
                <a:cs typeface="+mn-cs"/>
              </a:rPr>
              <a:t>can be mandated, but innovation, passion, and genuine craftsmanship can only be voluntarily </a:t>
            </a:r>
            <a:r>
              <a:rPr lang="en-US" sz="1200" kern="1200">
                <a:solidFill>
                  <a:schemeClr val="tx1"/>
                </a:solidFill>
                <a:effectLst/>
                <a:latin typeface="+mn-lt"/>
                <a:ea typeface="+mn-ea"/>
                <a:cs typeface="+mn-cs"/>
              </a:rPr>
              <a:t>enrolled.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12</a:t>
            </a:fld>
            <a:endParaRPr lang="en-US"/>
          </a:p>
        </p:txBody>
      </p:sp>
    </p:spTree>
    <p:extLst>
      <p:ext uri="{BB962C8B-B14F-4D97-AF65-F5344CB8AC3E}">
        <p14:creationId xmlns:p14="http://schemas.microsoft.com/office/powerpoint/2010/main" val="590379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Stress vs. Tension:</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Unmanaged </a:t>
            </a:r>
            <a:r>
              <a:rPr lang="en-US" sz="1200" kern="1200" dirty="0">
                <a:solidFill>
                  <a:schemeClr val="tx1"/>
                </a:solidFill>
                <a:effectLst/>
                <a:latin typeface="+mn-lt"/>
                <a:ea typeface="+mn-ea"/>
                <a:cs typeface="+mn-cs"/>
              </a:rPr>
              <a:t>stress wears us out, but intentional tension builds productive momentum. Think of pulling back a rubber band: Without backward tension, it cannot fly across the </a:t>
            </a:r>
            <a:r>
              <a:rPr lang="en-US" sz="1200" kern="1200">
                <a:solidFill>
                  <a:schemeClr val="tx1"/>
                </a:solidFill>
                <a:effectLst/>
                <a:latin typeface="+mn-lt"/>
                <a:ea typeface="+mn-ea"/>
                <a:cs typeface="+mn-cs"/>
              </a:rPr>
              <a:t>room.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2-Step Decision Framework:</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Step 1 (The Pessimist Hat):</a:t>
            </a:r>
            <a:r>
              <a:rPr lang="en-US" sz="1200" kern="1200" dirty="0">
                <a:solidFill>
                  <a:schemeClr val="tx1"/>
                </a:solidFill>
                <a:effectLst/>
                <a:latin typeface="+mn-lt"/>
                <a:ea typeface="+mn-ea"/>
                <a:cs typeface="+mn-cs"/>
              </a:rPr>
              <a:t> Put on your pessimist hat to rigorously audit vulnerabilities, risks, and failure points to ensure survival. </a:t>
            </a:r>
          </a:p>
          <a:p>
            <a:pPr marL="228600" lvl="0" indent="-228600">
              <a:buFont typeface="+mj-lt"/>
              <a:buAutoNum type="arabicPeriod"/>
            </a:pPr>
            <a:r>
              <a:rPr lang="en-US" sz="1200" b="1" kern="1200" dirty="0">
                <a:solidFill>
                  <a:schemeClr val="tx1"/>
                </a:solidFill>
                <a:effectLst/>
                <a:latin typeface="+mn-lt"/>
                <a:ea typeface="+mn-ea"/>
                <a:cs typeface="+mn-cs"/>
              </a:rPr>
              <a:t>Step 2 (The Optimist Hat):</a:t>
            </a:r>
            <a:r>
              <a:rPr lang="en-US" sz="1200" kern="1200" dirty="0">
                <a:solidFill>
                  <a:schemeClr val="tx1"/>
                </a:solidFill>
                <a:effectLst/>
                <a:latin typeface="+mn-lt"/>
                <a:ea typeface="+mn-ea"/>
                <a:cs typeface="+mn-cs"/>
              </a:rPr>
              <a:t> Switch to your optimist hat and ask</a:t>
            </a:r>
            <a:r>
              <a:rPr lang="en-US" sz="1200" kern="1200">
                <a:solidFill>
                  <a:schemeClr val="tx1"/>
                </a:solidFill>
                <a:effectLst/>
                <a:latin typeface="+mn-lt"/>
                <a:ea typeface="+mn-ea"/>
                <a:cs typeface="+mn-cs"/>
              </a:rPr>
              <a:t>: </a:t>
            </a:r>
            <a:r>
              <a:rPr lang="en-US" sz="1200" i="1" kern="1200">
                <a:solidFill>
                  <a:schemeClr val="tx1"/>
                </a:solidFill>
                <a:effectLst/>
                <a:latin typeface="+mn-lt"/>
                <a:ea typeface="+mn-ea"/>
                <a:cs typeface="+mn-cs"/>
              </a:rPr>
              <a:t>How </a:t>
            </a:r>
            <a:r>
              <a:rPr lang="en-US" sz="1200" i="1" kern="1200" dirty="0">
                <a:solidFill>
                  <a:schemeClr val="tx1"/>
                </a:solidFill>
                <a:effectLst/>
                <a:latin typeface="+mn-lt"/>
                <a:ea typeface="+mn-ea"/>
                <a:cs typeface="+mn-cs"/>
              </a:rPr>
              <a:t>do we set this up so that if it works, we compound our </a:t>
            </a:r>
            <a:r>
              <a:rPr lang="en-US" sz="1200" i="1" kern="1200">
                <a:solidFill>
                  <a:schemeClr val="tx1"/>
                </a:solidFill>
                <a:effectLst/>
                <a:latin typeface="+mn-lt"/>
                <a:ea typeface="+mn-ea"/>
                <a:cs typeface="+mn-cs"/>
              </a:rPr>
              <a:t>upside?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Closing Insight:</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Optimism </a:t>
            </a:r>
            <a:r>
              <a:rPr lang="en-US" sz="1200" kern="1200" dirty="0">
                <a:solidFill>
                  <a:schemeClr val="tx1"/>
                </a:solidFill>
                <a:effectLst/>
                <a:latin typeface="+mn-lt"/>
                <a:ea typeface="+mn-ea"/>
                <a:cs typeface="+mn-cs"/>
              </a:rPr>
              <a:t>is not naive hope; it is the strategic choice to stretch the rubber band and lead </a:t>
            </a:r>
            <a:r>
              <a:rPr lang="en-US" sz="1200" kern="1200">
                <a:solidFill>
                  <a:schemeClr val="tx1"/>
                </a:solidFill>
                <a:effectLst/>
                <a:latin typeface="+mn-lt"/>
                <a:ea typeface="+mn-ea"/>
                <a:cs typeface="+mn-cs"/>
              </a:rPr>
              <a:t>forward.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13</a:t>
            </a:fld>
            <a:endParaRPr lang="en-US"/>
          </a:p>
        </p:txBody>
      </p:sp>
    </p:spTree>
    <p:extLst>
      <p:ext uri="{BB962C8B-B14F-4D97-AF65-F5344CB8AC3E}">
        <p14:creationId xmlns:p14="http://schemas.microsoft.com/office/powerpoint/2010/main" val="3560065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Connecting the Engine: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Getting </a:t>
            </a:r>
            <a:r>
              <a:rPr lang="en-US" sz="1200" kern="1200" dirty="0">
                <a:solidFill>
                  <a:schemeClr val="tx1"/>
                </a:solidFill>
                <a:effectLst/>
                <a:latin typeface="+mn-lt"/>
                <a:ea typeface="+mn-ea"/>
                <a:cs typeface="+mn-cs"/>
              </a:rPr>
              <a:t>unstuck is not about summoning extra willpower. It requires running an integrated operating </a:t>
            </a:r>
            <a:r>
              <a:rPr lang="en-US" sz="1200" kern="1200">
                <a:solidFill>
                  <a:schemeClr val="tx1"/>
                </a:solidFill>
                <a:effectLst/>
                <a:latin typeface="+mn-lt"/>
                <a:ea typeface="+mn-ea"/>
                <a:cs typeface="+mn-cs"/>
              </a:rPr>
              <a:t>system.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Walking the Sequence:</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Tell the Truth:</a:t>
            </a:r>
            <a:r>
              <a:rPr lang="en-US" sz="1200" kern="1200" dirty="0">
                <a:solidFill>
                  <a:schemeClr val="tx1"/>
                </a:solidFill>
                <a:effectLst/>
                <a:latin typeface="+mn-lt"/>
                <a:ea typeface="+mn-ea"/>
                <a:cs typeface="+mn-cs"/>
              </a:rPr>
              <a:t> Name the unstated posts to clear entanglements. </a:t>
            </a:r>
          </a:p>
          <a:p>
            <a:pPr marL="228600" lvl="0" indent="-228600">
              <a:buFont typeface="+mj-lt"/>
              <a:buAutoNum type="arabicPeriod"/>
            </a:pPr>
            <a:r>
              <a:rPr lang="en-US" sz="1200" b="1" kern="1200" dirty="0">
                <a:solidFill>
                  <a:schemeClr val="tx1"/>
                </a:solidFill>
                <a:effectLst/>
                <a:latin typeface="+mn-lt"/>
                <a:ea typeface="+mn-ea"/>
                <a:cs typeface="+mn-cs"/>
              </a:rPr>
              <a:t>Strategic Quitting (U-Turn):</a:t>
            </a:r>
            <a:r>
              <a:rPr lang="en-US" sz="1200" kern="1200" dirty="0">
                <a:solidFill>
                  <a:schemeClr val="tx1"/>
                </a:solidFill>
                <a:effectLst/>
                <a:latin typeface="+mn-lt"/>
                <a:ea typeface="+mn-ea"/>
                <a:cs typeface="+mn-cs"/>
              </a:rPr>
              <a:t> Cut non-viable projects to reclaim time and resources. </a:t>
            </a:r>
          </a:p>
          <a:p>
            <a:pPr marL="228600" lvl="0" indent="-228600">
              <a:buFont typeface="+mj-lt"/>
              <a:buAutoNum type="arabicPeriod"/>
            </a:pPr>
            <a:r>
              <a:rPr lang="en-US" sz="1200" b="1" kern="1200" dirty="0">
                <a:solidFill>
                  <a:schemeClr val="tx1"/>
                </a:solidFill>
                <a:effectLst/>
                <a:latin typeface="+mn-lt"/>
                <a:ea typeface="+mn-ea"/>
                <a:cs typeface="+mn-cs"/>
              </a:rPr>
              <a:t>Target SVA (Smallest Viable Audience):</a:t>
            </a:r>
            <a:r>
              <a:rPr lang="en-US" sz="1200" kern="1200" dirty="0">
                <a:solidFill>
                  <a:schemeClr val="tx1"/>
                </a:solidFill>
                <a:effectLst/>
                <a:latin typeface="+mn-lt"/>
                <a:ea typeface="+mn-ea"/>
                <a:cs typeface="+mn-cs"/>
              </a:rPr>
              <a:t> Direct focus solely onto those who genuinely care. </a:t>
            </a:r>
          </a:p>
          <a:p>
            <a:pPr marL="228600" lvl="0" indent="-228600">
              <a:buFont typeface="+mj-lt"/>
              <a:buAutoNum type="arabicPeriod"/>
            </a:pPr>
            <a:r>
              <a:rPr lang="en-US" sz="1200" b="1" kern="1200" dirty="0">
                <a:solidFill>
                  <a:schemeClr val="tx1"/>
                </a:solidFill>
                <a:effectLst/>
                <a:latin typeface="+mn-lt"/>
                <a:ea typeface="+mn-ea"/>
                <a:cs typeface="+mn-cs"/>
              </a:rPr>
              <a:t>Create Tension &amp; Lead:</a:t>
            </a:r>
            <a:r>
              <a:rPr lang="en-US" sz="1200" kern="1200" dirty="0">
                <a:solidFill>
                  <a:schemeClr val="tx1"/>
                </a:solidFill>
                <a:effectLst/>
                <a:latin typeface="+mn-lt"/>
                <a:ea typeface="+mn-ea"/>
                <a:cs typeface="+mn-cs"/>
              </a:rPr>
              <a:t> Mobilize your audience through voluntary enrollment.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True </a:t>
            </a:r>
            <a:r>
              <a:rPr lang="en-US" sz="1200" kern="1200" dirty="0">
                <a:solidFill>
                  <a:schemeClr val="tx1"/>
                </a:solidFill>
                <a:effectLst/>
                <a:latin typeface="+mn-lt"/>
                <a:ea typeface="+mn-ea"/>
                <a:cs typeface="+mn-cs"/>
              </a:rPr>
              <a:t>freedom comes from identifying false risks, abandoning legacy conditioning, and applying your remaining energy to leading </a:t>
            </a:r>
            <a:r>
              <a:rPr lang="en-US" sz="1200" kern="1200">
                <a:solidFill>
                  <a:schemeClr val="tx1"/>
                </a:solidFill>
                <a:effectLst/>
                <a:latin typeface="+mn-lt"/>
                <a:ea typeface="+mn-ea"/>
                <a:cs typeface="+mn-cs"/>
              </a:rPr>
              <a:t>others.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14</a:t>
            </a:fld>
            <a:endParaRPr lang="en-US"/>
          </a:p>
        </p:txBody>
      </p:sp>
    </p:spTree>
    <p:extLst>
      <p:ext uri="{BB962C8B-B14F-4D97-AF65-F5344CB8AC3E}">
        <p14:creationId xmlns:p14="http://schemas.microsoft.com/office/powerpoint/2010/main" val="1521536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Message: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Corporate </a:t>
            </a:r>
            <a:r>
              <a:rPr lang="en-US" sz="1200" kern="1200" dirty="0">
                <a:solidFill>
                  <a:schemeClr val="tx1"/>
                </a:solidFill>
                <a:effectLst/>
                <a:latin typeface="+mn-lt"/>
                <a:ea typeface="+mn-ea"/>
                <a:cs typeface="+mn-cs"/>
              </a:rPr>
              <a:t>mission statements are often generic paragraphs that mask basic financial motives. You only need an eight-word </a:t>
            </a:r>
            <a:r>
              <a:rPr lang="en-US" sz="1200" kern="1200">
                <a:solidFill>
                  <a:schemeClr val="tx1"/>
                </a:solidFill>
                <a:effectLst/>
                <a:latin typeface="+mn-lt"/>
                <a:ea typeface="+mn-ea"/>
                <a:cs typeface="+mn-cs"/>
              </a:rPr>
              <a:t>filter: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Deconstructing the Phrase: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Work </a:t>
            </a:r>
            <a:r>
              <a:rPr lang="en-US" sz="1200" b="1" kern="1200" dirty="0">
                <a:solidFill>
                  <a:schemeClr val="tx1"/>
                </a:solidFill>
                <a:effectLst/>
                <a:latin typeface="+mn-lt"/>
                <a:ea typeface="+mn-ea"/>
                <a:cs typeface="+mn-cs"/>
              </a:rPr>
              <a:t>that </a:t>
            </a:r>
            <a:r>
              <a:rPr lang="en-US" sz="1200" b="1" kern="1200">
                <a:solidFill>
                  <a:schemeClr val="tx1"/>
                </a:solidFill>
                <a:effectLst/>
                <a:latin typeface="+mn-lt"/>
                <a:ea typeface="+mn-ea"/>
                <a:cs typeface="+mn-cs"/>
              </a:rPr>
              <a:t>Matters...</a:t>
            </a:r>
            <a:r>
              <a:rPr lang="en-US" sz="1200" kern="1200">
                <a:solidFill>
                  <a:schemeClr val="tx1"/>
                </a:solidFill>
                <a:effectLst/>
                <a:latin typeface="+mn-lt"/>
                <a:ea typeface="+mn-ea"/>
                <a:cs typeface="+mn-cs"/>
              </a:rPr>
              <a:t> </a:t>
            </a:r>
            <a:r>
              <a:rPr lang="en-US" sz="1200" kern="1200" dirty="0">
                <a:solidFill>
                  <a:schemeClr val="tx1"/>
                </a:solidFill>
                <a:effectLst/>
                <a:latin typeface="+mn-lt"/>
                <a:ea typeface="+mn-ea"/>
                <a:cs typeface="+mn-cs"/>
              </a:rPr>
              <a:t>Craft that demands care, agency, and generous effort. </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a:t>
            </a:r>
            <a:r>
              <a:rPr lang="en-US" sz="1200" b="1" kern="1200" dirty="0">
                <a:solidFill>
                  <a:schemeClr val="tx1"/>
                </a:solidFill>
                <a:effectLst/>
                <a:latin typeface="+mn-lt"/>
                <a:ea typeface="+mn-ea"/>
                <a:cs typeface="+mn-cs"/>
              </a:rPr>
              <a:t>for People Who </a:t>
            </a:r>
            <a:r>
              <a:rPr lang="en-US" sz="1200" b="1" kern="1200">
                <a:solidFill>
                  <a:schemeClr val="tx1"/>
                </a:solidFill>
                <a:effectLst/>
                <a:latin typeface="+mn-lt"/>
                <a:ea typeface="+mn-ea"/>
                <a:cs typeface="+mn-cs"/>
              </a:rPr>
              <a:t>Care.</a:t>
            </a:r>
            <a:r>
              <a:rPr lang="en-US" sz="1200" kern="1200">
                <a:solidFill>
                  <a:schemeClr val="tx1"/>
                </a:solidFill>
                <a:effectLst/>
                <a:latin typeface="+mn-lt"/>
                <a:ea typeface="+mn-ea"/>
                <a:cs typeface="+mn-cs"/>
              </a:rPr>
              <a:t> </a:t>
            </a:r>
            <a:r>
              <a:rPr lang="en-US" sz="1200" kern="1200" dirty="0">
                <a:solidFill>
                  <a:schemeClr val="tx1"/>
                </a:solidFill>
                <a:effectLst/>
                <a:latin typeface="+mn-lt"/>
                <a:ea typeface="+mn-ea"/>
                <a:cs typeface="+mn-cs"/>
              </a:rPr>
              <a:t>Focus strictly on those aligned with your work. Ignore uninterested critics and say</a:t>
            </a:r>
            <a:r>
              <a:rPr lang="en-US" sz="1200" kern="1200">
                <a:solidFill>
                  <a:schemeClr val="tx1"/>
                </a:solidFill>
                <a:effectLst/>
                <a:latin typeface="+mn-lt"/>
                <a:ea typeface="+mn-ea"/>
                <a:cs typeface="+mn-cs"/>
              </a:rPr>
              <a:t>, </a:t>
            </a:r>
            <a:r>
              <a:rPr lang="en-US" sz="1200" i="1" kern="1200">
                <a:solidFill>
                  <a:schemeClr val="tx1"/>
                </a:solidFill>
                <a:effectLst/>
                <a:latin typeface="+mn-lt"/>
                <a:ea typeface="+mn-ea"/>
                <a:cs typeface="+mn-cs"/>
              </a:rPr>
              <a:t>Thank </a:t>
            </a:r>
            <a:r>
              <a:rPr lang="en-US" sz="1200" i="1" kern="1200" dirty="0">
                <a:solidFill>
                  <a:schemeClr val="tx1"/>
                </a:solidFill>
                <a:effectLst/>
                <a:latin typeface="+mn-lt"/>
                <a:ea typeface="+mn-ea"/>
                <a:cs typeface="+mn-cs"/>
              </a:rPr>
              <a:t>you, it's not for </a:t>
            </a:r>
            <a:r>
              <a:rPr lang="en-US" sz="1200" i="1" kern="1200">
                <a:solidFill>
                  <a:schemeClr val="tx1"/>
                </a:solidFill>
                <a:effectLst/>
                <a:latin typeface="+mn-lt"/>
                <a:ea typeface="+mn-ea"/>
                <a:cs typeface="+mn-cs"/>
              </a:rPr>
              <a:t>you.</a:t>
            </a:r>
            <a:r>
              <a:rPr lang="en-US" sz="1200" kern="120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Transition to Final Slide: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Let's </a:t>
            </a:r>
            <a:r>
              <a:rPr lang="en-US" sz="1200" kern="1200" dirty="0">
                <a:solidFill>
                  <a:schemeClr val="tx1"/>
                </a:solidFill>
                <a:effectLst/>
                <a:latin typeface="+mn-lt"/>
                <a:ea typeface="+mn-ea"/>
                <a:cs typeface="+mn-cs"/>
              </a:rPr>
              <a:t>look at the summary architecture that brings all these principles </a:t>
            </a:r>
            <a:r>
              <a:rPr lang="en-US" sz="1200" kern="1200">
                <a:solidFill>
                  <a:schemeClr val="tx1"/>
                </a:solidFill>
                <a:effectLst/>
                <a:latin typeface="+mn-lt"/>
                <a:ea typeface="+mn-ea"/>
                <a:cs typeface="+mn-cs"/>
              </a:rPr>
              <a:t>together.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15</a:t>
            </a:fld>
            <a:endParaRPr lang="en-US"/>
          </a:p>
        </p:txBody>
      </p:sp>
    </p:spTree>
    <p:extLst>
      <p:ext uri="{BB962C8B-B14F-4D97-AF65-F5344CB8AC3E}">
        <p14:creationId xmlns:p14="http://schemas.microsoft.com/office/powerpoint/2010/main" val="353603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Recap of Core Elements: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Anatomy of Mediocrity:</a:t>
            </a:r>
            <a:r>
              <a:rPr lang="en-US" sz="1200" kern="1200" dirty="0">
                <a:solidFill>
                  <a:schemeClr val="tx1"/>
                </a:solidFill>
                <a:effectLst/>
                <a:latin typeface="+mn-lt"/>
                <a:ea typeface="+mn-ea"/>
                <a:cs typeface="+mn-cs"/>
              </a:rPr>
              <a:t> Driven by industrial compliance, vanity metrics, invisible entanglements, and the Four Horsemen. It encourages individuals to stay hidden in safety.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Path to High-Impact Leadership:</a:t>
            </a:r>
            <a:r>
              <a:rPr lang="en-US" sz="1200" kern="1200" dirty="0">
                <a:solidFill>
                  <a:schemeClr val="tx1"/>
                </a:solidFill>
                <a:effectLst/>
                <a:latin typeface="+mn-lt"/>
                <a:ea typeface="+mn-ea"/>
                <a:cs typeface="+mn-cs"/>
              </a:rPr>
              <a:t> Built on pulling the post, strategic quitting, serving a smallest viable audience, and leveraging voluntary enrollment. </a:t>
            </a:r>
          </a:p>
          <a:p>
            <a:pPr lvl="0"/>
            <a:r>
              <a:rPr lang="en-US" sz="1200" b="1" kern="1200" dirty="0">
                <a:solidFill>
                  <a:schemeClr val="tx1"/>
                </a:solidFill>
                <a:effectLst/>
                <a:latin typeface="+mn-lt"/>
                <a:ea typeface="+mn-ea"/>
                <a:cs typeface="+mn-cs"/>
              </a:rPr>
              <a:t>Final Challenge to the Audience:</a:t>
            </a:r>
            <a:endParaRPr lang="en-US" sz="1200" kern="1200" dirty="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Choose </a:t>
            </a:r>
            <a:r>
              <a:rPr lang="en-US" sz="1200" kern="1200" dirty="0">
                <a:solidFill>
                  <a:schemeClr val="tx1"/>
                </a:solidFill>
                <a:effectLst/>
                <a:latin typeface="+mn-lt"/>
                <a:ea typeface="+mn-ea"/>
                <a:cs typeface="+mn-cs"/>
              </a:rPr>
              <a:t>one area in your current work where you are prioritizing compliance over impact. Pull the post. Tell the truth. Stop attempting to please everyone and focus on producing work that matters for the people who truly care. Thank </a:t>
            </a:r>
            <a:r>
              <a:rPr lang="en-US" sz="1200" kern="1200">
                <a:solidFill>
                  <a:schemeClr val="tx1"/>
                </a:solidFill>
                <a:effectLst/>
                <a:latin typeface="+mn-lt"/>
                <a:ea typeface="+mn-ea"/>
                <a:cs typeface="+mn-cs"/>
              </a:rPr>
              <a:t>you.</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2DA32DD-DC17-4EA9-93EE-D3A3C3A7553F}" type="slidenum">
              <a:rPr lang="en-US" smtClean="0"/>
              <a:t>16</a:t>
            </a:fld>
            <a:endParaRPr lang="en-US"/>
          </a:p>
        </p:txBody>
      </p:sp>
    </p:spTree>
    <p:extLst>
      <p:ext uri="{BB962C8B-B14F-4D97-AF65-F5344CB8AC3E}">
        <p14:creationId xmlns:p14="http://schemas.microsoft.com/office/powerpoint/2010/main" val="2176043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974A76-7929-CAD5-146E-E35A608C7702}"/>
              </a:ext>
            </a:extLst>
          </p:cNvPr>
          <p:cNvSpPr>
            <a:spLocks noGrp="1"/>
          </p:cNvSpPr>
          <p:nvPr>
            <p:ph type="dt" sz="half" idx="10"/>
          </p:nvPr>
        </p:nvSpPr>
        <p:spPr/>
        <p:txBody>
          <a:bodyPr/>
          <a:lstStyle/>
          <a:p>
            <a:fld id="{D5AFF369-62F9-4240-B5B4-C274C701CCB7}" type="datetimeFigureOut">
              <a:rPr lang="en-US" smtClean="0"/>
              <a:t>10/19/2026</a:t>
            </a:fld>
            <a:endParaRPr lang="en-US"/>
          </a:p>
        </p:txBody>
      </p:sp>
      <p:sp>
        <p:nvSpPr>
          <p:cNvPr id="3" name="Footer Placeholder 2">
            <a:extLst>
              <a:ext uri="{FF2B5EF4-FFF2-40B4-BE49-F238E27FC236}">
                <a16:creationId xmlns:a16="http://schemas.microsoft.com/office/drawing/2014/main" id="{53D75D10-E041-68ED-00F6-4E951300AC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0493E9-025B-61C8-95F3-0F6E8C795AED}"/>
              </a:ext>
            </a:extLst>
          </p:cNvPr>
          <p:cNvSpPr>
            <a:spLocks noGrp="1"/>
          </p:cNvSpPr>
          <p:nvPr>
            <p:ph type="sldNum" sz="quarter" idx="12"/>
          </p:nvPr>
        </p:nvSpPr>
        <p:spPr/>
        <p:txBody>
          <a:bodyPr/>
          <a:lstStyle/>
          <a:p>
            <a:fld id="{20F0068D-D5CB-4D25-AC58-2B84956D18E2}" type="slidenum">
              <a:rPr lang="en-US" smtClean="0"/>
              <a:t>‹#›</a:t>
            </a:fld>
            <a:endParaRPr lang="en-US"/>
          </a:p>
        </p:txBody>
      </p:sp>
    </p:spTree>
    <p:extLst>
      <p:ext uri="{BB962C8B-B14F-4D97-AF65-F5344CB8AC3E}">
        <p14:creationId xmlns:p14="http://schemas.microsoft.com/office/powerpoint/2010/main" val="39777251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9866AC-1E35-6B70-C4D6-04A6C7864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350E5E-7BCA-4F1A-72A4-591ADCB0D5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F2B1E3-9E20-CC7A-A03A-110426EF6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FF369-62F9-4240-B5B4-C274C701CCB7}" type="datetimeFigureOut">
              <a:rPr lang="en-US" smtClean="0"/>
              <a:t>10/19/2026</a:t>
            </a:fld>
            <a:endParaRPr lang="en-US"/>
          </a:p>
        </p:txBody>
      </p:sp>
      <p:sp>
        <p:nvSpPr>
          <p:cNvPr id="5" name="Footer Placeholder 4">
            <a:extLst>
              <a:ext uri="{FF2B5EF4-FFF2-40B4-BE49-F238E27FC236}">
                <a16:creationId xmlns:a16="http://schemas.microsoft.com/office/drawing/2014/main" id="{AD2AFE3B-7D82-4905-3C07-171AD95CFB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418323-8D80-939C-F2B5-C0FB298D5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F0068D-D5CB-4D25-AC58-2B84956D18E2}" type="slidenum">
              <a:rPr lang="en-US" smtClean="0"/>
              <a:t>‹#›</a:t>
            </a:fld>
            <a:endParaRPr lang="en-US"/>
          </a:p>
        </p:txBody>
      </p:sp>
    </p:spTree>
    <p:extLst>
      <p:ext uri="{BB962C8B-B14F-4D97-AF65-F5344CB8AC3E}">
        <p14:creationId xmlns:p14="http://schemas.microsoft.com/office/powerpoint/2010/main" val="64694607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52545A-7848-CF24-18C4-14B2112E63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F63EB5-2C9C-E884-B0C6-0BB189420A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800866-9B17-BA22-9072-35DEF7A3F4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1F5146-FDAB-4995-79EA-6B6D636C68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9253AB-B505-B1CB-BBED-059A1C2141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99B60A-C642-C27D-392B-FA3ABEA2C6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4A240A-615F-4A9E-DA10-C1A2357515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A77F17-B624-1B72-8D83-B5D33AFBD0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A9B189-F66F-10CD-C498-E630A0DE47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75D2C0-19C9-C851-F714-155C03DDA42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063B3C-A704-ED6E-FD4B-A69D1E2B1E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37CBEC-A8A2-408A-804A-785E6BF75277}"/>
              </a:ext>
            </a:extLst>
          </p:cNvPr>
          <p:cNvPicPr>
            <a:picLocks noChangeAspect="1"/>
          </p:cNvPicPr>
          <p:nvPr/>
        </p:nvPicPr>
        <p:blipFill>
          <a:blip r:embed="rId3"/>
          <a:stretch>
            <a:fillRect/>
          </a:stretch>
        </p:blipFill>
        <p:spPr>
          <a:xfrm>
            <a:off x="-60960" y="-5429"/>
            <a:ext cx="12313920" cy="6868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D879F6-C747-59C8-CBAD-A22B9857EF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2599F0-7A09-3E58-C8AE-367CC21B0E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177198-EC46-BB0D-28D6-1B92B78817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056471-DB46-9264-8102-7D6813366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763137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2355</Words>
  <Application>Microsoft Office PowerPoint</Application>
  <PresentationFormat>寬螢幕</PresentationFormat>
  <Paragraphs>135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2026-08-24T09:01:58Z</dcterms:created>
  <dcterms:modified xsi:type="dcterms:W3CDTF">2026-10-19T15:36:39Z</dcterms:modified>
</cp:coreProperties>
</file>