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915243-D12F-4F56-9602-E8AA49934BEC}" v="16" dt="2026-08-09T12:57:37.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89031"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9T12:57:45.911" v="50" actId="166"/>
      <pc:docMkLst>
        <pc:docMk/>
      </pc:docMkLst>
      <pc:sldChg chg="addSp delSp modSp mod modAnim modNotesTx">
        <pc:chgData name="Lai, Wilson" userId="2840974a-0d84-4886-90a9-9a3ed79f3a48" providerId="ADAL" clId="{9F23B798-9E84-4552-BA63-E776E805C424}" dt="2026-08-09T12:57:45.911" v="50" actId="166"/>
        <pc:sldMkLst>
          <pc:docMk/>
          <pc:sldMk cId="0" sldId="257"/>
        </pc:sldMkLst>
        <pc:spChg chg="add mod">
          <ac:chgData name="Lai, Wilson" userId="2840974a-0d84-4886-90a9-9a3ed79f3a48" providerId="ADAL" clId="{9F23B798-9E84-4552-BA63-E776E805C424}" dt="2026-08-09T02:48:53.414" v="12" actId="164"/>
          <ac:spMkLst>
            <pc:docMk/>
            <pc:sldMk cId="0" sldId="257"/>
            <ac:spMk id="5" creationId="{AA965612-3619-0679-B378-75CCC52FD1F4}"/>
          </ac:spMkLst>
        </pc:spChg>
        <pc:grpChg chg="add mod">
          <ac:chgData name="Lai, Wilson" userId="2840974a-0d84-4886-90a9-9a3ed79f3a48" providerId="ADAL" clId="{9F23B798-9E84-4552-BA63-E776E805C424}" dt="2026-08-09T02:49:01.168" v="15" actId="1076"/>
          <ac:grpSpMkLst>
            <pc:docMk/>
            <pc:sldMk cId="0" sldId="257"/>
            <ac:grpSpMk id="6" creationId="{A8A971F6-B916-452C-773D-DF0B5B9428BC}"/>
          </ac:grpSpMkLst>
        </pc:grpChg>
        <pc:picChg chg="del mod">
          <ac:chgData name="Lai, Wilson" userId="2840974a-0d84-4886-90a9-9a3ed79f3a48" providerId="ADAL" clId="{9F23B798-9E84-4552-BA63-E776E805C424}" dt="2026-08-09T12:41:17.224" v="16" actId="21"/>
          <ac:picMkLst>
            <pc:docMk/>
            <pc:sldMk cId="0" sldId="257"/>
            <ac:picMk id="2" creationId="{00000000-0000-0000-0000-000000000000}"/>
          </ac:picMkLst>
        </pc:picChg>
        <pc:picChg chg="add mod">
          <ac:chgData name="Lai, Wilson" userId="2840974a-0d84-4886-90a9-9a3ed79f3a48" providerId="ADAL" clId="{9F23B798-9E84-4552-BA63-E776E805C424}" dt="2026-08-09T02:48:53.414" v="12" actId="164"/>
          <ac:picMkLst>
            <pc:docMk/>
            <pc:sldMk cId="0" sldId="257"/>
            <ac:picMk id="3" creationId="{269F2EE6-F3C7-83B9-65B3-CC0D0D1CE586}"/>
          </ac:picMkLst>
        </pc:picChg>
        <pc:picChg chg="add ord">
          <ac:chgData name="Lai, Wilson" userId="2840974a-0d84-4886-90a9-9a3ed79f3a48" providerId="ADAL" clId="{9F23B798-9E84-4552-BA63-E776E805C424}" dt="2026-08-09T12:57:45.911" v="50" actId="166"/>
          <ac:picMkLst>
            <pc:docMk/>
            <pc:sldMk cId="0" sldId="257"/>
            <ac:picMk id="7" creationId="{1A302446-4FB2-1C77-EC5D-9CFB08C5E563}"/>
          </ac:picMkLst>
        </pc:picChg>
      </pc:sldChg>
      <pc:sldChg chg="addSp delSp mod">
        <pc:chgData name="Lai, Wilson" userId="2840974a-0d84-4886-90a9-9a3ed79f3a48" providerId="ADAL" clId="{9F23B798-9E84-4552-BA63-E776E805C424}" dt="2026-08-09T12:41:50.311" v="20" actId="22"/>
        <pc:sldMkLst>
          <pc:docMk/>
          <pc:sldMk cId="0" sldId="258"/>
        </pc:sldMkLst>
        <pc:picChg chg="del">
          <ac:chgData name="Lai, Wilson" userId="2840974a-0d84-4886-90a9-9a3ed79f3a48" providerId="ADAL" clId="{9F23B798-9E84-4552-BA63-E776E805C424}" dt="2026-08-09T12:41:35.361" v="19" actId="21"/>
          <ac:picMkLst>
            <pc:docMk/>
            <pc:sldMk cId="0" sldId="258"/>
            <ac:picMk id="2" creationId="{00000000-0000-0000-0000-000000000000}"/>
          </ac:picMkLst>
        </pc:picChg>
        <pc:picChg chg="add">
          <ac:chgData name="Lai, Wilson" userId="2840974a-0d84-4886-90a9-9a3ed79f3a48" providerId="ADAL" clId="{9F23B798-9E84-4552-BA63-E776E805C424}" dt="2026-08-09T12:41:50.311" v="20" actId="22"/>
          <ac:picMkLst>
            <pc:docMk/>
            <pc:sldMk cId="0" sldId="258"/>
            <ac:picMk id="4" creationId="{B95A1361-8154-23B3-B735-8FD9C976E04B}"/>
          </ac:picMkLst>
        </pc:picChg>
      </pc:sldChg>
      <pc:sldChg chg="addSp delSp mod">
        <pc:chgData name="Lai, Wilson" userId="2840974a-0d84-4886-90a9-9a3ed79f3a48" providerId="ADAL" clId="{9F23B798-9E84-4552-BA63-E776E805C424}" dt="2026-08-09T12:42:00.613" v="22" actId="22"/>
        <pc:sldMkLst>
          <pc:docMk/>
          <pc:sldMk cId="0" sldId="259"/>
        </pc:sldMkLst>
        <pc:picChg chg="del">
          <ac:chgData name="Lai, Wilson" userId="2840974a-0d84-4886-90a9-9a3ed79f3a48" providerId="ADAL" clId="{9F23B798-9E84-4552-BA63-E776E805C424}" dt="2026-08-09T12:41:52.107" v="21" actId="21"/>
          <ac:picMkLst>
            <pc:docMk/>
            <pc:sldMk cId="0" sldId="259"/>
            <ac:picMk id="2" creationId="{00000000-0000-0000-0000-000000000000}"/>
          </ac:picMkLst>
        </pc:picChg>
        <pc:picChg chg="add">
          <ac:chgData name="Lai, Wilson" userId="2840974a-0d84-4886-90a9-9a3ed79f3a48" providerId="ADAL" clId="{9F23B798-9E84-4552-BA63-E776E805C424}" dt="2026-08-09T12:42:00.613" v="22" actId="22"/>
          <ac:picMkLst>
            <pc:docMk/>
            <pc:sldMk cId="0" sldId="259"/>
            <ac:picMk id="4" creationId="{4A734469-2E86-6448-DC97-EE98D662212C}"/>
          </ac:picMkLst>
        </pc:picChg>
      </pc:sldChg>
      <pc:sldChg chg="addSp delSp mod">
        <pc:chgData name="Lai, Wilson" userId="2840974a-0d84-4886-90a9-9a3ed79f3a48" providerId="ADAL" clId="{9F23B798-9E84-4552-BA63-E776E805C424}" dt="2026-08-09T12:42:11.767" v="24" actId="22"/>
        <pc:sldMkLst>
          <pc:docMk/>
          <pc:sldMk cId="0" sldId="260"/>
        </pc:sldMkLst>
        <pc:picChg chg="del">
          <ac:chgData name="Lai, Wilson" userId="2840974a-0d84-4886-90a9-9a3ed79f3a48" providerId="ADAL" clId="{9F23B798-9E84-4552-BA63-E776E805C424}" dt="2026-08-09T12:42:02.684" v="23" actId="21"/>
          <ac:picMkLst>
            <pc:docMk/>
            <pc:sldMk cId="0" sldId="260"/>
            <ac:picMk id="2" creationId="{00000000-0000-0000-0000-000000000000}"/>
          </ac:picMkLst>
        </pc:picChg>
        <pc:picChg chg="add">
          <ac:chgData name="Lai, Wilson" userId="2840974a-0d84-4886-90a9-9a3ed79f3a48" providerId="ADAL" clId="{9F23B798-9E84-4552-BA63-E776E805C424}" dt="2026-08-09T12:42:11.767" v="24" actId="22"/>
          <ac:picMkLst>
            <pc:docMk/>
            <pc:sldMk cId="0" sldId="260"/>
            <ac:picMk id="4" creationId="{2361C5D4-DEAB-14BD-50D5-286CC4FC111E}"/>
          </ac:picMkLst>
        </pc:picChg>
      </pc:sldChg>
      <pc:sldChg chg="addSp delSp mod">
        <pc:chgData name="Lai, Wilson" userId="2840974a-0d84-4886-90a9-9a3ed79f3a48" providerId="ADAL" clId="{9F23B798-9E84-4552-BA63-E776E805C424}" dt="2026-08-09T12:42:30.952" v="26" actId="22"/>
        <pc:sldMkLst>
          <pc:docMk/>
          <pc:sldMk cId="0" sldId="261"/>
        </pc:sldMkLst>
        <pc:picChg chg="del">
          <ac:chgData name="Lai, Wilson" userId="2840974a-0d84-4886-90a9-9a3ed79f3a48" providerId="ADAL" clId="{9F23B798-9E84-4552-BA63-E776E805C424}" dt="2026-08-09T12:42:13.835" v="25" actId="21"/>
          <ac:picMkLst>
            <pc:docMk/>
            <pc:sldMk cId="0" sldId="261"/>
            <ac:picMk id="2" creationId="{00000000-0000-0000-0000-000000000000}"/>
          </ac:picMkLst>
        </pc:picChg>
        <pc:picChg chg="add">
          <ac:chgData name="Lai, Wilson" userId="2840974a-0d84-4886-90a9-9a3ed79f3a48" providerId="ADAL" clId="{9F23B798-9E84-4552-BA63-E776E805C424}" dt="2026-08-09T12:42:30.952" v="26" actId="22"/>
          <ac:picMkLst>
            <pc:docMk/>
            <pc:sldMk cId="0" sldId="261"/>
            <ac:picMk id="4" creationId="{536F2BBA-1A99-3767-B20F-0DE8D217AF24}"/>
          </ac:picMkLst>
        </pc:picChg>
      </pc:sldChg>
      <pc:sldChg chg="addSp delSp mod">
        <pc:chgData name="Lai, Wilson" userId="2840974a-0d84-4886-90a9-9a3ed79f3a48" providerId="ADAL" clId="{9F23B798-9E84-4552-BA63-E776E805C424}" dt="2026-08-09T12:42:43.234" v="28" actId="22"/>
        <pc:sldMkLst>
          <pc:docMk/>
          <pc:sldMk cId="0" sldId="262"/>
        </pc:sldMkLst>
        <pc:picChg chg="del">
          <ac:chgData name="Lai, Wilson" userId="2840974a-0d84-4886-90a9-9a3ed79f3a48" providerId="ADAL" clId="{9F23B798-9E84-4552-BA63-E776E805C424}" dt="2026-08-09T12:42:33.314" v="27" actId="21"/>
          <ac:picMkLst>
            <pc:docMk/>
            <pc:sldMk cId="0" sldId="262"/>
            <ac:picMk id="2" creationId="{00000000-0000-0000-0000-000000000000}"/>
          </ac:picMkLst>
        </pc:picChg>
        <pc:picChg chg="add">
          <ac:chgData name="Lai, Wilson" userId="2840974a-0d84-4886-90a9-9a3ed79f3a48" providerId="ADAL" clId="{9F23B798-9E84-4552-BA63-E776E805C424}" dt="2026-08-09T12:42:43.234" v="28" actId="22"/>
          <ac:picMkLst>
            <pc:docMk/>
            <pc:sldMk cId="0" sldId="262"/>
            <ac:picMk id="4" creationId="{5ADA249B-C2B2-5FFC-76CE-D75CA376F037}"/>
          </ac:picMkLst>
        </pc:picChg>
      </pc:sldChg>
      <pc:sldChg chg="addSp delSp mod">
        <pc:chgData name="Lai, Wilson" userId="2840974a-0d84-4886-90a9-9a3ed79f3a48" providerId="ADAL" clId="{9F23B798-9E84-4552-BA63-E776E805C424}" dt="2026-08-09T12:42:53.052" v="30" actId="22"/>
        <pc:sldMkLst>
          <pc:docMk/>
          <pc:sldMk cId="0" sldId="263"/>
        </pc:sldMkLst>
        <pc:picChg chg="del">
          <ac:chgData name="Lai, Wilson" userId="2840974a-0d84-4886-90a9-9a3ed79f3a48" providerId="ADAL" clId="{9F23B798-9E84-4552-BA63-E776E805C424}" dt="2026-08-09T12:42:45.072" v="29" actId="21"/>
          <ac:picMkLst>
            <pc:docMk/>
            <pc:sldMk cId="0" sldId="263"/>
            <ac:picMk id="2" creationId="{00000000-0000-0000-0000-000000000000}"/>
          </ac:picMkLst>
        </pc:picChg>
        <pc:picChg chg="add">
          <ac:chgData name="Lai, Wilson" userId="2840974a-0d84-4886-90a9-9a3ed79f3a48" providerId="ADAL" clId="{9F23B798-9E84-4552-BA63-E776E805C424}" dt="2026-08-09T12:42:53.052" v="30" actId="22"/>
          <ac:picMkLst>
            <pc:docMk/>
            <pc:sldMk cId="0" sldId="263"/>
            <ac:picMk id="4" creationId="{7125CE6A-AE67-C5FF-281A-76DF8AA249ED}"/>
          </ac:picMkLst>
        </pc:picChg>
      </pc:sldChg>
      <pc:sldChg chg="addSp delSp mod">
        <pc:chgData name="Lai, Wilson" userId="2840974a-0d84-4886-90a9-9a3ed79f3a48" providerId="ADAL" clId="{9F23B798-9E84-4552-BA63-E776E805C424}" dt="2026-08-09T12:43:05.220" v="32" actId="22"/>
        <pc:sldMkLst>
          <pc:docMk/>
          <pc:sldMk cId="0" sldId="264"/>
        </pc:sldMkLst>
        <pc:picChg chg="del">
          <ac:chgData name="Lai, Wilson" userId="2840974a-0d84-4886-90a9-9a3ed79f3a48" providerId="ADAL" clId="{9F23B798-9E84-4552-BA63-E776E805C424}" dt="2026-08-09T12:42:55.129" v="31" actId="21"/>
          <ac:picMkLst>
            <pc:docMk/>
            <pc:sldMk cId="0" sldId="264"/>
            <ac:picMk id="2" creationId="{00000000-0000-0000-0000-000000000000}"/>
          </ac:picMkLst>
        </pc:picChg>
        <pc:picChg chg="add">
          <ac:chgData name="Lai, Wilson" userId="2840974a-0d84-4886-90a9-9a3ed79f3a48" providerId="ADAL" clId="{9F23B798-9E84-4552-BA63-E776E805C424}" dt="2026-08-09T12:43:05.220" v="32" actId="22"/>
          <ac:picMkLst>
            <pc:docMk/>
            <pc:sldMk cId="0" sldId="264"/>
            <ac:picMk id="4" creationId="{43A3FE11-3C83-EB58-4F38-21B79BE8A6A7}"/>
          </ac:picMkLst>
        </pc:picChg>
      </pc:sldChg>
      <pc:sldChg chg="addSp delSp mod modNotesTx">
        <pc:chgData name="Lai, Wilson" userId="2840974a-0d84-4886-90a9-9a3ed79f3a48" providerId="ADAL" clId="{9F23B798-9E84-4552-BA63-E776E805C424}" dt="2026-08-09T12:57:04.626" v="49" actId="12"/>
        <pc:sldMkLst>
          <pc:docMk/>
          <pc:sldMk cId="0" sldId="265"/>
        </pc:sldMkLst>
        <pc:picChg chg="del">
          <ac:chgData name="Lai, Wilson" userId="2840974a-0d84-4886-90a9-9a3ed79f3a48" providerId="ADAL" clId="{9F23B798-9E84-4552-BA63-E776E805C424}" dt="2026-08-09T12:43:09.788" v="33" actId="21"/>
          <ac:picMkLst>
            <pc:docMk/>
            <pc:sldMk cId="0" sldId="265"/>
            <ac:picMk id="2" creationId="{00000000-0000-0000-0000-000000000000}"/>
          </ac:picMkLst>
        </pc:picChg>
        <pc:picChg chg="add">
          <ac:chgData name="Lai, Wilson" userId="2840974a-0d84-4886-90a9-9a3ed79f3a48" providerId="ADAL" clId="{9F23B798-9E84-4552-BA63-E776E805C424}" dt="2026-08-09T12:43:18.541" v="34" actId="22"/>
          <ac:picMkLst>
            <pc:docMk/>
            <pc:sldMk cId="0" sldId="265"/>
            <ac:picMk id="4" creationId="{83B115C1-3926-CE6A-9FD0-197098F65A05}"/>
          </ac:picMkLst>
        </pc:picChg>
      </pc:sldChg>
      <pc:sldChg chg="addSp delSp mod">
        <pc:chgData name="Lai, Wilson" userId="2840974a-0d84-4886-90a9-9a3ed79f3a48" providerId="ADAL" clId="{9F23B798-9E84-4552-BA63-E776E805C424}" dt="2026-08-09T12:43:29.432" v="36" actId="22"/>
        <pc:sldMkLst>
          <pc:docMk/>
          <pc:sldMk cId="0" sldId="266"/>
        </pc:sldMkLst>
        <pc:picChg chg="del">
          <ac:chgData name="Lai, Wilson" userId="2840974a-0d84-4886-90a9-9a3ed79f3a48" providerId="ADAL" clId="{9F23B798-9E84-4552-BA63-E776E805C424}" dt="2026-08-09T12:43:20.549" v="35" actId="21"/>
          <ac:picMkLst>
            <pc:docMk/>
            <pc:sldMk cId="0" sldId="266"/>
            <ac:picMk id="2" creationId="{00000000-0000-0000-0000-000000000000}"/>
          </ac:picMkLst>
        </pc:picChg>
        <pc:picChg chg="add">
          <ac:chgData name="Lai, Wilson" userId="2840974a-0d84-4886-90a9-9a3ed79f3a48" providerId="ADAL" clId="{9F23B798-9E84-4552-BA63-E776E805C424}" dt="2026-08-09T12:43:29.432" v="36" actId="22"/>
          <ac:picMkLst>
            <pc:docMk/>
            <pc:sldMk cId="0" sldId="266"/>
            <ac:picMk id="4" creationId="{B3043054-05BB-F719-A001-DEFF2F6955AB}"/>
          </ac:picMkLst>
        </pc:picChg>
      </pc:sldChg>
      <pc:sldChg chg="addSp delSp mod">
        <pc:chgData name="Lai, Wilson" userId="2840974a-0d84-4886-90a9-9a3ed79f3a48" providerId="ADAL" clId="{9F23B798-9E84-4552-BA63-E776E805C424}" dt="2026-08-09T12:43:42.216" v="38" actId="22"/>
        <pc:sldMkLst>
          <pc:docMk/>
          <pc:sldMk cId="0" sldId="267"/>
        </pc:sldMkLst>
        <pc:picChg chg="del">
          <ac:chgData name="Lai, Wilson" userId="2840974a-0d84-4886-90a9-9a3ed79f3a48" providerId="ADAL" clId="{9F23B798-9E84-4552-BA63-E776E805C424}" dt="2026-08-09T12:43:33.257" v="37" actId="21"/>
          <ac:picMkLst>
            <pc:docMk/>
            <pc:sldMk cId="0" sldId="267"/>
            <ac:picMk id="2" creationId="{00000000-0000-0000-0000-000000000000}"/>
          </ac:picMkLst>
        </pc:picChg>
        <pc:picChg chg="add">
          <ac:chgData name="Lai, Wilson" userId="2840974a-0d84-4886-90a9-9a3ed79f3a48" providerId="ADAL" clId="{9F23B798-9E84-4552-BA63-E776E805C424}" dt="2026-08-09T12:43:42.216" v="38" actId="22"/>
          <ac:picMkLst>
            <pc:docMk/>
            <pc:sldMk cId="0" sldId="267"/>
            <ac:picMk id="4" creationId="{763945C4-87CC-11DA-62B5-6C74D36658F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AC48A-E7F0-466F-A554-A216DE1058E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2B781-58EE-4016-B08F-52EBBD600F87}" type="slidenum">
              <a:rPr lang="en-US" smtClean="0"/>
              <a:t>‹#›</a:t>
            </a:fld>
            <a:endParaRPr lang="en-US"/>
          </a:p>
        </p:txBody>
      </p:sp>
    </p:spTree>
    <p:extLst>
      <p:ext uri="{BB962C8B-B14F-4D97-AF65-F5344CB8AC3E}">
        <p14:creationId xmlns:p14="http://schemas.microsoft.com/office/powerpoint/2010/main" val="160346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talking about navigating a fundamental paradigm shift: </a:t>
            </a:r>
            <a:r>
              <a:rPr lang="en-US" sz="1200" b="1" kern="1200" dirty="0">
                <a:solidFill>
                  <a:schemeClr val="tx1"/>
                </a:solidFill>
                <a:effectLst/>
                <a:latin typeface="+mn-lt"/>
                <a:ea typeface="+mn-ea"/>
                <a:cs typeface="+mn-cs"/>
              </a:rPr>
              <a:t>The New S-Curve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decades, technology frameworks focused on physical automation or simple software digitization. Today, we stand at the intersection of two powerful forces: </a:t>
            </a:r>
            <a:r>
              <a:rPr lang="en-US" sz="1200" b="1" kern="1200" dirty="0">
                <a:solidFill>
                  <a:schemeClr val="tx1"/>
                </a:solidFill>
                <a:effectLst/>
                <a:latin typeface="+mn-lt"/>
                <a:ea typeface="+mn-ea"/>
                <a:cs typeface="+mn-cs"/>
              </a:rPr>
              <a:t>Digital Intelligence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Digital Capital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you can see on the screen, this playbook isn't about incremental improvements or chasing hype cycles. It’s an execution framework—a guide for founders, builders, and executives on how to operate when cognitive labor becomes essentially infinite and capital strategy requires mathematical precision. Let’s dive in.</a:t>
            </a:r>
          </a:p>
          <a:p>
            <a:endParaRPr lang="en-US" dirty="0"/>
          </a:p>
          <a:p>
            <a:endParaRPr lang="en-US" dirty="0"/>
          </a:p>
          <a:p>
            <a:r>
              <a:rPr lang="en-US" dirty="0"/>
              <a:t>https://www.youtube.com/watch?v=CxXgV54KzpQ</a:t>
            </a:r>
          </a:p>
          <a:p>
            <a:r>
              <a:rPr lang="en-US" dirty="0"/>
              <a:t>https://www.youtube.com/watch?v=1aGpJQ8BMLI</a:t>
            </a:r>
          </a:p>
        </p:txBody>
      </p:sp>
      <p:sp>
        <p:nvSpPr>
          <p:cNvPr id="4" name="Slide Number Placeholder 3"/>
          <p:cNvSpPr>
            <a:spLocks noGrp="1"/>
          </p:cNvSpPr>
          <p:nvPr>
            <p:ph type="sldNum" sz="quarter" idx="5"/>
          </p:nvPr>
        </p:nvSpPr>
        <p:spPr/>
        <p:txBody>
          <a:bodyPr/>
          <a:lstStyle/>
          <a:p>
            <a:fld id="{8472B781-58EE-4016-B08F-52EBBD600F87}" type="slidenum">
              <a:rPr lang="en-US" smtClean="0"/>
              <a:t>1</a:t>
            </a:fld>
            <a:endParaRPr lang="en-US"/>
          </a:p>
        </p:txBody>
      </p:sp>
    </p:spTree>
    <p:extLst>
      <p:ext uri="{BB962C8B-B14F-4D97-AF65-F5344CB8AC3E}">
        <p14:creationId xmlns:p14="http://schemas.microsoft.com/office/powerpoint/2010/main" val="2919459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we are going, we have to look at the history of technological shifts. In 1903, humanity mastered mechanical flight; by 2023, AI started truly working. As Michael Saylor noted, technology fails right up until the moment it suddenly succeeds. </a:t>
            </a:r>
          </a:p>
          <a:p>
            <a:r>
              <a:rPr lang="en-US" sz="1200" kern="1200" dirty="0">
                <a:solidFill>
                  <a:schemeClr val="tx1"/>
                </a:solidFill>
                <a:effectLst/>
                <a:latin typeface="+mn-lt"/>
                <a:ea typeface="+mn-ea"/>
                <a:cs typeface="+mn-cs"/>
              </a:rPr>
              <a:t>Look at the curve: We transitioned from raw compute benchmarks—$1\text{T}$ to $100\text{T}$ FLOPS—into the realm of real cognitive labor. As Jeff Dean famously pointed out, AI has already reached the level of a capable junior engineer. </a:t>
            </a:r>
          </a:p>
          <a:p>
            <a:r>
              <a:rPr lang="en-US" sz="1200" b="1" kern="1200" dirty="0">
                <a:solidFill>
                  <a:schemeClr val="tx1"/>
                </a:solidFill>
                <a:effectLst/>
                <a:latin typeface="+mn-lt"/>
                <a:ea typeface="+mn-ea"/>
                <a:cs typeface="+mn-cs"/>
              </a:rPr>
              <a:t>Here is the core takeaway for every founder in this room:</a:t>
            </a:r>
            <a:r>
              <a:rPr lang="en-US" sz="1200" kern="1200" dirty="0">
                <a:solidFill>
                  <a:schemeClr val="tx1"/>
                </a:solidFill>
                <a:effectLst/>
                <a:latin typeface="+mn-lt"/>
                <a:ea typeface="+mn-ea"/>
                <a:cs typeface="+mn-cs"/>
              </a:rPr>
              <a:t> When perfect code, raw software generation, and content creation become baseline commodities, the traditional definition of value collapses. If your entire business model is selling something that AI can synthesize in seconds for near-zero cost, you are on the wrong side of the S-curve.</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2</a:t>
            </a:fld>
            <a:endParaRPr lang="en-US"/>
          </a:p>
        </p:txBody>
      </p:sp>
    </p:spTree>
    <p:extLst>
      <p:ext uri="{BB962C8B-B14F-4D97-AF65-F5344CB8AC3E}">
        <p14:creationId xmlns:p14="http://schemas.microsoft.com/office/powerpoint/2010/main" val="260758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do we build with modern AI? The era of simple 'prompt engineering'—inputting a quick sentence and getting an output—is fading fast. That was linear execution, measured in hours. </a:t>
            </a:r>
          </a:p>
          <a:p>
            <a:r>
              <a:rPr lang="en-US" sz="1200" kern="1200" dirty="0">
                <a:solidFill>
                  <a:schemeClr val="tx1"/>
                </a:solidFill>
                <a:effectLst/>
                <a:latin typeface="+mn-lt"/>
                <a:ea typeface="+mn-ea"/>
                <a:cs typeface="+mn-cs"/>
              </a:rPr>
              <a:t>The future belongs to </a:t>
            </a:r>
            <a:r>
              <a:rPr lang="en-US" sz="1200" b="1" kern="1200" dirty="0">
                <a:solidFill>
                  <a:schemeClr val="tx1"/>
                </a:solidFill>
                <a:effectLst/>
                <a:latin typeface="+mn-lt"/>
                <a:ea typeface="+mn-ea"/>
                <a:cs typeface="+mn-cs"/>
              </a:rPr>
              <a:t>Context Engineering and Agentic Loops</a:t>
            </a:r>
            <a:r>
              <a:rPr lang="en-US" sz="1200" kern="1200" dirty="0">
                <a:solidFill>
                  <a:schemeClr val="tx1"/>
                </a:solidFill>
                <a:effectLst/>
                <a:latin typeface="+mn-lt"/>
                <a:ea typeface="+mn-ea"/>
                <a:cs typeface="+mn-cs"/>
              </a:rPr>
              <a:t>. Instead of a human chatting with a model, we deploy a </a:t>
            </a:r>
            <a:r>
              <a:rPr lang="en-US" sz="1200" b="1" kern="1200" dirty="0">
                <a:solidFill>
                  <a:schemeClr val="tx1"/>
                </a:solidFill>
                <a:effectLst/>
                <a:latin typeface="+mn-lt"/>
                <a:ea typeface="+mn-ea"/>
                <a:cs typeface="+mn-cs"/>
              </a:rPr>
              <a:t>Central Agent</a:t>
            </a:r>
            <a:r>
              <a:rPr lang="en-US" sz="1200" kern="1200" dirty="0">
                <a:solidFill>
                  <a:schemeClr val="tx1"/>
                </a:solidFill>
                <a:effectLst/>
                <a:latin typeface="+mn-lt"/>
                <a:ea typeface="+mn-ea"/>
                <a:cs typeface="+mn-cs"/>
              </a:rPr>
              <a:t> backed by specialized sub-agents, retrieval tools, and evaluators. These systems don't just output a single answer; they decompose massive, multi-week problems, test multiple hypotheses, evaluate results, and iterate autonomously. </a:t>
            </a:r>
          </a:p>
          <a:p>
            <a:r>
              <a:rPr lang="en-US" sz="1200" kern="1200" dirty="0">
                <a:solidFill>
                  <a:schemeClr val="tx1"/>
                </a:solidFill>
                <a:effectLst/>
                <a:latin typeface="+mn-lt"/>
                <a:ea typeface="+mn-ea"/>
                <a:cs typeface="+mn-cs"/>
              </a:rPr>
              <a:t>In this new landscape, the ultimate programming language isn't C++, Python, or Rust—it is </a:t>
            </a:r>
            <a:r>
              <a:rPr lang="en-US" sz="1200" b="1" kern="1200" dirty="0">
                <a:solidFill>
                  <a:schemeClr val="tx1"/>
                </a:solidFill>
                <a:effectLst/>
                <a:latin typeface="+mn-lt"/>
                <a:ea typeface="+mn-ea"/>
                <a:cs typeface="+mn-cs"/>
              </a:rPr>
              <a:t>flawless specification writing</a:t>
            </a:r>
            <a:r>
              <a:rPr lang="en-US" sz="1200" kern="1200" dirty="0">
                <a:solidFill>
                  <a:schemeClr val="tx1"/>
                </a:solidFill>
                <a:effectLst/>
                <a:latin typeface="+mn-lt"/>
                <a:ea typeface="+mn-ea"/>
                <a:cs typeface="+mn-cs"/>
              </a:rPr>
              <a:t>. The competitive edge shifts from who can type code the fastest to who can write clear, unambiguous, hyper-structured context for agentic networks to execute.</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3</a:t>
            </a:fld>
            <a:endParaRPr lang="en-US"/>
          </a:p>
        </p:txBody>
      </p:sp>
    </p:spTree>
    <p:extLst>
      <p:ext uri="{BB962C8B-B14F-4D97-AF65-F5344CB8AC3E}">
        <p14:creationId xmlns:p14="http://schemas.microsoft.com/office/powerpoint/2010/main" val="1672761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software advances rapidly, it ultimately hits a physical wall: the laws of thermodynamics. The bottleneck of modern AI isn't just parameter counts; it’s energy and data movement physics. </a:t>
            </a:r>
          </a:p>
          <a:p>
            <a:r>
              <a:rPr lang="en-US" sz="1200" kern="1200" dirty="0">
                <a:solidFill>
                  <a:schemeClr val="tx1"/>
                </a:solidFill>
                <a:effectLst/>
                <a:latin typeface="+mn-lt"/>
                <a:ea typeface="+mn-ea"/>
                <a:cs typeface="+mn-cs"/>
              </a:rPr>
              <a:t>Consider this ratio: It takes roughly </a:t>
            </a:r>
            <a:r>
              <a:rPr lang="en-US" sz="1200" b="1" kern="1200" dirty="0">
                <a:solidFill>
                  <a:schemeClr val="tx1"/>
                </a:solidFill>
                <a:effectLst/>
                <a:latin typeface="+mn-lt"/>
                <a:ea typeface="+mn-ea"/>
                <a:cs typeface="+mn-cs"/>
              </a:rPr>
              <a:t>1 unit of energy (a picojoule)</a:t>
            </a:r>
            <a:r>
              <a:rPr lang="en-US" sz="1200" kern="1200" dirty="0">
                <a:solidFill>
                  <a:schemeClr val="tx1"/>
                </a:solidFill>
                <a:effectLst/>
                <a:latin typeface="+mn-lt"/>
                <a:ea typeface="+mn-ea"/>
                <a:cs typeface="+mn-cs"/>
              </a:rPr>
              <a:t> to perform a single mathematical computation on a chip. But it takes </a:t>
            </a:r>
            <a:r>
              <a:rPr lang="en-US" sz="1200" b="1" kern="1200" dirty="0">
                <a:solidFill>
                  <a:schemeClr val="tx1"/>
                </a:solidFill>
                <a:effectLst/>
                <a:latin typeface="+mn-lt"/>
                <a:ea typeface="+mn-ea"/>
                <a:cs typeface="+mn-cs"/>
              </a:rPr>
              <a:t>1,000 units of energy</a:t>
            </a:r>
            <a:r>
              <a:rPr lang="en-US" sz="1200" kern="1200" dirty="0">
                <a:solidFill>
                  <a:schemeClr val="tx1"/>
                </a:solidFill>
                <a:effectLst/>
                <a:latin typeface="+mn-lt"/>
                <a:ea typeface="+mn-ea"/>
                <a:cs typeface="+mn-cs"/>
              </a:rPr>
              <a:t> just to shuffle that data from memory over to the processor! This is the </a:t>
            </a:r>
            <a:r>
              <a:rPr lang="en-US" sz="1200" b="1" kern="1200" dirty="0">
                <a:solidFill>
                  <a:schemeClr val="tx1"/>
                </a:solidFill>
                <a:effectLst/>
                <a:latin typeface="+mn-lt"/>
                <a:ea typeface="+mn-ea"/>
                <a:cs typeface="+mn-cs"/>
              </a:rPr>
              <a:t>Data I/O Chasm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Latency and power consumption are the ultimate bottlenecks. This is why hardware acceleration—like specialized TPUs, batching optimization, low-precision arithmetic, and moving compute closer to memory—is critical. Just as fitting data into RAM defined the software revolution of the 1990s, mastering low-energy inference hardware is the defining infrastructure battle of the 2020s.</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4</a:t>
            </a:fld>
            <a:endParaRPr lang="en-US"/>
          </a:p>
        </p:txBody>
      </p:sp>
    </p:spTree>
    <p:extLst>
      <p:ext uri="{BB962C8B-B14F-4D97-AF65-F5344CB8AC3E}">
        <p14:creationId xmlns:p14="http://schemas.microsoft.com/office/powerpoint/2010/main" val="3513382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turn to the second pillar of our playbook: </a:t>
            </a:r>
            <a:r>
              <a:rPr lang="en-US" sz="1200" b="1" kern="1200" dirty="0">
                <a:solidFill>
                  <a:schemeClr val="tx1"/>
                </a:solidFill>
                <a:effectLst/>
                <a:latin typeface="+mn-lt"/>
                <a:ea typeface="+mn-ea"/>
                <a:cs typeface="+mn-cs"/>
              </a:rPr>
              <a:t>Capital</a:t>
            </a:r>
            <a:r>
              <a:rPr lang="en-US" sz="1200" kern="1200" dirty="0">
                <a:solidFill>
                  <a:schemeClr val="tx1"/>
                </a:solidFill>
                <a:effectLst/>
                <a:latin typeface="+mn-lt"/>
                <a:ea typeface="+mn-ea"/>
                <a:cs typeface="+mn-cs"/>
              </a:rPr>
              <a:t>. You cannot store the value generated by infinite digital intelligence inside a leaking financial asset. </a:t>
            </a:r>
          </a:p>
          <a:p>
            <a:r>
              <a:rPr lang="en-US" sz="1200" kern="1200" dirty="0">
                <a:solidFill>
                  <a:schemeClr val="tx1"/>
                </a:solidFill>
                <a:effectLst/>
                <a:latin typeface="+mn-lt"/>
                <a:ea typeface="+mn-ea"/>
                <a:cs typeface="+mn-cs"/>
              </a:rPr>
              <a:t>Look at the Miami Beach example: In 1920, one acre of prime Miami Beach land cost $\$10,000$. Today, that same acre costs $\$10\text{M}$ to $\$20\text{M}$. Did the dirt become 2,000 times more powerful? No. The land remained static—the purchasing power of fiat currency collapsed under a 7% average annual expansion. </a:t>
            </a:r>
          </a:p>
          <a:p>
            <a:r>
              <a:rPr lang="en-US" sz="1200" kern="1200" dirty="0">
                <a:solidFill>
                  <a:schemeClr val="tx1"/>
                </a:solidFill>
                <a:effectLst/>
                <a:latin typeface="+mn-lt"/>
                <a:ea typeface="+mn-ea"/>
                <a:cs typeface="+mn-cs"/>
              </a:rPr>
              <a:t>Fiat currency inherently decays over time due to supply expansion. Digital capital—specifically scarce, mathematically constrained assets like Bitcoin—compounds value. As a founder or investor, your treasury strategy must account for this: store your enterprise value in hard, non-dilutable assets rather than melting fiat cash reserves.</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5</a:t>
            </a:fld>
            <a:endParaRPr lang="en-US"/>
          </a:p>
        </p:txBody>
      </p:sp>
    </p:spTree>
    <p:extLst>
      <p:ext uri="{BB962C8B-B14F-4D97-AF65-F5344CB8AC3E}">
        <p14:creationId xmlns:p14="http://schemas.microsoft.com/office/powerpoint/2010/main" val="4269216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represents the core strategic matrix of the entire presentation: </a:t>
            </a:r>
            <a:r>
              <a:rPr lang="en-US" sz="1200" b="1" kern="1200" dirty="0">
                <a:solidFill>
                  <a:schemeClr val="tx1"/>
                </a:solidFill>
                <a:effectLst/>
                <a:latin typeface="+mn-lt"/>
                <a:ea typeface="+mn-ea"/>
                <a:cs typeface="+mn-cs"/>
              </a:rPr>
              <a:t>The New Laws of Gravity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 the left, you have items heading toward </a:t>
            </a:r>
            <a:r>
              <a:rPr lang="en-US" sz="1200" b="1" kern="1200" dirty="0">
                <a:solidFill>
                  <a:schemeClr val="tx1"/>
                </a:solidFill>
                <a:effectLst/>
                <a:latin typeface="+mn-lt"/>
                <a:ea typeface="+mn-ea"/>
                <a:cs typeface="+mn-cs"/>
              </a:rPr>
              <a:t>infinite abundance</a:t>
            </a:r>
            <a:r>
              <a:rPr lang="en-US" sz="1200" kern="1200" dirty="0">
                <a:solidFill>
                  <a:schemeClr val="tx1"/>
                </a:solidFill>
                <a:effectLst/>
                <a:latin typeface="+mn-lt"/>
                <a:ea typeface="+mn-ea"/>
                <a:cs typeface="+mn-cs"/>
              </a:rPr>
              <a:t>: basic generated code, automated translation, standard content creation, fiat currency printing, and generic raw labor. If your startup idea sits on the left side of this board, market forces will drive your margins to zero. </a:t>
            </a:r>
          </a:p>
          <a:p>
            <a:r>
              <a:rPr lang="en-US" sz="1200" kern="1200" dirty="0">
                <a:solidFill>
                  <a:schemeClr val="tx1"/>
                </a:solidFill>
                <a:effectLst/>
                <a:latin typeface="+mn-lt"/>
                <a:ea typeface="+mn-ea"/>
                <a:cs typeface="+mn-cs"/>
              </a:rPr>
              <a:t>On the right, you have </a:t>
            </a:r>
            <a:r>
              <a:rPr lang="en-US" sz="1200" b="1" kern="1200" dirty="0">
                <a:solidFill>
                  <a:schemeClr val="tx1"/>
                </a:solidFill>
                <a:effectLst/>
                <a:latin typeface="+mn-lt"/>
                <a:ea typeface="+mn-ea"/>
                <a:cs typeface="+mn-cs"/>
              </a:rPr>
              <a:t>irreducible scarcity</a:t>
            </a:r>
            <a:r>
              <a:rPr lang="en-US" sz="1200" kern="1200" dirty="0">
                <a:solidFill>
                  <a:schemeClr val="tx1"/>
                </a:solidFill>
                <a:effectLst/>
                <a:latin typeface="+mn-lt"/>
                <a:ea typeface="+mn-ea"/>
                <a:cs typeface="+mn-cs"/>
              </a:rPr>
              <a:t>: specialized hardware/energy (TPUs), proprietary gatekept datasets, exceptional human curation and taste, prime physical real estate, and hard digital assets like Bitcoin. </a:t>
            </a:r>
          </a:p>
          <a:p>
            <a:r>
              <a:rPr lang="en-US" sz="1200" b="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Use the left side as leverage to capture and accumulate the right side. Use abundant AI and software automation to lower operational costs, generate massive cash flow, and convert that yield into scarce, enduring assets. Never attempt to sell commodity abundance.</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6</a:t>
            </a:fld>
            <a:endParaRPr lang="en-US"/>
          </a:p>
        </p:txBody>
      </p:sp>
    </p:spTree>
    <p:extLst>
      <p:ext uri="{BB962C8B-B14F-4D97-AF65-F5344CB8AC3E}">
        <p14:creationId xmlns:p14="http://schemas.microsoft.com/office/powerpoint/2010/main" val="275227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is AI driving the most exponential leap? In closed-loop scientific discovery. </a:t>
            </a:r>
          </a:p>
          <a:p>
            <a:r>
              <a:rPr lang="en-US" sz="1200" kern="1200" dirty="0">
                <a:solidFill>
                  <a:schemeClr val="tx1"/>
                </a:solidFill>
                <a:effectLst/>
                <a:latin typeface="+mn-lt"/>
                <a:ea typeface="+mn-ea"/>
                <a:cs typeface="+mn-cs"/>
              </a:rPr>
              <a:t>Traditionally, the scientific method was throttled by human latency. In quantum chemistry or density functional theory, running a full-scale simulator on a single molecule required overnight computations. </a:t>
            </a:r>
          </a:p>
          <a:p>
            <a:r>
              <a:rPr lang="en-US" sz="1200" kern="1200" dirty="0">
                <a:solidFill>
                  <a:schemeClr val="tx1"/>
                </a:solidFill>
                <a:effectLst/>
                <a:latin typeface="+mn-lt"/>
                <a:ea typeface="+mn-ea"/>
                <a:cs typeface="+mn-cs"/>
              </a:rPr>
              <a:t>Today, neural network approximation models run </a:t>
            </a:r>
            <a:r>
              <a:rPr lang="en-US" sz="1200" b="1" kern="1200" dirty="0">
                <a:solidFill>
                  <a:schemeClr val="tx1"/>
                </a:solidFill>
                <a:effectLst/>
                <a:latin typeface="+mn-lt"/>
                <a:ea typeface="+mn-ea"/>
                <a:cs typeface="+mn-cs"/>
              </a:rPr>
              <a:t>300,000 times faster</a:t>
            </a:r>
            <a:r>
              <a:rPr lang="en-US" sz="1200" kern="1200" dirty="0">
                <a:solidFill>
                  <a:schemeClr val="tx1"/>
                </a:solidFill>
                <a:effectLst/>
                <a:latin typeface="+mn-lt"/>
                <a:ea typeface="+mn-ea"/>
                <a:cs typeface="+mn-cs"/>
              </a:rPr>
              <a:t>. A team can propose a hypothesis, implement the simulation, evaluate the results, and integrate the learning across 10 million candidate molecules over a single lunch break. </a:t>
            </a:r>
          </a:p>
          <a:p>
            <a:r>
              <a:rPr lang="en-US" sz="1200" kern="1200" dirty="0">
                <a:solidFill>
                  <a:schemeClr val="tx1"/>
                </a:solidFill>
                <a:effectLst/>
                <a:latin typeface="+mn-lt"/>
                <a:ea typeface="+mn-ea"/>
                <a:cs typeface="+mn-cs"/>
              </a:rPr>
              <a:t>When you compress feedback loops from months to seconds, innovation stops being linear and becomes explosive.</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7</a:t>
            </a:fld>
            <a:endParaRPr lang="en-US"/>
          </a:p>
        </p:txBody>
      </p:sp>
    </p:spTree>
    <p:extLst>
      <p:ext uri="{BB962C8B-B14F-4D97-AF65-F5344CB8AC3E}">
        <p14:creationId xmlns:p14="http://schemas.microsoft.com/office/powerpoint/2010/main" val="2817644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Don't just use AI to automate existing tasks—use it to invent structures that have never existed before. </a:t>
            </a:r>
          </a:p>
          <a:p>
            <a:r>
              <a:rPr lang="en-US" sz="1200" kern="1200" dirty="0">
                <a:solidFill>
                  <a:schemeClr val="tx1"/>
                </a:solidFill>
                <a:effectLst/>
                <a:latin typeface="+mn-lt"/>
                <a:ea typeface="+mn-ea"/>
                <a:cs typeface="+mn-cs"/>
              </a:rPr>
              <a:t>Case in point: Michael Saylor's financial engineering team used high-level constraint reasoning to design a novel financial instrument when traditional convertible bond markets reached capacity. </a:t>
            </a:r>
          </a:p>
          <a:p>
            <a:r>
              <a:rPr lang="en-US" sz="1200" kern="1200" dirty="0">
                <a:solidFill>
                  <a:schemeClr val="tx1"/>
                </a:solidFill>
                <a:effectLst/>
                <a:latin typeface="+mn-lt"/>
                <a:ea typeface="+mn-ea"/>
                <a:cs typeface="+mn-cs"/>
              </a:rPr>
              <a:t>The prompt specified exact constraints: short-duration credit, stable par value, backed by Bitcoin collateral, with a variable dividend rate. The output was </a:t>
            </a:r>
            <a:r>
              <a:rPr lang="en-US" sz="1200" b="1" kern="1200" dirty="0">
                <a:solidFill>
                  <a:schemeClr val="tx1"/>
                </a:solidFill>
                <a:effectLst/>
                <a:latin typeface="+mn-lt"/>
                <a:ea typeface="+mn-ea"/>
                <a:cs typeface="+mn-cs"/>
              </a:rPr>
              <a:t>Variable Dividend Preferred Stock (STRK)</a:t>
            </a:r>
            <a:r>
              <a:rPr lang="en-US" sz="1200" kern="1200" dirty="0">
                <a:solidFill>
                  <a:schemeClr val="tx1"/>
                </a:solidFill>
                <a:effectLst/>
                <a:latin typeface="+mn-lt"/>
                <a:ea typeface="+mn-ea"/>
                <a:cs typeface="+mn-cs"/>
              </a:rPr>
              <a:t>—a hybrid security structure that raised billions in capital to acquire additional digital assets. </a:t>
            </a:r>
          </a:p>
          <a:p>
            <a:r>
              <a:rPr lang="en-US" sz="1200" kern="1200" dirty="0">
                <a:solidFill>
                  <a:schemeClr val="tx1"/>
                </a:solidFill>
                <a:effectLst/>
                <a:latin typeface="+mn-lt"/>
                <a:ea typeface="+mn-ea"/>
                <a:cs typeface="+mn-cs"/>
              </a:rPr>
              <a:t>The lesson for founders: Stop trying to outwork the robots at routine execution. Frame the right high-order constraints and let AI architect breakthrough solutions in capital markets, product design, and business models.</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8</a:t>
            </a:fld>
            <a:endParaRPr lang="en-US"/>
          </a:p>
        </p:txBody>
      </p:sp>
    </p:spTree>
    <p:extLst>
      <p:ext uri="{BB962C8B-B14F-4D97-AF65-F5344CB8AC3E}">
        <p14:creationId xmlns:p14="http://schemas.microsoft.com/office/powerpoint/2010/main" val="3410837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are building a startup today, you face </a:t>
            </a:r>
            <a:r>
              <a:rPr lang="en-US" sz="1200" b="1" kern="1200" dirty="0">
                <a:solidFill>
                  <a:schemeClr val="tx1"/>
                </a:solidFill>
                <a:effectLst/>
                <a:latin typeface="+mn-lt"/>
                <a:ea typeface="+mn-ea"/>
                <a:cs typeface="+mn-cs"/>
              </a:rPr>
              <a:t>The Founder's Dilemma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 not attempt to compete in the center. General-purpose foundational models like Gemini, GPT-4, and Claude are spending tens of billions on raw intelligence and will continually steamroll mid-tier, generic SaaS wrappers. </a:t>
            </a:r>
          </a:p>
          <a:p>
            <a:r>
              <a:rPr lang="en-US" sz="1200" b="1" kern="1200" dirty="0">
                <a:solidFill>
                  <a:schemeClr val="tx1"/>
                </a:solidFill>
                <a:effectLst/>
                <a:latin typeface="+mn-lt"/>
                <a:ea typeface="+mn-ea"/>
                <a:cs typeface="+mn-cs"/>
              </a:rPr>
              <a:t>How do you win? Win on the edges.</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Target 0% Success Problems:</a:t>
            </a:r>
            <a:r>
              <a:rPr lang="en-US" sz="1200" kern="1200" dirty="0">
                <a:solidFill>
                  <a:schemeClr val="tx1"/>
                </a:solidFill>
                <a:effectLst/>
                <a:latin typeface="+mn-lt"/>
                <a:ea typeface="+mn-ea"/>
                <a:cs typeface="+mn-cs"/>
              </a:rPr>
              <a:t> Look for highly complex domains where foundational models fail 99% of the time. </a:t>
            </a:r>
          </a:p>
          <a:p>
            <a:pPr marL="228600" indent="-228600">
              <a:buFont typeface="+mj-lt"/>
              <a:buAutoNum type="arabicPeriod"/>
            </a:pPr>
            <a:r>
              <a:rPr lang="en-US" sz="1200" b="1" kern="1200" dirty="0">
                <a:solidFill>
                  <a:schemeClr val="tx1"/>
                </a:solidFill>
                <a:effectLst/>
                <a:latin typeface="+mn-lt"/>
                <a:ea typeface="+mn-ea"/>
                <a:cs typeface="+mn-cs"/>
              </a:rPr>
              <a:t>Leverage Proprietary Data:</a:t>
            </a:r>
            <a:r>
              <a:rPr lang="en-US" sz="1200" kern="1200" dirty="0">
                <a:solidFill>
                  <a:schemeClr val="tx1"/>
                </a:solidFill>
                <a:effectLst/>
                <a:latin typeface="+mn-lt"/>
                <a:ea typeface="+mn-ea"/>
                <a:cs typeface="+mn-cs"/>
              </a:rPr>
              <a:t> Own domain-specific datasets protected behind enterprise firewalls or unique hardware integrations. </a:t>
            </a:r>
          </a:p>
          <a:p>
            <a:pPr marL="228600" indent="-228600">
              <a:buFont typeface="+mj-lt"/>
              <a:buAutoNum type="arabicPeriod"/>
            </a:pPr>
            <a:r>
              <a:rPr lang="en-US" sz="1200" b="1" kern="1200" dirty="0">
                <a:solidFill>
                  <a:schemeClr val="tx1"/>
                </a:solidFill>
                <a:effectLst/>
                <a:latin typeface="+mn-lt"/>
                <a:ea typeface="+mn-ea"/>
                <a:cs typeface="+mn-cs"/>
              </a:rPr>
              <a:t>Build Hyper-Narrow Precision Models:</a:t>
            </a:r>
            <a:r>
              <a:rPr lang="en-US" sz="1200" kern="1200" dirty="0">
                <a:solidFill>
                  <a:schemeClr val="tx1"/>
                </a:solidFill>
                <a:effectLst/>
                <a:latin typeface="+mn-lt"/>
                <a:ea typeface="+mn-ea"/>
                <a:cs typeface="+mn-cs"/>
              </a:rPr>
              <a:t> Think AlphaFold for protein structures, specialized chip design, or niche legal automation. Deep vertical mastery beats broad surface-level capabilities every time.</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9</a:t>
            </a:fld>
            <a:endParaRPr lang="en-US"/>
          </a:p>
        </p:txBody>
      </p:sp>
    </p:spTree>
    <p:extLst>
      <p:ext uri="{BB962C8B-B14F-4D97-AF65-F5344CB8AC3E}">
        <p14:creationId xmlns:p14="http://schemas.microsoft.com/office/powerpoint/2010/main" val="878263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Exponential compounding requires structural stability. You cannot build a tall building on a weak foundation, and you cannot build a massive enterprise by constantly pivoting to chase transient viral trends. </a:t>
            </a:r>
          </a:p>
          <a:p>
            <a:r>
              <a:rPr lang="en-US" sz="1200" kern="1200" dirty="0">
                <a:solidFill>
                  <a:schemeClr val="tx1"/>
                </a:solidFill>
                <a:effectLst/>
                <a:latin typeface="+mn-lt"/>
                <a:ea typeface="+mn-ea"/>
                <a:cs typeface="+mn-cs"/>
              </a:rPr>
              <a:t>We look at two complementary philosophies here: </a:t>
            </a:r>
          </a:p>
          <a:p>
            <a:r>
              <a:rPr lang="en-US" sz="1200" b="1" kern="1200" dirty="0">
                <a:solidFill>
                  <a:schemeClr val="tx1"/>
                </a:solidFill>
                <a:effectLst/>
                <a:latin typeface="+mn-lt"/>
                <a:ea typeface="+mn-ea"/>
                <a:cs typeface="+mn-cs"/>
              </a:rPr>
              <a:t>Jeff Dean's Infrastructure First:</a:t>
            </a:r>
            <a:r>
              <a:rPr lang="en-US" sz="1200" kern="1200" dirty="0">
                <a:solidFill>
                  <a:schemeClr val="tx1"/>
                </a:solidFill>
                <a:effectLst/>
                <a:latin typeface="+mn-lt"/>
                <a:ea typeface="+mn-ea"/>
                <a:cs typeface="+mn-cs"/>
              </a:rPr>
              <a:t> Google’s early dominance came from building robust lower-level systems—like MapReduce and custom hardware (TPUs)—that scaled reliably even over unreliable commodity hardware. </a:t>
            </a:r>
          </a:p>
          <a:p>
            <a:r>
              <a:rPr lang="en-US" sz="1200" b="1" kern="1200" dirty="0">
                <a:solidFill>
                  <a:schemeClr val="tx1"/>
                </a:solidFill>
                <a:effectLst/>
                <a:latin typeface="+mn-lt"/>
                <a:ea typeface="+mn-ea"/>
                <a:cs typeface="+mn-cs"/>
              </a:rPr>
              <a:t>Saylor's Chambered Nautilus:</a:t>
            </a:r>
            <a:r>
              <a:rPr lang="en-US" sz="1200" kern="1200" dirty="0">
                <a:solidFill>
                  <a:schemeClr val="tx1"/>
                </a:solidFill>
                <a:effectLst/>
                <a:latin typeface="+mn-lt"/>
                <a:ea typeface="+mn-ea"/>
                <a:cs typeface="+mn-cs"/>
              </a:rPr>
              <a:t> In nature, the nautilus expands organically from a strong, central core without destroying its previous chambers. </a:t>
            </a:r>
          </a:p>
          <a:p>
            <a:r>
              <a:rPr lang="en-US" sz="1200" kern="1200" dirty="0">
                <a:solidFill>
                  <a:schemeClr val="tx1"/>
                </a:solidFill>
                <a:effectLst/>
                <a:latin typeface="+mn-lt"/>
                <a:ea typeface="+mn-ea"/>
                <a:cs typeface="+mn-cs"/>
              </a:rPr>
              <a:t>If your next product initiative or treasury move bears zero relationship to your core foundation, you are accumulating technical and strategic debt. Build low-level abstractions that compound over 10-year horizons.</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10</a:t>
            </a:fld>
            <a:endParaRPr lang="en-US"/>
          </a:p>
        </p:txBody>
      </p:sp>
    </p:spTree>
    <p:extLst>
      <p:ext uri="{BB962C8B-B14F-4D97-AF65-F5344CB8AC3E}">
        <p14:creationId xmlns:p14="http://schemas.microsoft.com/office/powerpoint/2010/main" val="110259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thrive in this environment, founders need to adopt what we call </a:t>
            </a:r>
            <a:r>
              <a:rPr lang="en-US" sz="1200" b="1" kern="1200" dirty="0">
                <a:solidFill>
                  <a:schemeClr val="tx1"/>
                </a:solidFill>
                <a:effectLst/>
                <a:latin typeface="+mn-lt"/>
                <a:ea typeface="+mn-ea"/>
                <a:cs typeface="+mn-cs"/>
              </a:rPr>
              <a:t>The 1% Rule Playbook</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Cultivate Extreme Taste:</a:t>
            </a:r>
            <a:r>
              <a:rPr lang="en-US" sz="1200" kern="1200" dirty="0">
                <a:solidFill>
                  <a:schemeClr val="tx1"/>
                </a:solidFill>
                <a:effectLst/>
                <a:latin typeface="+mn-lt"/>
                <a:ea typeface="+mn-ea"/>
                <a:cs typeface="+mn-cs"/>
              </a:rPr>
              <a:t> When AI agents can produce endless lines of code and content, the ultimate human skill is taste—the judgment to decide </a:t>
            </a:r>
            <a:r>
              <a:rPr lang="en-US" sz="1200" i="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is worth building and </a:t>
            </a:r>
            <a:r>
              <a:rPr lang="en-US" sz="1200" i="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constitutes excellence. </a:t>
            </a:r>
          </a:p>
          <a:p>
            <a:r>
              <a:rPr lang="en-US" sz="1200" b="1" kern="1200" dirty="0">
                <a:solidFill>
                  <a:schemeClr val="tx1"/>
                </a:solidFill>
                <a:effectLst/>
                <a:latin typeface="+mn-lt"/>
                <a:ea typeface="+mn-ea"/>
                <a:cs typeface="+mn-cs"/>
              </a:rPr>
              <a:t>Write Flawless Specs:</a:t>
            </a:r>
            <a:r>
              <a:rPr lang="en-US" sz="1200" kern="1200" dirty="0">
                <a:solidFill>
                  <a:schemeClr val="tx1"/>
                </a:solidFill>
                <a:effectLst/>
                <a:latin typeface="+mn-lt"/>
                <a:ea typeface="+mn-ea"/>
                <a:cs typeface="+mn-cs"/>
              </a:rPr>
              <a:t> Ambiguity is the enemy of automated execution. Detailed, clear specifications are your primary leverage. </a:t>
            </a:r>
          </a:p>
          <a:p>
            <a:r>
              <a:rPr lang="en-US" sz="1200" b="1" kern="1200" dirty="0">
                <a:solidFill>
                  <a:schemeClr val="tx1"/>
                </a:solidFill>
                <a:effectLst/>
                <a:latin typeface="+mn-lt"/>
                <a:ea typeface="+mn-ea"/>
                <a:cs typeface="+mn-cs"/>
              </a:rPr>
              <a:t>Run Radical Thought Experiments:</a:t>
            </a:r>
            <a:r>
              <a:rPr lang="en-US" sz="1200" kern="1200" dirty="0">
                <a:solidFill>
                  <a:schemeClr val="tx1"/>
                </a:solidFill>
                <a:effectLst/>
                <a:latin typeface="+mn-lt"/>
                <a:ea typeface="+mn-ea"/>
                <a:cs typeface="+mn-cs"/>
              </a:rPr>
              <a:t> Challenge foundational assumptions. Ask questions like: </a:t>
            </a:r>
            <a:r>
              <a:rPr lang="en-US" sz="1200" i="1" kern="1200" dirty="0">
                <a:solidFill>
                  <a:schemeClr val="tx1"/>
                </a:solidFill>
                <a:effectLst/>
                <a:latin typeface="+mn-lt"/>
                <a:ea typeface="+mn-ea"/>
                <a:cs typeface="+mn-cs"/>
              </a:rPr>
              <a:t>'What if hardware errors were 100x higher?'</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'What if compute cost zero?'</a:t>
            </a:r>
            <a:r>
              <a:rPr lang="en-US" sz="1200" kern="1200" dirty="0">
                <a:solidFill>
                  <a:schemeClr val="tx1"/>
                </a:solidFill>
                <a:effectLst/>
                <a:latin typeface="+mn-lt"/>
                <a:ea typeface="+mn-ea"/>
                <a:cs typeface="+mn-cs"/>
              </a:rPr>
              <a:t> Breakthroughs live at the extremes. </a:t>
            </a:r>
          </a:p>
          <a:p>
            <a:r>
              <a:rPr lang="en-US" sz="1200" b="1" kern="1200" dirty="0">
                <a:solidFill>
                  <a:schemeClr val="tx1"/>
                </a:solidFill>
                <a:effectLst/>
                <a:latin typeface="+mn-lt"/>
                <a:ea typeface="+mn-ea"/>
                <a:cs typeface="+mn-cs"/>
              </a:rPr>
              <a:t>Curate and Focus:</a:t>
            </a:r>
            <a:r>
              <a:rPr lang="en-US" sz="1200" kern="1200" dirty="0">
                <a:solidFill>
                  <a:schemeClr val="tx1"/>
                </a:solidFill>
                <a:effectLst/>
                <a:latin typeface="+mn-lt"/>
                <a:ea typeface="+mn-ea"/>
                <a:cs typeface="+mn-cs"/>
              </a:rPr>
              <a:t> Protect your focus fiercely. Do not divide your company's energy across a dozen average ideas; double down on upgrading the world in one specific, transformative way.</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11</a:t>
            </a:fld>
            <a:endParaRPr lang="en-US"/>
          </a:p>
        </p:txBody>
      </p:sp>
    </p:spTree>
    <p:extLst>
      <p:ext uri="{BB962C8B-B14F-4D97-AF65-F5344CB8AC3E}">
        <p14:creationId xmlns:p14="http://schemas.microsoft.com/office/powerpoint/2010/main" val="1386896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tie everything together, let's look at the grand architecture of the new ecosystem. </a:t>
            </a:r>
          </a:p>
          <a:p>
            <a:r>
              <a:rPr lang="en-US" sz="1200" kern="1200" dirty="0">
                <a:solidFill>
                  <a:schemeClr val="tx1"/>
                </a:solidFill>
                <a:effectLst/>
                <a:latin typeface="+mn-lt"/>
                <a:ea typeface="+mn-ea"/>
                <a:cs typeface="+mn-cs"/>
              </a:rPr>
              <a:t>On the left, </a:t>
            </a:r>
            <a:r>
              <a:rPr lang="en-US" sz="1200" b="1" kern="1200" dirty="0">
                <a:solidFill>
                  <a:schemeClr val="tx1"/>
                </a:solidFill>
                <a:effectLst/>
                <a:latin typeface="+mn-lt"/>
                <a:ea typeface="+mn-ea"/>
                <a:cs typeface="+mn-cs"/>
              </a:rPr>
              <a:t>Jeff Dean’s vision of Intelligent Systems</a:t>
            </a:r>
            <a:r>
              <a:rPr lang="en-US" sz="1200" kern="1200" dirty="0">
                <a:solidFill>
                  <a:schemeClr val="tx1"/>
                </a:solidFill>
                <a:effectLst/>
                <a:latin typeface="+mn-lt"/>
                <a:ea typeface="+mn-ea"/>
                <a:cs typeface="+mn-cs"/>
              </a:rPr>
              <a:t>: Systems are moving from brief user chats to long-running autonomous agents that run experiments for days or weeks. We are solving the 1000x compute-to-data-movement energy gap and moving toward fully automated machine learning pipelines by 2027. </a:t>
            </a:r>
          </a:p>
          <a:p>
            <a:r>
              <a:rPr lang="en-US" sz="1200" kern="1200" dirty="0">
                <a:solidFill>
                  <a:schemeClr val="tx1"/>
                </a:solidFill>
                <a:effectLst/>
                <a:latin typeface="+mn-lt"/>
                <a:ea typeface="+mn-ea"/>
                <a:cs typeface="+mn-cs"/>
              </a:rPr>
              <a:t>On the right, </a:t>
            </a:r>
            <a:r>
              <a:rPr lang="en-US" sz="1200" b="1" kern="1200" dirty="0">
                <a:solidFill>
                  <a:schemeClr val="tx1"/>
                </a:solidFill>
                <a:effectLst/>
                <a:latin typeface="+mn-lt"/>
                <a:ea typeface="+mn-ea"/>
                <a:cs typeface="+mn-cs"/>
              </a:rPr>
              <a:t>Michael Saylor’s vision of Digital Capital</a:t>
            </a:r>
            <a:r>
              <a:rPr lang="en-US" sz="1200" kern="1200" dirty="0">
                <a:solidFill>
                  <a:schemeClr val="tx1"/>
                </a:solidFill>
                <a:effectLst/>
                <a:latin typeface="+mn-lt"/>
                <a:ea typeface="+mn-ea"/>
                <a:cs typeface="+mn-cs"/>
              </a:rPr>
              <a:t>: AI allows us to design novel financial instruments—like $\$15\text{B}+$ in structured preferred credit—to accumulate non-devaluing digital assets. Looking at 6-year asset performance, Bitcoin (+33% annualized) has systematically outperformed traditional equity (+15%) and gold (+12%) as a store of digital power. </a:t>
            </a:r>
          </a:p>
          <a:p>
            <a:r>
              <a:rPr lang="en-US" sz="1200" b="1" kern="1200" dirty="0">
                <a:solidFill>
                  <a:schemeClr val="tx1"/>
                </a:solidFill>
                <a:effectLst/>
                <a:latin typeface="+mn-lt"/>
                <a:ea typeface="+mn-ea"/>
                <a:cs typeface="+mn-cs"/>
              </a:rPr>
              <a:t>Final Takeaway:</a:t>
            </a:r>
            <a:r>
              <a:rPr lang="en-US" sz="1200" kern="1200" dirty="0">
                <a:solidFill>
                  <a:schemeClr val="tx1"/>
                </a:solidFill>
                <a:effectLst/>
                <a:latin typeface="+mn-lt"/>
                <a:ea typeface="+mn-ea"/>
                <a:cs typeface="+mn-cs"/>
              </a:rPr>
              <a:t> Do not attempt to outwork the robots at routine task execution. Align your company with the exponential doubling phase of the new S-curve, automate your operations using infinite digital intelligence, and anchor your treasury in pristine digital capital. </a:t>
            </a:r>
          </a:p>
          <a:p>
            <a:r>
              <a:rPr lang="en-US" sz="1200" kern="1200" dirty="0">
                <a:solidFill>
                  <a:schemeClr val="tx1"/>
                </a:solidFill>
                <a:effectLst/>
                <a:latin typeface="+mn-lt"/>
                <a:ea typeface="+mn-ea"/>
                <a:cs typeface="+mn-cs"/>
              </a:rPr>
              <a:t>Thank you, and I am happy to open the floor to Q&amp;A.</a:t>
            </a:r>
          </a:p>
          <a:p>
            <a:endParaRPr lang="en-US" dirty="0"/>
          </a:p>
        </p:txBody>
      </p:sp>
      <p:sp>
        <p:nvSpPr>
          <p:cNvPr id="4" name="Slide Number Placeholder 3"/>
          <p:cNvSpPr>
            <a:spLocks noGrp="1"/>
          </p:cNvSpPr>
          <p:nvPr>
            <p:ph type="sldNum" sz="quarter" idx="5"/>
          </p:nvPr>
        </p:nvSpPr>
        <p:spPr/>
        <p:txBody>
          <a:bodyPr/>
          <a:lstStyle/>
          <a:p>
            <a:fld id="{8472B781-58EE-4016-B08F-52EBBD600F87}" type="slidenum">
              <a:rPr lang="en-US" smtClean="0"/>
              <a:t>12</a:t>
            </a:fld>
            <a:endParaRPr lang="en-US"/>
          </a:p>
        </p:txBody>
      </p:sp>
    </p:spTree>
    <p:extLst>
      <p:ext uri="{BB962C8B-B14F-4D97-AF65-F5344CB8AC3E}">
        <p14:creationId xmlns:p14="http://schemas.microsoft.com/office/powerpoint/2010/main" val="2724681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F4524-7D79-D42D-4A11-9FA57E42E1C8}"/>
              </a:ext>
            </a:extLst>
          </p:cNvPr>
          <p:cNvSpPr>
            <a:spLocks noGrp="1"/>
          </p:cNvSpPr>
          <p:nvPr>
            <p:ph type="dt" sz="half" idx="10"/>
          </p:nvPr>
        </p:nvSpPr>
        <p:spPr/>
        <p:txBody>
          <a:bodyPr/>
          <a:lstStyle/>
          <a:p>
            <a:fld id="{C02E582C-8660-4277-A10E-FCA6527EAADE}" type="datetimeFigureOut">
              <a:rPr lang="en-US" smtClean="0"/>
              <a:t>10/19/2026</a:t>
            </a:fld>
            <a:endParaRPr lang="en-US"/>
          </a:p>
        </p:txBody>
      </p:sp>
      <p:sp>
        <p:nvSpPr>
          <p:cNvPr id="3" name="Footer Placeholder 2">
            <a:extLst>
              <a:ext uri="{FF2B5EF4-FFF2-40B4-BE49-F238E27FC236}">
                <a16:creationId xmlns:a16="http://schemas.microsoft.com/office/drawing/2014/main" id="{5E529556-56FD-037F-FF8D-9E778B88CD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4A3A6-1B96-02B0-72BA-99B24274508C}"/>
              </a:ext>
            </a:extLst>
          </p:cNvPr>
          <p:cNvSpPr>
            <a:spLocks noGrp="1"/>
          </p:cNvSpPr>
          <p:nvPr>
            <p:ph type="sldNum" sz="quarter" idx="12"/>
          </p:nvPr>
        </p:nvSpPr>
        <p:spPr/>
        <p:txBody>
          <a:bodyPr/>
          <a:lstStyle/>
          <a:p>
            <a:fld id="{6367802B-25B4-47D3-BD1D-5FBA014D7061}" type="slidenum">
              <a:rPr lang="en-US" smtClean="0"/>
              <a:t>‹#›</a:t>
            </a:fld>
            <a:endParaRPr lang="en-US"/>
          </a:p>
        </p:txBody>
      </p:sp>
    </p:spTree>
    <p:extLst>
      <p:ext uri="{BB962C8B-B14F-4D97-AF65-F5344CB8AC3E}">
        <p14:creationId xmlns:p14="http://schemas.microsoft.com/office/powerpoint/2010/main" val="5409270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0FAE16-8FEE-F906-D310-A895F00082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F32FC7-232F-793B-E27E-B2051EDB8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0CA61D-E1FC-3BC1-143D-20CCB5FF95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2E582C-8660-4277-A10E-FCA6527EAADE}" type="datetimeFigureOut">
              <a:rPr lang="en-US" smtClean="0"/>
              <a:t>10/19/2026</a:t>
            </a:fld>
            <a:endParaRPr lang="en-US"/>
          </a:p>
        </p:txBody>
      </p:sp>
      <p:sp>
        <p:nvSpPr>
          <p:cNvPr id="5" name="Footer Placeholder 4">
            <a:extLst>
              <a:ext uri="{FF2B5EF4-FFF2-40B4-BE49-F238E27FC236}">
                <a16:creationId xmlns:a16="http://schemas.microsoft.com/office/drawing/2014/main" id="{F1247821-02D2-F87D-2B6B-AABFCEA6EC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0DE9EA-2D35-3784-47A9-555C4A23AE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67802B-25B4-47D3-BD1D-5FBA014D7061}" type="slidenum">
              <a:rPr lang="en-US" smtClean="0"/>
              <a:t>‹#›</a:t>
            </a:fld>
            <a:endParaRPr lang="en-US"/>
          </a:p>
        </p:txBody>
      </p:sp>
    </p:spTree>
    <p:extLst>
      <p:ext uri="{BB962C8B-B14F-4D97-AF65-F5344CB8AC3E}">
        <p14:creationId xmlns:p14="http://schemas.microsoft.com/office/powerpoint/2010/main" val="79411102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302446-4FB2-1C77-EC5D-9CFB08C5E5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5A1361-8154-23B3-B735-8FD9C976E0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734469-2E86-6448-DC97-EE98D66221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61C5D4-DEAB-14BD-50D5-286CC4FC11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6F2BBA-1A99-3767-B20F-0DE8D217AF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DA249B-C2B2-5FFC-76CE-D75CA376F0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5CE6A-AE67-C5FF-281A-76DF8AA249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A3FE11-3C83-EB58-4F38-21B79BE8A6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B115C1-3926-CE6A-9FD0-197098F65A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43054-05BB-F719-A001-DEFF2F6955A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3945C4-87CC-11DA-62B5-6C74D36658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19B47A-FBB0-FC23-E3D5-6A324CD63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953327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1762</Words>
  <Application>Microsoft Office PowerPoint</Application>
  <PresentationFormat>寬螢幕</PresentationFormat>
  <Paragraphs>64</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2026-08-08T10:41:10Z</dcterms:created>
  <dcterms:modified xsi:type="dcterms:W3CDTF">2026-10-19T15:43:56Z</dcterms:modified>
</cp:coreProperties>
</file>