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DFBFFD-8B68-4066-A610-8A6F8FB1A192}" v="18" dt="2026-08-05T01:22:15.9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8604"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05T01:23:57.841" v="79" actId="166"/>
      <pc:docMkLst>
        <pc:docMk/>
      </pc:docMkLst>
      <pc:sldChg chg="addSp delSp modSp mod modAnim modNotesTx">
        <pc:chgData name="Lai, Wilson" userId="2840974a-0d84-4886-90a9-9a3ed79f3a48" providerId="ADAL" clId="{9F23B798-9E84-4552-BA63-E776E805C424}" dt="2026-08-05T01:23:57.841" v="79" actId="166"/>
        <pc:sldMkLst>
          <pc:docMk/>
          <pc:sldMk cId="0" sldId="257"/>
        </pc:sldMkLst>
        <pc:spChg chg="add mod">
          <ac:chgData name="Lai, Wilson" userId="2840974a-0d84-4886-90a9-9a3ed79f3a48" providerId="ADAL" clId="{9F23B798-9E84-4552-BA63-E776E805C424}" dt="2026-08-05T00:56:55.266" v="41" actId="164"/>
          <ac:spMkLst>
            <pc:docMk/>
            <pc:sldMk cId="0" sldId="257"/>
            <ac:spMk id="5" creationId="{65E6CAE4-ADA0-09E8-65F4-7A136F0E3B09}"/>
          </ac:spMkLst>
        </pc:spChg>
        <pc:grpChg chg="add mod">
          <ac:chgData name="Lai, Wilson" userId="2840974a-0d84-4886-90a9-9a3ed79f3a48" providerId="ADAL" clId="{9F23B798-9E84-4552-BA63-E776E805C424}" dt="2026-08-05T00:56:55.266" v="41" actId="164"/>
          <ac:grpSpMkLst>
            <pc:docMk/>
            <pc:sldMk cId="0" sldId="257"/>
            <ac:grpSpMk id="6" creationId="{4F360048-F70E-B7D1-3BE0-FBC003E0C337}"/>
          </ac:grpSpMkLst>
        </pc:grpChg>
        <pc:picChg chg="del">
          <ac:chgData name="Lai, Wilson" userId="2840974a-0d84-4886-90a9-9a3ed79f3a48" providerId="ADAL" clId="{9F23B798-9E84-4552-BA63-E776E805C424}" dt="2026-08-05T00:42:36.251" v="1" actId="21"/>
          <ac:picMkLst>
            <pc:docMk/>
            <pc:sldMk cId="0" sldId="257"/>
            <ac:picMk id="2" creationId="{00000000-0000-0000-0000-000000000000}"/>
          </ac:picMkLst>
        </pc:picChg>
        <pc:picChg chg="add mod">
          <ac:chgData name="Lai, Wilson" userId="2840974a-0d84-4886-90a9-9a3ed79f3a48" providerId="ADAL" clId="{9F23B798-9E84-4552-BA63-E776E805C424}" dt="2026-08-05T00:56:55.266" v="41" actId="164"/>
          <ac:picMkLst>
            <pc:docMk/>
            <pc:sldMk cId="0" sldId="257"/>
            <ac:picMk id="2" creationId="{FD49A93A-2448-EC8F-91D6-44E0262903AD}"/>
          </ac:picMkLst>
        </pc:picChg>
        <pc:picChg chg="add ord">
          <ac:chgData name="Lai, Wilson" userId="2840974a-0d84-4886-90a9-9a3ed79f3a48" providerId="ADAL" clId="{9F23B798-9E84-4552-BA63-E776E805C424}" dt="2026-08-05T01:23:57.841" v="79" actId="166"/>
          <ac:picMkLst>
            <pc:docMk/>
            <pc:sldMk cId="0" sldId="257"/>
            <ac:picMk id="4" creationId="{B8E3F642-EEF3-3703-95EE-FA6269110B88}"/>
          </ac:picMkLst>
        </pc:picChg>
      </pc:sldChg>
      <pc:sldChg chg="addSp delSp mod">
        <pc:chgData name="Lai, Wilson" userId="2840974a-0d84-4886-90a9-9a3ed79f3a48" providerId="ADAL" clId="{9F23B798-9E84-4552-BA63-E776E805C424}" dt="2026-08-05T00:43:55.544" v="4" actId="22"/>
        <pc:sldMkLst>
          <pc:docMk/>
          <pc:sldMk cId="0" sldId="258"/>
        </pc:sldMkLst>
        <pc:picChg chg="del">
          <ac:chgData name="Lai, Wilson" userId="2840974a-0d84-4886-90a9-9a3ed79f3a48" providerId="ADAL" clId="{9F23B798-9E84-4552-BA63-E776E805C424}" dt="2026-08-05T00:43:34.790" v="3" actId="21"/>
          <ac:picMkLst>
            <pc:docMk/>
            <pc:sldMk cId="0" sldId="258"/>
            <ac:picMk id="2" creationId="{00000000-0000-0000-0000-000000000000}"/>
          </ac:picMkLst>
        </pc:picChg>
        <pc:picChg chg="add">
          <ac:chgData name="Lai, Wilson" userId="2840974a-0d84-4886-90a9-9a3ed79f3a48" providerId="ADAL" clId="{9F23B798-9E84-4552-BA63-E776E805C424}" dt="2026-08-05T00:43:55.544" v="4" actId="22"/>
          <ac:picMkLst>
            <pc:docMk/>
            <pc:sldMk cId="0" sldId="258"/>
            <ac:picMk id="4" creationId="{9EEF6242-0D0D-B6C4-52F5-AEE0756194F8}"/>
          </ac:picMkLst>
        </pc:picChg>
      </pc:sldChg>
      <pc:sldChg chg="addSp delSp mod modNotesTx">
        <pc:chgData name="Lai, Wilson" userId="2840974a-0d84-4886-90a9-9a3ed79f3a48" providerId="ADAL" clId="{9F23B798-9E84-4552-BA63-E776E805C424}" dt="2026-08-05T01:19:21.026" v="45" actId="12"/>
        <pc:sldMkLst>
          <pc:docMk/>
          <pc:sldMk cId="0" sldId="259"/>
        </pc:sldMkLst>
        <pc:picChg chg="del">
          <ac:chgData name="Lai, Wilson" userId="2840974a-0d84-4886-90a9-9a3ed79f3a48" providerId="ADAL" clId="{9F23B798-9E84-4552-BA63-E776E805C424}" dt="2026-08-05T00:44:01.005" v="5" actId="21"/>
          <ac:picMkLst>
            <pc:docMk/>
            <pc:sldMk cId="0" sldId="259"/>
            <ac:picMk id="2" creationId="{00000000-0000-0000-0000-000000000000}"/>
          </ac:picMkLst>
        </pc:picChg>
        <pc:picChg chg="add">
          <ac:chgData name="Lai, Wilson" userId="2840974a-0d84-4886-90a9-9a3ed79f3a48" providerId="ADAL" clId="{9F23B798-9E84-4552-BA63-E776E805C424}" dt="2026-08-05T00:44:09.238" v="6" actId="22"/>
          <ac:picMkLst>
            <pc:docMk/>
            <pc:sldMk cId="0" sldId="259"/>
            <ac:picMk id="4" creationId="{57E4D27B-5A8E-3942-E57F-07B0AA4CDC6B}"/>
          </ac:picMkLst>
        </pc:picChg>
      </pc:sldChg>
      <pc:sldChg chg="addSp delSp mod modNotesTx">
        <pc:chgData name="Lai, Wilson" userId="2840974a-0d84-4886-90a9-9a3ed79f3a48" providerId="ADAL" clId="{9F23B798-9E84-4552-BA63-E776E805C424}" dt="2026-08-05T01:19:38.222" v="47" actId="20577"/>
        <pc:sldMkLst>
          <pc:docMk/>
          <pc:sldMk cId="0" sldId="260"/>
        </pc:sldMkLst>
        <pc:picChg chg="del">
          <ac:chgData name="Lai, Wilson" userId="2840974a-0d84-4886-90a9-9a3ed79f3a48" providerId="ADAL" clId="{9F23B798-9E84-4552-BA63-E776E805C424}" dt="2026-08-05T00:44:15.191" v="7" actId="21"/>
          <ac:picMkLst>
            <pc:docMk/>
            <pc:sldMk cId="0" sldId="260"/>
            <ac:picMk id="2" creationId="{00000000-0000-0000-0000-000000000000}"/>
          </ac:picMkLst>
        </pc:picChg>
        <pc:picChg chg="add">
          <ac:chgData name="Lai, Wilson" userId="2840974a-0d84-4886-90a9-9a3ed79f3a48" providerId="ADAL" clId="{9F23B798-9E84-4552-BA63-E776E805C424}" dt="2026-08-05T00:44:43.096" v="8" actId="22"/>
          <ac:picMkLst>
            <pc:docMk/>
            <pc:sldMk cId="0" sldId="260"/>
            <ac:picMk id="4" creationId="{2A80ABFC-88B8-FFD1-DB14-BA19813B79A5}"/>
          </ac:picMkLst>
        </pc:picChg>
      </pc:sldChg>
      <pc:sldChg chg="addSp delSp mod">
        <pc:chgData name="Lai, Wilson" userId="2840974a-0d84-4886-90a9-9a3ed79f3a48" providerId="ADAL" clId="{9F23B798-9E84-4552-BA63-E776E805C424}" dt="2026-08-05T00:45:06.844" v="10" actId="22"/>
        <pc:sldMkLst>
          <pc:docMk/>
          <pc:sldMk cId="0" sldId="261"/>
        </pc:sldMkLst>
        <pc:picChg chg="del">
          <ac:chgData name="Lai, Wilson" userId="2840974a-0d84-4886-90a9-9a3ed79f3a48" providerId="ADAL" clId="{9F23B798-9E84-4552-BA63-E776E805C424}" dt="2026-08-05T00:44:45.935" v="9" actId="21"/>
          <ac:picMkLst>
            <pc:docMk/>
            <pc:sldMk cId="0" sldId="261"/>
            <ac:picMk id="2" creationId="{00000000-0000-0000-0000-000000000000}"/>
          </ac:picMkLst>
        </pc:picChg>
        <pc:picChg chg="add">
          <ac:chgData name="Lai, Wilson" userId="2840974a-0d84-4886-90a9-9a3ed79f3a48" providerId="ADAL" clId="{9F23B798-9E84-4552-BA63-E776E805C424}" dt="2026-08-05T00:45:06.844" v="10" actId="22"/>
          <ac:picMkLst>
            <pc:docMk/>
            <pc:sldMk cId="0" sldId="261"/>
            <ac:picMk id="4" creationId="{1B74144D-89CA-53B5-D5F2-B5067ABEDF8C}"/>
          </ac:picMkLst>
        </pc:picChg>
      </pc:sldChg>
      <pc:sldChg chg="addSp delSp mod modNotesTx">
        <pc:chgData name="Lai, Wilson" userId="2840974a-0d84-4886-90a9-9a3ed79f3a48" providerId="ADAL" clId="{9F23B798-9E84-4552-BA63-E776E805C424}" dt="2026-08-05T01:20:01.253" v="48" actId="12"/>
        <pc:sldMkLst>
          <pc:docMk/>
          <pc:sldMk cId="0" sldId="262"/>
        </pc:sldMkLst>
        <pc:picChg chg="del">
          <ac:chgData name="Lai, Wilson" userId="2840974a-0d84-4886-90a9-9a3ed79f3a48" providerId="ADAL" clId="{9F23B798-9E84-4552-BA63-E776E805C424}" dt="2026-08-05T00:45:10.763" v="11" actId="21"/>
          <ac:picMkLst>
            <pc:docMk/>
            <pc:sldMk cId="0" sldId="262"/>
            <ac:picMk id="2" creationId="{00000000-0000-0000-0000-000000000000}"/>
          </ac:picMkLst>
        </pc:picChg>
        <pc:picChg chg="add">
          <ac:chgData name="Lai, Wilson" userId="2840974a-0d84-4886-90a9-9a3ed79f3a48" providerId="ADAL" clId="{9F23B798-9E84-4552-BA63-E776E805C424}" dt="2026-08-05T00:45:20.047" v="12" actId="22"/>
          <ac:picMkLst>
            <pc:docMk/>
            <pc:sldMk cId="0" sldId="262"/>
            <ac:picMk id="4" creationId="{C004C9AC-A844-EE88-A5A7-F0E6EDB94691}"/>
          </ac:picMkLst>
        </pc:picChg>
      </pc:sldChg>
      <pc:sldChg chg="addSp delSp mod modNotesTx">
        <pc:chgData name="Lai, Wilson" userId="2840974a-0d84-4886-90a9-9a3ed79f3a48" providerId="ADAL" clId="{9F23B798-9E84-4552-BA63-E776E805C424}" dt="2026-08-05T01:20:14.858" v="49" actId="12"/>
        <pc:sldMkLst>
          <pc:docMk/>
          <pc:sldMk cId="0" sldId="263"/>
        </pc:sldMkLst>
        <pc:picChg chg="del">
          <ac:chgData name="Lai, Wilson" userId="2840974a-0d84-4886-90a9-9a3ed79f3a48" providerId="ADAL" clId="{9F23B798-9E84-4552-BA63-E776E805C424}" dt="2026-08-05T00:45:22.833" v="13" actId="21"/>
          <ac:picMkLst>
            <pc:docMk/>
            <pc:sldMk cId="0" sldId="263"/>
            <ac:picMk id="2" creationId="{00000000-0000-0000-0000-000000000000}"/>
          </ac:picMkLst>
        </pc:picChg>
        <pc:picChg chg="add">
          <ac:chgData name="Lai, Wilson" userId="2840974a-0d84-4886-90a9-9a3ed79f3a48" providerId="ADAL" clId="{9F23B798-9E84-4552-BA63-E776E805C424}" dt="2026-08-05T00:45:31.099" v="14" actId="22"/>
          <ac:picMkLst>
            <pc:docMk/>
            <pc:sldMk cId="0" sldId="263"/>
            <ac:picMk id="4" creationId="{1F87DEF6-66A3-A587-6187-17DAF7E57A06}"/>
          </ac:picMkLst>
        </pc:picChg>
      </pc:sldChg>
      <pc:sldChg chg="addSp delSp mod modNotesTx">
        <pc:chgData name="Lai, Wilson" userId="2840974a-0d84-4886-90a9-9a3ed79f3a48" providerId="ADAL" clId="{9F23B798-9E84-4552-BA63-E776E805C424}" dt="2026-08-05T01:20:30.352" v="51" actId="12"/>
        <pc:sldMkLst>
          <pc:docMk/>
          <pc:sldMk cId="0" sldId="264"/>
        </pc:sldMkLst>
        <pc:picChg chg="del">
          <ac:chgData name="Lai, Wilson" userId="2840974a-0d84-4886-90a9-9a3ed79f3a48" providerId="ADAL" clId="{9F23B798-9E84-4552-BA63-E776E805C424}" dt="2026-08-05T00:45:34.939" v="15" actId="21"/>
          <ac:picMkLst>
            <pc:docMk/>
            <pc:sldMk cId="0" sldId="264"/>
            <ac:picMk id="2" creationId="{00000000-0000-0000-0000-000000000000}"/>
          </ac:picMkLst>
        </pc:picChg>
        <pc:picChg chg="add">
          <ac:chgData name="Lai, Wilson" userId="2840974a-0d84-4886-90a9-9a3ed79f3a48" providerId="ADAL" clId="{9F23B798-9E84-4552-BA63-E776E805C424}" dt="2026-08-05T00:45:44.766" v="16" actId="22"/>
          <ac:picMkLst>
            <pc:docMk/>
            <pc:sldMk cId="0" sldId="264"/>
            <ac:picMk id="4" creationId="{995A8CD7-CA20-E504-6D7C-A0A39BEAA8CD}"/>
          </ac:picMkLst>
        </pc:picChg>
      </pc:sldChg>
      <pc:sldChg chg="addSp delSp modSp mod">
        <pc:chgData name="Lai, Wilson" userId="2840974a-0d84-4886-90a9-9a3ed79f3a48" providerId="ADAL" clId="{9F23B798-9E84-4552-BA63-E776E805C424}" dt="2026-08-05T00:46:01.895" v="19" actId="22"/>
        <pc:sldMkLst>
          <pc:docMk/>
          <pc:sldMk cId="0" sldId="265"/>
        </pc:sldMkLst>
        <pc:picChg chg="del mod">
          <ac:chgData name="Lai, Wilson" userId="2840974a-0d84-4886-90a9-9a3ed79f3a48" providerId="ADAL" clId="{9F23B798-9E84-4552-BA63-E776E805C424}" dt="2026-08-05T00:45:52.195" v="18" actId="21"/>
          <ac:picMkLst>
            <pc:docMk/>
            <pc:sldMk cId="0" sldId="265"/>
            <ac:picMk id="2" creationId="{00000000-0000-0000-0000-000000000000}"/>
          </ac:picMkLst>
        </pc:picChg>
        <pc:picChg chg="add">
          <ac:chgData name="Lai, Wilson" userId="2840974a-0d84-4886-90a9-9a3ed79f3a48" providerId="ADAL" clId="{9F23B798-9E84-4552-BA63-E776E805C424}" dt="2026-08-05T00:46:01.895" v="19" actId="22"/>
          <ac:picMkLst>
            <pc:docMk/>
            <pc:sldMk cId="0" sldId="265"/>
            <ac:picMk id="4" creationId="{EF0404A1-2213-A2FD-CA06-65A8B4EA0C67}"/>
          </ac:picMkLst>
        </pc:picChg>
      </pc:sldChg>
      <pc:sldChg chg="addSp delSp mod modNotesTx">
        <pc:chgData name="Lai, Wilson" userId="2840974a-0d84-4886-90a9-9a3ed79f3a48" providerId="ADAL" clId="{9F23B798-9E84-4552-BA63-E776E805C424}" dt="2026-08-05T01:20:57.585" v="52" actId="12"/>
        <pc:sldMkLst>
          <pc:docMk/>
          <pc:sldMk cId="0" sldId="266"/>
        </pc:sldMkLst>
        <pc:picChg chg="del">
          <ac:chgData name="Lai, Wilson" userId="2840974a-0d84-4886-90a9-9a3ed79f3a48" providerId="ADAL" clId="{9F23B798-9E84-4552-BA63-E776E805C424}" dt="2026-08-05T00:46:04.618" v="20" actId="21"/>
          <ac:picMkLst>
            <pc:docMk/>
            <pc:sldMk cId="0" sldId="266"/>
            <ac:picMk id="2" creationId="{00000000-0000-0000-0000-000000000000}"/>
          </ac:picMkLst>
        </pc:picChg>
        <pc:picChg chg="add">
          <ac:chgData name="Lai, Wilson" userId="2840974a-0d84-4886-90a9-9a3ed79f3a48" providerId="ADAL" clId="{9F23B798-9E84-4552-BA63-E776E805C424}" dt="2026-08-05T00:46:14.556" v="21" actId="22"/>
          <ac:picMkLst>
            <pc:docMk/>
            <pc:sldMk cId="0" sldId="266"/>
            <ac:picMk id="4" creationId="{B17B2867-7C2B-D254-0FBD-93D4CDA51BD3}"/>
          </ac:picMkLst>
        </pc:picChg>
      </pc:sldChg>
      <pc:sldChg chg="addSp delSp mod">
        <pc:chgData name="Lai, Wilson" userId="2840974a-0d84-4886-90a9-9a3ed79f3a48" providerId="ADAL" clId="{9F23B798-9E84-4552-BA63-E776E805C424}" dt="2026-08-05T00:46:27.789" v="23" actId="22"/>
        <pc:sldMkLst>
          <pc:docMk/>
          <pc:sldMk cId="0" sldId="267"/>
        </pc:sldMkLst>
        <pc:picChg chg="del">
          <ac:chgData name="Lai, Wilson" userId="2840974a-0d84-4886-90a9-9a3ed79f3a48" providerId="ADAL" clId="{9F23B798-9E84-4552-BA63-E776E805C424}" dt="2026-08-05T00:46:20.489" v="22" actId="21"/>
          <ac:picMkLst>
            <pc:docMk/>
            <pc:sldMk cId="0" sldId="267"/>
            <ac:picMk id="2" creationId="{00000000-0000-0000-0000-000000000000}"/>
          </ac:picMkLst>
        </pc:picChg>
        <pc:picChg chg="add">
          <ac:chgData name="Lai, Wilson" userId="2840974a-0d84-4886-90a9-9a3ed79f3a48" providerId="ADAL" clId="{9F23B798-9E84-4552-BA63-E776E805C424}" dt="2026-08-05T00:46:27.789" v="23" actId="22"/>
          <ac:picMkLst>
            <pc:docMk/>
            <pc:sldMk cId="0" sldId="267"/>
            <ac:picMk id="4" creationId="{090D7A59-7CDD-5091-CB57-D67599968FD7}"/>
          </ac:picMkLst>
        </pc:picChg>
      </pc:sldChg>
      <pc:sldChg chg="addSp delSp mod modNotesTx">
        <pc:chgData name="Lai, Wilson" userId="2840974a-0d84-4886-90a9-9a3ed79f3a48" providerId="ADAL" clId="{9F23B798-9E84-4552-BA63-E776E805C424}" dt="2026-08-05T01:21:31.185" v="53" actId="12"/>
        <pc:sldMkLst>
          <pc:docMk/>
          <pc:sldMk cId="0" sldId="268"/>
        </pc:sldMkLst>
        <pc:picChg chg="del">
          <ac:chgData name="Lai, Wilson" userId="2840974a-0d84-4886-90a9-9a3ed79f3a48" providerId="ADAL" clId="{9F23B798-9E84-4552-BA63-E776E805C424}" dt="2026-08-05T00:46:32.038" v="24" actId="21"/>
          <ac:picMkLst>
            <pc:docMk/>
            <pc:sldMk cId="0" sldId="268"/>
            <ac:picMk id="2" creationId="{00000000-0000-0000-0000-000000000000}"/>
          </ac:picMkLst>
        </pc:picChg>
        <pc:picChg chg="add">
          <ac:chgData name="Lai, Wilson" userId="2840974a-0d84-4886-90a9-9a3ed79f3a48" providerId="ADAL" clId="{9F23B798-9E84-4552-BA63-E776E805C424}" dt="2026-08-05T00:46:41.344" v="25" actId="22"/>
          <ac:picMkLst>
            <pc:docMk/>
            <pc:sldMk cId="0" sldId="268"/>
            <ac:picMk id="4" creationId="{216C75EF-B6B7-FC8D-06A3-3A93F5FE2C0A}"/>
          </ac:picMkLst>
        </pc:picChg>
      </pc:sldChg>
      <pc:sldChg chg="addSp delSp mod modNotesTx">
        <pc:chgData name="Lai, Wilson" userId="2840974a-0d84-4886-90a9-9a3ed79f3a48" providerId="ADAL" clId="{9F23B798-9E84-4552-BA63-E776E805C424}" dt="2026-08-05T01:21:42.893" v="54" actId="12"/>
        <pc:sldMkLst>
          <pc:docMk/>
          <pc:sldMk cId="0" sldId="269"/>
        </pc:sldMkLst>
        <pc:picChg chg="del">
          <ac:chgData name="Lai, Wilson" userId="2840974a-0d84-4886-90a9-9a3ed79f3a48" providerId="ADAL" clId="{9F23B798-9E84-4552-BA63-E776E805C424}" dt="2026-08-05T00:46:43.467" v="26" actId="21"/>
          <ac:picMkLst>
            <pc:docMk/>
            <pc:sldMk cId="0" sldId="269"/>
            <ac:picMk id="2" creationId="{00000000-0000-0000-0000-000000000000}"/>
          </ac:picMkLst>
        </pc:picChg>
        <pc:picChg chg="add">
          <ac:chgData name="Lai, Wilson" userId="2840974a-0d84-4886-90a9-9a3ed79f3a48" providerId="ADAL" clId="{9F23B798-9E84-4552-BA63-E776E805C424}" dt="2026-08-05T00:46:53.997" v="27" actId="22"/>
          <ac:picMkLst>
            <pc:docMk/>
            <pc:sldMk cId="0" sldId="269"/>
            <ac:picMk id="4" creationId="{DA2519A7-B798-F986-D96B-E3B681A15FAC}"/>
          </ac:picMkLst>
        </pc:picChg>
      </pc:sldChg>
      <pc:sldChg chg="addSp delSp mod modNotesTx">
        <pc:chgData name="Lai, Wilson" userId="2840974a-0d84-4886-90a9-9a3ed79f3a48" providerId="ADAL" clId="{9F23B798-9E84-4552-BA63-E776E805C424}" dt="2026-08-05T01:21:56.302" v="56" actId="12"/>
        <pc:sldMkLst>
          <pc:docMk/>
          <pc:sldMk cId="0" sldId="270"/>
        </pc:sldMkLst>
        <pc:picChg chg="del">
          <ac:chgData name="Lai, Wilson" userId="2840974a-0d84-4886-90a9-9a3ed79f3a48" providerId="ADAL" clId="{9F23B798-9E84-4552-BA63-E776E805C424}" dt="2026-08-05T00:46:57.484" v="28" actId="21"/>
          <ac:picMkLst>
            <pc:docMk/>
            <pc:sldMk cId="0" sldId="270"/>
            <ac:picMk id="2" creationId="{00000000-0000-0000-0000-000000000000}"/>
          </ac:picMkLst>
        </pc:picChg>
        <pc:picChg chg="add">
          <ac:chgData name="Lai, Wilson" userId="2840974a-0d84-4886-90a9-9a3ed79f3a48" providerId="ADAL" clId="{9F23B798-9E84-4552-BA63-E776E805C424}" dt="2026-08-05T00:47:11.357" v="29" actId="22"/>
          <ac:picMkLst>
            <pc:docMk/>
            <pc:sldMk cId="0" sldId="270"/>
            <ac:picMk id="4" creationId="{4624B47F-4619-7B86-E95E-76020342F381}"/>
          </ac:picMkLst>
        </pc:picChg>
      </pc:sldChg>
      <pc:sldChg chg="addSp delSp mod modNotesTx">
        <pc:chgData name="Lai, Wilson" userId="2840974a-0d84-4886-90a9-9a3ed79f3a48" providerId="ADAL" clId="{9F23B798-9E84-4552-BA63-E776E805C424}" dt="2026-08-05T01:23:42.199" v="78" actId="20577"/>
        <pc:sldMkLst>
          <pc:docMk/>
          <pc:sldMk cId="0" sldId="271"/>
        </pc:sldMkLst>
        <pc:picChg chg="del">
          <ac:chgData name="Lai, Wilson" userId="2840974a-0d84-4886-90a9-9a3ed79f3a48" providerId="ADAL" clId="{9F23B798-9E84-4552-BA63-E776E805C424}" dt="2026-08-05T00:47:13.626" v="30" actId="21"/>
          <ac:picMkLst>
            <pc:docMk/>
            <pc:sldMk cId="0" sldId="271"/>
            <ac:picMk id="2" creationId="{00000000-0000-0000-0000-000000000000}"/>
          </ac:picMkLst>
        </pc:picChg>
        <pc:picChg chg="add">
          <ac:chgData name="Lai, Wilson" userId="2840974a-0d84-4886-90a9-9a3ed79f3a48" providerId="ADAL" clId="{9F23B798-9E84-4552-BA63-E776E805C424}" dt="2026-08-05T00:47:26.619" v="31" actId="22"/>
          <ac:picMkLst>
            <pc:docMk/>
            <pc:sldMk cId="0" sldId="271"/>
            <ac:picMk id="4" creationId="{088FF71B-B96F-4F8C-C830-1004D97D6453}"/>
          </ac:picMkLst>
        </pc:picChg>
      </pc:sldChg>
      <pc:sldChg chg="modNotesTx">
        <pc:chgData name="Lai, Wilson" userId="2840974a-0d84-4886-90a9-9a3ed79f3a48" providerId="ADAL" clId="{9F23B798-9E84-4552-BA63-E776E805C424}" dt="2026-08-05T01:22:18.480" v="57" actId="12"/>
        <pc:sldMkLst>
          <pc:docMk/>
          <pc:sldMk cId="807525160"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F59BC2-BBC7-4FC5-96AC-F0DE81C08611}"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F0B3C9-99F7-4BC8-B4B7-D6116C06C3DD}" type="slidenum">
              <a:rPr lang="en-US" smtClean="0"/>
              <a:t>‹#›</a:t>
            </a:fld>
            <a:endParaRPr lang="en-US"/>
          </a:p>
        </p:txBody>
      </p:sp>
    </p:spTree>
    <p:extLst>
      <p:ext uri="{BB962C8B-B14F-4D97-AF65-F5344CB8AC3E}">
        <p14:creationId xmlns:p14="http://schemas.microsoft.com/office/powerpoint/2010/main" val="1678251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https://www.youtube.com/watch?v=NxTsA72O5x0</a:t>
            </a:r>
          </a:p>
          <a:p>
            <a:endParaRPr lang="en-US" dirty="0"/>
          </a:p>
          <a:p>
            <a:r>
              <a:rPr lang="en-US" dirty="0"/>
              <a:t>Welcome, everyone. Today we are walking through </a:t>
            </a:r>
            <a:r>
              <a:rPr lang="en-US" b="1" dirty="0"/>
              <a:t>The Wealth Blueprint</a:t>
            </a:r>
            <a:r>
              <a:rPr lang="en-US" dirty="0"/>
              <a:t>—a practical, step-by-step framework designed to take you from paycheck-to-paycheck anxiety to complete financial independence. This blueprint isn't built on speculative stock picks or complex financial jargon; it’s based on mathematical realities, foundational behavioral psychology, and actionable systems sourced directly from former investment banker turned financial educator </a:t>
            </a:r>
            <a:r>
              <a:rPr lang="en-US" dirty="0" err="1"/>
              <a:t>Nischa</a:t>
            </a:r>
            <a:r>
              <a:rPr lang="en-US" dirty="0"/>
              <a:t> Shah. Whether you’re trying to clear high-interest debt or scale long-term compound growth, this presentation provides the exact operational sequence to reclaim control over your time and money.</a:t>
            </a:r>
          </a:p>
        </p:txBody>
      </p:sp>
      <p:sp>
        <p:nvSpPr>
          <p:cNvPr id="4" name="Slide Number Placeholder 3"/>
          <p:cNvSpPr>
            <a:spLocks noGrp="1"/>
          </p:cNvSpPr>
          <p:nvPr>
            <p:ph type="sldNum" sz="quarter" idx="5"/>
          </p:nvPr>
        </p:nvSpPr>
        <p:spPr/>
        <p:txBody>
          <a:bodyPr/>
          <a:lstStyle/>
          <a:p>
            <a:fld id="{C8F0B3C9-99F7-4BC8-B4B7-D6116C06C3DD}" type="slidenum">
              <a:rPr lang="en-US" smtClean="0"/>
              <a:t>1</a:t>
            </a:fld>
            <a:endParaRPr lang="en-US"/>
          </a:p>
        </p:txBody>
      </p:sp>
    </p:spTree>
    <p:extLst>
      <p:ext uri="{BB962C8B-B14F-4D97-AF65-F5344CB8AC3E}">
        <p14:creationId xmlns:p14="http://schemas.microsoft.com/office/powerpoint/2010/main" val="1468775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Most people are living on what we call 'The Default Path'. You go to school, get a job, climb the corporate ladder, buy a house, and hope everything turns out okay in the end. But this default path often triggers a behavioral bias known as </a:t>
            </a:r>
            <a:r>
              <a:rPr lang="en-US" sz="1200" b="1" kern="1200" dirty="0">
                <a:solidFill>
                  <a:schemeClr val="tx1"/>
                </a:solidFill>
                <a:effectLst/>
                <a:latin typeface="+mn-lt"/>
                <a:ea typeface="+mn-ea"/>
                <a:cs typeface="+mn-cs"/>
              </a:rPr>
              <a:t>The Ostrich Effect</a:t>
            </a:r>
            <a:r>
              <a:rPr lang="en-US" sz="1200" kern="1200" dirty="0">
                <a:solidFill>
                  <a:schemeClr val="tx1"/>
                </a:solidFill>
                <a:effectLst/>
                <a:latin typeface="+mn-lt"/>
                <a:ea typeface="+mn-ea"/>
                <a:cs typeface="+mn-cs"/>
              </a:rPr>
              <a:t>. When money gets stressful, our brain's natural impulse is to stick our heads in the sand—we avoid checking bank accounts, ignore opening bills, and leave our financial lives disorganized out of sheer fear. </a:t>
            </a:r>
          </a:p>
          <a:p>
            <a:r>
              <a:rPr lang="en-US" sz="1200" kern="1200" dirty="0">
                <a:solidFill>
                  <a:schemeClr val="tx1"/>
                </a:solidFill>
                <a:effectLst/>
                <a:latin typeface="+mn-lt"/>
                <a:ea typeface="+mn-ea"/>
                <a:cs typeface="+mn-cs"/>
              </a:rPr>
              <a:t>The New Reality requires a fundamental mind shift: </a:t>
            </a:r>
            <a:r>
              <a:rPr lang="en-US" sz="1200" i="1" kern="1200" dirty="0">
                <a:solidFill>
                  <a:schemeClr val="tx1"/>
                </a:solidFill>
                <a:effectLst/>
                <a:latin typeface="+mn-lt"/>
                <a:ea typeface="+mn-ea"/>
                <a:cs typeface="+mn-cs"/>
              </a:rPr>
              <a:t>If you give someone else the power to feed you, you give them the power to starve you</a:t>
            </a:r>
            <a:r>
              <a:rPr lang="en-US" sz="1200" kern="1200" dirty="0">
                <a:solidFill>
                  <a:schemeClr val="tx1"/>
                </a:solidFill>
                <a:effectLst/>
                <a:latin typeface="+mn-lt"/>
                <a:ea typeface="+mn-ea"/>
                <a:cs typeface="+mn-cs"/>
              </a:rPr>
              <a:t>. To gain true autonomy, we must replace emotional avoidance with simple mathematical rules. Our goal isn't just accumulating numbers on a screen; it's buying back freedom, choice, and time.</a:t>
            </a:r>
          </a:p>
          <a:p>
            <a:endParaRPr lang="en-US" dirty="0"/>
          </a:p>
        </p:txBody>
      </p:sp>
      <p:sp>
        <p:nvSpPr>
          <p:cNvPr id="4" name="Slide Number Placeholder 3"/>
          <p:cNvSpPr>
            <a:spLocks noGrp="1"/>
          </p:cNvSpPr>
          <p:nvPr>
            <p:ph type="sldNum" sz="quarter" idx="5"/>
          </p:nvPr>
        </p:nvSpPr>
        <p:spPr/>
        <p:txBody>
          <a:bodyPr/>
          <a:lstStyle/>
          <a:p>
            <a:fld id="{C8F0B3C9-99F7-4BC8-B4B7-D6116C06C3DD}" type="slidenum">
              <a:rPr lang="en-US" smtClean="0"/>
              <a:t>2</a:t>
            </a:fld>
            <a:endParaRPr lang="en-US"/>
          </a:p>
        </p:txBody>
      </p:sp>
    </p:spTree>
    <p:extLst>
      <p:ext uri="{BB962C8B-B14F-4D97-AF65-F5344CB8AC3E}">
        <p14:creationId xmlns:p14="http://schemas.microsoft.com/office/powerpoint/2010/main" val="35099379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execute this blueprint without getting wiped out, we follow a strict </a:t>
            </a:r>
            <a:r>
              <a:rPr lang="en-US" sz="1200" b="1" kern="1200" dirty="0">
                <a:solidFill>
                  <a:schemeClr val="tx1"/>
                </a:solidFill>
                <a:effectLst/>
                <a:latin typeface="+mn-lt"/>
                <a:ea typeface="+mn-ea"/>
                <a:cs typeface="+mn-cs"/>
              </a:rPr>
              <a:t>4-Phase Escalation Protocol</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Level 1</a:t>
            </a:r>
            <a:r>
              <a:rPr lang="en-US" sz="1200" kern="1200" dirty="0">
                <a:solidFill>
                  <a:schemeClr val="tx1"/>
                </a:solidFill>
                <a:effectLst/>
                <a:latin typeface="+mn-lt"/>
                <a:ea typeface="+mn-ea"/>
                <a:cs typeface="+mn-cs"/>
              </a:rPr>
              <a:t> is your Peace of Mind Fund (1 month of core living expenses).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Level 2</a:t>
            </a:r>
            <a:r>
              <a:rPr lang="en-US" sz="1200" kern="1200" dirty="0">
                <a:solidFill>
                  <a:schemeClr val="tx1"/>
                </a:solidFill>
                <a:effectLst/>
                <a:latin typeface="+mn-lt"/>
                <a:ea typeface="+mn-ea"/>
                <a:cs typeface="+mn-cs"/>
              </a:rPr>
              <a:t> is Plugging the Leaks (eliminating any high-interest debt over 8%).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Level 3</a:t>
            </a:r>
            <a:r>
              <a:rPr lang="en-US" sz="1200" kern="1200" dirty="0">
                <a:solidFill>
                  <a:schemeClr val="tx1"/>
                </a:solidFill>
                <a:effectLst/>
                <a:latin typeface="+mn-lt"/>
                <a:ea typeface="+mn-ea"/>
                <a:cs typeface="+mn-cs"/>
              </a:rPr>
              <a:t> is The Emergency Buffer (3 to 6 months of expenses).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Level 4</a:t>
            </a:r>
            <a:r>
              <a:rPr lang="en-US" sz="1200" kern="1200" dirty="0">
                <a:solidFill>
                  <a:schemeClr val="tx1"/>
                </a:solidFill>
                <a:effectLst/>
                <a:latin typeface="+mn-lt"/>
                <a:ea typeface="+mn-ea"/>
                <a:cs typeface="+mn-cs"/>
              </a:rPr>
              <a:t> is Wealth Generation (investing and scaling income). </a:t>
            </a:r>
          </a:p>
          <a:p>
            <a:r>
              <a:rPr lang="en-US" sz="1200" b="1" kern="1200" dirty="0">
                <a:solidFill>
                  <a:schemeClr val="tx1"/>
                </a:solidFill>
                <a:effectLst/>
                <a:latin typeface="+mn-lt"/>
                <a:ea typeface="+mn-ea"/>
                <a:cs typeface="+mn-cs"/>
              </a:rPr>
              <a:t>Crucial Warning:</a:t>
            </a:r>
            <a:r>
              <a:rPr lang="en-US" sz="1200" kern="1200" dirty="0">
                <a:solidFill>
                  <a:schemeClr val="tx1"/>
                </a:solidFill>
                <a:effectLst/>
                <a:latin typeface="+mn-lt"/>
                <a:ea typeface="+mn-ea"/>
                <a:cs typeface="+mn-cs"/>
              </a:rPr>
              <a:t> You must </a:t>
            </a:r>
            <a:r>
              <a:rPr lang="en-US" sz="1200" i="1" kern="1200" dirty="0">
                <a:solidFill>
                  <a:schemeClr val="tx1"/>
                </a:solidFill>
                <a:effectLst/>
                <a:latin typeface="+mn-lt"/>
                <a:ea typeface="+mn-ea"/>
                <a:cs typeface="+mn-cs"/>
              </a:rPr>
              <a:t>never</a:t>
            </a:r>
            <a:r>
              <a:rPr lang="en-US" sz="1200" kern="1200" dirty="0">
                <a:solidFill>
                  <a:schemeClr val="tx1"/>
                </a:solidFill>
                <a:effectLst/>
                <a:latin typeface="+mn-lt"/>
                <a:ea typeface="+mn-ea"/>
                <a:cs typeface="+mn-cs"/>
              </a:rPr>
              <a:t> jump straight to Phase 4 investing before securing Levels 1 through 3. If you invest all your extra cash into the stock market without a buffer, the moment life throws a curveball, you'll be forced to liquidate your investments at a loss just to cover basic survival expenses.</a:t>
            </a:r>
          </a:p>
          <a:p>
            <a:endParaRPr lang="en-US" dirty="0"/>
          </a:p>
        </p:txBody>
      </p:sp>
      <p:sp>
        <p:nvSpPr>
          <p:cNvPr id="4" name="Slide Number Placeholder 3"/>
          <p:cNvSpPr>
            <a:spLocks noGrp="1"/>
          </p:cNvSpPr>
          <p:nvPr>
            <p:ph type="sldNum" sz="quarter" idx="5"/>
          </p:nvPr>
        </p:nvSpPr>
        <p:spPr/>
        <p:txBody>
          <a:bodyPr/>
          <a:lstStyle/>
          <a:p>
            <a:fld id="{C8F0B3C9-99F7-4BC8-B4B7-D6116C06C3DD}" type="slidenum">
              <a:rPr lang="en-US" smtClean="0"/>
              <a:t>3</a:t>
            </a:fld>
            <a:endParaRPr lang="en-US"/>
          </a:p>
        </p:txBody>
      </p:sp>
    </p:spTree>
    <p:extLst>
      <p:ext uri="{BB962C8B-B14F-4D97-AF65-F5344CB8AC3E}">
        <p14:creationId xmlns:p14="http://schemas.microsoft.com/office/powerpoint/2010/main" val="2463055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Phase 1 is not an exercise in mathematical optimization; it’s about </a:t>
            </a:r>
            <a:r>
              <a:rPr lang="en-US" sz="1200" b="1" kern="1200" dirty="0">
                <a:solidFill>
                  <a:schemeClr val="tx1"/>
                </a:solidFill>
                <a:effectLst/>
                <a:latin typeface="+mn-lt"/>
                <a:ea typeface="+mn-ea"/>
                <a:cs typeface="+mn-cs"/>
              </a:rPr>
              <a:t>psychological stabilization</a:t>
            </a:r>
            <a:r>
              <a:rPr lang="en-US" sz="1200" kern="1200" dirty="0">
                <a:solidFill>
                  <a:schemeClr val="tx1"/>
                </a:solidFill>
                <a:effectLst/>
                <a:latin typeface="+mn-lt"/>
                <a:ea typeface="+mn-ea"/>
                <a:cs typeface="+mn-cs"/>
              </a:rPr>
              <a:t>. Your target here is exactly </a:t>
            </a:r>
            <a:r>
              <a:rPr lang="en-US" sz="1200" b="1" kern="1200" dirty="0">
                <a:solidFill>
                  <a:schemeClr val="tx1"/>
                </a:solidFill>
                <a:effectLst/>
                <a:latin typeface="+mn-lt"/>
                <a:ea typeface="+mn-ea"/>
                <a:cs typeface="+mn-cs"/>
              </a:rPr>
              <a:t>1 month of core living expenses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What goes into core expenses? Rent or mortgage, basic utilities, basic groceries, and minimum debt payments. Do </a:t>
            </a:r>
            <a:r>
              <a:rPr lang="en-US" sz="1200" i="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include dining out, subscriptions, or shopping. </a:t>
            </a:r>
          </a:p>
          <a:p>
            <a:r>
              <a:rPr lang="en-US" sz="1200" kern="1200" dirty="0">
                <a:solidFill>
                  <a:schemeClr val="tx1"/>
                </a:solidFill>
                <a:effectLst/>
                <a:latin typeface="+mn-lt"/>
                <a:ea typeface="+mn-ea"/>
                <a:cs typeface="+mn-cs"/>
              </a:rPr>
              <a:t>Why build this first? Because when your boiler breaks down or your car blows a tire, having cash on hand eliminates the financial emergency on top of the situational crisis. </a:t>
            </a:r>
            <a:r>
              <a:rPr lang="en-US" sz="1200" i="1" kern="1200" dirty="0">
                <a:solidFill>
                  <a:schemeClr val="tx1"/>
                </a:solidFill>
                <a:effectLst/>
                <a:latin typeface="+mn-lt"/>
                <a:ea typeface="+mn-ea"/>
                <a:cs typeface="+mn-cs"/>
              </a:rPr>
              <a:t>Reality Check:</a:t>
            </a:r>
            <a:r>
              <a:rPr lang="en-US" sz="1200" kern="1200" dirty="0">
                <a:solidFill>
                  <a:schemeClr val="tx1"/>
                </a:solidFill>
                <a:effectLst/>
                <a:latin typeface="+mn-lt"/>
                <a:ea typeface="+mn-ea"/>
                <a:cs typeface="+mn-cs"/>
              </a:rPr>
              <a:t> Saving just this single month of expenses instantly puts you ahead of 59% of Americans and 30% of UK residents who cannot cover an unexpected $1,000 cash expense without taking on debt.</a:t>
            </a:r>
          </a:p>
        </p:txBody>
      </p:sp>
      <p:sp>
        <p:nvSpPr>
          <p:cNvPr id="4" name="Slide Number Placeholder 3"/>
          <p:cNvSpPr>
            <a:spLocks noGrp="1"/>
          </p:cNvSpPr>
          <p:nvPr>
            <p:ph type="sldNum" sz="quarter" idx="5"/>
          </p:nvPr>
        </p:nvSpPr>
        <p:spPr/>
        <p:txBody>
          <a:bodyPr/>
          <a:lstStyle/>
          <a:p>
            <a:fld id="{C8F0B3C9-99F7-4BC8-B4B7-D6116C06C3DD}" type="slidenum">
              <a:rPr lang="en-US" smtClean="0"/>
              <a:t>4</a:t>
            </a:fld>
            <a:endParaRPr lang="en-US"/>
          </a:p>
        </p:txBody>
      </p:sp>
    </p:spTree>
    <p:extLst>
      <p:ext uri="{BB962C8B-B14F-4D97-AF65-F5344CB8AC3E}">
        <p14:creationId xmlns:p14="http://schemas.microsoft.com/office/powerpoint/2010/main" val="1496798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Phase 2 focuses on plugging your financial leaks by implementing </a:t>
            </a:r>
            <a:r>
              <a:rPr lang="en-US" sz="1200" b="1" kern="1200" dirty="0">
                <a:solidFill>
                  <a:schemeClr val="tx1"/>
                </a:solidFill>
                <a:effectLst/>
                <a:latin typeface="+mn-lt"/>
                <a:ea typeface="+mn-ea"/>
                <a:cs typeface="+mn-cs"/>
              </a:rPr>
              <a:t>The Rule of 8%</a:t>
            </a:r>
            <a:r>
              <a:rPr lang="en-US" sz="1200" kern="1200" dirty="0">
                <a:solidFill>
                  <a:schemeClr val="tx1"/>
                </a:solidFill>
                <a:effectLst/>
                <a:latin typeface="+mn-lt"/>
                <a:ea typeface="+mn-ea"/>
                <a:cs typeface="+mn-cs"/>
              </a:rPr>
              <a:t>. Any debt with an interest rate above 8%—such as credit card balances or personal loans—must be eliminated before you begin investing. </a:t>
            </a:r>
          </a:p>
          <a:p>
            <a:r>
              <a:rPr lang="en-US" sz="1200" kern="1200" dirty="0">
                <a:solidFill>
                  <a:schemeClr val="tx1"/>
                </a:solidFill>
                <a:effectLst/>
                <a:latin typeface="+mn-lt"/>
                <a:ea typeface="+mn-ea"/>
                <a:cs typeface="+mn-cs"/>
              </a:rPr>
              <a:t>Consider the math visual on screen: Holding $2,000 in a savings account earning 4% interest while carrying a credit card balance charging 20% interest means you are losing 16% on your money every single year. You're leaking money far faster than your savings can grow. </a:t>
            </a:r>
          </a:p>
          <a:p>
            <a:r>
              <a:rPr lang="en-US" sz="1200" i="1" kern="1200" dirty="0">
                <a:solidFill>
                  <a:schemeClr val="tx1"/>
                </a:solidFill>
                <a:effectLst/>
                <a:latin typeface="+mn-lt"/>
                <a:ea typeface="+mn-ea"/>
                <a:cs typeface="+mn-cs"/>
              </a:rPr>
              <a:t>Execution:</a:t>
            </a:r>
            <a:r>
              <a:rPr lang="en-US" sz="1200" kern="1200" dirty="0">
                <a:solidFill>
                  <a:schemeClr val="tx1"/>
                </a:solidFill>
                <a:effectLst/>
                <a:latin typeface="+mn-lt"/>
                <a:ea typeface="+mn-ea"/>
                <a:cs typeface="+mn-cs"/>
              </a:rPr>
              <a:t> Rank all your debts from highest interest rate to lowest. Pay the minimums on everything, and throw every extra dollar at the highest-interest debt first. Credit card rewards points are only beneficial if you clear your balance in full every month; otherwise, the mathematical math heavily favors the issuing bank.</a:t>
            </a:r>
          </a:p>
          <a:p>
            <a:endParaRPr lang="en-US" dirty="0"/>
          </a:p>
        </p:txBody>
      </p:sp>
      <p:sp>
        <p:nvSpPr>
          <p:cNvPr id="4" name="Slide Number Placeholder 3"/>
          <p:cNvSpPr>
            <a:spLocks noGrp="1"/>
          </p:cNvSpPr>
          <p:nvPr>
            <p:ph type="sldNum" sz="quarter" idx="5"/>
          </p:nvPr>
        </p:nvSpPr>
        <p:spPr/>
        <p:txBody>
          <a:bodyPr/>
          <a:lstStyle/>
          <a:p>
            <a:fld id="{C8F0B3C9-99F7-4BC8-B4B7-D6116C06C3DD}" type="slidenum">
              <a:rPr lang="en-US" smtClean="0"/>
              <a:t>5</a:t>
            </a:fld>
            <a:endParaRPr lang="en-US"/>
          </a:p>
        </p:txBody>
      </p:sp>
    </p:spTree>
    <p:extLst>
      <p:ext uri="{BB962C8B-B14F-4D97-AF65-F5344CB8AC3E}">
        <p14:creationId xmlns:p14="http://schemas.microsoft.com/office/powerpoint/2010/main" val="25863965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Once high-interest debt is wiped out, you build </a:t>
            </a:r>
            <a:r>
              <a:rPr lang="en-US" sz="1200" b="1" kern="1200" dirty="0">
                <a:solidFill>
                  <a:schemeClr val="tx1"/>
                </a:solidFill>
                <a:effectLst/>
                <a:latin typeface="+mn-lt"/>
                <a:ea typeface="+mn-ea"/>
                <a:cs typeface="+mn-cs"/>
              </a:rPr>
              <a:t>Phase 3: The Emergency Buffer</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If you are single with stable, predictable income, target </a:t>
            </a:r>
            <a:r>
              <a:rPr lang="en-US" sz="1200" b="1" kern="1200" dirty="0">
                <a:solidFill>
                  <a:schemeClr val="tx1"/>
                </a:solidFill>
                <a:effectLst/>
                <a:latin typeface="+mn-lt"/>
                <a:ea typeface="+mn-ea"/>
                <a:cs typeface="+mn-cs"/>
              </a:rPr>
              <a:t>3 months</a:t>
            </a:r>
            <a:r>
              <a:rPr lang="en-US" sz="1200" kern="1200" dirty="0">
                <a:solidFill>
                  <a:schemeClr val="tx1"/>
                </a:solidFill>
                <a:effectLst/>
                <a:latin typeface="+mn-lt"/>
                <a:ea typeface="+mn-ea"/>
                <a:cs typeface="+mn-cs"/>
              </a:rPr>
              <a:t> of core living costs.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If you have dependents, a family to support, or variable income, build a </a:t>
            </a:r>
            <a:r>
              <a:rPr lang="en-US" sz="1200" b="1" kern="1200" dirty="0">
                <a:solidFill>
                  <a:schemeClr val="tx1"/>
                </a:solidFill>
                <a:effectLst/>
                <a:latin typeface="+mn-lt"/>
                <a:ea typeface="+mn-ea"/>
                <a:cs typeface="+mn-cs"/>
              </a:rPr>
              <a:t>6-month</a:t>
            </a:r>
            <a:r>
              <a:rPr lang="en-US" sz="1200" kern="1200" dirty="0">
                <a:solidFill>
                  <a:schemeClr val="tx1"/>
                </a:solidFill>
                <a:effectLst/>
                <a:latin typeface="+mn-lt"/>
                <a:ea typeface="+mn-ea"/>
                <a:cs typeface="+mn-cs"/>
              </a:rPr>
              <a:t> buffer. </a:t>
            </a:r>
          </a:p>
          <a:p>
            <a:r>
              <a:rPr lang="en-US" sz="1200" kern="1200" dirty="0">
                <a:solidFill>
                  <a:schemeClr val="tx1"/>
                </a:solidFill>
                <a:effectLst/>
                <a:latin typeface="+mn-lt"/>
                <a:ea typeface="+mn-ea"/>
                <a:cs typeface="+mn-cs"/>
              </a:rPr>
              <a:t>A landmark Vanguard study revealed that holding 3 to 6 months of living expenses provides a bigger boost to your psychological well-being and workplace productivity than earning over $200,000 a year with no cash reserve. </a:t>
            </a:r>
          </a:p>
          <a:p>
            <a:r>
              <a:rPr lang="en-US" sz="1200" i="1" kern="1200" dirty="0">
                <a:solidFill>
                  <a:schemeClr val="tx1"/>
                </a:solidFill>
                <a:effectLst/>
                <a:latin typeface="+mn-lt"/>
                <a:ea typeface="+mn-ea"/>
                <a:cs typeface="+mn-cs"/>
              </a:rPr>
              <a:t>The Stop-Loss Rule:</a:t>
            </a:r>
            <a:r>
              <a:rPr lang="en-US" sz="1200" kern="1200" dirty="0">
                <a:solidFill>
                  <a:schemeClr val="tx1"/>
                </a:solidFill>
                <a:effectLst/>
                <a:latin typeface="+mn-lt"/>
                <a:ea typeface="+mn-ea"/>
                <a:cs typeface="+mn-cs"/>
              </a:rPr>
              <a:t> Once this target is hit, </a:t>
            </a:r>
            <a:r>
              <a:rPr lang="en-US" sz="1200" b="1" kern="1200" dirty="0">
                <a:solidFill>
                  <a:schemeClr val="tx1"/>
                </a:solidFill>
                <a:effectLst/>
                <a:latin typeface="+mn-lt"/>
                <a:ea typeface="+mn-ea"/>
                <a:cs typeface="+mn-cs"/>
              </a:rPr>
              <a:t>stop saving cash</a:t>
            </a:r>
            <a:r>
              <a:rPr lang="en-US" sz="1200" kern="1200" dirty="0">
                <a:solidFill>
                  <a:schemeClr val="tx1"/>
                </a:solidFill>
                <a:effectLst/>
                <a:latin typeface="+mn-lt"/>
                <a:ea typeface="+mn-ea"/>
                <a:cs typeface="+mn-cs"/>
              </a:rPr>
              <a:t>. Excess cash in a traditional bank account gets eaten alive by inflation. Once the buffer is full, you pivot from defense to offense.</a:t>
            </a:r>
          </a:p>
          <a:p>
            <a:endParaRPr lang="en-US" dirty="0"/>
          </a:p>
        </p:txBody>
      </p:sp>
      <p:sp>
        <p:nvSpPr>
          <p:cNvPr id="4" name="Slide Number Placeholder 3"/>
          <p:cNvSpPr>
            <a:spLocks noGrp="1"/>
          </p:cNvSpPr>
          <p:nvPr>
            <p:ph type="sldNum" sz="quarter" idx="5"/>
          </p:nvPr>
        </p:nvSpPr>
        <p:spPr/>
        <p:txBody>
          <a:bodyPr/>
          <a:lstStyle/>
          <a:p>
            <a:fld id="{C8F0B3C9-99F7-4BC8-B4B7-D6116C06C3DD}" type="slidenum">
              <a:rPr lang="en-US" smtClean="0"/>
              <a:t>6</a:t>
            </a:fld>
            <a:endParaRPr lang="en-US"/>
          </a:p>
        </p:txBody>
      </p:sp>
    </p:spTree>
    <p:extLst>
      <p:ext uri="{BB962C8B-B14F-4D97-AF65-F5344CB8AC3E}">
        <p14:creationId xmlns:p14="http://schemas.microsoft.com/office/powerpoint/2010/main" val="3926822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manage your day-to-day cash flow without friction, use the </a:t>
            </a:r>
            <a:r>
              <a:rPr lang="en-US" sz="1200" b="1" kern="1200" dirty="0">
                <a:solidFill>
                  <a:schemeClr val="tx1"/>
                </a:solidFill>
                <a:effectLst/>
                <a:latin typeface="+mn-lt"/>
                <a:ea typeface="+mn-ea"/>
                <a:cs typeface="+mn-cs"/>
              </a:rPr>
              <a:t>65-20-15 Framework</a:t>
            </a:r>
            <a:r>
              <a:rPr lang="en-US" sz="1200" kern="1200" dirty="0">
                <a:solidFill>
                  <a:schemeClr val="tx1"/>
                </a:solidFill>
                <a:effectLst/>
                <a:latin typeface="+mn-lt"/>
                <a:ea typeface="+mn-ea"/>
                <a:cs typeface="+mn-cs"/>
              </a:rPr>
              <a:t> based on your net take-home pay: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65% for Fundamentals:</a:t>
            </a:r>
            <a:r>
              <a:rPr lang="en-US" sz="1200" kern="1200" dirty="0">
                <a:solidFill>
                  <a:schemeClr val="tx1"/>
                </a:solidFill>
                <a:effectLst/>
                <a:latin typeface="+mn-lt"/>
                <a:ea typeface="+mn-ea"/>
                <a:cs typeface="+mn-cs"/>
              </a:rPr>
              <a:t> Essential living costs (housing, groceries, utilities, debt minimums).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20% for Fun:</a:t>
            </a:r>
            <a:r>
              <a:rPr lang="en-US" sz="1200" kern="1200" dirty="0">
                <a:solidFill>
                  <a:schemeClr val="tx1"/>
                </a:solidFill>
                <a:effectLst/>
                <a:latin typeface="+mn-lt"/>
                <a:ea typeface="+mn-ea"/>
                <a:cs typeface="+mn-cs"/>
              </a:rPr>
              <a:t> Guilt-free present-day enjoyment—dinners out, vacations, concert tickets. Spending on what brings you joy today keeps you consistent long-term.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15% for Future You:</a:t>
            </a:r>
            <a:r>
              <a:rPr lang="en-US" sz="1200" kern="1200" dirty="0">
                <a:solidFill>
                  <a:schemeClr val="tx1"/>
                </a:solidFill>
                <a:effectLst/>
                <a:latin typeface="+mn-lt"/>
                <a:ea typeface="+mn-ea"/>
                <a:cs typeface="+mn-cs"/>
              </a:rPr>
              <a:t> Capital allocated strictly to investing, building long-term assets, or accelerated debt paydown. </a:t>
            </a:r>
          </a:p>
          <a:p>
            <a:r>
              <a:rPr lang="en-US" sz="1200" i="1" kern="1200" dirty="0">
                <a:solidFill>
                  <a:schemeClr val="tx1"/>
                </a:solidFill>
                <a:effectLst/>
                <a:latin typeface="+mn-lt"/>
                <a:ea typeface="+mn-ea"/>
                <a:cs typeface="+mn-cs"/>
              </a:rPr>
              <a:t>Actionable Takeaway:</a:t>
            </a:r>
            <a:r>
              <a:rPr lang="en-US" sz="1200" kern="1200" dirty="0">
                <a:solidFill>
                  <a:schemeClr val="tx1"/>
                </a:solidFill>
                <a:effectLst/>
                <a:latin typeface="+mn-lt"/>
                <a:ea typeface="+mn-ea"/>
                <a:cs typeface="+mn-cs"/>
              </a:rPr>
              <a:t> If high rent means your fundamental costs currently eat up 80% of your income, don't throw away the system. Start 'Future You' at just 2% or 5% to build the behavioral habit first. As your income grows, scale up to the targets.</a:t>
            </a:r>
          </a:p>
          <a:p>
            <a:endParaRPr lang="en-US" dirty="0"/>
          </a:p>
        </p:txBody>
      </p:sp>
      <p:sp>
        <p:nvSpPr>
          <p:cNvPr id="4" name="Slide Number Placeholder 3"/>
          <p:cNvSpPr>
            <a:spLocks noGrp="1"/>
          </p:cNvSpPr>
          <p:nvPr>
            <p:ph type="sldNum" sz="quarter" idx="5"/>
          </p:nvPr>
        </p:nvSpPr>
        <p:spPr/>
        <p:txBody>
          <a:bodyPr/>
          <a:lstStyle/>
          <a:p>
            <a:fld id="{C8F0B3C9-99F7-4BC8-B4B7-D6116C06C3DD}" type="slidenum">
              <a:rPr lang="en-US" smtClean="0"/>
              <a:t>7</a:t>
            </a:fld>
            <a:endParaRPr lang="en-US"/>
          </a:p>
        </p:txBody>
      </p:sp>
    </p:spTree>
    <p:extLst>
      <p:ext uri="{BB962C8B-B14F-4D97-AF65-F5344CB8AC3E}">
        <p14:creationId xmlns:p14="http://schemas.microsoft.com/office/powerpoint/2010/main" val="15969238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Phase 4 is where long-term wealth is unlocked. You cannot save your way to retirement; you must deploy capital systematically through three main vehicles: </a:t>
            </a:r>
          </a:p>
          <a:p>
            <a:pPr marL="228600" indent="-228600">
              <a:buFont typeface="+mj-lt"/>
              <a:buAutoNum type="arabicPeriod"/>
            </a:pPr>
            <a:r>
              <a:rPr lang="en-US" sz="1200" b="1" kern="1200" dirty="0">
                <a:solidFill>
                  <a:schemeClr val="tx1"/>
                </a:solidFill>
                <a:effectLst/>
                <a:latin typeface="+mn-lt"/>
                <a:ea typeface="+mn-ea"/>
                <a:cs typeface="+mn-cs"/>
              </a:rPr>
              <a:t>Step 1: Employer Match:</a:t>
            </a:r>
            <a:r>
              <a:rPr lang="en-US" sz="1200" kern="1200" dirty="0">
                <a:solidFill>
                  <a:schemeClr val="tx1"/>
                </a:solidFill>
                <a:effectLst/>
                <a:latin typeface="+mn-lt"/>
                <a:ea typeface="+mn-ea"/>
                <a:cs typeface="+mn-cs"/>
              </a:rPr>
              <a:t> Always contribute enough to get 100% of your employer's retirement contribution match. This is immediate, tax-advantaged 100% return on your money—never turn down free capital. </a:t>
            </a:r>
          </a:p>
          <a:p>
            <a:pPr marL="228600" indent="-228600">
              <a:buFont typeface="+mj-lt"/>
              <a:buAutoNum type="arabicPeriod"/>
            </a:pPr>
            <a:r>
              <a:rPr lang="en-US" sz="1200" b="1" kern="1200" dirty="0">
                <a:solidFill>
                  <a:schemeClr val="tx1"/>
                </a:solidFill>
                <a:effectLst/>
                <a:latin typeface="+mn-lt"/>
                <a:ea typeface="+mn-ea"/>
                <a:cs typeface="+mn-cs"/>
              </a:rPr>
              <a:t>Step 2: Tax-Advantaged Accounts:</a:t>
            </a:r>
            <a:r>
              <a:rPr lang="en-US" sz="1200" kern="1200" dirty="0">
                <a:solidFill>
                  <a:schemeClr val="tx1"/>
                </a:solidFill>
                <a:effectLst/>
                <a:latin typeface="+mn-lt"/>
                <a:ea typeface="+mn-ea"/>
                <a:cs typeface="+mn-cs"/>
              </a:rPr>
              <a:t> Maximize tax shields like the Roth IRA in the US ($7k limit) or ISA in the UK (£20k limit). Inside these wrappers, your investments compound and can be withdrawn completely tax-free. </a:t>
            </a:r>
          </a:p>
          <a:p>
            <a:pPr marL="228600" indent="-228600">
              <a:buFont typeface="+mj-lt"/>
              <a:buAutoNum type="arabicPeriod"/>
            </a:pPr>
            <a:r>
              <a:rPr lang="en-US" sz="1200" b="1" kern="1200" dirty="0">
                <a:solidFill>
                  <a:schemeClr val="tx1"/>
                </a:solidFill>
                <a:effectLst/>
                <a:latin typeface="+mn-lt"/>
                <a:ea typeface="+mn-ea"/>
                <a:cs typeface="+mn-cs"/>
              </a:rPr>
              <a:t>Step 3: Asset Selection:</a:t>
            </a:r>
            <a:r>
              <a:rPr lang="en-US" sz="1200" kern="1200" dirty="0">
                <a:solidFill>
                  <a:schemeClr val="tx1"/>
                </a:solidFill>
                <a:effectLst/>
                <a:latin typeface="+mn-lt"/>
                <a:ea typeface="+mn-ea"/>
                <a:cs typeface="+mn-cs"/>
              </a:rPr>
              <a:t> Keep it simple. Broad-market Index Funds (like an S&amp;P 500 fund) give you ownership in top companies with historical long-term returns of 8–10%. Alternatively, Target Date Funds adjust risk automatically as you age.</a:t>
            </a:r>
          </a:p>
          <a:p>
            <a:endParaRPr lang="en-US" dirty="0"/>
          </a:p>
        </p:txBody>
      </p:sp>
      <p:sp>
        <p:nvSpPr>
          <p:cNvPr id="4" name="Slide Number Placeholder 3"/>
          <p:cNvSpPr>
            <a:spLocks noGrp="1"/>
          </p:cNvSpPr>
          <p:nvPr>
            <p:ph type="sldNum" sz="quarter" idx="5"/>
          </p:nvPr>
        </p:nvSpPr>
        <p:spPr/>
        <p:txBody>
          <a:bodyPr/>
          <a:lstStyle/>
          <a:p>
            <a:fld id="{C8F0B3C9-99F7-4BC8-B4B7-D6116C06C3DD}" type="slidenum">
              <a:rPr lang="en-US" smtClean="0"/>
              <a:t>8</a:t>
            </a:fld>
            <a:endParaRPr lang="en-US"/>
          </a:p>
        </p:txBody>
      </p:sp>
    </p:spTree>
    <p:extLst>
      <p:ext uri="{BB962C8B-B14F-4D97-AF65-F5344CB8AC3E}">
        <p14:creationId xmlns:p14="http://schemas.microsoft.com/office/powerpoint/2010/main" val="25449821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Managing investments is 10% math and 90% human psychology. Look at this chart based on a famous internal study conducted by Fidelity. They analyzed which retail investor accounts performed best over time. </a:t>
            </a:r>
          </a:p>
          <a:p>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#1 best-performing group</a:t>
            </a:r>
            <a:r>
              <a:rPr lang="en-US" sz="1200" kern="1200" dirty="0">
                <a:solidFill>
                  <a:schemeClr val="tx1"/>
                </a:solidFill>
                <a:effectLst/>
                <a:latin typeface="+mn-lt"/>
                <a:ea typeface="+mn-ea"/>
                <a:cs typeface="+mn-cs"/>
              </a:rPr>
              <a:t> was literally dead people. The </a:t>
            </a:r>
            <a:r>
              <a:rPr lang="en-US" sz="1200" b="1" kern="1200" dirty="0">
                <a:solidFill>
                  <a:schemeClr val="tx1"/>
                </a:solidFill>
                <a:effectLst/>
                <a:latin typeface="+mn-lt"/>
                <a:ea typeface="+mn-ea"/>
                <a:cs typeface="+mn-cs"/>
              </a:rPr>
              <a:t>#2 best-performing group</a:t>
            </a:r>
            <a:r>
              <a:rPr lang="en-US" sz="1200" kern="1200" dirty="0">
                <a:solidFill>
                  <a:schemeClr val="tx1"/>
                </a:solidFill>
                <a:effectLst/>
                <a:latin typeface="+mn-lt"/>
                <a:ea typeface="+mn-ea"/>
                <a:cs typeface="+mn-cs"/>
              </a:rPr>
              <a:t> was people who had completely forgotten they owned an account! </a:t>
            </a:r>
          </a:p>
          <a:p>
            <a:r>
              <a:rPr lang="en-US" sz="1200" kern="1200" dirty="0">
                <a:solidFill>
                  <a:schemeClr val="tx1"/>
                </a:solidFill>
                <a:effectLst/>
                <a:latin typeface="+mn-lt"/>
                <a:ea typeface="+mn-ea"/>
                <a:cs typeface="+mn-cs"/>
              </a:rPr>
              <a:t>Why? Active trading driven by market panic causes humans to buy high during euphoria and sell low during market crashes. Every time you panic-sell, you destroy compounding returns. The lesson is simple: Set up automated contributions, buy broad index funds, lock the account, and 'lose your password'.</a:t>
            </a:r>
          </a:p>
          <a:p>
            <a:endParaRPr lang="en-US" dirty="0"/>
          </a:p>
        </p:txBody>
      </p:sp>
      <p:sp>
        <p:nvSpPr>
          <p:cNvPr id="4" name="Slide Number Placeholder 3"/>
          <p:cNvSpPr>
            <a:spLocks noGrp="1"/>
          </p:cNvSpPr>
          <p:nvPr>
            <p:ph type="sldNum" sz="quarter" idx="5"/>
          </p:nvPr>
        </p:nvSpPr>
        <p:spPr/>
        <p:txBody>
          <a:bodyPr/>
          <a:lstStyle/>
          <a:p>
            <a:fld id="{C8F0B3C9-99F7-4BC8-B4B7-D6116C06C3DD}" type="slidenum">
              <a:rPr lang="en-US" smtClean="0"/>
              <a:t>9</a:t>
            </a:fld>
            <a:endParaRPr lang="en-US"/>
          </a:p>
        </p:txBody>
      </p:sp>
    </p:spTree>
    <p:extLst>
      <p:ext uri="{BB962C8B-B14F-4D97-AF65-F5344CB8AC3E}">
        <p14:creationId xmlns:p14="http://schemas.microsoft.com/office/powerpoint/2010/main" val="1239911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Society conditions us to believe that buying a home is the </a:t>
            </a:r>
            <a:r>
              <a:rPr lang="en-US" sz="1200" i="1" kern="1200" dirty="0">
                <a:solidFill>
                  <a:schemeClr val="tx1"/>
                </a:solidFill>
                <a:effectLst/>
                <a:latin typeface="+mn-lt"/>
                <a:ea typeface="+mn-ea"/>
                <a:cs typeface="+mn-cs"/>
              </a:rPr>
              <a:t>only</a:t>
            </a:r>
            <a:r>
              <a:rPr lang="en-US" sz="1200" kern="1200" dirty="0">
                <a:solidFill>
                  <a:schemeClr val="tx1"/>
                </a:solidFill>
                <a:effectLst/>
                <a:latin typeface="+mn-lt"/>
                <a:ea typeface="+mn-ea"/>
                <a:cs typeface="+mn-cs"/>
              </a:rPr>
              <a:t> valid path to wealth. In reality, homeownership is just a forced savings mechanism—not an absolute mathematical mandate.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Option A (Buy &amp; Hold):</a:t>
            </a:r>
            <a:r>
              <a:rPr lang="en-US" sz="1200" kern="1200" dirty="0">
                <a:solidFill>
                  <a:schemeClr val="tx1"/>
                </a:solidFill>
                <a:effectLst/>
                <a:latin typeface="+mn-lt"/>
                <a:ea typeface="+mn-ea"/>
                <a:cs typeface="+mn-cs"/>
              </a:rPr>
              <a:t> Property requires significant down payments and carries heavy overhead costs—stamp duty, taxes, interest, maintenance, and insurance. While property builds equity, growth can be slow depending on the market.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Option B (Rent &amp; Invest the Difference):</a:t>
            </a:r>
            <a:r>
              <a:rPr lang="en-US" sz="1200" kern="1200" dirty="0">
                <a:solidFill>
                  <a:schemeClr val="tx1"/>
                </a:solidFill>
                <a:effectLst/>
                <a:latin typeface="+mn-lt"/>
                <a:ea typeface="+mn-ea"/>
                <a:cs typeface="+mn-cs"/>
              </a:rPr>
              <a:t> In many major cities, renting is cheaper month-to-month than mortgage payments on an equivalent property. If you rent and systematically invest the saved deposit, maintenance, and tax cash directly into low-cost index funds, you achieve liquidity and powerful compounding growth. </a:t>
            </a:r>
          </a:p>
          <a:p>
            <a:r>
              <a:rPr lang="en-US" sz="1200" kern="1200" dirty="0">
                <a:solidFill>
                  <a:schemeClr val="tx1"/>
                </a:solidFill>
                <a:effectLst/>
                <a:latin typeface="+mn-lt"/>
                <a:ea typeface="+mn-ea"/>
                <a:cs typeface="+mn-cs"/>
              </a:rPr>
              <a:t>Choose property for lifestyle stability, not because society told you it's the only way to build net worth.</a:t>
            </a:r>
          </a:p>
          <a:p>
            <a:endParaRPr lang="en-US" dirty="0"/>
          </a:p>
        </p:txBody>
      </p:sp>
      <p:sp>
        <p:nvSpPr>
          <p:cNvPr id="4" name="Slide Number Placeholder 3"/>
          <p:cNvSpPr>
            <a:spLocks noGrp="1"/>
          </p:cNvSpPr>
          <p:nvPr>
            <p:ph type="sldNum" sz="quarter" idx="5"/>
          </p:nvPr>
        </p:nvSpPr>
        <p:spPr/>
        <p:txBody>
          <a:bodyPr/>
          <a:lstStyle/>
          <a:p>
            <a:fld id="{C8F0B3C9-99F7-4BC8-B4B7-D6116C06C3DD}" type="slidenum">
              <a:rPr lang="en-US" smtClean="0"/>
              <a:t>10</a:t>
            </a:fld>
            <a:endParaRPr lang="en-US"/>
          </a:p>
        </p:txBody>
      </p:sp>
    </p:spTree>
    <p:extLst>
      <p:ext uri="{BB962C8B-B14F-4D97-AF65-F5344CB8AC3E}">
        <p14:creationId xmlns:p14="http://schemas.microsoft.com/office/powerpoint/2010/main" val="21961871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Defensive budgeting can only take you so far. To supercharge compounding, you must scale your offense. Think of your total income as a flowing river, and your financial goals (house, car, retirement) as buckets. The wider your income river, the faster every bucket fills. </a:t>
            </a:r>
          </a:p>
          <a:p>
            <a:r>
              <a:rPr lang="en-US" sz="1200" i="1" kern="1200" dirty="0">
                <a:solidFill>
                  <a:schemeClr val="tx1"/>
                </a:solidFill>
                <a:effectLst/>
                <a:latin typeface="+mn-lt"/>
                <a:ea typeface="+mn-ea"/>
                <a:cs typeface="+mn-cs"/>
              </a:rPr>
              <a:t>The $2,000 Rule:</a:t>
            </a:r>
            <a:r>
              <a:rPr lang="en-US" sz="1200" kern="1200" dirty="0">
                <a:solidFill>
                  <a:schemeClr val="tx1"/>
                </a:solidFill>
                <a:effectLst/>
                <a:latin typeface="+mn-lt"/>
                <a:ea typeface="+mn-ea"/>
                <a:cs typeface="+mn-cs"/>
              </a:rPr>
              <a:t> If you only have $2,000 in extra cash, don't spend months stressing over complex stock trades. Put $100 into an index fund to keep the habit active, and invest the remaining $1,900 into high-value skill development to widen your income river. </a:t>
            </a:r>
          </a:p>
          <a:p>
            <a:r>
              <a:rPr lang="en-US" sz="1200" i="1" kern="1200" dirty="0">
                <a:solidFill>
                  <a:schemeClr val="tx1"/>
                </a:solidFill>
                <a:effectLst/>
                <a:latin typeface="+mn-lt"/>
                <a:ea typeface="+mn-ea"/>
                <a:cs typeface="+mn-cs"/>
              </a:rPr>
              <a:t>The Career Hack:</a:t>
            </a:r>
            <a:r>
              <a:rPr lang="en-US" sz="1200" kern="1200" dirty="0">
                <a:solidFill>
                  <a:schemeClr val="tx1"/>
                </a:solidFill>
                <a:effectLst/>
                <a:latin typeface="+mn-lt"/>
                <a:ea typeface="+mn-ea"/>
                <a:cs typeface="+mn-cs"/>
              </a:rPr>
              <a:t> Data shows employees who stay at the same company longer than two years earn up to 50% less over their lifetime compared to those who strategically job-hop. Regularly benchmark your market value.</a:t>
            </a:r>
          </a:p>
          <a:p>
            <a:endParaRPr lang="en-US" dirty="0"/>
          </a:p>
        </p:txBody>
      </p:sp>
      <p:sp>
        <p:nvSpPr>
          <p:cNvPr id="4" name="Slide Number Placeholder 3"/>
          <p:cNvSpPr>
            <a:spLocks noGrp="1"/>
          </p:cNvSpPr>
          <p:nvPr>
            <p:ph type="sldNum" sz="quarter" idx="5"/>
          </p:nvPr>
        </p:nvSpPr>
        <p:spPr/>
        <p:txBody>
          <a:bodyPr/>
          <a:lstStyle/>
          <a:p>
            <a:fld id="{C8F0B3C9-99F7-4BC8-B4B7-D6116C06C3DD}" type="slidenum">
              <a:rPr lang="en-US" smtClean="0"/>
              <a:t>11</a:t>
            </a:fld>
            <a:endParaRPr lang="en-US"/>
          </a:p>
        </p:txBody>
      </p:sp>
    </p:spTree>
    <p:extLst>
      <p:ext uri="{BB962C8B-B14F-4D97-AF65-F5344CB8AC3E}">
        <p14:creationId xmlns:p14="http://schemas.microsoft.com/office/powerpoint/2010/main" val="10477848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evaluating side income or alternative revenue sources, understand where your time sits on </a:t>
            </a:r>
            <a:r>
              <a:rPr lang="en-US" sz="1200" b="1" kern="1200" dirty="0">
                <a:solidFill>
                  <a:schemeClr val="tx1"/>
                </a:solidFill>
                <a:effectLst/>
                <a:latin typeface="+mn-lt"/>
                <a:ea typeface="+mn-ea"/>
                <a:cs typeface="+mn-cs"/>
              </a:rPr>
              <a:t>The Income Matrix</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Time-Based (Tap &amp; Go):</a:t>
            </a:r>
            <a:r>
              <a:rPr lang="en-US" sz="1200" kern="1200" dirty="0">
                <a:solidFill>
                  <a:schemeClr val="tx1"/>
                </a:solidFill>
                <a:effectLst/>
                <a:latin typeface="+mn-lt"/>
                <a:ea typeface="+mn-ea"/>
                <a:cs typeface="+mn-cs"/>
              </a:rPr>
              <a:t> Driving for Uber, dog walking, or selling unused items provides immediate cash output, but your earnings are capped by the hours in a day. Use this strictly for plugging high-interest debt or filling Phase 1 rapidly.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Skill-Based (Delayed but Scalable):</a:t>
            </a:r>
            <a:r>
              <a:rPr lang="en-US" sz="1200" kern="1200" dirty="0">
                <a:solidFill>
                  <a:schemeClr val="tx1"/>
                </a:solidFill>
                <a:effectLst/>
                <a:latin typeface="+mn-lt"/>
                <a:ea typeface="+mn-ea"/>
                <a:cs typeface="+mn-cs"/>
              </a:rPr>
              <a:t> Packaging your 9-to-5 domain expertise into digital products, consulting, or media creation. Upfront efforts yield zero immediate payout, but over time, these assets decouple your earning power from physical hours worked. This creates true, scalable wealth.</a:t>
            </a:r>
          </a:p>
          <a:p>
            <a:endParaRPr lang="en-US" dirty="0"/>
          </a:p>
        </p:txBody>
      </p:sp>
      <p:sp>
        <p:nvSpPr>
          <p:cNvPr id="4" name="Slide Number Placeholder 3"/>
          <p:cNvSpPr>
            <a:spLocks noGrp="1"/>
          </p:cNvSpPr>
          <p:nvPr>
            <p:ph type="sldNum" sz="quarter" idx="5"/>
          </p:nvPr>
        </p:nvSpPr>
        <p:spPr/>
        <p:txBody>
          <a:bodyPr/>
          <a:lstStyle/>
          <a:p>
            <a:fld id="{C8F0B3C9-99F7-4BC8-B4B7-D6116C06C3DD}" type="slidenum">
              <a:rPr lang="en-US" smtClean="0"/>
              <a:t>12</a:t>
            </a:fld>
            <a:endParaRPr lang="en-US"/>
          </a:p>
        </p:txBody>
      </p:sp>
    </p:spTree>
    <p:extLst>
      <p:ext uri="{BB962C8B-B14F-4D97-AF65-F5344CB8AC3E}">
        <p14:creationId xmlns:p14="http://schemas.microsoft.com/office/powerpoint/2010/main" val="2311554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protect your growing income, you must navigate two advanced traps:</a:t>
            </a:r>
          </a:p>
          <a:p>
            <a:pPr marL="228600" indent="-228600">
              <a:buFont typeface="+mj-lt"/>
              <a:buAutoNum type="arabicPeriod"/>
            </a:pPr>
            <a:r>
              <a:rPr lang="en-US" sz="1200" b="1" kern="1200" dirty="0">
                <a:solidFill>
                  <a:schemeClr val="tx1"/>
                </a:solidFill>
                <a:effectLst/>
                <a:latin typeface="+mn-lt"/>
                <a:ea typeface="+mn-ea"/>
                <a:cs typeface="+mn-cs"/>
              </a:rPr>
              <a:t>The Invisible Price Tag (Opportunity Cost):</a:t>
            </a:r>
            <a:r>
              <a:rPr lang="en-US" sz="1200" kern="1200" dirty="0">
                <a:solidFill>
                  <a:schemeClr val="tx1"/>
                </a:solidFill>
                <a:effectLst/>
                <a:latin typeface="+mn-lt"/>
                <a:ea typeface="+mn-ea"/>
                <a:cs typeface="+mn-cs"/>
              </a:rPr>
              <a:t> Every dollar spent today steals compounding capacity from your future. A $100 team lunch today, if invested in an index fund averaging 10% annual returns over 40 years, carries a true long-term price tag of $5,000. </a:t>
            </a:r>
          </a:p>
          <a:p>
            <a:pPr marL="228600" indent="-228600">
              <a:buFont typeface="+mj-lt"/>
              <a:buAutoNum type="arabicPeriod"/>
            </a:pPr>
            <a:r>
              <a:rPr lang="en-US" sz="1200" b="1" kern="1200" dirty="0">
                <a:solidFill>
                  <a:schemeClr val="tx1"/>
                </a:solidFill>
                <a:effectLst/>
                <a:latin typeface="+mn-lt"/>
                <a:ea typeface="+mn-ea"/>
                <a:cs typeface="+mn-cs"/>
              </a:rPr>
              <a:t>Defeating Lifestyle Creep:</a:t>
            </a:r>
            <a:r>
              <a:rPr lang="en-US" sz="1200" kern="1200" dirty="0">
                <a:solidFill>
                  <a:schemeClr val="tx1"/>
                </a:solidFill>
                <a:effectLst/>
                <a:latin typeface="+mn-lt"/>
                <a:ea typeface="+mn-ea"/>
                <a:cs typeface="+mn-cs"/>
              </a:rPr>
              <a:t> The </a:t>
            </a:r>
            <a:r>
              <a:rPr lang="en-US" sz="1200" i="1" kern="1200" dirty="0">
                <a:solidFill>
                  <a:schemeClr val="tx1"/>
                </a:solidFill>
                <a:effectLst/>
                <a:latin typeface="+mn-lt"/>
                <a:ea typeface="+mn-ea"/>
                <a:cs typeface="+mn-cs"/>
              </a:rPr>
              <a:t>Hedonic Treadmill</a:t>
            </a:r>
            <a:r>
              <a:rPr lang="en-US" sz="1200" kern="1200" dirty="0">
                <a:solidFill>
                  <a:schemeClr val="tx1"/>
                </a:solidFill>
                <a:effectLst/>
                <a:latin typeface="+mn-lt"/>
                <a:ea typeface="+mn-ea"/>
                <a:cs typeface="+mn-cs"/>
              </a:rPr>
              <a:t> dictates that upgrading your lifestyle yields temporary spikes in happiness that quickly revert to baseline. As your salary increases, allow your lifestyle to upgrade modestly, but ensure the gap between what you earn and what you spend widens consistently.</a:t>
            </a:r>
          </a:p>
          <a:p>
            <a:endParaRPr lang="en-US" dirty="0"/>
          </a:p>
        </p:txBody>
      </p:sp>
      <p:sp>
        <p:nvSpPr>
          <p:cNvPr id="4" name="Slide Number Placeholder 3"/>
          <p:cNvSpPr>
            <a:spLocks noGrp="1"/>
          </p:cNvSpPr>
          <p:nvPr>
            <p:ph type="sldNum" sz="quarter" idx="5"/>
          </p:nvPr>
        </p:nvSpPr>
        <p:spPr/>
        <p:txBody>
          <a:bodyPr/>
          <a:lstStyle/>
          <a:p>
            <a:fld id="{C8F0B3C9-99F7-4BC8-B4B7-D6116C06C3DD}" type="slidenum">
              <a:rPr lang="en-US" smtClean="0"/>
              <a:t>13</a:t>
            </a:fld>
            <a:endParaRPr lang="en-US"/>
          </a:p>
        </p:txBody>
      </p:sp>
    </p:spTree>
    <p:extLst>
      <p:ext uri="{BB962C8B-B14F-4D97-AF65-F5344CB8AC3E}">
        <p14:creationId xmlns:p14="http://schemas.microsoft.com/office/powerpoint/2010/main" val="5609900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Money is one of the leading causes of relationship friction. The common assumption that partners must combine 100% of their finances often leads to resentment. The ideal structure is the </a:t>
            </a:r>
            <a:r>
              <a:rPr lang="en-US" sz="1200" b="1" kern="1200" dirty="0">
                <a:solidFill>
                  <a:schemeClr val="tx1"/>
                </a:solidFill>
                <a:effectLst/>
                <a:latin typeface="+mn-lt"/>
                <a:ea typeface="+mn-ea"/>
                <a:cs typeface="+mn-cs"/>
              </a:rPr>
              <a:t>Team / Me Split</a:t>
            </a:r>
            <a:r>
              <a:rPr lang="en-US" sz="1200" kern="1200" dirty="0">
                <a:solidFill>
                  <a:schemeClr val="tx1"/>
                </a:solidFill>
                <a:effectLst/>
                <a:latin typeface="+mn-lt"/>
                <a:ea typeface="+mn-ea"/>
                <a:cs typeface="+mn-cs"/>
              </a:rPr>
              <a:t>: </a:t>
            </a:r>
          </a:p>
          <a:p>
            <a:pPr marL="228600" indent="-228600">
              <a:buFont typeface="Arial" panose="020B0604020202020204" pitchFamily="34" charset="0"/>
              <a:buChar char="•"/>
            </a:pPr>
            <a:r>
              <a:rPr lang="en-US" sz="1200" b="1" kern="1200" dirty="0">
                <a:solidFill>
                  <a:schemeClr val="tx1"/>
                </a:solidFill>
                <a:effectLst/>
                <a:latin typeface="+mn-lt"/>
                <a:ea typeface="+mn-ea"/>
                <a:cs typeface="+mn-cs"/>
              </a:rPr>
              <a:t>The Team Fund:</a:t>
            </a:r>
            <a:r>
              <a:rPr lang="en-US" sz="1200" kern="1200" dirty="0">
                <a:solidFill>
                  <a:schemeClr val="tx1"/>
                </a:solidFill>
                <a:effectLst/>
                <a:latin typeface="+mn-lt"/>
                <a:ea typeface="+mn-ea"/>
                <a:cs typeface="+mn-cs"/>
              </a:rPr>
              <a:t> A joint account for shared core expenses (housing, utilities, groceries). Contributions should be </a:t>
            </a:r>
            <a:r>
              <a:rPr lang="en-US" sz="1200" b="1" kern="1200" dirty="0">
                <a:solidFill>
                  <a:schemeClr val="tx1"/>
                </a:solidFill>
                <a:effectLst/>
                <a:latin typeface="+mn-lt"/>
                <a:ea typeface="+mn-ea"/>
                <a:cs typeface="+mn-cs"/>
              </a:rPr>
              <a:t>proportional, not 50/50</a:t>
            </a:r>
            <a:r>
              <a:rPr lang="en-US" sz="1200" kern="1200" dirty="0">
                <a:solidFill>
                  <a:schemeClr val="tx1"/>
                </a:solidFill>
                <a:effectLst/>
                <a:latin typeface="+mn-lt"/>
                <a:ea typeface="+mn-ea"/>
                <a:cs typeface="+mn-cs"/>
              </a:rPr>
              <a:t>. If Partner A earns 70% of total household income, they contribute 70% of team expenses. </a:t>
            </a:r>
          </a:p>
          <a:p>
            <a:pPr marL="228600" indent="-228600">
              <a:buFont typeface="Arial" panose="020B0604020202020204" pitchFamily="34" charset="0"/>
              <a:buChar char="•"/>
            </a:pPr>
            <a:r>
              <a:rPr lang="en-US" sz="1200" b="1" kern="1200" dirty="0">
                <a:solidFill>
                  <a:schemeClr val="tx1"/>
                </a:solidFill>
                <a:effectLst/>
                <a:latin typeface="+mn-lt"/>
                <a:ea typeface="+mn-ea"/>
                <a:cs typeface="+mn-cs"/>
              </a:rPr>
              <a:t>The 'Me' Funds:</a:t>
            </a:r>
            <a:r>
              <a:rPr lang="en-US" sz="1200" kern="1200" dirty="0">
                <a:solidFill>
                  <a:schemeClr val="tx1"/>
                </a:solidFill>
                <a:effectLst/>
                <a:latin typeface="+mn-lt"/>
                <a:ea typeface="+mn-ea"/>
                <a:cs typeface="+mn-cs"/>
              </a:rPr>
              <a:t> Separate, private accounts for each individual. This provides complete autonomy. Want to buy a luxury watch or finance a niche hobby? You spend from your 'Me' fund without requiring permission, guilt, or judgment.</a:t>
            </a:r>
          </a:p>
          <a:p>
            <a:endParaRPr lang="en-US" dirty="0"/>
          </a:p>
        </p:txBody>
      </p:sp>
      <p:sp>
        <p:nvSpPr>
          <p:cNvPr id="4" name="Slide Number Placeholder 3"/>
          <p:cNvSpPr>
            <a:spLocks noGrp="1"/>
          </p:cNvSpPr>
          <p:nvPr>
            <p:ph type="sldNum" sz="quarter" idx="5"/>
          </p:nvPr>
        </p:nvSpPr>
        <p:spPr/>
        <p:txBody>
          <a:bodyPr/>
          <a:lstStyle/>
          <a:p>
            <a:fld id="{C8F0B3C9-99F7-4BC8-B4B7-D6116C06C3DD}" type="slidenum">
              <a:rPr lang="en-US" smtClean="0"/>
              <a:t>14</a:t>
            </a:fld>
            <a:endParaRPr lang="en-US"/>
          </a:p>
        </p:txBody>
      </p:sp>
    </p:spTree>
    <p:extLst>
      <p:ext uri="{BB962C8B-B14F-4D97-AF65-F5344CB8AC3E}">
        <p14:creationId xmlns:p14="http://schemas.microsoft.com/office/powerpoint/2010/main" val="17962609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bring the entire framework together in </a:t>
            </a:r>
            <a:r>
              <a:rPr lang="en-US" sz="1200" b="1" kern="1200" dirty="0">
                <a:solidFill>
                  <a:schemeClr val="tx1"/>
                </a:solidFill>
                <a:effectLst/>
                <a:latin typeface="+mn-lt"/>
                <a:ea typeface="+mn-ea"/>
                <a:cs typeface="+mn-cs"/>
              </a:rPr>
              <a:t>The Ultimate Wealth Equation</a:t>
            </a:r>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[(Defensive Stability) + (Automated 65-20-15)] x (Relentless Compounding) = True Freedom</a:t>
            </a:r>
          </a:p>
          <a:p>
            <a:endParaRPr lang="en-US" sz="1200" kern="1200" dirty="0">
              <a:solidFill>
                <a:schemeClr val="tx1"/>
              </a:solidFill>
              <a:effectLst/>
              <a:latin typeface="+mn-lt"/>
              <a:ea typeface="+mn-ea"/>
              <a:cs typeface="+mn-cs"/>
            </a:endParaRPr>
          </a:p>
          <a:p>
            <a:pPr marL="228600" indent="-228600">
              <a:buFont typeface="+mj-lt"/>
              <a:buAutoNum type="arabicPeriod"/>
            </a:pPr>
            <a:r>
              <a:rPr lang="en-US" sz="1200" kern="1200" dirty="0">
                <a:solidFill>
                  <a:schemeClr val="tx1"/>
                </a:solidFill>
                <a:effectLst/>
                <a:latin typeface="+mn-lt"/>
                <a:ea typeface="+mn-ea"/>
                <a:cs typeface="+mn-cs"/>
              </a:rPr>
              <a:t>Build a solid defensive foundation (1-month Peace of Mind + 0% high-interest debt + 6-month buffer). </a:t>
            </a:r>
          </a:p>
          <a:p>
            <a:pPr marL="228600" indent="-228600">
              <a:buFont typeface="+mj-lt"/>
              <a:buAutoNum type="arabicPeriod"/>
            </a:pPr>
            <a:r>
              <a:rPr lang="en-US" sz="1200" kern="1200" dirty="0">
                <a:solidFill>
                  <a:schemeClr val="tx1"/>
                </a:solidFill>
                <a:effectLst/>
                <a:latin typeface="+mn-lt"/>
                <a:ea typeface="+mn-ea"/>
                <a:cs typeface="+mn-cs"/>
              </a:rPr>
              <a:t>Automate your cash flow using the 65-20-15 framework. </a:t>
            </a:r>
          </a:p>
          <a:p>
            <a:pPr marL="228600" indent="-228600">
              <a:buFont typeface="+mj-lt"/>
              <a:buAutoNum type="arabicPeriod"/>
            </a:pPr>
            <a:r>
              <a:rPr lang="en-US" sz="1200" kern="1200" dirty="0">
                <a:solidFill>
                  <a:schemeClr val="tx1"/>
                </a:solidFill>
                <a:effectLst/>
                <a:latin typeface="+mn-lt"/>
                <a:ea typeface="+mn-ea"/>
                <a:cs typeface="+mn-cs"/>
              </a:rPr>
              <a:t>Scale your income offense and allow broad market compounding to run uninterrupted. </a:t>
            </a:r>
          </a:p>
          <a:p>
            <a:pPr marL="0" indent="0">
              <a:buFont typeface="+mj-lt"/>
              <a:buNone/>
            </a:pPr>
            <a:endParaRPr lang="en-US" sz="1200" kern="1200" dirty="0">
              <a:solidFill>
                <a:schemeClr val="tx1"/>
              </a:solidFill>
              <a:effectLst/>
              <a:latin typeface="+mn-lt"/>
              <a:ea typeface="+mn-ea"/>
              <a:cs typeface="+mn-cs"/>
            </a:endParaRPr>
          </a:p>
          <a:p>
            <a:pPr marL="0" indent="0">
              <a:buFont typeface="+mj-lt"/>
              <a:buNone/>
            </a:pPr>
            <a:r>
              <a:rPr lang="en-US" sz="1200" kern="1200" dirty="0">
                <a:solidFill>
                  <a:schemeClr val="tx1"/>
                </a:solidFill>
                <a:effectLst/>
                <a:latin typeface="+mn-lt"/>
                <a:ea typeface="+mn-ea"/>
                <a:cs typeface="+mn-cs"/>
              </a:rPr>
              <a:t>Always remember: Real wealth is not about flaunting luxury cars, status symbols, or titles. True wealth is the freedom to buy back your time, your choices, and your life.</a:t>
            </a:r>
          </a:p>
          <a:p>
            <a:endParaRPr lang="en-US" dirty="0"/>
          </a:p>
        </p:txBody>
      </p:sp>
      <p:sp>
        <p:nvSpPr>
          <p:cNvPr id="4" name="Slide Number Placeholder 3"/>
          <p:cNvSpPr>
            <a:spLocks noGrp="1"/>
          </p:cNvSpPr>
          <p:nvPr>
            <p:ph type="sldNum" sz="quarter" idx="5"/>
          </p:nvPr>
        </p:nvSpPr>
        <p:spPr/>
        <p:txBody>
          <a:bodyPr/>
          <a:lstStyle/>
          <a:p>
            <a:fld id="{C8F0B3C9-99F7-4BC8-B4B7-D6116C06C3DD}" type="slidenum">
              <a:rPr lang="en-US" smtClean="0"/>
              <a:t>15</a:t>
            </a:fld>
            <a:endParaRPr lang="en-US"/>
          </a:p>
        </p:txBody>
      </p:sp>
    </p:spTree>
    <p:extLst>
      <p:ext uri="{BB962C8B-B14F-4D97-AF65-F5344CB8AC3E}">
        <p14:creationId xmlns:p14="http://schemas.microsoft.com/office/powerpoint/2010/main" val="23201813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wrap up, here is your summary action plan: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3-Step Roadmap:</a:t>
            </a:r>
            <a:r>
              <a:rPr lang="en-US" sz="1200" kern="1200" dirty="0">
                <a:solidFill>
                  <a:schemeClr val="tx1"/>
                </a:solidFill>
                <a:effectLst/>
                <a:latin typeface="+mn-lt"/>
                <a:ea typeface="+mn-ea"/>
                <a:cs typeface="+mn-cs"/>
              </a:rPr>
              <a:t> Secure your 1-month Peace of Mind fund. Eliminate all high-interest debt (&gt;8%). Build your 3-to-6 month emergency cushion.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65-20-15 Execution:</a:t>
            </a:r>
            <a:r>
              <a:rPr lang="en-US" sz="1200" kern="1200" dirty="0">
                <a:solidFill>
                  <a:schemeClr val="tx1"/>
                </a:solidFill>
                <a:effectLst/>
                <a:latin typeface="+mn-lt"/>
                <a:ea typeface="+mn-ea"/>
                <a:cs typeface="+mn-cs"/>
              </a:rPr>
              <a:t> Direct 65% to living essentials, 20% to current enjoyments, and 15% straight into long-term compounding assets.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Deployment Vehicles:</a:t>
            </a:r>
            <a:r>
              <a:rPr lang="en-US" sz="1200" kern="1200" dirty="0">
                <a:solidFill>
                  <a:schemeClr val="tx1"/>
                </a:solidFill>
                <a:effectLst/>
                <a:latin typeface="+mn-lt"/>
                <a:ea typeface="+mn-ea"/>
                <a:cs typeface="+mn-cs"/>
              </a:rPr>
              <a:t> Take full advantage of workplace matching, max out tax-shielded accounts like Roth IRAs or ISAs, and rely on diversified, low-cost index funds. </a:t>
            </a:r>
          </a:p>
          <a:p>
            <a:r>
              <a:rPr lang="en-US" sz="1200" kern="1200" dirty="0">
                <a:solidFill>
                  <a:schemeClr val="tx1"/>
                </a:solidFill>
                <a:effectLst/>
                <a:latin typeface="+mn-lt"/>
                <a:ea typeface="+mn-ea"/>
                <a:cs typeface="+mn-cs"/>
              </a:rPr>
              <a:t>Shift your financial life from emotional stress to clear, mathematical systems. Thank you!</a:t>
            </a:r>
          </a:p>
          <a:p>
            <a:endParaRPr lang="en-US" dirty="0"/>
          </a:p>
        </p:txBody>
      </p:sp>
      <p:sp>
        <p:nvSpPr>
          <p:cNvPr id="4" name="Slide Number Placeholder 3"/>
          <p:cNvSpPr>
            <a:spLocks noGrp="1"/>
          </p:cNvSpPr>
          <p:nvPr>
            <p:ph type="sldNum" sz="quarter" idx="5"/>
          </p:nvPr>
        </p:nvSpPr>
        <p:spPr/>
        <p:txBody>
          <a:bodyPr/>
          <a:lstStyle/>
          <a:p>
            <a:fld id="{C8F0B3C9-99F7-4BC8-B4B7-D6116C06C3DD}" type="slidenum">
              <a:rPr lang="en-US" smtClean="0"/>
              <a:t>16</a:t>
            </a:fld>
            <a:endParaRPr lang="en-US"/>
          </a:p>
        </p:txBody>
      </p:sp>
    </p:spTree>
    <p:extLst>
      <p:ext uri="{BB962C8B-B14F-4D97-AF65-F5344CB8AC3E}">
        <p14:creationId xmlns:p14="http://schemas.microsoft.com/office/powerpoint/2010/main" val="33739792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D7C8EC-400F-7D52-0DB8-3C11852EA504}"/>
              </a:ext>
            </a:extLst>
          </p:cNvPr>
          <p:cNvSpPr>
            <a:spLocks noGrp="1"/>
          </p:cNvSpPr>
          <p:nvPr>
            <p:ph type="dt" sz="half" idx="10"/>
          </p:nvPr>
        </p:nvSpPr>
        <p:spPr/>
        <p:txBody>
          <a:bodyPr/>
          <a:lstStyle/>
          <a:p>
            <a:fld id="{F01375BC-A09F-467A-8A55-437B122DBBFC}" type="datetimeFigureOut">
              <a:rPr lang="en-US" smtClean="0"/>
              <a:t>10/19/2026</a:t>
            </a:fld>
            <a:endParaRPr lang="en-US"/>
          </a:p>
        </p:txBody>
      </p:sp>
      <p:sp>
        <p:nvSpPr>
          <p:cNvPr id="3" name="Footer Placeholder 2">
            <a:extLst>
              <a:ext uri="{FF2B5EF4-FFF2-40B4-BE49-F238E27FC236}">
                <a16:creationId xmlns:a16="http://schemas.microsoft.com/office/drawing/2014/main" id="{D47A86D1-7DBA-75CA-8C5C-E2277D32014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86E919-69CC-3BCE-8331-E1AF8F2A9984}"/>
              </a:ext>
            </a:extLst>
          </p:cNvPr>
          <p:cNvSpPr>
            <a:spLocks noGrp="1"/>
          </p:cNvSpPr>
          <p:nvPr>
            <p:ph type="sldNum" sz="quarter" idx="12"/>
          </p:nvPr>
        </p:nvSpPr>
        <p:spPr/>
        <p:txBody>
          <a:bodyPr/>
          <a:lstStyle/>
          <a:p>
            <a:fld id="{E5D38A4E-1C84-439B-99DF-1AA595B665C5}" type="slidenum">
              <a:rPr lang="en-US" smtClean="0"/>
              <a:t>‹#›</a:t>
            </a:fld>
            <a:endParaRPr lang="en-US"/>
          </a:p>
        </p:txBody>
      </p:sp>
    </p:spTree>
    <p:extLst>
      <p:ext uri="{BB962C8B-B14F-4D97-AF65-F5344CB8AC3E}">
        <p14:creationId xmlns:p14="http://schemas.microsoft.com/office/powerpoint/2010/main" val="60472698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CF03C9-69D1-9FC4-7D7F-42ECB2452A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3D66C6-C02C-134C-D5C9-14B1155E87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70174B-4E6A-DE09-5F11-C107E9EBE2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1375BC-A09F-467A-8A55-437B122DBBFC}" type="datetimeFigureOut">
              <a:rPr lang="en-US" smtClean="0"/>
              <a:t>10/19/2026</a:t>
            </a:fld>
            <a:endParaRPr lang="en-US"/>
          </a:p>
        </p:txBody>
      </p:sp>
      <p:sp>
        <p:nvSpPr>
          <p:cNvPr id="5" name="Footer Placeholder 4">
            <a:extLst>
              <a:ext uri="{FF2B5EF4-FFF2-40B4-BE49-F238E27FC236}">
                <a16:creationId xmlns:a16="http://schemas.microsoft.com/office/drawing/2014/main" id="{D0577051-653D-D7F8-FB7E-4EF649B8A2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93906F1-21EF-3036-D4E5-6FA166EFE0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5D38A4E-1C84-439B-99DF-1AA595B665C5}" type="slidenum">
              <a:rPr lang="en-US" smtClean="0"/>
              <a:t>‹#›</a:t>
            </a:fld>
            <a:endParaRPr lang="en-US"/>
          </a:p>
        </p:txBody>
      </p:sp>
    </p:spTree>
    <p:extLst>
      <p:ext uri="{BB962C8B-B14F-4D97-AF65-F5344CB8AC3E}">
        <p14:creationId xmlns:p14="http://schemas.microsoft.com/office/powerpoint/2010/main" val="327672432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8E3F642-EEF3-3703-95EE-FA6269110B8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EF6242-0D0D-B6C4-52F5-AEE0756194F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E4D27B-5A8E-3942-E57F-07B0AA4CDC6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0ABFC-88B8-FFD1-DB14-BA19813B79A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74144D-89CA-53B5-D5F2-B5067ABEDF8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04C9AC-A844-EE88-A5A7-F0E6EDB9469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87DEF6-66A3-A587-6187-17DAF7E57A0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5A8CD7-CA20-E504-6D7C-A0A39BEAA8C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0404A1-2213-A2FD-CA06-65A8B4EA0C6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7B2867-7C2B-D254-0FBD-93D4CDA51BD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0D7A59-7CDD-5091-CB57-D67599968FD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6C75EF-B6B7-FC8D-06A3-3A93F5FE2C0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2519A7-B798-F986-D96B-E3B681A15FA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24B47F-4619-7B86-E95E-76020342F38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8FF71B-B96F-4F8C-C830-1004D97D645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85EAB9-84E6-5394-6766-95F7F8E74D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8075251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2115</Words>
  <Application>Microsoft Office PowerPoint</Application>
  <PresentationFormat>寬螢幕</PresentationFormat>
  <Paragraphs>80</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2026-08-05T00:38:50Z</dcterms:created>
  <dcterms:modified xsi:type="dcterms:W3CDTF">2026-10-19T15:46:03Z</dcterms:modified>
</cp:coreProperties>
</file>