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E1C50-159A-4AE1-9790-DA4E9CE219AA}" v="21" dt="2026-08-30T03:23:08.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6623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30T04:01:10.515" v="30" actId="166"/>
      <pc:docMkLst>
        <pc:docMk/>
      </pc:docMkLst>
      <pc:sldChg chg="addSp delSp modSp mod modAnim modNotes modNotesTx">
        <pc:chgData name="Lai, Wilson" userId="2840974a-0d84-4886-90a9-9a3ed79f3a48" providerId="ADAL" clId="{9F23B798-9E84-4552-BA63-E776E805C424}" dt="2026-08-30T04:01:10.515" v="30" actId="166"/>
        <pc:sldMkLst>
          <pc:docMk/>
          <pc:sldMk cId="0" sldId="257"/>
        </pc:sldMkLst>
        <pc:spChg chg="add mod">
          <ac:chgData name="Lai, Wilson" userId="2840974a-0d84-4886-90a9-9a3ed79f3a48" providerId="ADAL" clId="{9F23B798-9E84-4552-BA63-E776E805C424}" dt="2026-08-28T14:16:17.708" v="10" actId="164"/>
          <ac:spMkLst>
            <pc:docMk/>
            <pc:sldMk cId="0" sldId="257"/>
            <ac:spMk id="5" creationId="{07503354-E05F-9B55-34E1-FEE72C7F38CE}"/>
          </ac:spMkLst>
        </pc:spChg>
        <pc:grpChg chg="add mod">
          <ac:chgData name="Lai, Wilson" userId="2840974a-0d84-4886-90a9-9a3ed79f3a48" providerId="ADAL" clId="{9F23B798-9E84-4552-BA63-E776E805C424}" dt="2026-08-28T14:16:17.708" v="10" actId="164"/>
          <ac:grpSpMkLst>
            <pc:docMk/>
            <pc:sldMk cId="0" sldId="257"/>
            <ac:grpSpMk id="6" creationId="{CAC53D24-576E-CA05-98B4-1F0FAAEA91ED}"/>
          </ac:grpSpMkLst>
        </pc:grpChg>
        <pc:picChg chg="del">
          <ac:chgData name="Lai, Wilson" userId="2840974a-0d84-4886-90a9-9a3ed79f3a48" providerId="ADAL" clId="{9F23B798-9E84-4552-BA63-E776E805C424}" dt="2026-08-29T01:53:23.998" v="11" actId="21"/>
          <ac:picMkLst>
            <pc:docMk/>
            <pc:sldMk cId="0" sldId="257"/>
            <ac:picMk id="2" creationId="{00000000-0000-0000-0000-000000000000}"/>
          </ac:picMkLst>
        </pc:picChg>
        <pc:picChg chg="add mod">
          <ac:chgData name="Lai, Wilson" userId="2840974a-0d84-4886-90a9-9a3ed79f3a48" providerId="ADAL" clId="{9F23B798-9E84-4552-BA63-E776E805C424}" dt="2026-08-28T14:16:17.708" v="10" actId="164"/>
          <ac:picMkLst>
            <pc:docMk/>
            <pc:sldMk cId="0" sldId="257"/>
            <ac:picMk id="3" creationId="{71FD1895-6926-C353-404E-95E6CE271DFA}"/>
          </ac:picMkLst>
        </pc:picChg>
        <pc:picChg chg="add ord">
          <ac:chgData name="Lai, Wilson" userId="2840974a-0d84-4886-90a9-9a3ed79f3a48" providerId="ADAL" clId="{9F23B798-9E84-4552-BA63-E776E805C424}" dt="2026-08-30T04:01:10.515" v="30" actId="166"/>
          <ac:picMkLst>
            <pc:docMk/>
            <pc:sldMk cId="0" sldId="257"/>
            <ac:picMk id="7" creationId="{19A7999F-9C74-72E1-8F53-CE9211319ACC}"/>
          </ac:picMkLst>
        </pc:picChg>
      </pc:sldChg>
      <pc:sldChg chg="modNotes">
        <pc:chgData name="Lai, Wilson" userId="2840974a-0d84-4886-90a9-9a3ed79f3a48" providerId="ADAL" clId="{9F23B798-9E84-4552-BA63-E776E805C424}" dt="2026-08-30T03:23:08.828" v="26"/>
        <pc:sldMkLst>
          <pc:docMk/>
          <pc:sldMk cId="0" sldId="258"/>
        </pc:sldMkLst>
      </pc:sldChg>
      <pc:sldChg chg="modNotes">
        <pc:chgData name="Lai, Wilson" userId="2840974a-0d84-4886-90a9-9a3ed79f3a48" providerId="ADAL" clId="{9F23B798-9E84-4552-BA63-E776E805C424}" dt="2026-08-30T03:23:08.828" v="26"/>
        <pc:sldMkLst>
          <pc:docMk/>
          <pc:sldMk cId="0" sldId="259"/>
        </pc:sldMkLst>
      </pc:sldChg>
      <pc:sldChg chg="modNotes modNotesTx">
        <pc:chgData name="Lai, Wilson" userId="2840974a-0d84-4886-90a9-9a3ed79f3a48" providerId="ADAL" clId="{9F23B798-9E84-4552-BA63-E776E805C424}" dt="2026-08-30T03:23:08.828" v="26"/>
        <pc:sldMkLst>
          <pc:docMk/>
          <pc:sldMk cId="0" sldId="260"/>
        </pc:sldMkLst>
      </pc:sldChg>
      <pc:sldChg chg="modNotes">
        <pc:chgData name="Lai, Wilson" userId="2840974a-0d84-4886-90a9-9a3ed79f3a48" providerId="ADAL" clId="{9F23B798-9E84-4552-BA63-E776E805C424}" dt="2026-08-30T03:23:08.828" v="26"/>
        <pc:sldMkLst>
          <pc:docMk/>
          <pc:sldMk cId="0" sldId="261"/>
        </pc:sldMkLst>
      </pc:sldChg>
      <pc:sldChg chg="modNotes">
        <pc:chgData name="Lai, Wilson" userId="2840974a-0d84-4886-90a9-9a3ed79f3a48" providerId="ADAL" clId="{9F23B798-9E84-4552-BA63-E776E805C424}" dt="2026-08-30T03:23:08.828" v="26"/>
        <pc:sldMkLst>
          <pc:docMk/>
          <pc:sldMk cId="0" sldId="262"/>
        </pc:sldMkLst>
      </pc:sldChg>
      <pc:sldChg chg="modNotes">
        <pc:chgData name="Lai, Wilson" userId="2840974a-0d84-4886-90a9-9a3ed79f3a48" providerId="ADAL" clId="{9F23B798-9E84-4552-BA63-E776E805C424}" dt="2026-08-30T03:23:08.828" v="26"/>
        <pc:sldMkLst>
          <pc:docMk/>
          <pc:sldMk cId="0" sldId="263"/>
        </pc:sldMkLst>
      </pc:sldChg>
      <pc:sldChg chg="modNotes">
        <pc:chgData name="Lai, Wilson" userId="2840974a-0d84-4886-90a9-9a3ed79f3a48" providerId="ADAL" clId="{9F23B798-9E84-4552-BA63-E776E805C424}" dt="2026-08-30T03:23:08.828" v="26"/>
        <pc:sldMkLst>
          <pc:docMk/>
          <pc:sldMk cId="0" sldId="264"/>
        </pc:sldMkLst>
      </pc:sldChg>
      <pc:sldChg chg="modNotes modNotesTx">
        <pc:chgData name="Lai, Wilson" userId="2840974a-0d84-4886-90a9-9a3ed79f3a48" providerId="ADAL" clId="{9F23B798-9E84-4552-BA63-E776E805C424}" dt="2026-08-30T03:23:08.828" v="26"/>
        <pc:sldMkLst>
          <pc:docMk/>
          <pc:sldMk cId="0" sldId="265"/>
        </pc:sldMkLst>
      </pc:sldChg>
      <pc:sldChg chg="modNotes">
        <pc:chgData name="Lai, Wilson" userId="2840974a-0d84-4886-90a9-9a3ed79f3a48" providerId="ADAL" clId="{9F23B798-9E84-4552-BA63-E776E805C424}" dt="2026-08-30T03:23:08.828" v="26"/>
        <pc:sldMkLst>
          <pc:docMk/>
          <pc:sldMk cId="0" sldId="266"/>
        </pc:sldMkLst>
      </pc:sldChg>
      <pc:sldChg chg="modNotes">
        <pc:chgData name="Lai, Wilson" userId="2840974a-0d84-4886-90a9-9a3ed79f3a48" providerId="ADAL" clId="{9F23B798-9E84-4552-BA63-E776E805C424}" dt="2026-08-30T03:23:08.828" v="26"/>
        <pc:sldMkLst>
          <pc:docMk/>
          <pc:sldMk cId="0" sldId="267"/>
        </pc:sldMkLst>
      </pc:sldChg>
      <pc:sldChg chg="modNotes modNotesTx">
        <pc:chgData name="Lai, Wilson" userId="2840974a-0d84-4886-90a9-9a3ed79f3a48" providerId="ADAL" clId="{9F23B798-9E84-4552-BA63-E776E805C424}" dt="2026-08-30T03:23:08.828" v="26"/>
        <pc:sldMkLst>
          <pc:docMk/>
          <pc:sldMk cId="0" sldId="268"/>
        </pc:sldMkLst>
      </pc:sldChg>
      <pc:sldChg chg="modNotes modNotesTx">
        <pc:chgData name="Lai, Wilson" userId="2840974a-0d84-4886-90a9-9a3ed79f3a48" providerId="ADAL" clId="{9F23B798-9E84-4552-BA63-E776E805C424}" dt="2026-08-30T03:23:08.828" v="26"/>
        <pc:sldMkLst>
          <pc:docMk/>
          <pc:sldMk cId="0" sldId="269"/>
        </pc:sldMkLst>
      </pc:sldChg>
      <pc:sldChg chg="modNotes">
        <pc:chgData name="Lai, Wilson" userId="2840974a-0d84-4886-90a9-9a3ed79f3a48" providerId="ADAL" clId="{9F23B798-9E84-4552-BA63-E776E805C424}" dt="2026-08-30T03:23:08.828" v="26"/>
        <pc:sldMkLst>
          <pc:docMk/>
          <pc:sldMk cId="0" sldId="270"/>
        </pc:sldMkLst>
      </pc:sldChg>
      <pc:sldChg chg="modNotes modNotesTx">
        <pc:chgData name="Lai, Wilson" userId="2840974a-0d84-4886-90a9-9a3ed79f3a48" providerId="ADAL" clId="{9F23B798-9E84-4552-BA63-E776E805C424}" dt="2026-08-30T03:23:08.828" v="26"/>
        <pc:sldMkLst>
          <pc:docMk/>
          <pc:sldMk cId="1806153395"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26AF72-873F-4253-9E96-73392E496C92}"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4137D4-9197-452E-B697-1E14DED3D3A9}" type="slidenum">
              <a:rPr lang="en-US" smtClean="0"/>
              <a:t>‹#›</a:t>
            </a:fld>
            <a:endParaRPr lang="en-US"/>
          </a:p>
        </p:txBody>
      </p:sp>
    </p:spTree>
    <p:extLst>
      <p:ext uri="{BB962C8B-B14F-4D97-AF65-F5344CB8AC3E}">
        <p14:creationId xmlns:p14="http://schemas.microsoft.com/office/powerpoint/2010/main" val="298235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Welcome &amp; Frame:</a:t>
            </a:r>
            <a:r>
              <a:rPr lang="en-US" sz="1200" kern="1200" dirty="0">
                <a:solidFill>
                  <a:schemeClr val="tx1"/>
                </a:solidFill>
                <a:effectLst/>
                <a:latin typeface="+mn-lt"/>
                <a:ea typeface="+mn-ea"/>
                <a:cs typeface="+mn-cs"/>
              </a:rPr>
              <a:t> Good morning/afternoon, everyone. Today, we’re discussing a critical topic that affects every single person in this room: navigating the convergence of AI advancement, persistent inflation, and the looming threat of what economists call a 'Lost Decade'. </a:t>
            </a:r>
          </a:p>
          <a:p>
            <a:pPr lvl="0"/>
            <a:r>
              <a:rPr lang="en-US" sz="1200" b="1" kern="1200" dirty="0">
                <a:solidFill>
                  <a:schemeClr val="tx1"/>
                </a:solidFill>
                <a:effectLst/>
                <a:latin typeface="+mn-lt"/>
                <a:ea typeface="+mn-ea"/>
                <a:cs typeface="+mn-cs"/>
              </a:rPr>
              <a:t>Context from the Video:</a:t>
            </a:r>
            <a:r>
              <a:rPr lang="en-US" sz="1200" kern="1200" dirty="0">
                <a:solidFill>
                  <a:schemeClr val="tx1"/>
                </a:solidFill>
                <a:effectLst/>
                <a:latin typeface="+mn-lt"/>
                <a:ea typeface="+mn-ea"/>
                <a:cs typeface="+mn-cs"/>
              </a:rPr>
              <a:t> This presentation synthesizes key financial principles and insights shared by Adam Taggart, host of </a:t>
            </a:r>
            <a:r>
              <a:rPr lang="en-US" sz="1200" i="1" kern="1200" dirty="0">
                <a:solidFill>
                  <a:schemeClr val="tx1"/>
                </a:solidFill>
                <a:effectLst/>
                <a:latin typeface="+mn-lt"/>
                <a:ea typeface="+mn-ea"/>
                <a:cs typeface="+mn-cs"/>
              </a:rPr>
              <a:t>Thoughtful Money</a:t>
            </a:r>
            <a:r>
              <a:rPr lang="en-US" sz="1200" kern="1200" dirty="0">
                <a:solidFill>
                  <a:schemeClr val="tx1"/>
                </a:solidFill>
                <a:effectLst/>
                <a:latin typeface="+mn-lt"/>
                <a:ea typeface="+mn-ea"/>
                <a:cs typeface="+mn-cs"/>
              </a:rPr>
              <a:t>, in his discussion on </a:t>
            </a:r>
            <a:r>
              <a:rPr lang="en-US" sz="1200" i="1" kern="1200" dirty="0">
                <a:solidFill>
                  <a:schemeClr val="tx1"/>
                </a:solidFill>
                <a:effectLst/>
                <a:latin typeface="+mn-lt"/>
                <a:ea typeface="+mn-ea"/>
                <a:cs typeface="+mn-cs"/>
              </a:rPr>
              <a:t>The Rubin Report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Core Problem:</a:t>
            </a:r>
            <a:r>
              <a:rPr lang="en-US" sz="1200" kern="1200" dirty="0">
                <a:solidFill>
                  <a:schemeClr val="tx1"/>
                </a:solidFill>
                <a:effectLst/>
                <a:latin typeface="+mn-lt"/>
                <a:ea typeface="+mn-ea"/>
                <a:cs typeface="+mn-cs"/>
              </a:rPr>
              <a:t> Most people enter the workforce completely unprepared for the real mechanics of capitalism. As Adam notes, even top-tier graduates are rarely taught the practical mechanics of personal financial defense. </a:t>
            </a:r>
          </a:p>
          <a:p>
            <a:pPr lvl="0"/>
            <a:r>
              <a:rPr lang="en-US" sz="1200" b="1" kern="1200" dirty="0">
                <a:solidFill>
                  <a:schemeClr val="tx1"/>
                </a:solidFill>
                <a:effectLst/>
                <a:latin typeface="+mn-lt"/>
                <a:ea typeface="+mn-ea"/>
                <a:cs typeface="+mn-cs"/>
              </a:rPr>
              <a:t>Session Objective:</a:t>
            </a:r>
            <a:r>
              <a:rPr lang="en-US" sz="1200" kern="1200" dirty="0">
                <a:solidFill>
                  <a:schemeClr val="tx1"/>
                </a:solidFill>
                <a:effectLst/>
                <a:latin typeface="+mn-lt"/>
                <a:ea typeface="+mn-ea"/>
                <a:cs typeface="+mn-cs"/>
              </a:rPr>
              <a:t> Over the next 15 slides, we will break down the essential 'financial muscles' you must build to shift from absorbing economic costs to becoming a resilient asset owner. </a:t>
            </a:r>
          </a:p>
          <a:p>
            <a:endParaRPr lang="en-US" dirty="0"/>
          </a:p>
          <a:p>
            <a:endParaRPr lang="en-US" dirty="0"/>
          </a:p>
          <a:p>
            <a:endParaRPr lang="en-US" dirty="0"/>
          </a:p>
          <a:p>
            <a:r>
              <a:rPr lang="en-US" dirty="0"/>
              <a:t>https://www.youtube.com/watch?v=Wr-mi4sxA8U</a:t>
            </a:r>
          </a:p>
        </p:txBody>
      </p:sp>
      <p:sp>
        <p:nvSpPr>
          <p:cNvPr id="4" name="Slide Number Placeholder 3"/>
          <p:cNvSpPr>
            <a:spLocks noGrp="1"/>
          </p:cNvSpPr>
          <p:nvPr>
            <p:ph type="sldNum" sz="quarter" idx="5"/>
          </p:nvPr>
        </p:nvSpPr>
        <p:spPr/>
        <p:txBody>
          <a:bodyPr/>
          <a:lstStyle/>
          <a:p>
            <a:fld id="{6E4137D4-9197-452E-B697-1E14DED3D3A9}" type="slidenum">
              <a:rPr lang="en-US" smtClean="0"/>
              <a:t>1</a:t>
            </a:fld>
            <a:endParaRPr lang="en-US"/>
          </a:p>
        </p:txBody>
      </p:sp>
    </p:spTree>
    <p:extLst>
      <p:ext uri="{BB962C8B-B14F-4D97-AF65-F5344CB8AC3E}">
        <p14:creationId xmlns:p14="http://schemas.microsoft.com/office/powerpoint/2010/main" val="1099746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Structural Failure:</a:t>
            </a:r>
            <a:r>
              <a:rPr lang="en-US" sz="1200" kern="1200" dirty="0">
                <a:solidFill>
                  <a:schemeClr val="tx1"/>
                </a:solidFill>
                <a:effectLst/>
                <a:latin typeface="+mn-lt"/>
                <a:ea typeface="+mn-ea"/>
                <a:cs typeface="+mn-cs"/>
              </a:rPr>
              <a:t> Look at the pipeline on this slide: Students enter the four-year university system, consume theoretical concepts, and are pushed out into the world. </a:t>
            </a:r>
          </a:p>
          <a:p>
            <a:pPr lvl="0"/>
            <a:r>
              <a:rPr lang="en-US" sz="1200" b="1" kern="1200" dirty="0">
                <a:solidFill>
                  <a:schemeClr val="tx1"/>
                </a:solidFill>
                <a:effectLst/>
                <a:latin typeface="+mn-lt"/>
                <a:ea typeface="+mn-ea"/>
                <a:cs typeface="+mn-cs"/>
              </a:rPr>
              <a:t>Adam Taggart’s Personal Insight:</a:t>
            </a:r>
            <a:r>
              <a:rPr lang="en-US" sz="1200" kern="1200" dirty="0">
                <a:solidFill>
                  <a:schemeClr val="tx1"/>
                </a:solidFill>
                <a:effectLst/>
                <a:latin typeface="+mn-lt"/>
                <a:ea typeface="+mn-ea"/>
                <a:cs typeface="+mn-cs"/>
              </a:rPr>
              <a:t> In the interview, Adam shares a striking personal background: he attended an Ivy League undergraduate program at Brown and earned his MBA at Stanford. Yet, throughout his elite education, he was never taught practical money management—how credit cards work, how to navigate mortgages, or how to build an investment framework. </a:t>
            </a:r>
          </a:p>
          <a:p>
            <a:pPr lvl="0"/>
            <a:r>
              <a:rPr lang="en-US" sz="1200" b="1" kern="1200" dirty="0">
                <a:solidFill>
                  <a:schemeClr val="tx1"/>
                </a:solidFill>
                <a:effectLst/>
                <a:latin typeface="+mn-lt"/>
                <a:ea typeface="+mn-ea"/>
                <a:cs typeface="+mn-cs"/>
              </a:rPr>
              <a:t>The Real-World Output:</a:t>
            </a:r>
            <a:r>
              <a:rPr lang="en-US" sz="1200" kern="1200" dirty="0">
                <a:solidFill>
                  <a:schemeClr val="tx1"/>
                </a:solidFill>
                <a:effectLst/>
                <a:latin typeface="+mn-lt"/>
                <a:ea typeface="+mn-ea"/>
                <a:cs typeface="+mn-cs"/>
              </a:rPr>
              <a:t> Instead, young adults graduate and immediately open their mailboxes to pre-approved credit card offers without understanding debt cycles or systemic inflation.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We send people out into the market armed with abstract theory, but leaving them highly vulnerable to predatory credit practices.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2</a:t>
            </a:fld>
            <a:endParaRPr lang="en-US"/>
          </a:p>
        </p:txBody>
      </p:sp>
    </p:spTree>
    <p:extLst>
      <p:ext uri="{BB962C8B-B14F-4D97-AF65-F5344CB8AC3E}">
        <p14:creationId xmlns:p14="http://schemas.microsoft.com/office/powerpoint/2010/main" val="3247021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Economic Mechanism:</a:t>
            </a:r>
            <a:r>
              <a:rPr lang="en-US" sz="1200" kern="1200" dirty="0">
                <a:solidFill>
                  <a:schemeClr val="tx1"/>
                </a:solidFill>
                <a:effectLst/>
                <a:latin typeface="+mn-lt"/>
                <a:ea typeface="+mn-ea"/>
                <a:cs typeface="+mn-cs"/>
              </a:rPr>
              <a:t> To understand wealth inequality, we have to look at monetary policy over the past two decades. When central banks print money, financial asset prices rise—benefiting asset owners (typically the wealthy minority). </a:t>
            </a:r>
          </a:p>
          <a:p>
            <a:pPr lvl="0"/>
            <a:r>
              <a:rPr lang="en-US" sz="1200" b="1" kern="1200" dirty="0">
                <a:solidFill>
                  <a:schemeClr val="tx1"/>
                </a:solidFill>
                <a:effectLst/>
                <a:latin typeface="+mn-lt"/>
                <a:ea typeface="+mn-ea"/>
                <a:cs typeface="+mn-cs"/>
              </a:rPr>
              <a:t>The Non-Asset Owner Trap:</a:t>
            </a:r>
            <a:r>
              <a:rPr lang="en-US" sz="1200" kern="1200" dirty="0">
                <a:solidFill>
                  <a:schemeClr val="tx1"/>
                </a:solidFill>
                <a:effectLst/>
                <a:latin typeface="+mn-lt"/>
                <a:ea typeface="+mn-ea"/>
                <a:cs typeface="+mn-cs"/>
              </a:rPr>
              <a:t> For everyone else—those without assets—monetary expansion simply inflates the cost of living. They suffer the loss of purchasing power without receiving any offsetting asset growth. </a:t>
            </a:r>
          </a:p>
          <a:p>
            <a:pPr lvl="0"/>
            <a:r>
              <a:rPr lang="en-US" sz="1200" b="1" kern="1200" dirty="0">
                <a:solidFill>
                  <a:schemeClr val="tx1"/>
                </a:solidFill>
                <a:effectLst/>
                <a:latin typeface="+mn-lt"/>
                <a:ea typeface="+mn-ea"/>
                <a:cs typeface="+mn-cs"/>
              </a:rPr>
              <a:t>The Capuchin Monkey Experiment:</a:t>
            </a:r>
            <a:r>
              <a:rPr lang="en-US" sz="1200" kern="1200" dirty="0">
                <a:solidFill>
                  <a:schemeClr val="tx1"/>
                </a:solidFill>
                <a:effectLst/>
                <a:latin typeface="+mn-lt"/>
                <a:ea typeface="+mn-ea"/>
                <a:cs typeface="+mn-cs"/>
              </a:rPr>
              <a:t> Adam highlighted a famous experiment in behavioral economics: Two capuchin monkeys are perfectly happy earning cucumbers for pushing a lever. But when one monkey starts receiving grapes (a higher value reward), the second monkey throws a rage fit and hurls its cucumber back at the researcher. </a:t>
            </a:r>
          </a:p>
          <a:p>
            <a:pPr lvl="0"/>
            <a:r>
              <a:rPr lang="en-US" sz="1200" b="1" kern="1200" dirty="0">
                <a:solidFill>
                  <a:schemeClr val="tx1"/>
                </a:solidFill>
                <a:effectLst/>
                <a:latin typeface="+mn-lt"/>
                <a:ea typeface="+mn-ea"/>
                <a:cs typeface="+mn-cs"/>
              </a:rPr>
              <a:t>Behavioral Reality:</a:t>
            </a:r>
            <a:r>
              <a:rPr lang="en-US" sz="1200" kern="1200" dirty="0">
                <a:solidFill>
                  <a:schemeClr val="tx1"/>
                </a:solidFill>
                <a:effectLst/>
                <a:latin typeface="+mn-lt"/>
                <a:ea typeface="+mn-ea"/>
                <a:cs typeface="+mn-cs"/>
              </a:rPr>
              <a:t> Humans are hardwired for fairness. When the wealth gap widens due to systemic </a:t>
            </a:r>
            <a:r>
              <a:rPr lang="en-US" sz="1200" kern="1200" dirty="0" err="1">
                <a:solidFill>
                  <a:schemeClr val="tx1"/>
                </a:solidFill>
                <a:effectLst/>
                <a:latin typeface="+mn-lt"/>
                <a:ea typeface="+mn-ea"/>
                <a:cs typeface="+mn-cs"/>
              </a:rPr>
              <a:t>cantillon</a:t>
            </a:r>
            <a:r>
              <a:rPr lang="en-US" sz="1200" kern="1200" dirty="0">
                <a:solidFill>
                  <a:schemeClr val="tx1"/>
                </a:solidFill>
                <a:effectLst/>
                <a:latin typeface="+mn-lt"/>
                <a:ea typeface="+mn-ea"/>
                <a:cs typeface="+mn-cs"/>
              </a:rPr>
              <a:t> effects, society reacts with rage and anti-capitalist sentiment. </a:t>
            </a:r>
          </a:p>
          <a:p>
            <a:pPr lvl="0"/>
            <a:r>
              <a:rPr lang="en-US" sz="1200" b="1" kern="1200" dirty="0">
                <a:solidFill>
                  <a:schemeClr val="tx1"/>
                </a:solidFill>
                <a:effectLst/>
                <a:latin typeface="+mn-lt"/>
                <a:ea typeface="+mn-ea"/>
                <a:cs typeface="+mn-cs"/>
              </a:rPr>
              <a:t>Call to Action:</a:t>
            </a:r>
            <a:r>
              <a:rPr lang="en-US" sz="1200" kern="1200" dirty="0">
                <a:solidFill>
                  <a:schemeClr val="tx1"/>
                </a:solidFill>
                <a:effectLst/>
                <a:latin typeface="+mn-lt"/>
                <a:ea typeface="+mn-ea"/>
                <a:cs typeface="+mn-cs"/>
              </a:rPr>
              <a:t> The solution is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throwing away free markets; the solution is learning their mechanics to transition from cost-absorber to asset-owner.</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3</a:t>
            </a:fld>
            <a:endParaRPr lang="en-US"/>
          </a:p>
        </p:txBody>
      </p:sp>
    </p:spTree>
    <p:extLst>
      <p:ext uri="{BB962C8B-B14F-4D97-AF65-F5344CB8AC3E}">
        <p14:creationId xmlns:p14="http://schemas.microsoft.com/office/powerpoint/2010/main" val="1712231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Sequential Framework:</a:t>
            </a:r>
            <a:r>
              <a:rPr lang="en-US" sz="1200" kern="1200" dirty="0">
                <a:solidFill>
                  <a:schemeClr val="tx1"/>
                </a:solidFill>
                <a:effectLst/>
                <a:latin typeface="+mn-lt"/>
                <a:ea typeface="+mn-ea"/>
                <a:cs typeface="+mn-cs"/>
              </a:rPr>
              <a:t> Financial independence isn't about jumping straight to stock picking. It relies on three sequential muscles: </a:t>
            </a:r>
          </a:p>
          <a:p>
            <a:pPr marL="228600" lvl="0" indent="-228600">
              <a:buFont typeface="+mj-lt"/>
              <a:buAutoNum type="arabicPeriod"/>
            </a:pPr>
            <a:r>
              <a:rPr lang="en-US" sz="1200" b="1" kern="1200" dirty="0">
                <a:solidFill>
                  <a:schemeClr val="tx1"/>
                </a:solidFill>
                <a:effectLst/>
                <a:latin typeface="+mn-lt"/>
                <a:ea typeface="+mn-ea"/>
                <a:cs typeface="+mn-cs"/>
              </a:rPr>
              <a:t>Earning (The Intake):</a:t>
            </a:r>
            <a:r>
              <a:rPr lang="en-US" sz="1200" kern="1200" dirty="0">
                <a:solidFill>
                  <a:schemeClr val="tx1"/>
                </a:solidFill>
                <a:effectLst/>
                <a:latin typeface="+mn-lt"/>
                <a:ea typeface="+mn-ea"/>
                <a:cs typeface="+mn-cs"/>
              </a:rPr>
              <a:t> Creating value through skills or entrepreneurship that the market willingly pays for. </a:t>
            </a:r>
          </a:p>
          <a:p>
            <a:pPr marL="228600" lvl="0" indent="-228600">
              <a:buFont typeface="+mj-lt"/>
              <a:buAutoNum type="arabicPeriod"/>
            </a:pPr>
            <a:r>
              <a:rPr lang="en-US" sz="1200" b="1" kern="1200" dirty="0">
                <a:solidFill>
                  <a:schemeClr val="tx1"/>
                </a:solidFill>
                <a:effectLst/>
                <a:latin typeface="+mn-lt"/>
                <a:ea typeface="+mn-ea"/>
                <a:cs typeface="+mn-cs"/>
              </a:rPr>
              <a:t>Saving (The Containment):</a:t>
            </a:r>
            <a:r>
              <a:rPr lang="en-US" sz="1200" kern="1200" dirty="0">
                <a:solidFill>
                  <a:schemeClr val="tx1"/>
                </a:solidFill>
                <a:effectLst/>
                <a:latin typeface="+mn-lt"/>
                <a:ea typeface="+mn-ea"/>
                <a:cs typeface="+mn-cs"/>
              </a:rPr>
              <a:t> Controlling lifestyle creep to capture and retain incoming cash flow. </a:t>
            </a:r>
          </a:p>
          <a:p>
            <a:pPr marL="228600" lvl="0" indent="-228600">
              <a:buFont typeface="+mj-lt"/>
              <a:buAutoNum type="arabicPeriod"/>
            </a:pPr>
            <a:r>
              <a:rPr lang="en-US" sz="1200" b="1" kern="1200" dirty="0">
                <a:solidFill>
                  <a:schemeClr val="tx1"/>
                </a:solidFill>
                <a:effectLst/>
                <a:latin typeface="+mn-lt"/>
                <a:ea typeface="+mn-ea"/>
                <a:cs typeface="+mn-cs"/>
              </a:rPr>
              <a:t>Investing (The Multiplier):</a:t>
            </a:r>
            <a:r>
              <a:rPr lang="en-US" sz="1200" kern="1200" dirty="0">
                <a:solidFill>
                  <a:schemeClr val="tx1"/>
                </a:solidFill>
                <a:effectLst/>
                <a:latin typeface="+mn-lt"/>
                <a:ea typeface="+mn-ea"/>
                <a:cs typeface="+mn-cs"/>
              </a:rPr>
              <a:t> Allocating capital so it compounds and removes you as the sole bottleneck for wealth creation. </a:t>
            </a:r>
          </a:p>
          <a:p>
            <a:pPr lvl="0"/>
            <a:r>
              <a:rPr lang="en-US" sz="1200" b="1" kern="1200" dirty="0">
                <a:solidFill>
                  <a:schemeClr val="tx1"/>
                </a:solidFill>
                <a:effectLst/>
                <a:latin typeface="+mn-lt"/>
                <a:ea typeface="+mn-ea"/>
                <a:cs typeface="+mn-cs"/>
              </a:rPr>
              <a:t>Why Sequence Matters:</a:t>
            </a:r>
            <a:r>
              <a:rPr lang="en-US" sz="1200" kern="1200" dirty="0">
                <a:solidFill>
                  <a:schemeClr val="tx1"/>
                </a:solidFill>
                <a:effectLst/>
                <a:latin typeface="+mn-lt"/>
                <a:ea typeface="+mn-ea"/>
                <a:cs typeface="+mn-cs"/>
              </a:rPr>
              <a:t> You cannot build muscle #3 without mastering muscles #1 and #2 first. If your containment (saving) leaks, no amount of earning will make you wealthy.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4</a:t>
            </a:fld>
            <a:endParaRPr lang="en-US"/>
          </a:p>
        </p:txBody>
      </p:sp>
    </p:spTree>
    <p:extLst>
      <p:ext uri="{BB962C8B-B14F-4D97-AF65-F5344CB8AC3E}">
        <p14:creationId xmlns:p14="http://schemas.microsoft.com/office/powerpoint/2010/main" val="2229195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Cognitive Limitation:</a:t>
            </a:r>
            <a:r>
              <a:rPr lang="en-US" sz="1200" kern="1200" dirty="0">
                <a:solidFill>
                  <a:schemeClr val="tx1"/>
                </a:solidFill>
                <a:effectLst/>
                <a:latin typeface="+mn-lt"/>
                <a:ea typeface="+mn-ea"/>
                <a:cs typeface="+mn-cs"/>
              </a:rPr>
              <a:t> Human brains are wired to think linearly, but compounding operates exponentially. </a:t>
            </a:r>
          </a:p>
          <a:p>
            <a:pPr lvl="0"/>
            <a:r>
              <a:rPr lang="en-US" sz="1200" b="1" kern="1200" dirty="0">
                <a:solidFill>
                  <a:schemeClr val="tx1"/>
                </a:solidFill>
                <a:effectLst/>
                <a:latin typeface="+mn-lt"/>
                <a:ea typeface="+mn-ea"/>
                <a:cs typeface="+mn-cs"/>
              </a:rPr>
              <a:t>Positive Compounding:</a:t>
            </a:r>
            <a:r>
              <a:rPr lang="en-US" sz="1200" kern="1200" dirty="0">
                <a:solidFill>
                  <a:schemeClr val="tx1"/>
                </a:solidFill>
                <a:effectLst/>
                <a:latin typeface="+mn-lt"/>
                <a:ea typeface="+mn-ea"/>
                <a:cs typeface="+mn-cs"/>
              </a:rPr>
              <a:t> During the video interview, Adam pulled up a live spreadsheet calculation: If an 18-year-old invests $5,000 per year at an average 8% return, they will hold over $1,000,000 in their 40s/50s. Time is the greatest component in this formula. </a:t>
            </a:r>
          </a:p>
          <a:p>
            <a:pPr lvl="0"/>
            <a:r>
              <a:rPr lang="en-US" sz="1200" b="1" kern="1200" dirty="0">
                <a:solidFill>
                  <a:schemeClr val="tx1"/>
                </a:solidFill>
                <a:effectLst/>
                <a:latin typeface="+mn-lt"/>
                <a:ea typeface="+mn-ea"/>
                <a:cs typeface="+mn-cs"/>
              </a:rPr>
              <a:t>Negative Compounding:</a:t>
            </a:r>
            <a:r>
              <a:rPr lang="en-US" sz="1200" kern="1200" dirty="0">
                <a:solidFill>
                  <a:schemeClr val="tx1"/>
                </a:solidFill>
                <a:effectLst/>
                <a:latin typeface="+mn-lt"/>
                <a:ea typeface="+mn-ea"/>
                <a:cs typeface="+mn-cs"/>
              </a:rPr>
              <a:t> Conversely, high-interest debt compounds against you with the exact same exponential power. That late-night $20 pizza bought on a 20% APR credit card in college can end up costing hundreds of dollars over time if left unpaid.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5</a:t>
            </a:fld>
            <a:endParaRPr lang="en-US"/>
          </a:p>
        </p:txBody>
      </p:sp>
    </p:spTree>
    <p:extLst>
      <p:ext uri="{BB962C8B-B14F-4D97-AF65-F5344CB8AC3E}">
        <p14:creationId xmlns:p14="http://schemas.microsoft.com/office/powerpoint/2010/main" val="512195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Evaluating Debt:</a:t>
            </a:r>
            <a:r>
              <a:rPr lang="en-US" sz="1200" kern="1200" dirty="0">
                <a:solidFill>
                  <a:schemeClr val="tx1"/>
                </a:solidFill>
                <a:effectLst/>
                <a:latin typeface="+mn-lt"/>
                <a:ea typeface="+mn-ea"/>
                <a:cs typeface="+mn-cs"/>
              </a:rPr>
              <a:t> Debt is a tool that cuts both ways. The key is running every liability through a diagnostic framework: </a:t>
            </a:r>
          </a:p>
          <a:p>
            <a:pPr lvl="0"/>
            <a:r>
              <a:rPr lang="en-US" sz="1200" b="1" kern="1200" dirty="0">
                <a:solidFill>
                  <a:schemeClr val="tx1"/>
                </a:solidFill>
                <a:effectLst/>
                <a:latin typeface="+mn-lt"/>
                <a:ea typeface="+mn-ea"/>
                <a:cs typeface="+mn-cs"/>
              </a:rPr>
              <a:t>Productive Debt:</a:t>
            </a:r>
            <a:r>
              <a:rPr lang="en-US" sz="1200" kern="1200" dirty="0">
                <a:solidFill>
                  <a:schemeClr val="tx1"/>
                </a:solidFill>
                <a:effectLst/>
                <a:latin typeface="+mn-lt"/>
                <a:ea typeface="+mn-ea"/>
                <a:cs typeface="+mn-cs"/>
              </a:rPr>
              <a:t> Funds an asset or income generator. Examples include specialized educational degrees with high ROI or capital expenditures for business expansion. Productive debt pays off its own principal and leaves you with yielding assets. </a:t>
            </a:r>
          </a:p>
          <a:p>
            <a:pPr lvl="0"/>
            <a:r>
              <a:rPr lang="en-US" sz="1200" b="1" kern="1200" dirty="0">
                <a:solidFill>
                  <a:schemeClr val="tx1"/>
                </a:solidFill>
                <a:effectLst/>
                <a:latin typeface="+mn-lt"/>
                <a:ea typeface="+mn-ea"/>
                <a:cs typeface="+mn-cs"/>
              </a:rPr>
              <a:t>Unproductive Debt:</a:t>
            </a:r>
            <a:r>
              <a:rPr lang="en-US" sz="1200" kern="1200" dirty="0">
                <a:solidFill>
                  <a:schemeClr val="tx1"/>
                </a:solidFill>
                <a:effectLst/>
                <a:latin typeface="+mn-lt"/>
                <a:ea typeface="+mn-ea"/>
                <a:cs typeface="+mn-cs"/>
              </a:rPr>
              <a:t> Funds short-term consumption (dining out, vacations, consumer goods). It creates an enduring financial drag with zero long-term yield. </a:t>
            </a:r>
          </a:p>
          <a:p>
            <a:pPr lvl="0"/>
            <a:r>
              <a:rPr lang="en-US" sz="1200" b="1" kern="1200" dirty="0">
                <a:solidFill>
                  <a:schemeClr val="tx1"/>
                </a:solidFill>
                <a:effectLst/>
                <a:latin typeface="+mn-lt"/>
                <a:ea typeface="+mn-ea"/>
                <a:cs typeface="+mn-cs"/>
              </a:rPr>
              <a:t>The Fundamental Rule:</a:t>
            </a:r>
            <a:r>
              <a:rPr lang="en-US" sz="1200" kern="1200" dirty="0">
                <a:solidFill>
                  <a:schemeClr val="tx1"/>
                </a:solidFill>
                <a:effectLst/>
                <a:latin typeface="+mn-lt"/>
                <a:ea typeface="+mn-ea"/>
                <a:cs typeface="+mn-cs"/>
              </a:rPr>
              <a:t> Never use long-term, high-interest liabilities to fund short-term experiences.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6</a:t>
            </a:fld>
            <a:endParaRPr lang="en-US"/>
          </a:p>
        </p:txBody>
      </p:sp>
    </p:spTree>
    <p:extLst>
      <p:ext uri="{BB962C8B-B14F-4D97-AF65-F5344CB8AC3E}">
        <p14:creationId xmlns:p14="http://schemas.microsoft.com/office/powerpoint/2010/main" val="337424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Myth of 'Safe' Cash:</a:t>
            </a:r>
            <a:r>
              <a:rPr lang="en-US" sz="1200" kern="1200" dirty="0">
                <a:solidFill>
                  <a:schemeClr val="tx1"/>
                </a:solidFill>
                <a:effectLst/>
                <a:latin typeface="+mn-lt"/>
                <a:ea typeface="+mn-ea"/>
                <a:cs typeface="+mn-cs"/>
              </a:rPr>
              <a:t> Holding excess cash in traditional savings accounts isn't safe—it is a guaranteed real-value loss due to inflation. </a:t>
            </a:r>
          </a:p>
          <a:p>
            <a:pPr lvl="0"/>
            <a:r>
              <a:rPr lang="en-US" sz="1200" b="1" kern="1200" dirty="0">
                <a:solidFill>
                  <a:schemeClr val="tx1"/>
                </a:solidFill>
                <a:effectLst/>
                <a:latin typeface="+mn-lt"/>
                <a:ea typeface="+mn-ea"/>
                <a:cs typeface="+mn-cs"/>
              </a:rPr>
              <a:t>CPI vs. Reality:</a:t>
            </a:r>
            <a:r>
              <a:rPr lang="en-US" sz="1200" kern="1200" dirty="0">
                <a:solidFill>
                  <a:schemeClr val="tx1"/>
                </a:solidFill>
                <a:effectLst/>
                <a:latin typeface="+mn-lt"/>
                <a:ea typeface="+mn-ea"/>
                <a:cs typeface="+mn-cs"/>
              </a:rPr>
              <a:t> While official government inflation statistics (CPI) report figures around 3%, real-world costs—housing, healthcare, education, quality food—frequently inflate at 5% to 7% annually. </a:t>
            </a:r>
          </a:p>
          <a:p>
            <a:pPr lvl="0"/>
            <a:r>
              <a:rPr lang="en-US" sz="1200" b="1" kern="1200" dirty="0">
                <a:solidFill>
                  <a:schemeClr val="tx1"/>
                </a:solidFill>
                <a:effectLst/>
                <a:latin typeface="+mn-lt"/>
                <a:ea typeface="+mn-ea"/>
                <a:cs typeface="+mn-cs"/>
              </a:rPr>
              <a:t>Re-defining Investment Goals:</a:t>
            </a:r>
            <a:r>
              <a:rPr lang="en-US" sz="1200" kern="1200" dirty="0">
                <a:solidFill>
                  <a:schemeClr val="tx1"/>
                </a:solidFill>
                <a:effectLst/>
                <a:latin typeface="+mn-lt"/>
                <a:ea typeface="+mn-ea"/>
                <a:cs typeface="+mn-cs"/>
              </a:rPr>
              <a:t> As Adam emphasizes, the primary goal of investing isn't get-rich-quick speculation; it is defending your hard-earned capital so it stays ahead of real inflation and maintains purchasing power.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7</a:t>
            </a:fld>
            <a:endParaRPr lang="en-US"/>
          </a:p>
        </p:txBody>
      </p:sp>
    </p:spTree>
    <p:extLst>
      <p:ext uri="{BB962C8B-B14F-4D97-AF65-F5344CB8AC3E}">
        <p14:creationId xmlns:p14="http://schemas.microsoft.com/office/powerpoint/2010/main" val="3991134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Incentive Alignment:</a:t>
            </a:r>
            <a:r>
              <a:rPr lang="en-US" sz="1200" kern="1200" dirty="0">
                <a:solidFill>
                  <a:schemeClr val="tx1"/>
                </a:solidFill>
                <a:effectLst/>
                <a:latin typeface="+mn-lt"/>
                <a:ea typeface="+mn-ea"/>
                <a:cs typeface="+mn-cs"/>
              </a:rPr>
              <a:t> Why are companies rushing into AI and robotics? Because human workers are expensive, complex, require benefits, healthcare, and rest. </a:t>
            </a:r>
          </a:p>
          <a:p>
            <a:pPr lvl="0"/>
            <a:r>
              <a:rPr lang="en-US" sz="1200" b="1" kern="1200" dirty="0">
                <a:solidFill>
                  <a:schemeClr val="tx1"/>
                </a:solidFill>
                <a:effectLst/>
                <a:latin typeface="+mn-lt"/>
                <a:ea typeface="+mn-ea"/>
                <a:cs typeface="+mn-cs"/>
              </a:rPr>
              <a:t>Keynesian Principle:</a:t>
            </a:r>
            <a:r>
              <a:rPr lang="en-US" sz="1200" kern="1200" dirty="0">
                <a:solidFill>
                  <a:schemeClr val="tx1"/>
                </a:solidFill>
                <a:effectLst/>
                <a:latin typeface="+mn-lt"/>
                <a:ea typeface="+mn-ea"/>
                <a:cs typeface="+mn-cs"/>
              </a:rPr>
              <a:t> Economist John Maynard Keynes introduced the concept of </a:t>
            </a:r>
            <a:r>
              <a:rPr lang="en-US" sz="1200" i="1" kern="1200" dirty="0">
                <a:solidFill>
                  <a:schemeClr val="tx1"/>
                </a:solidFill>
                <a:effectLst/>
                <a:latin typeface="+mn-lt"/>
                <a:ea typeface="+mn-ea"/>
                <a:cs typeface="+mn-cs"/>
              </a:rPr>
              <a:t>technological displacement</a:t>
            </a:r>
            <a:r>
              <a:rPr lang="en-US" sz="1200" kern="1200" dirty="0">
                <a:solidFill>
                  <a:schemeClr val="tx1"/>
                </a:solidFill>
                <a:effectLst/>
                <a:latin typeface="+mn-lt"/>
                <a:ea typeface="+mn-ea"/>
                <a:cs typeface="+mn-cs"/>
              </a:rPr>
              <a:t>: replacing human labor with superior, cheaper technology makes microeconomic sense. </a:t>
            </a:r>
          </a:p>
          <a:p>
            <a:pPr lvl="0"/>
            <a:r>
              <a:rPr lang="en-US" sz="1200" b="1" kern="1200" dirty="0">
                <a:solidFill>
                  <a:schemeClr val="tx1"/>
                </a:solidFill>
                <a:effectLst/>
                <a:latin typeface="+mn-lt"/>
                <a:ea typeface="+mn-ea"/>
                <a:cs typeface="+mn-cs"/>
              </a:rPr>
              <a:t>The Macro Threat:</a:t>
            </a:r>
            <a:r>
              <a:rPr lang="en-US" sz="1200" kern="1200" dirty="0">
                <a:solidFill>
                  <a:schemeClr val="tx1"/>
                </a:solidFill>
                <a:effectLst/>
                <a:latin typeface="+mn-lt"/>
                <a:ea typeface="+mn-ea"/>
                <a:cs typeface="+mn-cs"/>
              </a:rPr>
              <a:t> Keynes warned that the danger is the </a:t>
            </a:r>
            <a:r>
              <a:rPr lang="en-US" sz="1200" b="1" kern="1200" dirty="0">
                <a:solidFill>
                  <a:schemeClr val="tx1"/>
                </a:solidFill>
                <a:effectLst/>
                <a:latin typeface="+mn-lt"/>
                <a:ea typeface="+mn-ea"/>
                <a:cs typeface="+mn-cs"/>
              </a:rPr>
              <a:t>pace</a:t>
            </a:r>
            <a:r>
              <a:rPr lang="en-US" sz="1200" kern="1200" dirty="0">
                <a:solidFill>
                  <a:schemeClr val="tx1"/>
                </a:solidFill>
                <a:effectLst/>
                <a:latin typeface="+mn-lt"/>
                <a:ea typeface="+mn-ea"/>
                <a:cs typeface="+mn-cs"/>
              </a:rPr>
              <a:t> of displacement. If AI and automation displace tens of millions of service and knowledge workers faster than society can retrain them for new roles, it creates widespread structural unemployment and social friction.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8</a:t>
            </a:fld>
            <a:endParaRPr lang="en-US"/>
          </a:p>
        </p:txBody>
      </p:sp>
    </p:spTree>
    <p:extLst>
      <p:ext uri="{BB962C8B-B14F-4D97-AF65-F5344CB8AC3E}">
        <p14:creationId xmlns:p14="http://schemas.microsoft.com/office/powerpoint/2010/main" val="4010611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Proposed Solution:</a:t>
            </a:r>
            <a:r>
              <a:rPr lang="en-US" sz="1200" kern="1200" dirty="0">
                <a:solidFill>
                  <a:schemeClr val="tx1"/>
                </a:solidFill>
                <a:effectLst/>
                <a:latin typeface="+mn-lt"/>
                <a:ea typeface="+mn-ea"/>
                <a:cs typeface="+mn-cs"/>
              </a:rPr>
              <a:t> When mass job displacement occurs, politicians often propose Universal Basic Income (UBI). </a:t>
            </a:r>
          </a:p>
          <a:p>
            <a:pPr lvl="0"/>
            <a:r>
              <a:rPr lang="en-US" sz="1200" b="1" kern="1200" dirty="0">
                <a:solidFill>
                  <a:schemeClr val="tx1"/>
                </a:solidFill>
                <a:effectLst/>
                <a:latin typeface="+mn-lt"/>
                <a:ea typeface="+mn-ea"/>
                <a:cs typeface="+mn-cs"/>
              </a:rPr>
              <a:t>The Economic Doom Loop:</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Millions receive UBI checks without producing corresponding goods or services. </a:t>
            </a:r>
          </a:p>
          <a:p>
            <a:pPr marL="228600" lvl="0" indent="-228600">
              <a:buFont typeface="+mj-lt"/>
              <a:buAutoNum type="arabicPeriod"/>
            </a:pPr>
            <a:r>
              <a:rPr lang="en-US" sz="1200" kern="1200" dirty="0">
                <a:solidFill>
                  <a:schemeClr val="tx1"/>
                </a:solidFill>
                <a:effectLst/>
                <a:latin typeface="+mn-lt"/>
                <a:ea typeface="+mn-ea"/>
                <a:cs typeface="+mn-cs"/>
              </a:rPr>
              <a:t>Aggregate demand remains constant or surges, but actual production lags. </a:t>
            </a:r>
          </a:p>
          <a:p>
            <a:pPr marL="228600" lvl="0" indent="-228600">
              <a:buFont typeface="+mj-lt"/>
              <a:buAutoNum type="arabicPeriod"/>
            </a:pPr>
            <a:r>
              <a:rPr lang="en-US" sz="1200" kern="1200" dirty="0">
                <a:solidFill>
                  <a:schemeClr val="tx1"/>
                </a:solidFill>
                <a:effectLst/>
                <a:latin typeface="+mn-lt"/>
                <a:ea typeface="+mn-ea"/>
                <a:cs typeface="+mn-cs"/>
              </a:rPr>
              <a:t>Immediate price inflation offsets the purchasing power of the checks. </a:t>
            </a:r>
          </a:p>
          <a:p>
            <a:pPr marL="228600" lvl="0" indent="-228600">
              <a:buFont typeface="+mj-lt"/>
              <a:buAutoNum type="arabicPeriod"/>
            </a:pPr>
            <a:r>
              <a:rPr lang="en-US" sz="1200" kern="1200" dirty="0">
                <a:solidFill>
                  <a:schemeClr val="tx1"/>
                </a:solidFill>
                <a:effectLst/>
                <a:latin typeface="+mn-lt"/>
                <a:ea typeface="+mn-ea"/>
                <a:cs typeface="+mn-cs"/>
              </a:rPr>
              <a:t>Citizens require larger UBI checks, continuing the cycle.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Paying populations to remain idle increases debt and inflation while eroding long-term productivity.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9</a:t>
            </a:fld>
            <a:endParaRPr lang="en-US"/>
          </a:p>
        </p:txBody>
      </p:sp>
    </p:spTree>
    <p:extLst>
      <p:ext uri="{BB962C8B-B14F-4D97-AF65-F5344CB8AC3E}">
        <p14:creationId xmlns:p14="http://schemas.microsoft.com/office/powerpoint/2010/main" val="1118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a:t>
            </a:r>
            <a:r>
              <a:rPr lang="en-US" sz="1200" kern="1200" dirty="0">
                <a:solidFill>
                  <a:schemeClr val="tx1"/>
                </a:solidFill>
                <a:effectLst/>
                <a:latin typeface="+mn-lt"/>
                <a:ea typeface="+mn-ea"/>
                <a:cs typeface="+mn-cs"/>
              </a:rPr>
              <a:t> Following 15 years of exceptional, central-bank-fueled equity returns, historical valuation models point toward a potential 'Lost Decade'. </a:t>
            </a:r>
          </a:p>
          <a:p>
            <a:pPr lvl="0"/>
            <a:r>
              <a:rPr lang="en-US" sz="1200" b="1" kern="1200" dirty="0">
                <a:solidFill>
                  <a:schemeClr val="tx1"/>
                </a:solidFill>
                <a:effectLst/>
                <a:latin typeface="+mn-lt"/>
                <a:ea typeface="+mn-ea"/>
                <a:cs typeface="+mn-cs"/>
              </a:rPr>
              <a:t>What is a Lost Decade?</a:t>
            </a:r>
            <a:r>
              <a:rPr lang="en-US" sz="1200" kern="1200" dirty="0">
                <a:solidFill>
                  <a:schemeClr val="tx1"/>
                </a:solidFill>
                <a:effectLst/>
                <a:latin typeface="+mn-lt"/>
                <a:ea typeface="+mn-ea"/>
                <a:cs typeface="+mn-cs"/>
              </a:rPr>
              <a:t> A Lost Decade does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mean markets move in a straight line. It means severe 30–40% drawdowns followed by sharp rallies, resulting in zero net return over a ten-year horizon. </a:t>
            </a:r>
          </a:p>
          <a:p>
            <a:pPr lvl="0"/>
            <a:r>
              <a:rPr lang="en-US" sz="1200" b="1" kern="1200" dirty="0">
                <a:solidFill>
                  <a:schemeClr val="tx1"/>
                </a:solidFill>
                <a:effectLst/>
                <a:latin typeface="+mn-lt"/>
                <a:ea typeface="+mn-ea"/>
                <a:cs typeface="+mn-cs"/>
              </a:rPr>
              <a:t>Psychological Ruin:</a:t>
            </a:r>
            <a:r>
              <a:rPr lang="en-US" sz="1200" kern="1200" dirty="0">
                <a:solidFill>
                  <a:schemeClr val="tx1"/>
                </a:solidFill>
                <a:effectLst/>
                <a:latin typeface="+mn-lt"/>
                <a:ea typeface="+mn-ea"/>
                <a:cs typeface="+mn-cs"/>
              </a:rPr>
              <a:t> Extreme volatility causes retail investors to panic and sell at the bottom, sit in cash during recoveries, and re-enter at peak valuations. Navigating this requires capital preservation strategies.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10</a:t>
            </a:fld>
            <a:endParaRPr lang="en-US"/>
          </a:p>
        </p:txBody>
      </p:sp>
    </p:spTree>
    <p:extLst>
      <p:ext uri="{BB962C8B-B14F-4D97-AF65-F5344CB8AC3E}">
        <p14:creationId xmlns:p14="http://schemas.microsoft.com/office/powerpoint/2010/main" val="440377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Evaluating Your Approach:</a:t>
            </a:r>
            <a:r>
              <a:rPr lang="en-US" sz="1200" kern="1200" dirty="0">
                <a:solidFill>
                  <a:schemeClr val="tx1"/>
                </a:solidFill>
                <a:effectLst/>
                <a:latin typeface="+mn-lt"/>
                <a:ea typeface="+mn-ea"/>
                <a:cs typeface="+mn-cs"/>
              </a:rPr>
              <a:t> Investors face a choice: Do It Yourself (DIY) or hire a financial quarterback. </a:t>
            </a:r>
          </a:p>
          <a:p>
            <a:pPr lvl="0"/>
            <a:r>
              <a:rPr lang="en-US" sz="1200" b="1" kern="1200" dirty="0">
                <a:solidFill>
                  <a:schemeClr val="tx1"/>
                </a:solidFill>
                <a:effectLst/>
                <a:latin typeface="+mn-lt"/>
                <a:ea typeface="+mn-ea"/>
                <a:cs typeface="+mn-cs"/>
              </a:rPr>
              <a:t>The DIY Reality Check:</a:t>
            </a:r>
            <a:r>
              <a:rPr lang="en-US" sz="1200" kern="1200" dirty="0">
                <a:solidFill>
                  <a:schemeClr val="tx1"/>
                </a:solidFill>
                <a:effectLst/>
                <a:latin typeface="+mn-lt"/>
                <a:ea typeface="+mn-ea"/>
                <a:cs typeface="+mn-cs"/>
              </a:rPr>
              <a:t> To be a successful DIY investor in volatile times, you need rigorous emotional control and research time. Look objectively at your 10-year track record. If you haven't consistently beaten key benchmarks, managing capital alone may be costing you net worth. </a:t>
            </a:r>
          </a:p>
          <a:p>
            <a:pPr lvl="0"/>
            <a:r>
              <a:rPr lang="en-US" sz="1200" b="1" kern="1200" dirty="0">
                <a:solidFill>
                  <a:schemeClr val="tx1"/>
                </a:solidFill>
                <a:effectLst/>
                <a:latin typeface="+mn-lt"/>
                <a:ea typeface="+mn-ea"/>
                <a:cs typeface="+mn-cs"/>
              </a:rPr>
              <a:t>The Financial Quarterback:</a:t>
            </a:r>
            <a:r>
              <a:rPr lang="en-US" sz="1200" kern="1200" dirty="0">
                <a:solidFill>
                  <a:schemeClr val="tx1"/>
                </a:solidFill>
                <a:effectLst/>
                <a:latin typeface="+mn-lt"/>
                <a:ea typeface="+mn-ea"/>
                <a:cs typeface="+mn-cs"/>
              </a:rPr>
              <a:t> For professionals whose highest return on time comes from their primary career, outsourcing portfolio management allows them to focus on maximizing their primary earning muscle.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11</a:t>
            </a:fld>
            <a:endParaRPr lang="en-US"/>
          </a:p>
        </p:txBody>
      </p:sp>
    </p:spTree>
    <p:extLst>
      <p:ext uri="{BB962C8B-B14F-4D97-AF65-F5344CB8AC3E}">
        <p14:creationId xmlns:p14="http://schemas.microsoft.com/office/powerpoint/2010/main" val="1311262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Vetting Standards:</a:t>
            </a:r>
            <a:r>
              <a:rPr lang="en-US" sz="1200" kern="1200" dirty="0">
                <a:solidFill>
                  <a:schemeClr val="tx1"/>
                </a:solidFill>
                <a:effectLst/>
                <a:latin typeface="+mn-lt"/>
                <a:ea typeface="+mn-ea"/>
                <a:cs typeface="+mn-cs"/>
              </a:rPr>
              <a:t> If you choose to hire a financial advisor, run them through these non-negotiable criteria: </a:t>
            </a:r>
          </a:p>
          <a:p>
            <a:pPr marL="228600" lvl="0" indent="-228600">
              <a:buFont typeface="+mj-lt"/>
              <a:buAutoNum type="arabicPeriod"/>
            </a:pPr>
            <a:r>
              <a:rPr lang="en-US" sz="1200" b="1" kern="1200" dirty="0">
                <a:solidFill>
                  <a:schemeClr val="tx1"/>
                </a:solidFill>
                <a:effectLst/>
                <a:latin typeface="+mn-lt"/>
                <a:ea typeface="+mn-ea"/>
                <a:cs typeface="+mn-cs"/>
              </a:rPr>
              <a:t>10+ Years of Track Record:</a:t>
            </a:r>
            <a:r>
              <a:rPr lang="en-US" sz="1200" kern="1200" dirty="0">
                <a:solidFill>
                  <a:schemeClr val="tx1"/>
                </a:solidFill>
                <a:effectLst/>
                <a:latin typeface="+mn-lt"/>
                <a:ea typeface="+mn-ea"/>
                <a:cs typeface="+mn-cs"/>
              </a:rPr>
              <a:t> They must have successfully managed money through multiple market regimes, including bear markets. </a:t>
            </a:r>
          </a:p>
          <a:p>
            <a:pPr marL="228600" lvl="0" indent="-228600">
              <a:buFont typeface="+mj-lt"/>
              <a:buAutoNum type="arabicPeriod"/>
            </a:pPr>
            <a:r>
              <a:rPr lang="en-US" sz="1200" b="1" kern="1200" dirty="0">
                <a:solidFill>
                  <a:schemeClr val="tx1"/>
                </a:solidFill>
                <a:effectLst/>
                <a:latin typeface="+mn-lt"/>
                <a:ea typeface="+mn-ea"/>
                <a:cs typeface="+mn-cs"/>
              </a:rPr>
              <a:t>Clean Regulatory Record:</a:t>
            </a:r>
            <a:r>
              <a:rPr lang="en-US" sz="1200" kern="1200" dirty="0">
                <a:solidFill>
                  <a:schemeClr val="tx1"/>
                </a:solidFill>
                <a:effectLst/>
                <a:latin typeface="+mn-lt"/>
                <a:ea typeface="+mn-ea"/>
                <a:cs typeface="+mn-cs"/>
              </a:rPr>
              <a:t> Zero disciplinary actions or judgments from FINRA or the SEC. </a:t>
            </a:r>
          </a:p>
          <a:p>
            <a:pPr marL="228600" lvl="0" indent="-228600">
              <a:buFont typeface="+mj-lt"/>
              <a:buAutoNum type="arabicPeriod"/>
            </a:pPr>
            <a:r>
              <a:rPr lang="en-US" sz="1200" b="1" kern="1200" dirty="0">
                <a:solidFill>
                  <a:schemeClr val="tx1"/>
                </a:solidFill>
                <a:effectLst/>
                <a:latin typeface="+mn-lt"/>
                <a:ea typeface="+mn-ea"/>
                <a:cs typeface="+mn-cs"/>
              </a:rPr>
              <a:t>Goal-Oriented Discovery:</a:t>
            </a:r>
            <a:r>
              <a:rPr lang="en-US" sz="1200" kern="1200" dirty="0">
                <a:solidFill>
                  <a:schemeClr val="tx1"/>
                </a:solidFill>
                <a:effectLst/>
                <a:latin typeface="+mn-lt"/>
                <a:ea typeface="+mn-ea"/>
                <a:cs typeface="+mn-cs"/>
              </a:rPr>
              <a:t> They prioritize listening to your life goals and risk tolerance over pitching pre-packaged investment products. </a:t>
            </a:r>
          </a:p>
          <a:p>
            <a:pPr marL="228600" lvl="0" indent="-228600">
              <a:buFont typeface="+mj-lt"/>
              <a:buAutoNum type="arabicPeriod"/>
            </a:pPr>
            <a:r>
              <a:rPr lang="en-US" sz="1200" b="1" kern="1200" dirty="0">
                <a:solidFill>
                  <a:schemeClr val="tx1"/>
                </a:solidFill>
                <a:effectLst/>
                <a:latin typeface="+mn-lt"/>
                <a:ea typeface="+mn-ea"/>
                <a:cs typeface="+mn-cs"/>
              </a:rPr>
              <a:t>Active Downside Risk Management:</a:t>
            </a:r>
            <a:r>
              <a:rPr lang="en-US" sz="1200" kern="1200" dirty="0">
                <a:solidFill>
                  <a:schemeClr val="tx1"/>
                </a:solidFill>
                <a:effectLst/>
                <a:latin typeface="+mn-lt"/>
                <a:ea typeface="+mn-ea"/>
                <a:cs typeface="+mn-cs"/>
              </a:rPr>
              <a:t> They maintain clear tactical protocols to protect capital during severe market downturns.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12</a:t>
            </a:fld>
            <a:endParaRPr lang="en-US"/>
          </a:p>
        </p:txBody>
      </p:sp>
    </p:spTree>
    <p:extLst>
      <p:ext uri="{BB962C8B-B14F-4D97-AF65-F5344CB8AC3E}">
        <p14:creationId xmlns:p14="http://schemas.microsoft.com/office/powerpoint/2010/main" val="860359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Integrating the Framework:</a:t>
            </a:r>
            <a:r>
              <a:rPr lang="en-US" sz="1200" kern="1200" dirty="0">
                <a:solidFill>
                  <a:schemeClr val="tx1"/>
                </a:solidFill>
                <a:effectLst/>
                <a:latin typeface="+mn-lt"/>
                <a:ea typeface="+mn-ea"/>
                <a:cs typeface="+mn-cs"/>
              </a:rPr>
              <a:t> This architecture combines our core strategic pillars: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Master Mechanics:</a:t>
            </a:r>
            <a:r>
              <a:rPr lang="en-US" sz="1200" kern="1200" dirty="0">
                <a:solidFill>
                  <a:schemeClr val="tx1"/>
                </a:solidFill>
                <a:effectLst/>
                <a:latin typeface="+mn-lt"/>
                <a:ea typeface="+mn-ea"/>
                <a:cs typeface="+mn-cs"/>
              </a:rPr>
              <a:t> Exponential math, productive debt, inflation-hedging.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Guard Against Macro Threats:</a:t>
            </a:r>
            <a:r>
              <a:rPr lang="en-US" sz="1200" kern="1200" dirty="0">
                <a:solidFill>
                  <a:schemeClr val="tx1"/>
                </a:solidFill>
                <a:effectLst/>
                <a:latin typeface="+mn-lt"/>
                <a:ea typeface="+mn-ea"/>
                <a:cs typeface="+mn-cs"/>
              </a:rPr>
              <a:t> AI disruption and Lost Decade drawdowns.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Execute with Discipline:</a:t>
            </a:r>
            <a:r>
              <a:rPr lang="en-US" sz="1200" kern="1200" dirty="0">
                <a:solidFill>
                  <a:schemeClr val="tx1"/>
                </a:solidFill>
                <a:effectLst/>
                <a:latin typeface="+mn-lt"/>
                <a:ea typeface="+mn-ea"/>
                <a:cs typeface="+mn-cs"/>
              </a:rPr>
              <a:t> Build Earning, Saving, and Investing capabilities alongside professional risk management.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Economic shifts heavily reward those who proactively master capitalist mechanics rather than relying on external intervention.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13</a:t>
            </a:fld>
            <a:endParaRPr lang="en-US"/>
          </a:p>
        </p:txBody>
      </p:sp>
    </p:spTree>
    <p:extLst>
      <p:ext uri="{BB962C8B-B14F-4D97-AF65-F5344CB8AC3E}">
        <p14:creationId xmlns:p14="http://schemas.microsoft.com/office/powerpoint/2010/main" val="4040476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Core Principle:</a:t>
            </a:r>
            <a:r>
              <a:rPr lang="en-US" sz="1200" kern="1200" dirty="0">
                <a:solidFill>
                  <a:schemeClr val="tx1"/>
                </a:solidFill>
                <a:effectLst/>
                <a:latin typeface="+mn-lt"/>
                <a:ea typeface="+mn-ea"/>
                <a:cs typeface="+mn-cs"/>
              </a:rPr>
              <a:t> Let’s anchor on this quote from Adam Taggart: </a:t>
            </a:r>
            <a:r>
              <a:rPr lang="en-US" sz="1200" i="1" kern="1200" dirty="0">
                <a:solidFill>
                  <a:schemeClr val="tx1"/>
                </a:solidFill>
                <a:effectLst/>
                <a:latin typeface="+mn-lt"/>
                <a:ea typeface="+mn-ea"/>
                <a:cs typeface="+mn-cs"/>
              </a:rPr>
              <a:t>'The primary objective of investing is not to get rich. It is to keep the money you've saved at or above the rate of inflation.'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Summary:</a:t>
            </a:r>
            <a:r>
              <a:rPr lang="en-US" sz="1200" kern="1200" dirty="0">
                <a:solidFill>
                  <a:schemeClr val="tx1"/>
                </a:solidFill>
                <a:effectLst/>
                <a:latin typeface="+mn-lt"/>
                <a:ea typeface="+mn-ea"/>
                <a:cs typeface="+mn-cs"/>
              </a:rPr>
              <a:t> Focusing solely on upside gains leads to unhedged risk-taking. Prioritize capital preservation, and growth will compound over time. </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14</a:t>
            </a:fld>
            <a:endParaRPr lang="en-US"/>
          </a:p>
        </p:txBody>
      </p:sp>
    </p:spTree>
    <p:extLst>
      <p:ext uri="{BB962C8B-B14F-4D97-AF65-F5344CB8AC3E}">
        <p14:creationId xmlns:p14="http://schemas.microsoft.com/office/powerpoint/2010/main" val="3988205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Presentation Summary:</a:t>
            </a:r>
            <a:r>
              <a:rPr lang="en-US" sz="1200" kern="1200" dirty="0">
                <a:solidFill>
                  <a:schemeClr val="tx1"/>
                </a:solidFill>
                <a:effectLst/>
                <a:latin typeface="+mn-lt"/>
                <a:ea typeface="+mn-ea"/>
                <a:cs typeface="+mn-cs"/>
              </a:rPr>
              <a:t> This visual roadmap summarizes the core takeaways: </a:t>
            </a:r>
          </a:p>
          <a:p>
            <a:pPr marL="228600" lvl="0" indent="-228600">
              <a:buFont typeface="+mj-lt"/>
              <a:buAutoNum type="arabicPeriod"/>
            </a:pPr>
            <a:r>
              <a:rPr lang="en-US" sz="1200" b="1" kern="1200" dirty="0">
                <a:solidFill>
                  <a:schemeClr val="tx1"/>
                </a:solidFill>
                <a:effectLst/>
                <a:latin typeface="+mn-lt"/>
                <a:ea typeface="+mn-ea"/>
                <a:cs typeface="+mn-cs"/>
              </a:rPr>
              <a:t>Build the Earning Muscle:</a:t>
            </a:r>
            <a:r>
              <a:rPr lang="en-US" sz="1200" kern="1200" dirty="0">
                <a:solidFill>
                  <a:schemeClr val="tx1"/>
                </a:solidFill>
                <a:effectLst/>
                <a:latin typeface="+mn-lt"/>
                <a:ea typeface="+mn-ea"/>
                <a:cs typeface="+mn-cs"/>
              </a:rPr>
              <a:t> Expand market value and career income. </a:t>
            </a:r>
          </a:p>
          <a:p>
            <a:pPr marL="228600" lvl="0" indent="-228600">
              <a:buFont typeface="+mj-lt"/>
              <a:buAutoNum type="arabicPeriod"/>
            </a:pPr>
            <a:r>
              <a:rPr lang="en-US" sz="1200" b="1" kern="1200" dirty="0">
                <a:solidFill>
                  <a:schemeClr val="tx1"/>
                </a:solidFill>
                <a:effectLst/>
                <a:latin typeface="+mn-lt"/>
                <a:ea typeface="+mn-ea"/>
                <a:cs typeface="+mn-cs"/>
              </a:rPr>
              <a:t>Build the Saving Muscle:</a:t>
            </a:r>
            <a:r>
              <a:rPr lang="en-US" sz="1200" kern="1200" dirty="0">
                <a:solidFill>
                  <a:schemeClr val="tx1"/>
                </a:solidFill>
                <a:effectLst/>
                <a:latin typeface="+mn-lt"/>
                <a:ea typeface="+mn-ea"/>
                <a:cs typeface="+mn-cs"/>
              </a:rPr>
              <a:t> Maintain expense containment to free up investment capital. </a:t>
            </a:r>
          </a:p>
          <a:p>
            <a:pPr marL="228600" lvl="0" indent="-228600">
              <a:buFont typeface="+mj-lt"/>
              <a:buAutoNum type="arabicPeriod"/>
            </a:pPr>
            <a:r>
              <a:rPr lang="en-US" sz="1200" b="1" kern="1200" dirty="0">
                <a:solidFill>
                  <a:schemeClr val="tx1"/>
                </a:solidFill>
                <a:effectLst/>
                <a:latin typeface="+mn-lt"/>
                <a:ea typeface="+mn-ea"/>
                <a:cs typeface="+mn-cs"/>
              </a:rPr>
              <a:t>Build the Investing Muscle:</a:t>
            </a:r>
            <a:r>
              <a:rPr lang="en-US" sz="1200" kern="1200" dirty="0">
                <a:solidFill>
                  <a:schemeClr val="tx1"/>
                </a:solidFill>
                <a:effectLst/>
                <a:latin typeface="+mn-lt"/>
                <a:ea typeface="+mn-ea"/>
                <a:cs typeface="+mn-cs"/>
              </a:rPr>
              <a:t> Put retained savings into productive assets to outpace inflation. </a:t>
            </a:r>
          </a:p>
          <a:p>
            <a:pPr marL="228600" lvl="0" indent="-228600">
              <a:buFont typeface="+mj-lt"/>
              <a:buAutoNum type="arabicPeriod"/>
            </a:pPr>
            <a:r>
              <a:rPr lang="en-US" sz="1200" b="1" kern="1200" dirty="0">
                <a:solidFill>
                  <a:schemeClr val="tx1"/>
                </a:solidFill>
                <a:effectLst/>
                <a:latin typeface="+mn-lt"/>
                <a:ea typeface="+mn-ea"/>
                <a:cs typeface="+mn-cs"/>
              </a:rPr>
              <a:t>Respect Exponential Growth:</a:t>
            </a:r>
            <a:r>
              <a:rPr lang="en-US" sz="1200" kern="1200" dirty="0">
                <a:solidFill>
                  <a:schemeClr val="tx1"/>
                </a:solidFill>
                <a:effectLst/>
                <a:latin typeface="+mn-lt"/>
                <a:ea typeface="+mn-ea"/>
                <a:cs typeface="+mn-cs"/>
              </a:rPr>
              <a:t> Start early to leverage long-term compounding. </a:t>
            </a:r>
          </a:p>
          <a:p>
            <a:pPr marL="228600" lvl="0" indent="-228600">
              <a:buFont typeface="+mj-lt"/>
              <a:buAutoNum type="arabicPeriod"/>
            </a:pPr>
            <a:r>
              <a:rPr lang="en-US" sz="1200" b="1" kern="1200" dirty="0">
                <a:solidFill>
                  <a:schemeClr val="tx1"/>
                </a:solidFill>
                <a:effectLst/>
                <a:latin typeface="+mn-lt"/>
                <a:ea typeface="+mn-ea"/>
                <a:cs typeface="+mn-cs"/>
              </a:rPr>
              <a:t>Prepare for Technological &amp; Economic Shifts:</a:t>
            </a:r>
            <a:r>
              <a:rPr lang="en-US" sz="1200" kern="1200" dirty="0">
                <a:solidFill>
                  <a:schemeClr val="tx1"/>
                </a:solidFill>
                <a:effectLst/>
                <a:latin typeface="+mn-lt"/>
                <a:ea typeface="+mn-ea"/>
                <a:cs typeface="+mn-cs"/>
              </a:rPr>
              <a:t> Defend against real-world inflation and AI displacement by owning income-generating assets. </a:t>
            </a:r>
          </a:p>
          <a:p>
            <a:pPr lvl="0"/>
            <a:r>
              <a:rPr lang="en-US" sz="1200" b="1" kern="1200" dirty="0">
                <a:solidFill>
                  <a:schemeClr val="tx1"/>
                </a:solidFill>
                <a:effectLst/>
                <a:latin typeface="+mn-lt"/>
                <a:ea typeface="+mn-ea"/>
                <a:cs typeface="+mn-cs"/>
              </a:rPr>
              <a:t>Closing:</a:t>
            </a:r>
            <a:r>
              <a:rPr lang="en-US" sz="1200" kern="1200" dirty="0">
                <a:solidFill>
                  <a:schemeClr val="tx1"/>
                </a:solidFill>
                <a:effectLst/>
                <a:latin typeface="+mn-lt"/>
                <a:ea typeface="+mn-ea"/>
                <a:cs typeface="+mn-cs"/>
              </a:rPr>
              <a:t> Thank you. Let’s open the floor to Q&amp;A.</a:t>
            </a:r>
          </a:p>
          <a:p>
            <a:endParaRPr lang="en-US" dirty="0"/>
          </a:p>
        </p:txBody>
      </p:sp>
      <p:sp>
        <p:nvSpPr>
          <p:cNvPr id="4" name="Slide Number Placeholder 3"/>
          <p:cNvSpPr>
            <a:spLocks noGrp="1"/>
          </p:cNvSpPr>
          <p:nvPr>
            <p:ph type="sldNum" sz="quarter" idx="5"/>
          </p:nvPr>
        </p:nvSpPr>
        <p:spPr/>
        <p:txBody>
          <a:bodyPr/>
          <a:lstStyle/>
          <a:p>
            <a:fld id="{6E4137D4-9197-452E-B697-1E14DED3D3A9}" type="slidenum">
              <a:rPr lang="en-US" smtClean="0"/>
              <a:t>15</a:t>
            </a:fld>
            <a:endParaRPr lang="en-US"/>
          </a:p>
        </p:txBody>
      </p:sp>
    </p:spTree>
    <p:extLst>
      <p:ext uri="{BB962C8B-B14F-4D97-AF65-F5344CB8AC3E}">
        <p14:creationId xmlns:p14="http://schemas.microsoft.com/office/powerpoint/2010/main" val="1185174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F3B9AD-1C35-72CB-6E44-EBF28F3A5C8A}"/>
              </a:ext>
            </a:extLst>
          </p:cNvPr>
          <p:cNvSpPr>
            <a:spLocks noGrp="1"/>
          </p:cNvSpPr>
          <p:nvPr>
            <p:ph type="dt" sz="half" idx="10"/>
          </p:nvPr>
        </p:nvSpPr>
        <p:spPr/>
        <p:txBody>
          <a:bodyPr/>
          <a:lstStyle/>
          <a:p>
            <a:fld id="{1EFB1993-23E0-43FB-94EB-7AE36A1C5689}" type="datetimeFigureOut">
              <a:rPr lang="en-US" smtClean="0"/>
              <a:t>10/19/2026</a:t>
            </a:fld>
            <a:endParaRPr lang="en-US"/>
          </a:p>
        </p:txBody>
      </p:sp>
      <p:sp>
        <p:nvSpPr>
          <p:cNvPr id="3" name="Footer Placeholder 2">
            <a:extLst>
              <a:ext uri="{FF2B5EF4-FFF2-40B4-BE49-F238E27FC236}">
                <a16:creationId xmlns:a16="http://schemas.microsoft.com/office/drawing/2014/main" id="{27A66926-5F61-F7C6-9B1B-FA08EB5D89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525678-C67A-F4D3-2D0B-D1E3DB964A20}"/>
              </a:ext>
            </a:extLst>
          </p:cNvPr>
          <p:cNvSpPr>
            <a:spLocks noGrp="1"/>
          </p:cNvSpPr>
          <p:nvPr>
            <p:ph type="sldNum" sz="quarter" idx="12"/>
          </p:nvPr>
        </p:nvSpPr>
        <p:spPr/>
        <p:txBody>
          <a:bodyPr/>
          <a:lstStyle/>
          <a:p>
            <a:fld id="{692E78DB-F178-4EE2-9F97-187539112A9B}" type="slidenum">
              <a:rPr lang="en-US" smtClean="0"/>
              <a:t>‹#›</a:t>
            </a:fld>
            <a:endParaRPr lang="en-US"/>
          </a:p>
        </p:txBody>
      </p:sp>
    </p:spTree>
    <p:extLst>
      <p:ext uri="{BB962C8B-B14F-4D97-AF65-F5344CB8AC3E}">
        <p14:creationId xmlns:p14="http://schemas.microsoft.com/office/powerpoint/2010/main" val="361903095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176D70-BC47-124D-E6F5-B419758699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BBA7F6-336D-4332-6660-9412AD8483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C91CBA-B53C-80EA-8876-D79FDDB50E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FB1993-23E0-43FB-94EB-7AE36A1C5689}" type="datetimeFigureOut">
              <a:rPr lang="en-US" smtClean="0"/>
              <a:t>10/19/2026</a:t>
            </a:fld>
            <a:endParaRPr lang="en-US"/>
          </a:p>
        </p:txBody>
      </p:sp>
      <p:sp>
        <p:nvSpPr>
          <p:cNvPr id="5" name="Footer Placeholder 4">
            <a:extLst>
              <a:ext uri="{FF2B5EF4-FFF2-40B4-BE49-F238E27FC236}">
                <a16:creationId xmlns:a16="http://schemas.microsoft.com/office/drawing/2014/main" id="{4AC55A28-CDBB-9423-CC31-40ACD83A46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9F431D-BC5D-94CF-74FD-6A6FC1F9B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2E78DB-F178-4EE2-9F97-187539112A9B}" type="slidenum">
              <a:rPr lang="en-US" smtClean="0"/>
              <a:t>‹#›</a:t>
            </a:fld>
            <a:endParaRPr lang="en-US"/>
          </a:p>
        </p:txBody>
      </p:sp>
    </p:spTree>
    <p:extLst>
      <p:ext uri="{BB962C8B-B14F-4D97-AF65-F5344CB8AC3E}">
        <p14:creationId xmlns:p14="http://schemas.microsoft.com/office/powerpoint/2010/main" val="40910147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A7999F-9C74-72E1-8F53-CE9211319A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B5B51-9D80-E4D5-8370-B3590B1F0C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806153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1649</Words>
  <Application>Microsoft Office PowerPoint</Application>
  <PresentationFormat>寬螢幕</PresentationFormat>
  <Paragraphs>82</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2026-08-28T14:14:30Z</dcterms:created>
  <dcterms:modified xsi:type="dcterms:W3CDTF">2026-10-19T15:46:30Z</dcterms:modified>
</cp:coreProperties>
</file>