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4ACFED-48ED-42EA-A5DE-01A7A9B0A4F3}" v="21" dt="2026-08-12T01:25:00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4" autoAdjust="0"/>
    <p:restoredTop sz="88604" autoAdjust="0"/>
  </p:normalViewPr>
  <p:slideViewPr>
    <p:cSldViewPr snapToGrid="0">
      <p:cViewPr varScale="1">
        <p:scale>
          <a:sx n="73" d="100"/>
          <a:sy n="73" d="100"/>
        </p:scale>
        <p:origin x="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 sldOrd">
      <pc:chgData name="Lai, Wilson" userId="2840974a-0d84-4886-90a9-9a3ed79f3a48" providerId="ADAL" clId="{9F23B798-9E84-4552-BA63-E776E805C424}" dt="2026-08-12T01:26:57.727" v="103" actId="22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8-12T01:25:44.111" v="101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8-11T17:05:01.065" v="15" actId="164"/>
          <ac:spMkLst>
            <pc:docMk/>
            <pc:sldMk cId="0" sldId="257"/>
            <ac:spMk id="5" creationId="{1F48DC9B-DFAF-4285-049E-9F27B2636CAB}"/>
          </ac:spMkLst>
        </pc:spChg>
        <pc:grpChg chg="add mod">
          <ac:chgData name="Lai, Wilson" userId="2840974a-0d84-4886-90a9-9a3ed79f3a48" providerId="ADAL" clId="{9F23B798-9E84-4552-BA63-E776E805C424}" dt="2026-08-11T17:05:01.065" v="15" actId="164"/>
          <ac:grpSpMkLst>
            <pc:docMk/>
            <pc:sldMk cId="0" sldId="257"/>
            <ac:grpSpMk id="6" creationId="{E9A901E7-52AF-7E6E-85AF-B8BCA3A9EFA7}"/>
          </ac:grpSpMkLst>
        </pc:grpChg>
        <pc:picChg chg="del mod">
          <ac:chgData name="Lai, Wilson" userId="2840974a-0d84-4886-90a9-9a3ed79f3a48" providerId="ADAL" clId="{9F23B798-9E84-4552-BA63-E776E805C424}" dt="2026-08-11T23:57:53.818" v="16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8-11T17:05:01.065" v="15" actId="164"/>
          <ac:picMkLst>
            <pc:docMk/>
            <pc:sldMk cId="0" sldId="257"/>
            <ac:picMk id="3" creationId="{E127E38D-09AB-9B27-9ECA-3FA5F4A01BBB}"/>
          </ac:picMkLst>
        </pc:picChg>
        <pc:picChg chg="add ord">
          <ac:chgData name="Lai, Wilson" userId="2840974a-0d84-4886-90a9-9a3ed79f3a48" providerId="ADAL" clId="{9F23B798-9E84-4552-BA63-E776E805C424}" dt="2026-08-12T01:25:44.111" v="101" actId="166"/>
          <ac:picMkLst>
            <pc:docMk/>
            <pc:sldMk cId="0" sldId="257"/>
            <ac:picMk id="7" creationId="{EA689372-CA90-918B-E8D3-96FA670F267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2T01:19:33.667" v="52" actId="15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8-11T23:58:10.723" v="18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1T23:58:19.941" v="19" actId="22"/>
          <ac:picMkLst>
            <pc:docMk/>
            <pc:sldMk cId="0" sldId="258"/>
            <ac:picMk id="4" creationId="{D19E2754-3A52-2EB6-7C86-19CCA35F619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2T01:20:09.464" v="56" actId="15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8-11T23:58:29.803" v="20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1T23:58:42.786" v="21" actId="22"/>
          <ac:picMkLst>
            <pc:docMk/>
            <pc:sldMk cId="0" sldId="259"/>
            <ac:picMk id="4" creationId="{6C154DA6-EBF8-8BD1-4D31-6F8F93520EE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2T01:20:49.531" v="61" actId="15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8-11T23:58:46.943" v="22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1T23:58:55.676" v="23" actId="22"/>
          <ac:picMkLst>
            <pc:docMk/>
            <pc:sldMk cId="0" sldId="260"/>
            <ac:picMk id="4" creationId="{3759F1A3-D88B-187D-7045-DA9CA78D6CF5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2T01:21:20.958" v="64" actId="15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8-11T23:58:57.838" v="24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1T23:59:09.126" v="25" actId="22"/>
          <ac:picMkLst>
            <pc:docMk/>
            <pc:sldMk cId="0" sldId="261"/>
            <ac:picMk id="4" creationId="{10BD3956-1955-C8CA-6E88-E2502EEF8F7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2T01:22:15.250" v="74" actId="15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8-11T23:59:11.141" v="26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1T23:59:18.856" v="27" actId="22"/>
          <ac:picMkLst>
            <pc:docMk/>
            <pc:sldMk cId="0" sldId="262"/>
            <ac:picMk id="4" creationId="{94028FCE-996B-F788-F2A2-D0FCA9A6211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2T01:22:33.578" v="76" actId="15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8-11T23:59:21.102" v="28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1T23:59:28.427" v="29" actId="22"/>
          <ac:picMkLst>
            <pc:docMk/>
            <pc:sldMk cId="0" sldId="263"/>
            <ac:picMk id="4" creationId="{40F0BA3F-25E3-37B3-8C12-FE33D4A5D58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2T01:22:56.801" v="78" actId="1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8-11T23:59:40.677" v="30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2T00:00:28.461" v="31" actId="22"/>
          <ac:picMkLst>
            <pc:docMk/>
            <pc:sldMk cId="0" sldId="264"/>
            <ac:picMk id="4" creationId="{0632A663-8304-44EB-3571-7259258997A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2T01:23:22.665" v="81" actId="15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8-12T00:00:30.768" v="32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2T00:01:15.282" v="33" actId="22"/>
          <ac:picMkLst>
            <pc:docMk/>
            <pc:sldMk cId="0" sldId="265"/>
            <ac:picMk id="4" creationId="{01A0C2F9-40D1-F15E-CC28-463AEC98ADE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2T01:23:53.306" v="84" actId="1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8-12T00:01:20.084" v="34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2T00:01:27.271" v="35" actId="22"/>
          <ac:picMkLst>
            <pc:docMk/>
            <pc:sldMk cId="0" sldId="266"/>
            <ac:picMk id="4" creationId="{72E2DD53-4769-5E72-5B0D-92B824C6598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2T01:24:03.236" v="85" actId="1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8-12T00:01:29.837" v="36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2T00:01:48.802" v="37" actId="22"/>
          <ac:picMkLst>
            <pc:docMk/>
            <pc:sldMk cId="0" sldId="267"/>
            <ac:picMk id="4" creationId="{FCD2AA5A-C1DC-AE34-B463-F6A9E72AF73D}"/>
          </ac:picMkLst>
        </pc:picChg>
      </pc:sldChg>
      <pc:sldChg chg="addSp delSp modSp mod modNotesTx">
        <pc:chgData name="Lai, Wilson" userId="2840974a-0d84-4886-90a9-9a3ed79f3a48" providerId="ADAL" clId="{9F23B798-9E84-4552-BA63-E776E805C424}" dt="2026-08-12T01:24:16.905" v="87" actId="12"/>
        <pc:sldMkLst>
          <pc:docMk/>
          <pc:sldMk cId="0" sldId="268"/>
        </pc:sldMkLst>
        <pc:picChg chg="del mod">
          <ac:chgData name="Lai, Wilson" userId="2840974a-0d84-4886-90a9-9a3ed79f3a48" providerId="ADAL" clId="{9F23B798-9E84-4552-BA63-E776E805C424}" dt="2026-08-12T00:01:56.100" v="43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2T00:03:04.870" v="44" actId="22"/>
          <ac:picMkLst>
            <pc:docMk/>
            <pc:sldMk cId="0" sldId="268"/>
            <ac:picMk id="4" creationId="{523BA6F5-AC19-CC61-AA09-753E8316C191}"/>
          </ac:picMkLst>
        </pc:picChg>
      </pc:sldChg>
      <pc:sldChg chg="addSp delSp mod ord modNotesTx">
        <pc:chgData name="Lai, Wilson" userId="2840974a-0d84-4886-90a9-9a3ed79f3a48" providerId="ADAL" clId="{9F23B798-9E84-4552-BA63-E776E805C424}" dt="2026-08-12T01:24:33.687" v="89" actId="15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8-12T00:03:13.815" v="45" actId="21"/>
          <ac:picMkLst>
            <pc:docMk/>
            <pc:sldMk cId="0" sldId="269"/>
            <ac:picMk id="2" creationId="{00000000-0000-0000-0000-000000000000}"/>
          </ac:picMkLst>
        </pc:picChg>
        <pc:picChg chg="add del">
          <ac:chgData name="Lai, Wilson" userId="2840974a-0d84-4886-90a9-9a3ed79f3a48" providerId="ADAL" clId="{9F23B798-9E84-4552-BA63-E776E805C424}" dt="2026-08-12T00:03:43.732" v="47" actId="22"/>
          <ac:picMkLst>
            <pc:docMk/>
            <pc:sldMk cId="0" sldId="269"/>
            <ac:picMk id="4" creationId="{4DA41C33-4857-0959-7D7E-6974783DC917}"/>
          </ac:picMkLst>
        </pc:picChg>
        <pc:picChg chg="add">
          <ac:chgData name="Lai, Wilson" userId="2840974a-0d84-4886-90a9-9a3ed79f3a48" providerId="ADAL" clId="{9F23B798-9E84-4552-BA63-E776E805C424}" dt="2026-08-12T00:04:08.032" v="48" actId="22"/>
          <ac:picMkLst>
            <pc:docMk/>
            <pc:sldMk cId="0" sldId="269"/>
            <ac:picMk id="6" creationId="{8C976E8A-1949-57F4-3515-BA156BC14A3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2T01:26:57.727" v="103" actId="22"/>
        <pc:sldMkLst>
          <pc:docMk/>
          <pc:sldMk cId="1109347390" sldId="270"/>
        </pc:sldMkLst>
        <pc:picChg chg="del">
          <ac:chgData name="Lai, Wilson" userId="2840974a-0d84-4886-90a9-9a3ed79f3a48" providerId="ADAL" clId="{9F23B798-9E84-4552-BA63-E776E805C424}" dt="2026-08-12T01:26:22.612" v="102" actId="21"/>
          <ac:picMkLst>
            <pc:docMk/>
            <pc:sldMk cId="1109347390" sldId="270"/>
            <ac:picMk id="3" creationId="{505A4CA0-F987-5BC5-8243-10BC389A873F}"/>
          </ac:picMkLst>
        </pc:picChg>
        <pc:picChg chg="add">
          <ac:chgData name="Lai, Wilson" userId="2840974a-0d84-4886-90a9-9a3ed79f3a48" providerId="ADAL" clId="{9F23B798-9E84-4552-BA63-E776E805C424}" dt="2026-08-12T01:26:57.727" v="103" actId="22"/>
          <ac:picMkLst>
            <pc:docMk/>
            <pc:sldMk cId="1109347390" sldId="270"/>
            <ac:picMk id="4" creationId="{539F0213-02E8-91AD-4816-DDCB150EAFB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D390B-B8A8-46E2-9B15-FE415A533F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02E59-705D-4293-BBC6-B0EC906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79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Welcome, everyone. Today, we're talking about why legacy frameworks fail when evaluating the next trillion-dollar paradigm—and why most experts are drastically underestimating the size and trajectory of the AI market.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Context: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core insights in this presentation are distilled from Eric Vishria, General Partner at Benchmark. We are seeing a fundamental shift in the technology landscape where traditional software playbooks no longer apply.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Just as traditional investors failed to grasp the magnitude of the cloud shift back in 2006, market consensus today is making the exact same error with AI by applying zero-sum, legacy software metrics to an unconstrained, non-zero-sum growth expansion.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https://www.youtube.com/watch?v=0e7aG_MIHlQ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84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Provocative Thesis: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Let's address the most alarming quote in the software industry today: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"Every single day that you are hitting your plan, you are destroying equity value."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Historical Context (2021 vs. 2024):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2021, software companies traded at peak valuations—around 30x revenue multiples.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 forward to 2024–2026: many public SaaS companies successfully quadrupled their revenues. Yet, because revenue multiples collapsed from 30x down to ~6x, these companies are actually worth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today than when they were smaller.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Trap: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Software management teams have spent their entire careers operating under a simple rule: lay out a plan, execute violently, and build value. But today, management teams are hill-climbing on local maxima. They are spending 8 AM to 5 PM executing their legacy business, and treating AI as a side project from 5 PM to 8 PM.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 Insight: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They need to invert that ratio. If you are hill-climbing using legacy playbooks, you are ignoring the fact that the underlying competitive frontier has completely moved.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95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Comparing the Eras: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understand where we are, look back at the birth of cloud computing in 2006 when AWS launched S3 and EC2.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Cloud Fallacies (2006–2014):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2006 Stance: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Incumbents were dismissive. Smart investors thought AWS was an uninteresting, low-margin toy.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2014 Stance: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narrative completely flipped to a consensus fallacy: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"AWS will eat everything. There will be no enterprise software or database opportunity left."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Actually Happened: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 followed was a massive expansion. AWS didn't swallow the market. Instead, we got an oligopoly (AWS, GCP, Azure)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standalone $100B category champions like Snowflake, Datadog, MongoDB, and Cloudflare.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Parallel Today: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people make the same zero-sum assumption: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"Anthropic or OpenAI will consume 98% of all value."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market demand for intelligence is simply too vast for a single entity to absorb. We are heading toward another oligopoly alongside multiple $100B distinct ecosystem winners across hardware, infrastructure, and native applications.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44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Overview: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transition from SaaS to AI-Native isn't an incremental update; it's a structural inversion of product development, moat-building, and sales.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Product Management: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Legacy: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PMs write rigid specification documents to translate customer needs into code.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AI-Native: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PMs must intimately understand and bridge customer problems directly to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Jagged Edge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AI capability—where models excel at complex logic one second, but fail at simple tasks the next.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Engineering Moats ("Castles vs. Sandcastles"):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Legacy: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Artisanal engineering focused on 100-year permanent structural foundations.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AI-Native: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Sandcastles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Every 4 weeks, base model upgrades render old architectures obsolete. Teams must embrace building software that gets washed away and rebuilt constantly.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Sales Motion: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Legacy: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Pushing demand through rigid quota capacity models (territory math, $1.5M–$2.5M quotas).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AI-Native: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Pulling demand by "selling magic". Founder-led sales are shattering traditional metrics, with individual reps closing tens of millions in ARR because buyers are pulling the product in.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93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Mechanism: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a fundamental level, AI models are simply engines that translate compute into intelligence.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Unlimited Demand vs. Physical Supply: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demand for intelligence is virtually infinite.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raw input required to generate compute is physical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Energy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Geopolitical &amp; Infrastructure Challenge: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Energy is the ultimate physical constraint—not just GPU availability, but power availability, grid hookups, memory bandwidth, and physical power shells.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context, China is projected to bring online roughly 10x more energy capacity next year than the US.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Less energy directly equals less compute, leading to scarce or expensive tokens. The governor on AI scale is governed by physical thermodynamics, not software limits.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89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 from Cerebras: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Eric Vishria’s experience investing in Cerebras back in 2016 highlights the stark reality of hardware development.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Compute Triad: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Hardware speedups rely on three fundamental levers: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Massive parallelism.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Bringing SRAM/DRAM directly adjacent to compute.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Solving core-to-core communication bottlenecks across the wafer.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Nature of Hardware Workloads: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2016, GPUs were not designed for deep learning; they were just 100x better than CPUs. AI workloads are uniquely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communication-bound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requiring custom wafer-scale architectures.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"Roofline" Concept: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software design, a clean block diagram gets you 80% of the way there.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hardware, design simulations establish the theoretical performance limit—the "Roofline". Once physical silicon arrives, real-world drag (compilers, thermal limits, compilers, physics) drops performance down to ~10% of theoretical capacity. Teams spend years grinding through software layers just to climb back up toward the roofline.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83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Common Misconception: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Outsiders view AI infrastructure as a simple pass-through resale game where scale drives prices down and gross margins race to zero.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Reality (Fireworks Case Study):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Running 70B to trillion-parameter models efficiently is extraordinarily difficult.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 an identical open-source model running on identical Nvidia hardware. A specialized provider like Fireworks can achieve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5x performance advantage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speed and significantly higher token throughput compared to standard cloud providers.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Economic Implication: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Because of this deep optimization, Neoclouds can pay full cloud provider margins, run on top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hyperscaler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infrastructure, and still build highly profitable, $100B standalone businesses. Expertise creates a massive performance delta.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Defining the Jagged Edge: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Human capability follows a smooth, predictable arc relative to task complexity. AI model capabilities do not. A model might solve complex legal analysis instantly, but fail at simple spatial reasoning or counting—this creates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Jagged Edge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Role of AI Applications: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essential job of an AI-native company (e.g., Cursor, Sierra) is to intimately map this jagged frontier and build products/harnesses that bridge those capability gaps for end users.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Evolution of winning teams: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PM roles are blurring.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Winning teams rely on three core pillars: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understanding of real customer problems.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Extreme product taste.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Relentless curiosity to explore and navigate the shifting jagged edge.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39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Pre-AI Moats (The Database Example):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Historically, databases were the ultimate sticky business with 85% gross margins. Why? Developers built rigid applications around specific database interfaces. Migrating databases required huge engineering teams and millions of dollars, making lock-in nearly permanent.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Disruption: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agents excel at translating well-specified interfaces.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Crucially,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agents don't get tired of monotonous migration work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 code translation and schema migration have become trivial tasks.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New Rules for Winning: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lock-in evaporates, structural moat criteria fundamentally change: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Absolute lowest cost of compute.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Infinite scaling capabilities (from zero usage up to massive spikes seamlessly).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Maximum transportability.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60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Robotics Data Challenge: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Unlike LLMs, which were bootstrapped on massive internet text datasets, no internet-scale dataset exists for physical robotic manipulation.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Robotics Data Flywheel Pipeline: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Tele-operation: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Harvesting clean, zero-slop physical data using specialized tele-op setups (e.g., Sunday Robotics using custom glove/hand pairings).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Pre-Training: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 base foundation models on high-value physical interaction data.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Post-Training (Adding Magic):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Reinforcement Learning (RL) and small auxiliary datasets to teach robots complex, new tasks.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Emergent Behavior: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doesn't matter if the initial task is folding laundry. What matters is proving the pipeline works—once the training flywheel spins, generalized physical capabilities multiply.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93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Expansionary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are entering a non-zero-sum expansion. Demand for intelligence is unbounded.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Ecosystem Growth: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Value will not concentrate in just one layer.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Hyperscalers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(CSPs), specialized Neoclouds, edge inference platforms, robotics, and standalone chip makers will all thrive simultaneously.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Caveat: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"Everything works" refers to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expansion of the overall market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that every individual company will succeed. Because barrier to entry is lower, true technical and functional differentiation is more critical than ever to avoid being run over.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47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Evaluating Opportunities in AI: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venture capital must evaluate investments in this new paradigm: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 People: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Radically nimble founders who check legacy baggage at the door and build from first principles.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Unbounded Opportunity: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Asking the core question: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"If we are right, will anyone care?"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TAM must be massive and disruptive.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9 PM Saturday Test ("Green Button Test"):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you have the chemistry where, if the founder calls at 9 PM on a Saturday night, you are excited to pick up the phone?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Venture Philosophy: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Venture capital is not about trying to hit a hole-in-one on every swing. It’s about working hard to get as many balls close to the pin as possible—and letting the compounding magic of exceptional founders take over.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9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Principles to Remember: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baggage at the door: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Question every assumption learned during the SaaS era.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Embrace the Sandcastles: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Don't spend years building static "castles" when the underlying model capabilities evolve every 4 weeks.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Bridge the Jagged Edge: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Value creation lives where human taste meets AI's non-linear capabilities.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 is Unlimited: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Intelligence is the new universal input—build for scale.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61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Evolution Recap: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vs. AI: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Enterprise adoption of AI is happening exponentially faster than cloud adoption did. Enterprise leaders aren't skeptical; they are eager, running experiments, and terrified of being left behind.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 Delta: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Specialized infrastructure yields 5x performance and throughput gains over generic cloud pools.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 Summary: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 focus from rigid infrastructure to agile "Sandcastles."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 as an "AI Sherpa" for enterprise clients to help them bridge the adoption gap and navigate model progress.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02E59-705D-4293-BBC6-B0EC906B96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0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A1CB97-CC63-B354-1F2B-E22470C5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B294-E784-48A4-8821-505B64E16AC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DD467-9949-DAED-2251-7CF325977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33C15-8961-C259-A460-6B200658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3454-1782-4B47-8694-25CCCCB8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5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BABEC6-EB2F-3DF4-6E0E-B602431E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C017D-F79A-D037-24C5-1FC941BD7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A08A0-C1BE-383C-EB11-181687E60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3B294-E784-48A4-8821-505B64E16AC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5D643-8AE7-7422-83B9-AAA3EA714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40A6F-4C4C-C163-EB7C-94BE23045E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D3454-1782-4B47-8694-25CCCCB8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2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A689372-CA90-918B-E8D3-96FA670F2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9E2754-3A52-2EB6-7C86-19CCA35F6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154DA6-EBF8-8BD1-4D31-6F8F9352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59F1A3-D88B-187D-7045-DA9CA78D6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BD3956-1955-C8CA-6E88-E2502EEF8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028FCE-996B-F788-F2A2-D0FCA9A62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F0BA3F-25E3-37B3-8C12-FE33D4A5D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32A663-8304-44EB-3571-725925899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A0C2F9-40D1-F15E-CC28-463AEC98A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E2DD53-4769-5E72-5B0D-92B824C65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D2AA5A-C1DC-AE34-B463-F6A9E72AF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3BA6F5-AC19-CC61-AA09-753E8316C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976E8A-1949-57F4-3515-BA156BC14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9F0213-02E8-91AD-4816-DDCB150EA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4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1943</Words>
  <Application>Microsoft Office PowerPoint</Application>
  <PresentationFormat>寬螢幕</PresentationFormat>
  <Paragraphs>108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2026-08-11T16:52:03Z</dcterms:created>
  <dcterms:modified xsi:type="dcterms:W3CDTF">2026-10-19T15:46:13Z</dcterms:modified>
</cp:coreProperties>
</file>