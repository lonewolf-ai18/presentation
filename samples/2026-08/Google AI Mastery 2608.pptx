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020"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15T08:20:41.180" v="67" actId="166"/>
      <pc:docMkLst>
        <pc:docMk/>
      </pc:docMkLst>
      <pc:sldChg chg="addSp delSp modSp mod modNotesTx">
        <pc:chgData name="Lai, Wilson" userId="2840974a-0d84-4886-90a9-9a3ed79f3a48" providerId="ADAL" clId="{9F23B798-9E84-4552-BA63-E776E805C424}" dt="2026-08-15T08:20:41.180" v="67" actId="166"/>
        <pc:sldMkLst>
          <pc:docMk/>
          <pc:sldMk cId="0" sldId="257"/>
        </pc:sldMkLst>
        <pc:picChg chg="add ord">
          <ac:chgData name="Lai, Wilson" userId="2840974a-0d84-4886-90a9-9a3ed79f3a48" providerId="ADAL" clId="{9F23B798-9E84-4552-BA63-E776E805C424}" dt="2026-08-15T08:20:41.180" v="67" actId="166"/>
          <ac:picMkLst>
            <pc:docMk/>
            <pc:sldMk cId="0" sldId="257"/>
            <ac:picMk id="7" creationId="{64B5EFFD-7123-2B03-0ACC-6C10C8A149F0}"/>
          </ac:picMkLst>
        </pc:picChg>
      </pc:sldChg>
      <pc:sldChg chg="addSp delSp mod">
        <pc:chgData name="Lai, Wilson" userId="2840974a-0d84-4886-90a9-9a3ed79f3a48" providerId="ADAL" clId="{9F23B798-9E84-4552-BA63-E776E805C424}" dt="2026-08-12T11:56:30.407" v="4" actId="22"/>
        <pc:sldMkLst>
          <pc:docMk/>
          <pc:sldMk cId="0" sldId="258"/>
        </pc:sldMkLst>
        <pc:picChg chg="add">
          <ac:chgData name="Lai, Wilson" userId="2840974a-0d84-4886-90a9-9a3ed79f3a48" providerId="ADAL" clId="{9F23B798-9E84-4552-BA63-E776E805C424}" dt="2026-08-12T11:56:30.407" v="4" actId="22"/>
          <ac:picMkLst>
            <pc:docMk/>
            <pc:sldMk cId="0" sldId="258"/>
            <ac:picMk id="4" creationId="{D6F3A1AC-333D-0DD1-40AE-C662FA8DAA6E}"/>
          </ac:picMkLst>
        </pc:picChg>
      </pc:sldChg>
      <pc:sldChg chg="addSp delSp mod">
        <pc:chgData name="Lai, Wilson" userId="2840974a-0d84-4886-90a9-9a3ed79f3a48" providerId="ADAL" clId="{9F23B798-9E84-4552-BA63-E776E805C424}" dt="2026-08-12T13:37:17.847" v="6" actId="22"/>
        <pc:sldMkLst>
          <pc:docMk/>
          <pc:sldMk cId="0" sldId="259"/>
        </pc:sldMkLst>
        <pc:picChg chg="add">
          <ac:chgData name="Lai, Wilson" userId="2840974a-0d84-4886-90a9-9a3ed79f3a48" providerId="ADAL" clId="{9F23B798-9E84-4552-BA63-E776E805C424}" dt="2026-08-12T13:37:17.847" v="6" actId="22"/>
          <ac:picMkLst>
            <pc:docMk/>
            <pc:sldMk cId="0" sldId="259"/>
            <ac:picMk id="4" creationId="{A2D3A693-7EE0-8F69-83DE-29A7DC8C719C}"/>
          </ac:picMkLst>
        </pc:picChg>
      </pc:sldChg>
      <pc:sldChg chg="addSp delSp modSp mod setBg modNotesTx">
        <pc:chgData name="Lai, Wilson" userId="2840974a-0d84-4886-90a9-9a3ed79f3a48" providerId="ADAL" clId="{9F23B798-9E84-4552-BA63-E776E805C424}" dt="2026-08-12T23:45:27.484" v="31" actId="12"/>
        <pc:sldMkLst>
          <pc:docMk/>
          <pc:sldMk cId="0" sldId="260"/>
        </pc:sldMkLst>
        <pc:picChg chg="add mod">
          <ac:chgData name="Lai, Wilson" userId="2840974a-0d84-4886-90a9-9a3ed79f3a48" providerId="ADAL" clId="{9F23B798-9E84-4552-BA63-E776E805C424}" dt="2026-08-12T13:37:29.766" v="10" actId="26606"/>
          <ac:picMkLst>
            <pc:docMk/>
            <pc:sldMk cId="0" sldId="260"/>
            <ac:picMk id="4" creationId="{6304A663-0AE3-EA66-5412-C38C9F3FCFDE}"/>
          </ac:picMkLst>
        </pc:picChg>
      </pc:sldChg>
      <pc:sldChg chg="addSp delSp mod modNotesTx">
        <pc:chgData name="Lai, Wilson" userId="2840974a-0d84-4886-90a9-9a3ed79f3a48" providerId="ADAL" clId="{9F23B798-9E84-4552-BA63-E776E805C424}" dt="2026-08-12T23:45:39.376" v="32" actId="12"/>
        <pc:sldMkLst>
          <pc:docMk/>
          <pc:sldMk cId="0" sldId="261"/>
        </pc:sldMkLst>
        <pc:picChg chg="add">
          <ac:chgData name="Lai, Wilson" userId="2840974a-0d84-4886-90a9-9a3ed79f3a48" providerId="ADAL" clId="{9F23B798-9E84-4552-BA63-E776E805C424}" dt="2026-08-12T13:37:44.268" v="12" actId="22"/>
          <ac:picMkLst>
            <pc:docMk/>
            <pc:sldMk cId="0" sldId="261"/>
            <ac:picMk id="4" creationId="{DEDC08CE-5D66-1FC3-C140-B4AAB2AC4FA4}"/>
          </ac:picMkLst>
        </pc:picChg>
      </pc:sldChg>
      <pc:sldChg chg="addSp delSp mod">
        <pc:chgData name="Lai, Wilson" userId="2840974a-0d84-4886-90a9-9a3ed79f3a48" providerId="ADAL" clId="{9F23B798-9E84-4552-BA63-E776E805C424}" dt="2026-08-12T13:38:05.683" v="14" actId="22"/>
        <pc:sldMkLst>
          <pc:docMk/>
          <pc:sldMk cId="0" sldId="262"/>
        </pc:sldMkLst>
        <pc:picChg chg="add">
          <ac:chgData name="Lai, Wilson" userId="2840974a-0d84-4886-90a9-9a3ed79f3a48" providerId="ADAL" clId="{9F23B798-9E84-4552-BA63-E776E805C424}" dt="2026-08-12T13:38:05.683" v="14" actId="22"/>
          <ac:picMkLst>
            <pc:docMk/>
            <pc:sldMk cId="0" sldId="262"/>
            <ac:picMk id="4" creationId="{BBA98732-DA9B-50ED-F783-F179204B0132}"/>
          </ac:picMkLst>
        </pc:picChg>
      </pc:sldChg>
      <pc:sldChg chg="addSp delSp mod modNotesTx">
        <pc:chgData name="Lai, Wilson" userId="2840974a-0d84-4886-90a9-9a3ed79f3a48" providerId="ADAL" clId="{9F23B798-9E84-4552-BA63-E776E805C424}" dt="2026-08-12T23:46:06.384" v="33" actId="12"/>
        <pc:sldMkLst>
          <pc:docMk/>
          <pc:sldMk cId="0" sldId="263"/>
        </pc:sldMkLst>
        <pc:picChg chg="add">
          <ac:chgData name="Lai, Wilson" userId="2840974a-0d84-4886-90a9-9a3ed79f3a48" providerId="ADAL" clId="{9F23B798-9E84-4552-BA63-E776E805C424}" dt="2026-08-12T13:38:17.986" v="16" actId="22"/>
          <ac:picMkLst>
            <pc:docMk/>
            <pc:sldMk cId="0" sldId="263"/>
            <ac:picMk id="4" creationId="{B115242C-6CBA-689C-CC02-C55093EE95AC}"/>
          </ac:picMkLst>
        </pc:picChg>
      </pc:sldChg>
      <pc:sldChg chg="addSp delSp modSp mod">
        <pc:chgData name="Lai, Wilson" userId="2840974a-0d84-4886-90a9-9a3ed79f3a48" providerId="ADAL" clId="{9F23B798-9E84-4552-BA63-E776E805C424}" dt="2026-08-12T23:46:09.284" v="34" actId="1076"/>
        <pc:sldMkLst>
          <pc:docMk/>
          <pc:sldMk cId="0" sldId="264"/>
        </pc:sldMkLst>
        <pc:picChg chg="add mod">
          <ac:chgData name="Lai, Wilson" userId="2840974a-0d84-4886-90a9-9a3ed79f3a48" providerId="ADAL" clId="{9F23B798-9E84-4552-BA63-E776E805C424}" dt="2026-08-12T23:46:09.284" v="34" actId="1076"/>
          <ac:picMkLst>
            <pc:docMk/>
            <pc:sldMk cId="0" sldId="264"/>
            <ac:picMk id="4" creationId="{C0F428B4-9934-19AF-EB0F-D783C42635B4}"/>
          </ac:picMkLst>
        </pc:picChg>
      </pc:sldChg>
      <pc:sldChg chg="addSp delSp mod modNotesTx">
        <pc:chgData name="Lai, Wilson" userId="2840974a-0d84-4886-90a9-9a3ed79f3a48" providerId="ADAL" clId="{9F23B798-9E84-4552-BA63-E776E805C424}" dt="2026-08-12T23:48:09.676" v="64" actId="6549"/>
        <pc:sldMkLst>
          <pc:docMk/>
          <pc:sldMk cId="0" sldId="265"/>
        </pc:sldMkLst>
        <pc:picChg chg="add">
          <ac:chgData name="Lai, Wilson" userId="2840974a-0d84-4886-90a9-9a3ed79f3a48" providerId="ADAL" clId="{9F23B798-9E84-4552-BA63-E776E805C424}" dt="2026-08-12T13:39:54.954" v="28" actId="22"/>
          <ac:picMkLst>
            <pc:docMk/>
            <pc:sldMk cId="0" sldId="265"/>
            <ac:picMk id="4" creationId="{749230BE-1256-0525-D45B-BFF38F32A2D1}"/>
          </ac:picMkLst>
        </pc:picChg>
      </pc:sldChg>
      <pc:sldChg chg="addSp delSp mod modNotesTx">
        <pc:chgData name="Lai, Wilson" userId="2840974a-0d84-4886-90a9-9a3ed79f3a48" providerId="ADAL" clId="{9F23B798-9E84-4552-BA63-E776E805C424}" dt="2026-08-12T23:47:02.032" v="36" actId="12"/>
        <pc:sldMkLst>
          <pc:docMk/>
          <pc:sldMk cId="0" sldId="266"/>
        </pc:sldMkLst>
        <pc:picChg chg="add">
          <ac:chgData name="Lai, Wilson" userId="2840974a-0d84-4886-90a9-9a3ed79f3a48" providerId="ADAL" clId="{9F23B798-9E84-4552-BA63-E776E805C424}" dt="2026-08-12T13:38:50.476" v="20" actId="22"/>
          <ac:picMkLst>
            <pc:docMk/>
            <pc:sldMk cId="0" sldId="266"/>
            <ac:picMk id="4" creationId="{E1E51232-398D-FA09-B4CE-BAB86691F1CE}"/>
          </ac:picMkLst>
        </pc:picChg>
      </pc:sldChg>
      <pc:sldChg chg="addSp delSp mod modNotesTx">
        <pc:chgData name="Lai, Wilson" userId="2840974a-0d84-4886-90a9-9a3ed79f3a48" providerId="ADAL" clId="{9F23B798-9E84-4552-BA63-E776E805C424}" dt="2026-08-12T23:47:12.876" v="37" actId="12"/>
        <pc:sldMkLst>
          <pc:docMk/>
          <pc:sldMk cId="0" sldId="267"/>
        </pc:sldMkLst>
        <pc:picChg chg="add">
          <ac:chgData name="Lai, Wilson" userId="2840974a-0d84-4886-90a9-9a3ed79f3a48" providerId="ADAL" clId="{9F23B798-9E84-4552-BA63-E776E805C424}" dt="2026-08-12T13:39:01.166" v="22" actId="22"/>
          <ac:picMkLst>
            <pc:docMk/>
            <pc:sldMk cId="0" sldId="267"/>
            <ac:picMk id="4" creationId="{BC21EDAD-4306-3E7E-CBA8-BCDCF7E36148}"/>
          </ac:picMkLst>
        </pc:picChg>
      </pc:sldChg>
      <pc:sldChg chg="addSp delSp mod modNotesTx">
        <pc:chgData name="Lai, Wilson" userId="2840974a-0d84-4886-90a9-9a3ed79f3a48" providerId="ADAL" clId="{9F23B798-9E84-4552-BA63-E776E805C424}" dt="2026-08-12T23:47:25.043" v="38" actId="12"/>
        <pc:sldMkLst>
          <pc:docMk/>
          <pc:sldMk cId="0" sldId="268"/>
        </pc:sldMkLst>
        <pc:picChg chg="add">
          <ac:chgData name="Lai, Wilson" userId="2840974a-0d84-4886-90a9-9a3ed79f3a48" providerId="ADAL" clId="{9F23B798-9E84-4552-BA63-E776E805C424}" dt="2026-08-12T13:39:11.555" v="24" actId="22"/>
          <ac:picMkLst>
            <pc:docMk/>
            <pc:sldMk cId="0" sldId="268"/>
            <ac:picMk id="4" creationId="{A339908E-7353-7365-D21D-BC7400B51783}"/>
          </ac:picMkLst>
        </pc:picChg>
      </pc:sldChg>
      <pc:sldChg chg="addSp delSp mod modNotesTx">
        <pc:chgData name="Lai, Wilson" userId="2840974a-0d84-4886-90a9-9a3ed79f3a48" providerId="ADAL" clId="{9F23B798-9E84-4552-BA63-E776E805C424}" dt="2026-08-12T23:47:41.517" v="39" actId="12"/>
        <pc:sldMkLst>
          <pc:docMk/>
          <pc:sldMk cId="269946403" sldId="269"/>
        </pc:sldMkLst>
        <pc:picChg chg="add">
          <ac:chgData name="Lai, Wilson" userId="2840974a-0d84-4886-90a9-9a3ed79f3a48" providerId="ADAL" clId="{9F23B798-9E84-4552-BA63-E776E805C424}" dt="2026-08-12T13:39:29.937" v="26" actId="22"/>
          <ac:picMkLst>
            <pc:docMk/>
            <pc:sldMk cId="269946403" sldId="269"/>
            <ac:picMk id="4" creationId="{9A7A7C7D-F01F-15F0-2341-F6520AA0DC4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A250AE-16D0-4A15-99DB-6502FBC38BAA}"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3ADCDC-FD5C-4761-8DB0-4870A56CD922}" type="slidenum">
              <a:rPr lang="en-US" smtClean="0"/>
              <a:t>‹#›</a:t>
            </a:fld>
            <a:endParaRPr lang="en-US"/>
          </a:p>
        </p:txBody>
      </p:sp>
    </p:spTree>
    <p:extLst>
      <p:ext uri="{BB962C8B-B14F-4D97-AF65-F5344CB8AC3E}">
        <p14:creationId xmlns:p14="http://schemas.microsoft.com/office/powerpoint/2010/main" val="1459388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diving into how to give your Google tools an 'AI Brain' and master the Google AI ecosystem to transform both your business and daily life. </a:t>
            </a:r>
          </a:p>
          <a:p>
            <a:r>
              <a:rPr lang="en-US" sz="1200" kern="1200" dirty="0">
                <a:solidFill>
                  <a:schemeClr val="tx1"/>
                </a:solidFill>
                <a:effectLst/>
                <a:latin typeface="+mn-lt"/>
                <a:ea typeface="+mn-ea"/>
                <a:cs typeface="+mn-cs"/>
              </a:rPr>
              <a:t>When most people talk about AI today, they immediately think of ChatGPT or Claude. But as former lawyer turned top e-commerce entrepreneur and AI creator Paul Lipsky points out, Google has built an extraordinarily powerful, end-to-end AI suite that many people are completely sleeping on. Today, we are going to look at the practical framework to master Google Gemini, </a:t>
            </a:r>
            <a:r>
              <a:rPr lang="en-US" sz="1200" kern="1200" dirty="0" err="1">
                <a:solidFill>
                  <a:schemeClr val="tx1"/>
                </a:solidFill>
                <a:effectLst/>
                <a:latin typeface="+mn-lt"/>
                <a:ea typeface="+mn-ea"/>
                <a:cs typeface="+mn-cs"/>
              </a:rPr>
              <a:t>NotebookLM</a:t>
            </a:r>
            <a:r>
              <a:rPr lang="en-US" sz="1200" kern="1200" dirty="0">
                <a:solidFill>
                  <a:schemeClr val="tx1"/>
                </a:solidFill>
                <a:effectLst/>
                <a:latin typeface="+mn-lt"/>
                <a:ea typeface="+mn-ea"/>
                <a:cs typeface="+mn-cs"/>
              </a:rPr>
              <a:t>, and Google AI Studio—turning everyday software into an automated productivity engine.</a:t>
            </a:r>
          </a:p>
          <a:p>
            <a:endParaRPr lang="en-US" dirty="0"/>
          </a:p>
          <a:p>
            <a:endParaRPr lang="en-US" dirty="0"/>
          </a:p>
          <a:p>
            <a:r>
              <a:rPr lang="en-US" dirty="0"/>
              <a:t>https://www.youtube.com/watch?v=aq_-15fCd-0</a:t>
            </a:r>
          </a:p>
        </p:txBody>
      </p:sp>
      <p:sp>
        <p:nvSpPr>
          <p:cNvPr id="4" name="Slide Number Placeholder 3"/>
          <p:cNvSpPr>
            <a:spLocks noGrp="1"/>
          </p:cNvSpPr>
          <p:nvPr>
            <p:ph type="sldNum" sz="quarter" idx="5"/>
          </p:nvPr>
        </p:nvSpPr>
        <p:spPr/>
        <p:txBody>
          <a:bodyPr/>
          <a:lstStyle/>
          <a:p>
            <a:fld id="{E23ADCDC-FD5C-4761-8DB0-4870A56CD922}" type="slidenum">
              <a:rPr lang="en-US" smtClean="0"/>
              <a:t>1</a:t>
            </a:fld>
            <a:endParaRPr lang="en-US"/>
          </a:p>
        </p:txBody>
      </p:sp>
    </p:spTree>
    <p:extLst>
      <p:ext uri="{BB962C8B-B14F-4D97-AF65-F5344CB8AC3E}">
        <p14:creationId xmlns:p14="http://schemas.microsoft.com/office/powerpoint/2010/main" val="3606690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address the elephant in the room: why aren't more businesses scaling with AI? The problem isn't that the technology isn't ready—it's how people are using it. </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Status Quo</a:t>
            </a:r>
            <a:r>
              <a:rPr lang="en-US" sz="1200" kern="1200" dirty="0">
                <a:solidFill>
                  <a:schemeClr val="tx1"/>
                </a:solidFill>
                <a:effectLst/>
                <a:latin typeface="+mn-lt"/>
                <a:ea typeface="+mn-ea"/>
                <a:cs typeface="+mn-cs"/>
              </a:rPr>
              <a:t> for most users is treat AI as a glorified search bar or basic chatbot—asking simple questions and receiving text paragraphs back. </a:t>
            </a:r>
          </a:p>
          <a:p>
            <a:r>
              <a:rPr lang="en-US" sz="1200" kern="1200" dirty="0">
                <a:solidFill>
                  <a:schemeClr val="tx1"/>
                </a:solidFill>
                <a:effectLst/>
                <a:latin typeface="+mn-lt"/>
                <a:ea typeface="+mn-ea"/>
                <a:cs typeface="+mn-cs"/>
              </a:rPr>
              <a:t>The real </a:t>
            </a:r>
            <a:r>
              <a:rPr lang="en-US" sz="1200" b="1" kern="1200" dirty="0">
                <a:solidFill>
                  <a:schemeClr val="tx1"/>
                </a:solidFill>
                <a:effectLst/>
                <a:latin typeface="+mn-lt"/>
                <a:ea typeface="+mn-ea"/>
                <a:cs typeface="+mn-cs"/>
              </a:rPr>
              <a:t>Opportunity</a:t>
            </a:r>
            <a:r>
              <a:rPr lang="en-US" sz="1200" kern="1200" dirty="0">
                <a:solidFill>
                  <a:schemeClr val="tx1"/>
                </a:solidFill>
                <a:effectLst/>
                <a:latin typeface="+mn-lt"/>
                <a:ea typeface="+mn-ea"/>
                <a:cs typeface="+mn-cs"/>
              </a:rPr>
              <a:t> lies in moving from passive chat to </a:t>
            </a:r>
            <a:r>
              <a:rPr lang="en-US" sz="1200" i="1" kern="1200" dirty="0">
                <a:solidFill>
                  <a:schemeClr val="tx1"/>
                </a:solidFill>
                <a:effectLst/>
                <a:latin typeface="+mn-lt"/>
                <a:ea typeface="+mn-ea"/>
                <a:cs typeface="+mn-cs"/>
              </a:rPr>
              <a:t>orchestrating entire workflows, synthesizing complex data, and building custom internal tools without code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Paul Lipsky highlighted a massive market gap: most business owners and legacy companies don't know how to implement these tools. As Paul puts it, </a:t>
            </a:r>
            <a:r>
              <a:rPr lang="en-US" sz="1200" i="1" kern="1200" dirty="0">
                <a:solidFill>
                  <a:schemeClr val="tx1"/>
                </a:solidFill>
                <a:effectLst/>
                <a:latin typeface="+mn-lt"/>
                <a:ea typeface="+mn-ea"/>
                <a:cs typeface="+mn-cs"/>
              </a:rPr>
              <a:t>'Just learn this stuff and bring it to businesses who don't know how to do it. That is the low-hanging fruit'</a:t>
            </a:r>
            <a:r>
              <a:rPr lang="en-US" sz="1200" kern="1200" dirty="0">
                <a:solidFill>
                  <a:schemeClr val="tx1"/>
                </a:solidFill>
                <a:effectLst/>
                <a:latin typeface="+mn-lt"/>
                <a:ea typeface="+mn-ea"/>
                <a:cs typeface="+mn-cs"/>
              </a:rPr>
              <a:t>. If you learn how to bridge this knowledge gap, you possess an incredible unfair advantage.</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2</a:t>
            </a:fld>
            <a:endParaRPr lang="en-US"/>
          </a:p>
        </p:txBody>
      </p:sp>
    </p:spTree>
    <p:extLst>
      <p:ext uri="{BB962C8B-B14F-4D97-AF65-F5344CB8AC3E}">
        <p14:creationId xmlns:p14="http://schemas.microsoft.com/office/powerpoint/2010/main" val="2933358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makes Google’s AI ecosystem distinctly different from standalone models like ChatGPT or Claude? It comes down to </a:t>
            </a:r>
            <a:r>
              <a:rPr lang="en-US" sz="1200" b="1" kern="1200" dirty="0">
                <a:solidFill>
                  <a:schemeClr val="tx1"/>
                </a:solidFill>
                <a:effectLst/>
                <a:latin typeface="+mn-lt"/>
                <a:ea typeface="+mn-ea"/>
                <a:cs typeface="+mn-cs"/>
              </a:rPr>
              <a:t>Native Integration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Standalone tools require third-party API connections, manual copying and pasting, or re-uploading files repeatedly. Google bypasses all of that by embedding AI directly into the G-Suite tools you already use daily—like Gmail, Drive, Calendar, Docs, and Sheets. </a:t>
            </a:r>
          </a:p>
          <a:p>
            <a:r>
              <a:rPr lang="en-US" sz="1200" kern="1200" dirty="0">
                <a:solidFill>
                  <a:schemeClr val="tx1"/>
                </a:solidFill>
                <a:effectLst/>
                <a:latin typeface="+mn-lt"/>
                <a:ea typeface="+mn-ea"/>
                <a:cs typeface="+mn-cs"/>
              </a:rPr>
              <a:t>It operates on </a:t>
            </a:r>
            <a:r>
              <a:rPr lang="en-US" sz="1200" b="1" kern="1200" dirty="0">
                <a:solidFill>
                  <a:schemeClr val="tx1"/>
                </a:solidFill>
                <a:effectLst/>
                <a:latin typeface="+mn-lt"/>
                <a:ea typeface="+mn-ea"/>
                <a:cs typeface="+mn-cs"/>
              </a:rPr>
              <a:t>Personal Intelligence</a:t>
            </a:r>
            <a:r>
              <a:rPr lang="en-US" sz="1200" kern="1200" dirty="0">
                <a:solidFill>
                  <a:schemeClr val="tx1"/>
                </a:solidFill>
                <a:effectLst/>
                <a:latin typeface="+mn-lt"/>
                <a:ea typeface="+mn-ea"/>
                <a:cs typeface="+mn-cs"/>
              </a:rPr>
              <a:t>. By enabling Google Connected Apps, Gemini simultaneously pulls context from across your entire suite in real time. For example, if you ask, </a:t>
            </a:r>
            <a:r>
              <a:rPr lang="en-US" sz="1200" i="1" kern="1200" dirty="0">
                <a:solidFill>
                  <a:schemeClr val="tx1"/>
                </a:solidFill>
                <a:effectLst/>
                <a:latin typeface="+mn-lt"/>
                <a:ea typeface="+mn-ea"/>
                <a:cs typeface="+mn-cs"/>
              </a:rPr>
              <a:t>'When is my flight next month and build me an itinerary?'</a:t>
            </a:r>
            <a:r>
              <a:rPr lang="en-US" sz="1200" kern="1200" dirty="0">
                <a:solidFill>
                  <a:schemeClr val="tx1"/>
                </a:solidFill>
                <a:effectLst/>
                <a:latin typeface="+mn-lt"/>
                <a:ea typeface="+mn-ea"/>
                <a:cs typeface="+mn-cs"/>
              </a:rPr>
              <a:t>, Gemini scans your Gmail inbox for airline confirmation emails, checks your Calendar for existing appointments, and references your Google Docs to instantly synthesize a full itinerary.</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3</a:t>
            </a:fld>
            <a:endParaRPr lang="en-US"/>
          </a:p>
        </p:txBody>
      </p:sp>
    </p:spTree>
    <p:extLst>
      <p:ext uri="{BB962C8B-B14F-4D97-AF65-F5344CB8AC3E}">
        <p14:creationId xmlns:p14="http://schemas.microsoft.com/office/powerpoint/2010/main" val="3401994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master the Google AI ecosystem, you don't need to learn dozens of disparate applications. You only need to understand a simple 3-step pipeline: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1: Gemini (The Assistant)</a:t>
            </a:r>
            <a:r>
              <a:rPr lang="en-US" sz="1200" kern="1200" dirty="0">
                <a:solidFill>
                  <a:schemeClr val="tx1"/>
                </a:solidFill>
                <a:effectLst/>
                <a:latin typeface="+mn-lt"/>
                <a:ea typeface="+mn-ea"/>
                <a:cs typeface="+mn-cs"/>
              </a:rPr>
              <a:t> – This is your central hub for everyday efficiency. It handles seamless G-Suite integration, rapid multimodal content creation (images, music, talking video avatars), and basic chat.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2: </a:t>
            </a:r>
            <a:r>
              <a:rPr lang="en-US" sz="1200" b="1" kern="1200" dirty="0" err="1">
                <a:solidFill>
                  <a:schemeClr val="tx1"/>
                </a:solidFill>
                <a:effectLst/>
                <a:latin typeface="+mn-lt"/>
                <a:ea typeface="+mn-ea"/>
                <a:cs typeface="+mn-cs"/>
              </a:rPr>
              <a:t>NotebookLM</a:t>
            </a:r>
            <a:r>
              <a:rPr lang="en-US" sz="1200" b="1" kern="1200" dirty="0">
                <a:solidFill>
                  <a:schemeClr val="tx1"/>
                </a:solidFill>
                <a:effectLst/>
                <a:latin typeface="+mn-lt"/>
                <a:ea typeface="+mn-ea"/>
                <a:cs typeface="+mn-cs"/>
              </a:rPr>
              <a:t> (The Researcher)</a:t>
            </a:r>
            <a:r>
              <a:rPr lang="en-US" sz="1200" kern="1200" dirty="0">
                <a:solidFill>
                  <a:schemeClr val="tx1"/>
                </a:solidFill>
                <a:effectLst/>
                <a:latin typeface="+mn-lt"/>
                <a:ea typeface="+mn-ea"/>
                <a:cs typeface="+mn-cs"/>
              </a:rPr>
              <a:t> – This is your dedicated research engine. Unlike general chatbots, </a:t>
            </a:r>
            <a:r>
              <a:rPr lang="en-US" sz="1200" kern="1200" dirty="0" err="1">
                <a:solidFill>
                  <a:schemeClr val="tx1"/>
                </a:solidFill>
                <a:effectLst/>
                <a:latin typeface="+mn-lt"/>
                <a:ea typeface="+mn-ea"/>
                <a:cs typeface="+mn-cs"/>
              </a:rPr>
              <a:t>NotebookLM</a:t>
            </a:r>
            <a:r>
              <a:rPr lang="en-US" sz="1200" kern="1200" dirty="0">
                <a:solidFill>
                  <a:schemeClr val="tx1"/>
                </a:solidFill>
                <a:effectLst/>
                <a:latin typeface="+mn-lt"/>
                <a:ea typeface="+mn-ea"/>
                <a:cs typeface="+mn-cs"/>
              </a:rPr>
              <a:t> performs deep data synthesis on uploaded documents, providing 100% grounded, hallucination-free knowledge and instant custom media generation.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3: Google AI Studio (The Builder)</a:t>
            </a:r>
            <a:r>
              <a:rPr lang="en-US" sz="1200" kern="1200" dirty="0">
                <a:solidFill>
                  <a:schemeClr val="tx1"/>
                </a:solidFill>
                <a:effectLst/>
                <a:latin typeface="+mn-lt"/>
                <a:ea typeface="+mn-ea"/>
                <a:cs typeface="+mn-cs"/>
              </a:rPr>
              <a:t> – When you're ready to move beyond basic assistant tasks, AI Studio provides developer-grade tinkering without requiring technical expertise. It allows you to 'Vibe Code' custom internal business tools using plain English.</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4</a:t>
            </a:fld>
            <a:endParaRPr lang="en-US"/>
          </a:p>
        </p:txBody>
      </p:sp>
    </p:spTree>
    <p:extLst>
      <p:ext uri="{BB962C8B-B14F-4D97-AF65-F5344CB8AC3E}">
        <p14:creationId xmlns:p14="http://schemas.microsoft.com/office/powerpoint/2010/main" val="1514517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closely at </a:t>
            </a:r>
            <a:r>
              <a:rPr lang="en-US" sz="1200" b="1" kern="1200" dirty="0">
                <a:solidFill>
                  <a:schemeClr val="tx1"/>
                </a:solidFill>
                <a:effectLst/>
                <a:latin typeface="+mn-lt"/>
                <a:ea typeface="+mn-ea"/>
                <a:cs typeface="+mn-cs"/>
              </a:rPr>
              <a:t>Gemini</a:t>
            </a:r>
            <a:r>
              <a:rPr lang="en-US" sz="1200" kern="1200" dirty="0">
                <a:solidFill>
                  <a:schemeClr val="tx1"/>
                </a:solidFill>
                <a:effectLst/>
                <a:latin typeface="+mn-lt"/>
                <a:ea typeface="+mn-ea"/>
                <a:cs typeface="+mn-cs"/>
              </a:rPr>
              <a:t>, which serves as your multimodal command center.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Email Automation</a:t>
            </a:r>
            <a:r>
              <a:rPr lang="en-US" sz="1200" kern="1200" dirty="0">
                <a:solidFill>
                  <a:schemeClr val="tx1"/>
                </a:solidFill>
                <a:effectLst/>
                <a:latin typeface="+mn-lt"/>
                <a:ea typeface="+mn-ea"/>
                <a:cs typeface="+mn-cs"/>
              </a:rPr>
              <a:t>: Gemini learns your pricing rates, tone of voice, and communication structure from your past sent emails. It automatically pre-drafts replies to inbound brand or client emails directly inside Gmail.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Visual Dashboards</a:t>
            </a:r>
            <a:r>
              <a:rPr lang="en-US" sz="1200" kern="1200" dirty="0">
                <a:solidFill>
                  <a:schemeClr val="tx1"/>
                </a:solidFill>
                <a:effectLst/>
                <a:latin typeface="+mn-lt"/>
                <a:ea typeface="+mn-ea"/>
                <a:cs typeface="+mn-cs"/>
              </a:rPr>
              <a:t>: Using the Canvas feature, Gemini can take raw CSV sales data or marketing spreadsheets and instantly convert them into interactive visual graphs and executive dashboards.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Video Avatars</a:t>
            </a:r>
            <a:r>
              <a:rPr lang="en-US" sz="1200" kern="1200" dirty="0">
                <a:solidFill>
                  <a:schemeClr val="tx1"/>
                </a:solidFill>
                <a:effectLst/>
                <a:latin typeface="+mn-lt"/>
                <a:ea typeface="+mn-ea"/>
                <a:cs typeface="+mn-cs"/>
              </a:rPr>
              <a:t>: Gemini features custom video avatar generation. From a single face and voice scan, you can generate photorealistic talking-head videos with natural camera movement and speech, perfect for quick explainer videos or ads.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Audio &amp; Music Generation</a:t>
            </a:r>
            <a:r>
              <a:rPr lang="en-US" sz="1200" kern="1200" dirty="0">
                <a:solidFill>
                  <a:schemeClr val="tx1"/>
                </a:solidFill>
                <a:effectLst/>
                <a:latin typeface="+mn-lt"/>
                <a:ea typeface="+mn-ea"/>
                <a:cs typeface="+mn-cs"/>
              </a:rPr>
              <a:t>: You can generate custom music tracks and sound effects based purely on plain-text emotional prompts.</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5</a:t>
            </a:fld>
            <a:endParaRPr lang="en-US"/>
          </a:p>
        </p:txBody>
      </p:sp>
    </p:spTree>
    <p:extLst>
      <p:ext uri="{BB962C8B-B14F-4D97-AF65-F5344CB8AC3E}">
        <p14:creationId xmlns:p14="http://schemas.microsoft.com/office/powerpoint/2010/main" val="2958327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examine Step 2: </a:t>
            </a:r>
            <a:r>
              <a:rPr lang="en-US" sz="1200" b="1" kern="1200" dirty="0" err="1">
                <a:solidFill>
                  <a:schemeClr val="tx1"/>
                </a:solidFill>
                <a:effectLst/>
                <a:latin typeface="+mn-lt"/>
                <a:ea typeface="+mn-ea"/>
                <a:cs typeface="+mn-cs"/>
              </a:rPr>
              <a:t>NotebookLM</a:t>
            </a:r>
            <a:r>
              <a:rPr lang="en-US" sz="1200" kern="1200" dirty="0">
                <a:solidFill>
                  <a:schemeClr val="tx1"/>
                </a:solidFill>
                <a:effectLst/>
                <a:latin typeface="+mn-lt"/>
                <a:ea typeface="+mn-ea"/>
                <a:cs typeface="+mn-cs"/>
              </a:rPr>
              <a:t>. The single biggest superpower of </a:t>
            </a:r>
            <a:r>
              <a:rPr lang="en-US" sz="1200" kern="1200" dirty="0" err="1">
                <a:solidFill>
                  <a:schemeClr val="tx1"/>
                </a:solidFill>
                <a:effectLst/>
                <a:latin typeface="+mn-lt"/>
                <a:ea typeface="+mn-ea"/>
                <a:cs typeface="+mn-cs"/>
              </a:rPr>
              <a:t>NotebookLM</a:t>
            </a:r>
            <a:r>
              <a:rPr lang="en-US" sz="1200" kern="1200" dirty="0">
                <a:solidFill>
                  <a:schemeClr val="tx1"/>
                </a:solidFill>
                <a:effectLst/>
                <a:latin typeface="+mn-lt"/>
                <a:ea typeface="+mn-ea"/>
                <a:cs typeface="+mn-cs"/>
              </a:rPr>
              <a:t> is </a:t>
            </a:r>
            <a:r>
              <a:rPr lang="en-US" sz="1200" b="1" kern="1200" dirty="0">
                <a:solidFill>
                  <a:schemeClr val="tx1"/>
                </a:solidFill>
                <a:effectLst/>
                <a:latin typeface="+mn-lt"/>
                <a:ea typeface="+mn-ea"/>
                <a:cs typeface="+mn-cs"/>
              </a:rPr>
              <a:t>Grounding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you use traditional LLMs, they draw from the open internet, which often leads to inaccurate answers or hallucinations. </a:t>
            </a:r>
            <a:r>
              <a:rPr lang="en-US" sz="1200" kern="1200" dirty="0" err="1">
                <a:solidFill>
                  <a:schemeClr val="tx1"/>
                </a:solidFill>
                <a:effectLst/>
                <a:latin typeface="+mn-lt"/>
                <a:ea typeface="+mn-ea"/>
                <a:cs typeface="+mn-cs"/>
              </a:rPr>
              <a:t>NotebookLM</a:t>
            </a:r>
            <a:r>
              <a:rPr lang="en-US" sz="1200" kern="1200" dirty="0">
                <a:solidFill>
                  <a:schemeClr val="tx1"/>
                </a:solidFill>
                <a:effectLst/>
                <a:latin typeface="+mn-lt"/>
                <a:ea typeface="+mn-ea"/>
                <a:cs typeface="+mn-cs"/>
              </a:rPr>
              <a:t> acts as a strict filter. </a:t>
            </a:r>
          </a:p>
          <a:p>
            <a:r>
              <a:rPr lang="en-US" sz="1200" kern="1200" dirty="0">
                <a:solidFill>
                  <a:schemeClr val="tx1"/>
                </a:solidFill>
                <a:effectLst/>
                <a:latin typeface="+mn-lt"/>
                <a:ea typeface="+mn-ea"/>
                <a:cs typeface="+mn-cs"/>
              </a:rPr>
              <a:t>You feed it unstructured raw inputs—such as PDFs, CSVs, YouTube links, Google Docs, or research papers. The Grounding Filter forces the model to draw answers </a:t>
            </a:r>
            <a:r>
              <a:rPr lang="en-US" sz="1200" b="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from your uploaded, trusted sources. It effectively creates an infallible subject-matter expert on your exact data.</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6</a:t>
            </a:fld>
            <a:endParaRPr lang="en-US"/>
          </a:p>
        </p:txBody>
      </p:sp>
    </p:spTree>
    <p:extLst>
      <p:ext uri="{BB962C8B-B14F-4D97-AF65-F5344CB8AC3E}">
        <p14:creationId xmlns:p14="http://schemas.microsoft.com/office/powerpoint/2010/main" val="1604596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your data is grounded inside </a:t>
            </a:r>
            <a:r>
              <a:rPr lang="en-US" sz="1200" kern="1200" dirty="0" err="1">
                <a:solidFill>
                  <a:schemeClr val="tx1"/>
                </a:solidFill>
                <a:effectLst/>
                <a:latin typeface="+mn-lt"/>
                <a:ea typeface="+mn-ea"/>
                <a:cs typeface="+mn-cs"/>
              </a:rPr>
              <a:t>NotebookLM</a:t>
            </a:r>
            <a:r>
              <a:rPr lang="en-US" sz="1200" kern="1200" dirty="0">
                <a:solidFill>
                  <a:schemeClr val="tx1"/>
                </a:solidFill>
                <a:effectLst/>
                <a:latin typeface="+mn-lt"/>
                <a:ea typeface="+mn-ea"/>
                <a:cs typeface="+mn-cs"/>
              </a:rPr>
              <a:t>, you can instantly turn raw text into studio-grade media assets with single-click actions: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Audio Overviews</a:t>
            </a:r>
            <a:r>
              <a:rPr lang="en-US" sz="1200" kern="1200" dirty="0">
                <a:solidFill>
                  <a:schemeClr val="tx1"/>
                </a:solidFill>
                <a:effectLst/>
                <a:latin typeface="+mn-lt"/>
                <a:ea typeface="+mn-ea"/>
                <a:cs typeface="+mn-cs"/>
              </a:rPr>
              <a:t>: Converts your documents into hyper-realistic, two-host AI podcast discussions where hosts banter, unpack complex topics, and summarize your data dynamically.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Explainer &amp; Short Videos</a:t>
            </a:r>
            <a:r>
              <a:rPr lang="en-US" sz="1200" kern="1200" dirty="0">
                <a:solidFill>
                  <a:schemeClr val="tx1"/>
                </a:solidFill>
                <a:effectLst/>
                <a:latin typeface="+mn-lt"/>
                <a:ea typeface="+mn-ea"/>
                <a:cs typeface="+mn-cs"/>
              </a:rPr>
              <a:t>: Scripts, outlines, and generates b-roll-heavy explainer videos and vertical shorts optimized for mobile learning or content creation.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Automated Pitch Decks &amp; Infographics</a:t>
            </a:r>
            <a:r>
              <a:rPr lang="en-US" sz="1200" kern="1200" dirty="0">
                <a:solidFill>
                  <a:schemeClr val="tx1"/>
                </a:solidFill>
                <a:effectLst/>
                <a:latin typeface="+mn-lt"/>
                <a:ea typeface="+mn-ea"/>
                <a:cs typeface="+mn-cs"/>
              </a:rPr>
              <a:t>: Analyzes uploaded business metrics or corporate reports and formats them into clean slide decks and infographic visual summaries.</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7</a:t>
            </a:fld>
            <a:endParaRPr lang="en-US"/>
          </a:p>
        </p:txBody>
      </p:sp>
    </p:spTree>
    <p:extLst>
      <p:ext uri="{BB962C8B-B14F-4D97-AF65-F5344CB8AC3E}">
        <p14:creationId xmlns:p14="http://schemas.microsoft.com/office/powerpoint/2010/main" val="3569329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we arrive at Step 3: </a:t>
            </a:r>
            <a:r>
              <a:rPr lang="en-US" sz="1200" b="1" kern="1200" dirty="0">
                <a:solidFill>
                  <a:schemeClr val="tx1"/>
                </a:solidFill>
                <a:effectLst/>
                <a:latin typeface="+mn-lt"/>
                <a:ea typeface="+mn-ea"/>
                <a:cs typeface="+mn-cs"/>
              </a:rPr>
              <a:t>Google AI Studio</a:t>
            </a:r>
            <a:r>
              <a:rPr lang="en-US" sz="1200" kern="1200" dirty="0">
                <a:solidFill>
                  <a:schemeClr val="tx1"/>
                </a:solidFill>
                <a:effectLst/>
                <a:latin typeface="+mn-lt"/>
                <a:ea typeface="+mn-ea"/>
                <a:cs typeface="+mn-cs"/>
              </a:rPr>
              <a:t> and the era of </a:t>
            </a:r>
            <a:r>
              <a:rPr lang="en-US" sz="1200" b="1" kern="1200" dirty="0">
                <a:solidFill>
                  <a:schemeClr val="tx1"/>
                </a:solidFill>
                <a:effectLst/>
                <a:latin typeface="+mn-lt"/>
                <a:ea typeface="+mn-ea"/>
                <a:cs typeface="+mn-cs"/>
              </a:rPr>
              <a:t>Vibe Coding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Historically, building business apps required software engineering. Today, you can simply type a prompt describing what you want—for example, </a:t>
            </a:r>
            <a:r>
              <a:rPr lang="en-US" sz="1200" i="1" kern="1200" dirty="0">
                <a:solidFill>
                  <a:schemeClr val="tx1"/>
                </a:solidFill>
                <a:effectLst/>
                <a:latin typeface="+mn-lt"/>
                <a:ea typeface="+mn-ea"/>
                <a:cs typeface="+mn-cs"/>
              </a:rPr>
              <a:t>'Build me a retro 80s expense tracker'</a:t>
            </a:r>
            <a:r>
              <a:rPr lang="en-US" sz="1200" kern="1200" dirty="0">
                <a:solidFill>
                  <a:schemeClr val="tx1"/>
                </a:solidFill>
                <a:effectLst/>
                <a:latin typeface="+mn-lt"/>
                <a:ea typeface="+mn-ea"/>
                <a:cs typeface="+mn-cs"/>
              </a:rPr>
              <a:t>—and the platform generates a fully working web application. </a:t>
            </a:r>
          </a:p>
          <a:p>
            <a:r>
              <a:rPr lang="en-US" sz="1200" kern="1200" dirty="0">
                <a:solidFill>
                  <a:schemeClr val="tx1"/>
                </a:solidFill>
                <a:effectLst/>
                <a:latin typeface="+mn-lt"/>
                <a:ea typeface="+mn-ea"/>
                <a:cs typeface="+mn-cs"/>
              </a:rPr>
              <a:t>The real magic is </a:t>
            </a:r>
            <a:r>
              <a:rPr lang="en-US" sz="1200" b="1" kern="1200" dirty="0">
                <a:solidFill>
                  <a:schemeClr val="tx1"/>
                </a:solidFill>
                <a:effectLst/>
                <a:latin typeface="+mn-lt"/>
                <a:ea typeface="+mn-ea"/>
                <a:cs typeface="+mn-cs"/>
              </a:rPr>
              <a:t>The Power of Fixing</a:t>
            </a:r>
            <a:r>
              <a:rPr lang="en-US" sz="1200" kern="1200" dirty="0">
                <a:solidFill>
                  <a:schemeClr val="tx1"/>
                </a:solidFill>
                <a:effectLst/>
                <a:latin typeface="+mn-lt"/>
                <a:ea typeface="+mn-ea"/>
                <a:cs typeface="+mn-cs"/>
              </a:rPr>
              <a:t>. Zero coding background is required. As Paul Lipsky demonstrated, if an app throws an error code, you don't need to understand it. You simply copy and paste the error message back into the AI, and it rewrites its own logic to fix the bug instantly.</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8</a:t>
            </a:fld>
            <a:endParaRPr lang="en-US"/>
          </a:p>
        </p:txBody>
      </p:sp>
    </p:spTree>
    <p:extLst>
      <p:ext uri="{BB962C8B-B14F-4D97-AF65-F5344CB8AC3E}">
        <p14:creationId xmlns:p14="http://schemas.microsoft.com/office/powerpoint/2010/main" val="1051275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Vibe Coding an application, how do you construct the perfect prompt? Use this 3-part formula: </a:t>
            </a:r>
          </a:p>
          <a:p>
            <a:r>
              <a:rPr lang="en-US" sz="1200" kern="1200" dirty="0">
                <a:solidFill>
                  <a:schemeClr val="tx1"/>
                </a:solidFill>
                <a:effectLst/>
                <a:latin typeface="+mn-lt"/>
                <a:ea typeface="+mn-ea"/>
                <a:cs typeface="+mn-cs"/>
              </a:rPr>
              <a:t>Core Function + The Vibe + Visual Inspiration = Custom App</a:t>
            </a:r>
          </a:p>
          <a:p>
            <a:pPr marL="228600" indent="-228600">
              <a:buFont typeface="+mj-lt"/>
              <a:buAutoNum type="arabicPeriod"/>
            </a:pPr>
            <a:r>
              <a:rPr lang="en-US" sz="1200" b="1" kern="1200" dirty="0">
                <a:solidFill>
                  <a:schemeClr val="tx1"/>
                </a:solidFill>
                <a:effectLst/>
                <a:latin typeface="+mn-lt"/>
                <a:ea typeface="+mn-ea"/>
                <a:cs typeface="+mn-cs"/>
              </a:rPr>
              <a:t>Core Function</a:t>
            </a:r>
            <a:r>
              <a:rPr lang="en-US" sz="1200" kern="1200" dirty="0">
                <a:solidFill>
                  <a:schemeClr val="tx1"/>
                </a:solidFill>
                <a:effectLst/>
                <a:latin typeface="+mn-lt"/>
                <a:ea typeface="+mn-ea"/>
                <a:cs typeface="+mn-cs"/>
              </a:rPr>
              <a:t>: Define what the app does. Always start with a Minimum Viable Product (MVP) before adding complex features. </a:t>
            </a:r>
          </a:p>
          <a:p>
            <a:pPr marL="228600" indent="-228600">
              <a:buFont typeface="+mj-lt"/>
              <a:buAutoNum type="arabicPeriod"/>
            </a:pPr>
            <a:r>
              <a:rPr lang="en-US" sz="1200" b="1" kern="1200" dirty="0">
                <a:solidFill>
                  <a:schemeClr val="tx1"/>
                </a:solidFill>
                <a:effectLst/>
                <a:latin typeface="+mn-lt"/>
                <a:ea typeface="+mn-ea"/>
                <a:cs typeface="+mn-cs"/>
              </a:rPr>
              <a:t>The Vibe</a:t>
            </a:r>
            <a:r>
              <a:rPr lang="en-US" sz="1200" kern="1200" dirty="0">
                <a:solidFill>
                  <a:schemeClr val="tx1"/>
                </a:solidFill>
                <a:effectLst/>
                <a:latin typeface="+mn-lt"/>
                <a:ea typeface="+mn-ea"/>
                <a:cs typeface="+mn-cs"/>
              </a:rPr>
              <a:t>: Describe how the interface should feel (e.g., 'Retro 80s arcade', 'Clean corporate minimalist'). </a:t>
            </a:r>
          </a:p>
          <a:p>
            <a:pPr marL="228600" indent="-228600">
              <a:buFont typeface="+mj-lt"/>
              <a:buAutoNum type="arabicPeriod"/>
            </a:pPr>
            <a:r>
              <a:rPr lang="en-US" sz="1200" b="1" kern="1200" dirty="0">
                <a:solidFill>
                  <a:schemeClr val="tx1"/>
                </a:solidFill>
                <a:effectLst/>
                <a:latin typeface="+mn-lt"/>
                <a:ea typeface="+mn-ea"/>
                <a:cs typeface="+mn-cs"/>
              </a:rPr>
              <a:t>Visual Inspiration</a:t>
            </a:r>
            <a:r>
              <a:rPr lang="en-US" sz="1200" kern="1200" dirty="0">
                <a:solidFill>
                  <a:schemeClr val="tx1"/>
                </a:solidFill>
                <a:effectLst/>
                <a:latin typeface="+mn-lt"/>
                <a:ea typeface="+mn-ea"/>
                <a:cs typeface="+mn-cs"/>
              </a:rPr>
              <a:t>: Upload screenshots of existing designs or layouts you like so the AI understands your target aesthetic.</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9</a:t>
            </a:fld>
            <a:endParaRPr lang="en-US"/>
          </a:p>
        </p:txBody>
      </p:sp>
    </p:spTree>
    <p:extLst>
      <p:ext uri="{BB962C8B-B14F-4D97-AF65-F5344CB8AC3E}">
        <p14:creationId xmlns:p14="http://schemas.microsoft.com/office/powerpoint/2010/main" val="934177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Using any single AI tool in isolation yields modest productivity gains. But chaining these tools together exponentially scales your output—creating a 20x content and business workflow: </a:t>
            </a:r>
          </a:p>
          <a:p>
            <a:pPr marL="228600" indent="-228600">
              <a:buFont typeface="+mj-lt"/>
              <a:buAutoNum type="arabicPeriod"/>
            </a:pPr>
            <a:r>
              <a:rPr lang="en-US" sz="1200" b="1" kern="1200" dirty="0">
                <a:solidFill>
                  <a:schemeClr val="tx1"/>
                </a:solidFill>
                <a:effectLst/>
                <a:latin typeface="+mn-lt"/>
                <a:ea typeface="+mn-ea"/>
                <a:cs typeface="+mn-cs"/>
              </a:rPr>
              <a:t>Research (</a:t>
            </a:r>
            <a:r>
              <a:rPr lang="en-US" sz="1200" b="1" kern="1200" dirty="0" err="1">
                <a:solidFill>
                  <a:schemeClr val="tx1"/>
                </a:solidFill>
                <a:effectLst/>
                <a:latin typeface="+mn-lt"/>
                <a:ea typeface="+mn-ea"/>
                <a:cs typeface="+mn-cs"/>
              </a:rPr>
              <a:t>NotebookLM</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Ingest research papers or industry YouTube links to identify trends and generate a refined video script. </a:t>
            </a:r>
          </a:p>
          <a:p>
            <a:pPr marL="228600" indent="-228600">
              <a:buFont typeface="+mj-lt"/>
              <a:buAutoNum type="arabicPeriod"/>
            </a:pPr>
            <a:r>
              <a:rPr lang="en-US" sz="1200" b="1" kern="1200" dirty="0">
                <a:solidFill>
                  <a:schemeClr val="tx1"/>
                </a:solidFill>
                <a:effectLst/>
                <a:latin typeface="+mn-lt"/>
                <a:ea typeface="+mn-ea"/>
                <a:cs typeface="+mn-cs"/>
              </a:rPr>
              <a:t>Visuals (</a:t>
            </a:r>
            <a:r>
              <a:rPr lang="en-US" sz="1200" b="1" kern="1200" dirty="0" err="1">
                <a:solidFill>
                  <a:schemeClr val="tx1"/>
                </a:solidFill>
                <a:effectLst/>
                <a:latin typeface="+mn-lt"/>
                <a:ea typeface="+mn-ea"/>
                <a:cs typeface="+mn-cs"/>
              </a:rPr>
              <a:t>NotebookLM</a:t>
            </a:r>
            <a:r>
              <a:rPr lang="en-US" sz="1200" b="1" kern="1200" dirty="0">
                <a:solidFill>
                  <a:schemeClr val="tx1"/>
                </a:solidFill>
                <a:effectLst/>
                <a:latin typeface="+mn-lt"/>
                <a:ea typeface="+mn-ea"/>
                <a:cs typeface="+mn-cs"/>
              </a:rPr>
              <a:t> / Studio)</a:t>
            </a:r>
            <a:r>
              <a:rPr lang="en-US" sz="1200" kern="1200" dirty="0">
                <a:solidFill>
                  <a:schemeClr val="tx1"/>
                </a:solidFill>
                <a:effectLst/>
                <a:latin typeface="+mn-lt"/>
                <a:ea typeface="+mn-ea"/>
                <a:cs typeface="+mn-cs"/>
              </a:rPr>
              <a:t>: Generate B-roll concepts or build a custom thumbnail app to create visual assets. </a:t>
            </a:r>
          </a:p>
          <a:p>
            <a:pPr marL="228600" indent="-228600">
              <a:buFont typeface="+mj-lt"/>
              <a:buAutoNum type="arabicPeriod"/>
            </a:pPr>
            <a:r>
              <a:rPr lang="en-US" sz="1200" b="1" kern="1200" dirty="0">
                <a:solidFill>
                  <a:schemeClr val="tx1"/>
                </a:solidFill>
                <a:effectLst/>
                <a:latin typeface="+mn-lt"/>
                <a:ea typeface="+mn-ea"/>
                <a:cs typeface="+mn-cs"/>
              </a:rPr>
              <a:t>Production (Gemini)</a:t>
            </a:r>
            <a:r>
              <a:rPr lang="en-US" sz="1200" kern="1200" dirty="0">
                <a:solidFill>
                  <a:schemeClr val="tx1"/>
                </a:solidFill>
                <a:effectLst/>
                <a:latin typeface="+mn-lt"/>
                <a:ea typeface="+mn-ea"/>
                <a:cs typeface="+mn-cs"/>
              </a:rPr>
              <a:t>: Feed your script into your personalized Gemini Video Avatar to produce a clear talking-head video without turning on a camera. </a:t>
            </a:r>
          </a:p>
          <a:p>
            <a:pPr marL="228600" indent="-228600">
              <a:buFont typeface="+mj-lt"/>
              <a:buAutoNum type="arabicPeriod"/>
            </a:pPr>
            <a:r>
              <a:rPr lang="en-US" sz="1200" b="1" kern="1200" dirty="0">
                <a:solidFill>
                  <a:schemeClr val="tx1"/>
                </a:solidFill>
                <a:effectLst/>
                <a:latin typeface="+mn-lt"/>
                <a:ea typeface="+mn-ea"/>
                <a:cs typeface="+mn-cs"/>
              </a:rPr>
              <a:t>Exponential Output</a:t>
            </a:r>
            <a:r>
              <a:rPr lang="en-US" sz="1200" kern="1200" dirty="0">
                <a:solidFill>
                  <a:schemeClr val="tx1"/>
                </a:solidFill>
                <a:effectLst/>
                <a:latin typeface="+mn-lt"/>
                <a:ea typeface="+mn-ea"/>
                <a:cs typeface="+mn-cs"/>
              </a:rPr>
              <a:t>: Dozens of high-quality assets produced in hours, completely camera-free and with zero coding.</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10</a:t>
            </a:fld>
            <a:endParaRPr lang="en-US"/>
          </a:p>
        </p:txBody>
      </p:sp>
    </p:spTree>
    <p:extLst>
      <p:ext uri="{BB962C8B-B14F-4D97-AF65-F5344CB8AC3E}">
        <p14:creationId xmlns:p14="http://schemas.microsoft.com/office/powerpoint/2010/main" val="4222403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keep your team focused, use this </a:t>
            </a:r>
            <a:r>
              <a:rPr lang="en-US" sz="1200" b="1" kern="1200" dirty="0">
                <a:solidFill>
                  <a:schemeClr val="tx1"/>
                </a:solidFill>
                <a:effectLst/>
                <a:latin typeface="+mn-lt"/>
                <a:ea typeface="+mn-ea"/>
                <a:cs typeface="+mn-cs"/>
              </a:rPr>
              <a:t>Diagnostic Matrix</a:t>
            </a:r>
            <a:r>
              <a:rPr lang="en-US" sz="1200" kern="1200" dirty="0">
                <a:solidFill>
                  <a:schemeClr val="tx1"/>
                </a:solidFill>
                <a:effectLst/>
                <a:latin typeface="+mn-lt"/>
                <a:ea typeface="+mn-ea"/>
                <a:cs typeface="+mn-cs"/>
              </a:rPr>
              <a:t> to decide which tool to deploy for a given challenge: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Gemini</a:t>
            </a:r>
            <a:r>
              <a:rPr lang="en-US" sz="1200" kern="1200" dirty="0">
                <a:solidFill>
                  <a:schemeClr val="tx1"/>
                </a:solidFill>
                <a:effectLst/>
                <a:latin typeface="+mn-lt"/>
                <a:ea typeface="+mn-ea"/>
                <a:cs typeface="+mn-cs"/>
              </a:rPr>
              <a:t>: Best for daily workflows and inbox management. Superpower: Personal Intelligence across G-Suite. Ideal use case: Pre-drafting email replies and visual data analysis. </a:t>
            </a:r>
          </a:p>
          <a:p>
            <a:pPr marL="171450" indent="-171450">
              <a:buFont typeface="Arial" panose="020B0604020202020204" pitchFamily="34" charset="0"/>
              <a:buChar char="•"/>
            </a:pPr>
            <a:r>
              <a:rPr lang="en-US" sz="1200" b="1" kern="1200" dirty="0" err="1">
                <a:solidFill>
                  <a:schemeClr val="tx1"/>
                </a:solidFill>
                <a:effectLst/>
                <a:latin typeface="+mn-lt"/>
                <a:ea typeface="+mn-ea"/>
                <a:cs typeface="+mn-cs"/>
              </a:rPr>
              <a:t>NotebookLM</a:t>
            </a:r>
            <a:r>
              <a:rPr lang="en-US" sz="1200" kern="1200" dirty="0">
                <a:solidFill>
                  <a:schemeClr val="tx1"/>
                </a:solidFill>
                <a:effectLst/>
                <a:latin typeface="+mn-lt"/>
                <a:ea typeface="+mn-ea"/>
                <a:cs typeface="+mn-cs"/>
              </a:rPr>
              <a:t>: Best for deep research and data synthesis. Superpower: Grounded, hallucination-free output. Ideal use case: Turning long PDFs/CSVs into audio podcasts, shorts, or slide decks.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Google AI Studio</a:t>
            </a:r>
            <a:r>
              <a:rPr lang="en-US" sz="1200" kern="1200" dirty="0">
                <a:solidFill>
                  <a:schemeClr val="tx1"/>
                </a:solidFill>
                <a:effectLst/>
                <a:latin typeface="+mn-lt"/>
                <a:ea typeface="+mn-ea"/>
                <a:cs typeface="+mn-cs"/>
              </a:rPr>
              <a:t>: Best for custom internal tools. Superpower: Plain-English Vibe Coding. Ideal use case: Building custom, free web apps like budget trackers or thumbnail generators.</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11</a:t>
            </a:fld>
            <a:endParaRPr lang="en-US"/>
          </a:p>
        </p:txBody>
      </p:sp>
    </p:spTree>
    <p:extLst>
      <p:ext uri="{BB962C8B-B14F-4D97-AF65-F5344CB8AC3E}">
        <p14:creationId xmlns:p14="http://schemas.microsoft.com/office/powerpoint/2010/main" val="3006626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truly adopt this system, you must undergo a </a:t>
            </a:r>
            <a:r>
              <a:rPr lang="en-US" sz="1200" b="1" kern="1200" dirty="0">
                <a:solidFill>
                  <a:schemeClr val="tx1"/>
                </a:solidFill>
                <a:effectLst/>
                <a:latin typeface="+mn-lt"/>
                <a:ea typeface="+mn-ea"/>
                <a:cs typeface="+mn-cs"/>
              </a:rPr>
              <a:t>3-Day Mindset Shift</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Challenge</a:t>
            </a:r>
            <a:r>
              <a:rPr lang="en-US" sz="1200" kern="1200" dirty="0">
                <a:solidFill>
                  <a:schemeClr val="tx1"/>
                </a:solidFill>
                <a:effectLst/>
                <a:latin typeface="+mn-lt"/>
                <a:ea typeface="+mn-ea"/>
                <a:cs typeface="+mn-cs"/>
              </a:rPr>
              <a:t>: For the next 3 days, force yourself to attempt </a:t>
            </a:r>
            <a:r>
              <a:rPr lang="en-US" sz="1200" i="1" kern="1200" dirty="0">
                <a:solidFill>
                  <a:schemeClr val="tx1"/>
                </a:solidFill>
                <a:effectLst/>
                <a:latin typeface="+mn-lt"/>
                <a:ea typeface="+mn-ea"/>
                <a:cs typeface="+mn-cs"/>
              </a:rPr>
              <a:t>every</a:t>
            </a:r>
            <a:r>
              <a:rPr lang="en-US" sz="1200" kern="1200" dirty="0">
                <a:solidFill>
                  <a:schemeClr val="tx1"/>
                </a:solidFill>
                <a:effectLst/>
                <a:latin typeface="+mn-lt"/>
                <a:ea typeface="+mn-ea"/>
                <a:cs typeface="+mn-cs"/>
              </a:rPr>
              <a:t> computer task with AI first.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Goal</a:t>
            </a:r>
            <a:r>
              <a:rPr lang="en-US" sz="1200" kern="1200" dirty="0">
                <a:solidFill>
                  <a:schemeClr val="tx1"/>
                </a:solidFill>
                <a:effectLst/>
                <a:latin typeface="+mn-lt"/>
                <a:ea typeface="+mn-ea"/>
                <a:cs typeface="+mn-cs"/>
              </a:rPr>
              <a:t>: Push past the initial clunkiness. The real barrier to AI adoption isn't technical complexity—it's our muscle memory of manual execution.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Ultimate Question</a:t>
            </a:r>
            <a:r>
              <a:rPr lang="en-US" sz="1200" kern="1200" dirty="0">
                <a:solidFill>
                  <a:schemeClr val="tx1"/>
                </a:solidFill>
                <a:effectLst/>
                <a:latin typeface="+mn-lt"/>
                <a:ea typeface="+mn-ea"/>
                <a:cs typeface="+mn-cs"/>
              </a:rPr>
              <a:t>: Stop acting as the operator typing out every line. Act as the manager. Constantly ask your AI: </a:t>
            </a:r>
            <a:r>
              <a:rPr lang="en-US" sz="1200" i="1" kern="1200" dirty="0">
                <a:solidFill>
                  <a:schemeClr val="tx1"/>
                </a:solidFill>
                <a:effectLst/>
                <a:latin typeface="+mn-lt"/>
                <a:ea typeface="+mn-ea"/>
                <a:cs typeface="+mn-cs"/>
              </a:rPr>
              <a:t>'How can you do this faster for me?'</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12</a:t>
            </a:fld>
            <a:endParaRPr lang="en-US"/>
          </a:p>
        </p:txBody>
      </p:sp>
    </p:spTree>
    <p:extLst>
      <p:ext uri="{BB962C8B-B14F-4D97-AF65-F5344CB8AC3E}">
        <p14:creationId xmlns:p14="http://schemas.microsoft.com/office/powerpoint/2010/main" val="138655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Google offers a non-coder's gateway to total business automation. </a:t>
            </a:r>
          </a:p>
          <a:p>
            <a:r>
              <a:rPr lang="en-US" sz="1200" kern="1200" dirty="0">
                <a:solidFill>
                  <a:schemeClr val="tx1"/>
                </a:solidFill>
                <a:effectLst/>
                <a:latin typeface="+mn-lt"/>
                <a:ea typeface="+mn-ea"/>
                <a:cs typeface="+mn-cs"/>
              </a:rPr>
              <a:t>Remember the </a:t>
            </a:r>
            <a:r>
              <a:rPr lang="en-US" sz="1200" b="1" kern="1200" dirty="0">
                <a:solidFill>
                  <a:schemeClr val="tx1"/>
                </a:solidFill>
                <a:effectLst/>
                <a:latin typeface="+mn-lt"/>
                <a:ea typeface="+mn-ea"/>
                <a:cs typeface="+mn-cs"/>
              </a:rPr>
              <a:t>Google AI Trinity</a:t>
            </a:r>
            <a:r>
              <a:rPr lang="en-US" sz="1200" kern="1200" dirty="0">
                <a:solidFill>
                  <a:schemeClr val="tx1"/>
                </a:solidFill>
                <a:effectLst/>
                <a:latin typeface="+mn-lt"/>
                <a:ea typeface="+mn-ea"/>
                <a:cs typeface="+mn-cs"/>
              </a:rPr>
              <a:t>: </a:t>
            </a:r>
          </a:p>
          <a:p>
            <a:pPr marL="228600" indent="-228600">
              <a:buFont typeface="+mj-lt"/>
              <a:buAutoNum type="arabicPeriod"/>
            </a:pPr>
            <a:r>
              <a:rPr lang="en-US" sz="1200" b="1" kern="1200" dirty="0">
                <a:solidFill>
                  <a:schemeClr val="tx1"/>
                </a:solidFill>
                <a:effectLst/>
                <a:latin typeface="+mn-lt"/>
                <a:ea typeface="+mn-ea"/>
                <a:cs typeface="+mn-cs"/>
              </a:rPr>
              <a:t>Gemini</a:t>
            </a:r>
            <a:r>
              <a:rPr lang="en-US" sz="1200" kern="1200" dirty="0">
                <a:solidFill>
                  <a:schemeClr val="tx1"/>
                </a:solidFill>
                <a:effectLst/>
                <a:latin typeface="+mn-lt"/>
                <a:ea typeface="+mn-ea"/>
                <a:cs typeface="+mn-cs"/>
              </a:rPr>
              <a:t>: Your integrated daily productivity hub. </a:t>
            </a:r>
          </a:p>
          <a:p>
            <a:pPr marL="228600" indent="-228600">
              <a:buFont typeface="+mj-lt"/>
              <a:buAutoNum type="arabicPeriod"/>
            </a:pPr>
            <a:r>
              <a:rPr lang="en-US" sz="1200" b="1" kern="1200" dirty="0" err="1">
                <a:solidFill>
                  <a:schemeClr val="tx1"/>
                </a:solidFill>
                <a:effectLst/>
                <a:latin typeface="+mn-lt"/>
                <a:ea typeface="+mn-ea"/>
                <a:cs typeface="+mn-cs"/>
              </a:rPr>
              <a:t>NotebookLM</a:t>
            </a:r>
            <a:r>
              <a:rPr lang="en-US" sz="1200" kern="1200" dirty="0">
                <a:solidFill>
                  <a:schemeClr val="tx1"/>
                </a:solidFill>
                <a:effectLst/>
                <a:latin typeface="+mn-lt"/>
                <a:ea typeface="+mn-ea"/>
                <a:cs typeface="+mn-cs"/>
              </a:rPr>
              <a:t>: Your grounded research engine. </a:t>
            </a:r>
          </a:p>
          <a:p>
            <a:pPr marL="228600" indent="-228600">
              <a:buFont typeface="+mj-lt"/>
              <a:buAutoNum type="arabicPeriod"/>
            </a:pPr>
            <a:r>
              <a:rPr lang="en-US" sz="1200" b="1" kern="1200" dirty="0">
                <a:solidFill>
                  <a:schemeClr val="tx1"/>
                </a:solidFill>
                <a:effectLst/>
                <a:latin typeface="+mn-lt"/>
                <a:ea typeface="+mn-ea"/>
                <a:cs typeface="+mn-cs"/>
              </a:rPr>
              <a:t>Google AI Studio</a:t>
            </a:r>
            <a:r>
              <a:rPr lang="en-US" sz="1200" kern="1200" dirty="0">
                <a:solidFill>
                  <a:schemeClr val="tx1"/>
                </a:solidFill>
                <a:effectLst/>
                <a:latin typeface="+mn-lt"/>
                <a:ea typeface="+mn-ea"/>
                <a:cs typeface="+mn-cs"/>
              </a:rPr>
              <a:t>: Your no-code solution builder. </a:t>
            </a:r>
          </a:p>
          <a:p>
            <a:r>
              <a:rPr lang="en-US" sz="1200" kern="1200" dirty="0">
                <a:solidFill>
                  <a:schemeClr val="tx1"/>
                </a:solidFill>
                <a:effectLst/>
                <a:latin typeface="+mn-lt"/>
                <a:ea typeface="+mn-ea"/>
                <a:cs typeface="+mn-cs"/>
              </a:rPr>
              <a:t>By shifting your workflow to zero-manual data entry, converting raw notebooks into dynamic content pipelines, and setting up personalized business intelligence briefs every morning, you can operate at 20x capacity starting today. Thank you!" </a:t>
            </a:r>
          </a:p>
          <a:p>
            <a:endParaRPr lang="en-US" dirty="0"/>
          </a:p>
        </p:txBody>
      </p:sp>
      <p:sp>
        <p:nvSpPr>
          <p:cNvPr id="4" name="Slide Number Placeholder 3"/>
          <p:cNvSpPr>
            <a:spLocks noGrp="1"/>
          </p:cNvSpPr>
          <p:nvPr>
            <p:ph type="sldNum" sz="quarter" idx="5"/>
          </p:nvPr>
        </p:nvSpPr>
        <p:spPr/>
        <p:txBody>
          <a:bodyPr/>
          <a:lstStyle/>
          <a:p>
            <a:fld id="{E23ADCDC-FD5C-4761-8DB0-4870A56CD922}" type="slidenum">
              <a:rPr lang="en-US" smtClean="0"/>
              <a:t>13</a:t>
            </a:fld>
            <a:endParaRPr lang="en-US"/>
          </a:p>
        </p:txBody>
      </p:sp>
    </p:spTree>
    <p:extLst>
      <p:ext uri="{BB962C8B-B14F-4D97-AF65-F5344CB8AC3E}">
        <p14:creationId xmlns:p14="http://schemas.microsoft.com/office/powerpoint/2010/main" val="1422098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24DFB0-7E30-AE4D-4BDB-493B47F1BF30}"/>
              </a:ext>
            </a:extLst>
          </p:cNvPr>
          <p:cNvSpPr>
            <a:spLocks noGrp="1"/>
          </p:cNvSpPr>
          <p:nvPr>
            <p:ph type="dt" sz="half" idx="10"/>
          </p:nvPr>
        </p:nvSpPr>
        <p:spPr/>
        <p:txBody>
          <a:bodyPr/>
          <a:lstStyle/>
          <a:p>
            <a:fld id="{48E2DE6B-55EE-4D9E-B999-FE39F7CF707F}" type="datetimeFigureOut">
              <a:rPr lang="en-US" smtClean="0"/>
              <a:t>10/19/2026</a:t>
            </a:fld>
            <a:endParaRPr lang="en-US"/>
          </a:p>
        </p:txBody>
      </p:sp>
      <p:sp>
        <p:nvSpPr>
          <p:cNvPr id="3" name="Footer Placeholder 2">
            <a:extLst>
              <a:ext uri="{FF2B5EF4-FFF2-40B4-BE49-F238E27FC236}">
                <a16:creationId xmlns:a16="http://schemas.microsoft.com/office/drawing/2014/main" id="{4AF7B262-A5E7-A810-AF15-64B614C9E3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52AAC9-DF45-24E7-3133-EAB680248985}"/>
              </a:ext>
            </a:extLst>
          </p:cNvPr>
          <p:cNvSpPr>
            <a:spLocks noGrp="1"/>
          </p:cNvSpPr>
          <p:nvPr>
            <p:ph type="sldNum" sz="quarter" idx="12"/>
          </p:nvPr>
        </p:nvSpPr>
        <p:spPr/>
        <p:txBody>
          <a:bodyPr/>
          <a:lstStyle/>
          <a:p>
            <a:fld id="{9EFC2818-F1F5-4078-AED0-FB46B37DC5D1}" type="slidenum">
              <a:rPr lang="en-US" smtClean="0"/>
              <a:t>‹#›</a:t>
            </a:fld>
            <a:endParaRPr lang="en-US"/>
          </a:p>
        </p:txBody>
      </p:sp>
    </p:spTree>
    <p:extLst>
      <p:ext uri="{BB962C8B-B14F-4D97-AF65-F5344CB8AC3E}">
        <p14:creationId xmlns:p14="http://schemas.microsoft.com/office/powerpoint/2010/main" val="274227199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E69531-67D1-BF44-4602-084D812E3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54E3-2CE4-31EE-655F-605DCA8CEC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638045-867B-1A44-0457-AE8E2E4960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E2DE6B-55EE-4D9E-B999-FE39F7CF707F}" type="datetimeFigureOut">
              <a:rPr lang="en-US" smtClean="0"/>
              <a:t>10/19/2026</a:t>
            </a:fld>
            <a:endParaRPr lang="en-US"/>
          </a:p>
        </p:txBody>
      </p:sp>
      <p:sp>
        <p:nvSpPr>
          <p:cNvPr id="5" name="Footer Placeholder 4">
            <a:extLst>
              <a:ext uri="{FF2B5EF4-FFF2-40B4-BE49-F238E27FC236}">
                <a16:creationId xmlns:a16="http://schemas.microsoft.com/office/drawing/2014/main" id="{AF5535C8-29F6-FB00-3D76-07049424DA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0B32165-645A-6ED1-A1D6-2C02CCDF31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FC2818-F1F5-4078-AED0-FB46B37DC5D1}" type="slidenum">
              <a:rPr lang="en-US" smtClean="0"/>
              <a:t>‹#›</a:t>
            </a:fld>
            <a:endParaRPr lang="en-US"/>
          </a:p>
        </p:txBody>
      </p:sp>
    </p:spTree>
    <p:extLst>
      <p:ext uri="{BB962C8B-B14F-4D97-AF65-F5344CB8AC3E}">
        <p14:creationId xmlns:p14="http://schemas.microsoft.com/office/powerpoint/2010/main" val="260418942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B5EFFD-7123-2B03-0ACC-6C10C8A149F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F3A1AC-333D-0DD1-40AE-C662FA8DAA6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D3A693-7EE0-8F69-83DE-29A7DC8C71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04A663-0AE3-EA66-5412-C38C9F3FCFD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DC08CE-5D66-1FC3-C140-B4AAB2AC4F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A98732-DA9B-50ED-F783-F179204B01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15242C-6CBA-689C-CC02-C55093EE95A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F428B4-9934-19AF-EB0F-D783C42635B4}"/>
              </a:ext>
            </a:extLst>
          </p:cNvPr>
          <p:cNvPicPr>
            <a:picLocks noChangeAspect="1"/>
          </p:cNvPicPr>
          <p:nvPr/>
        </p:nvPicPr>
        <p:blipFill>
          <a:blip r:embed="rId3"/>
          <a:stretch>
            <a:fillRect/>
          </a:stretch>
        </p:blipFill>
        <p:spPr>
          <a:xfrm>
            <a:off x="0" y="0"/>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9230BE-1256-0525-D45B-BFF38F32A2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E51232-398D-FA09-B4CE-BAB86691F1C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21EDAD-4306-3E7E-CBA8-BCDCF7E361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39908E-7353-7365-D21D-BC7400B5178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7A7C7D-F01F-15F0-2341-F6520AA0DC4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699464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1556</Words>
  <Application>Microsoft Office PowerPoint</Application>
  <PresentationFormat>寬螢幕</PresentationFormat>
  <Paragraphs>68</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2026-08-12T10:15:46Z</dcterms:created>
  <dcterms:modified xsi:type="dcterms:W3CDTF">2026-10-19T15:36:23Z</dcterms:modified>
</cp:coreProperties>
</file>