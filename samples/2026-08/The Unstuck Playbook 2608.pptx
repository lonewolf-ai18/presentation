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C34F3E-8D24-4DE7-ABB5-48F8FF42AE34}" v="19" dt="2026-08-26T06:41:39.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116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modMainMaster">
      <pc:chgData name="Lai, Wilson" userId="2840974a-0d84-4886-90a9-9a3ed79f3a48" providerId="ADAL" clId="{9F23B798-9E84-4552-BA63-E776E805C424}" dt="2026-08-26T06:42:38.979" v="71" actId="166"/>
      <pc:docMkLst>
        <pc:docMk/>
      </pc:docMkLst>
      <pc:sldChg chg="addSp delSp modSp mod modNotes modNotesTx">
        <pc:chgData name="Lai, Wilson" userId="2840974a-0d84-4886-90a9-9a3ed79f3a48" providerId="ADAL" clId="{9F23B798-9E84-4552-BA63-E776E805C424}" dt="2026-08-26T06:42:38.979" v="71" actId="166"/>
        <pc:sldMkLst>
          <pc:docMk/>
          <pc:sldMk cId="0" sldId="257"/>
        </pc:sldMkLst>
        <pc:picChg chg="del">
          <ac:chgData name="Lai, Wilson" userId="2840974a-0d84-4886-90a9-9a3ed79f3a48" providerId="ADAL" clId="{9F23B798-9E84-4552-BA63-E776E805C424}" dt="2026-08-26T03:51:45.485" v="0" actId="21"/>
          <ac:picMkLst>
            <pc:docMk/>
            <pc:sldMk cId="0" sldId="257"/>
            <ac:picMk id="2" creationId="{00000000-0000-0000-0000-000000000000}"/>
          </ac:picMkLst>
        </pc:picChg>
        <pc:picChg chg="add ord">
          <ac:chgData name="Lai, Wilson" userId="2840974a-0d84-4886-90a9-9a3ed79f3a48" providerId="ADAL" clId="{9F23B798-9E84-4552-BA63-E776E805C424}" dt="2026-08-26T06:42:38.979" v="71" actId="166"/>
          <ac:picMkLst>
            <pc:docMk/>
            <pc:sldMk cId="0" sldId="257"/>
            <ac:picMk id="7" creationId="{718586D8-ECCE-DF39-E32A-99A24B12F705}"/>
          </ac:picMkLst>
        </pc:picChg>
      </pc:sldChg>
      <pc:sldChg chg="addSp delSp mod modNotes modNotesTx">
        <pc:chgData name="Lai, Wilson" userId="2840974a-0d84-4886-90a9-9a3ed79f3a48" providerId="ADAL" clId="{9F23B798-9E84-4552-BA63-E776E805C424}" dt="2026-08-26T06:29:50.992" v="56"/>
        <pc:sldMkLst>
          <pc:docMk/>
          <pc:sldMk cId="0" sldId="258"/>
        </pc:sldMkLst>
        <pc:picChg chg="del">
          <ac:chgData name="Lai, Wilson" userId="2840974a-0d84-4886-90a9-9a3ed79f3a48" providerId="ADAL" clId="{9F23B798-9E84-4552-BA63-E776E805C424}" dt="2026-08-26T03:52:22.596" v="3" actId="21"/>
          <ac:picMkLst>
            <pc:docMk/>
            <pc:sldMk cId="0" sldId="258"/>
            <ac:picMk id="2" creationId="{00000000-0000-0000-0000-000000000000}"/>
          </ac:picMkLst>
        </pc:picChg>
        <pc:picChg chg="add">
          <ac:chgData name="Lai, Wilson" userId="2840974a-0d84-4886-90a9-9a3ed79f3a48" providerId="ADAL" clId="{9F23B798-9E84-4552-BA63-E776E805C424}" dt="2026-08-26T03:53:37.232" v="4" actId="22"/>
          <ac:picMkLst>
            <pc:docMk/>
            <pc:sldMk cId="0" sldId="258"/>
            <ac:picMk id="4" creationId="{29305E77-9EB9-81F2-C960-BCE7590EA51F}"/>
          </ac:picMkLst>
        </pc:picChg>
      </pc:sldChg>
      <pc:sldChg chg="addSp delSp mod modNotes modNotesTx">
        <pc:chgData name="Lai, Wilson" userId="2840974a-0d84-4886-90a9-9a3ed79f3a48" providerId="ADAL" clId="{9F23B798-9E84-4552-BA63-E776E805C424}" dt="2026-08-26T06:29:50.992" v="56"/>
        <pc:sldMkLst>
          <pc:docMk/>
          <pc:sldMk cId="0" sldId="259"/>
        </pc:sldMkLst>
        <pc:picChg chg="del">
          <ac:chgData name="Lai, Wilson" userId="2840974a-0d84-4886-90a9-9a3ed79f3a48" providerId="ADAL" clId="{9F23B798-9E84-4552-BA63-E776E805C424}" dt="2026-08-26T03:53:40.508" v="5" actId="21"/>
          <ac:picMkLst>
            <pc:docMk/>
            <pc:sldMk cId="0" sldId="259"/>
            <ac:picMk id="2" creationId="{00000000-0000-0000-0000-000000000000}"/>
          </ac:picMkLst>
        </pc:picChg>
        <pc:picChg chg="add">
          <ac:chgData name="Lai, Wilson" userId="2840974a-0d84-4886-90a9-9a3ed79f3a48" providerId="ADAL" clId="{9F23B798-9E84-4552-BA63-E776E805C424}" dt="2026-08-26T03:53:57.991" v="6" actId="22"/>
          <ac:picMkLst>
            <pc:docMk/>
            <pc:sldMk cId="0" sldId="259"/>
            <ac:picMk id="4" creationId="{5AD44F9D-4A16-4D00-A621-B7EA953923B3}"/>
          </ac:picMkLst>
        </pc:picChg>
      </pc:sldChg>
      <pc:sldChg chg="addSp delSp mod modNotes modNotesTx">
        <pc:chgData name="Lai, Wilson" userId="2840974a-0d84-4886-90a9-9a3ed79f3a48" providerId="ADAL" clId="{9F23B798-9E84-4552-BA63-E776E805C424}" dt="2026-08-26T06:29:50.992" v="56"/>
        <pc:sldMkLst>
          <pc:docMk/>
          <pc:sldMk cId="0" sldId="260"/>
        </pc:sldMkLst>
        <pc:picChg chg="del">
          <ac:chgData name="Lai, Wilson" userId="2840974a-0d84-4886-90a9-9a3ed79f3a48" providerId="ADAL" clId="{9F23B798-9E84-4552-BA63-E776E805C424}" dt="2026-08-26T03:54:00.098" v="7" actId="21"/>
          <ac:picMkLst>
            <pc:docMk/>
            <pc:sldMk cId="0" sldId="260"/>
            <ac:picMk id="2" creationId="{00000000-0000-0000-0000-000000000000}"/>
          </ac:picMkLst>
        </pc:picChg>
        <pc:picChg chg="add">
          <ac:chgData name="Lai, Wilson" userId="2840974a-0d84-4886-90a9-9a3ed79f3a48" providerId="ADAL" clId="{9F23B798-9E84-4552-BA63-E776E805C424}" dt="2026-08-26T03:54:07.124" v="8" actId="22"/>
          <ac:picMkLst>
            <pc:docMk/>
            <pc:sldMk cId="0" sldId="260"/>
            <ac:picMk id="4" creationId="{047C59DD-4BF3-66B7-B2CF-EB84259BD8A5}"/>
          </ac:picMkLst>
        </pc:picChg>
      </pc:sldChg>
      <pc:sldChg chg="addSp delSp mod modNotes">
        <pc:chgData name="Lai, Wilson" userId="2840974a-0d84-4886-90a9-9a3ed79f3a48" providerId="ADAL" clId="{9F23B798-9E84-4552-BA63-E776E805C424}" dt="2026-08-26T06:29:50.992" v="56"/>
        <pc:sldMkLst>
          <pc:docMk/>
          <pc:sldMk cId="0" sldId="261"/>
        </pc:sldMkLst>
        <pc:picChg chg="del">
          <ac:chgData name="Lai, Wilson" userId="2840974a-0d84-4886-90a9-9a3ed79f3a48" providerId="ADAL" clId="{9F23B798-9E84-4552-BA63-E776E805C424}" dt="2026-08-26T03:54:09.006" v="9" actId="21"/>
          <ac:picMkLst>
            <pc:docMk/>
            <pc:sldMk cId="0" sldId="261"/>
            <ac:picMk id="2" creationId="{00000000-0000-0000-0000-000000000000}"/>
          </ac:picMkLst>
        </pc:picChg>
        <pc:picChg chg="add">
          <ac:chgData name="Lai, Wilson" userId="2840974a-0d84-4886-90a9-9a3ed79f3a48" providerId="ADAL" clId="{9F23B798-9E84-4552-BA63-E776E805C424}" dt="2026-08-26T03:54:21.396" v="10" actId="22"/>
          <ac:picMkLst>
            <pc:docMk/>
            <pc:sldMk cId="0" sldId="261"/>
            <ac:picMk id="4" creationId="{6AF3C4E5-122D-6676-B120-3B5FA4BE6B24}"/>
          </ac:picMkLst>
        </pc:picChg>
      </pc:sldChg>
      <pc:sldChg chg="addSp delSp modSp mod modNotes modNotesTx">
        <pc:chgData name="Lai, Wilson" userId="2840974a-0d84-4886-90a9-9a3ed79f3a48" providerId="ADAL" clId="{9F23B798-9E84-4552-BA63-E776E805C424}" dt="2026-08-26T06:29:50.992" v="56"/>
        <pc:sldMkLst>
          <pc:docMk/>
          <pc:sldMk cId="0" sldId="262"/>
        </pc:sldMkLst>
        <pc:picChg chg="del">
          <ac:chgData name="Lai, Wilson" userId="2840974a-0d84-4886-90a9-9a3ed79f3a48" providerId="ADAL" clId="{9F23B798-9E84-4552-BA63-E776E805C424}" dt="2026-08-26T03:54:25.615" v="11" actId="21"/>
          <ac:picMkLst>
            <pc:docMk/>
            <pc:sldMk cId="0" sldId="262"/>
            <ac:picMk id="2" creationId="{00000000-0000-0000-0000-000000000000}"/>
          </ac:picMkLst>
        </pc:picChg>
        <pc:picChg chg="add mod">
          <ac:chgData name="Lai, Wilson" userId="2840974a-0d84-4886-90a9-9a3ed79f3a48" providerId="ADAL" clId="{9F23B798-9E84-4552-BA63-E776E805C424}" dt="2026-08-26T03:54:55.800" v="17" actId="1076"/>
          <ac:picMkLst>
            <pc:docMk/>
            <pc:sldMk cId="0" sldId="262"/>
            <ac:picMk id="4" creationId="{C1FCEC92-B281-C64B-2F4B-0B9DB5F8E30A}"/>
          </ac:picMkLst>
        </pc:picChg>
      </pc:sldChg>
      <pc:sldChg chg="addSp delSp mod modNotesTx">
        <pc:chgData name="Lai, Wilson" userId="2840974a-0d84-4886-90a9-9a3ed79f3a48" providerId="ADAL" clId="{9F23B798-9E84-4552-BA63-E776E805C424}" dt="2026-08-26T06:27:55.249" v="41" actId="12"/>
        <pc:sldMkLst>
          <pc:docMk/>
          <pc:sldMk cId="0" sldId="263"/>
        </pc:sldMkLst>
        <pc:picChg chg="del">
          <ac:chgData name="Lai, Wilson" userId="2840974a-0d84-4886-90a9-9a3ed79f3a48" providerId="ADAL" clId="{9F23B798-9E84-4552-BA63-E776E805C424}" dt="2026-08-26T03:54:59.719" v="18" actId="21"/>
          <ac:picMkLst>
            <pc:docMk/>
            <pc:sldMk cId="0" sldId="263"/>
            <ac:picMk id="2" creationId="{00000000-0000-0000-0000-000000000000}"/>
          </ac:picMkLst>
        </pc:picChg>
        <pc:picChg chg="add">
          <ac:chgData name="Lai, Wilson" userId="2840974a-0d84-4886-90a9-9a3ed79f3a48" providerId="ADAL" clId="{9F23B798-9E84-4552-BA63-E776E805C424}" dt="2026-08-26T03:55:14.482" v="19" actId="22"/>
          <ac:picMkLst>
            <pc:docMk/>
            <pc:sldMk cId="0" sldId="263"/>
            <ac:picMk id="4" creationId="{D1D613C4-42E8-A09F-4645-8B5D3E365C9E}"/>
          </ac:picMkLst>
        </pc:picChg>
      </pc:sldChg>
      <pc:sldChg chg="addSp delSp mod modNotes modNotesTx">
        <pc:chgData name="Lai, Wilson" userId="2840974a-0d84-4886-90a9-9a3ed79f3a48" providerId="ADAL" clId="{9F23B798-9E84-4552-BA63-E776E805C424}" dt="2026-08-26T06:29:50.992" v="56"/>
        <pc:sldMkLst>
          <pc:docMk/>
          <pc:sldMk cId="0" sldId="264"/>
        </pc:sldMkLst>
        <pc:picChg chg="del">
          <ac:chgData name="Lai, Wilson" userId="2840974a-0d84-4886-90a9-9a3ed79f3a48" providerId="ADAL" clId="{9F23B798-9E84-4552-BA63-E776E805C424}" dt="2026-08-26T03:55:20.631" v="20" actId="21"/>
          <ac:picMkLst>
            <pc:docMk/>
            <pc:sldMk cId="0" sldId="264"/>
            <ac:picMk id="2" creationId="{00000000-0000-0000-0000-000000000000}"/>
          </ac:picMkLst>
        </pc:picChg>
        <pc:picChg chg="add">
          <ac:chgData name="Lai, Wilson" userId="2840974a-0d84-4886-90a9-9a3ed79f3a48" providerId="ADAL" clId="{9F23B798-9E84-4552-BA63-E776E805C424}" dt="2026-08-26T03:55:28.781" v="21" actId="22"/>
          <ac:picMkLst>
            <pc:docMk/>
            <pc:sldMk cId="0" sldId="264"/>
            <ac:picMk id="4" creationId="{83AF76BC-8E98-ECF0-D958-321E5478E007}"/>
          </ac:picMkLst>
        </pc:picChg>
      </pc:sldChg>
      <pc:sldChg chg="addSp delSp mod modNotes modNotesTx">
        <pc:chgData name="Lai, Wilson" userId="2840974a-0d84-4886-90a9-9a3ed79f3a48" providerId="ADAL" clId="{9F23B798-9E84-4552-BA63-E776E805C424}" dt="2026-08-26T06:29:50.992" v="56"/>
        <pc:sldMkLst>
          <pc:docMk/>
          <pc:sldMk cId="0" sldId="265"/>
        </pc:sldMkLst>
        <pc:picChg chg="del">
          <ac:chgData name="Lai, Wilson" userId="2840974a-0d84-4886-90a9-9a3ed79f3a48" providerId="ADAL" clId="{9F23B798-9E84-4552-BA63-E776E805C424}" dt="2026-08-26T03:55:30.814" v="22" actId="21"/>
          <ac:picMkLst>
            <pc:docMk/>
            <pc:sldMk cId="0" sldId="265"/>
            <ac:picMk id="2" creationId="{00000000-0000-0000-0000-000000000000}"/>
          </ac:picMkLst>
        </pc:picChg>
        <pc:picChg chg="add">
          <ac:chgData name="Lai, Wilson" userId="2840974a-0d84-4886-90a9-9a3ed79f3a48" providerId="ADAL" clId="{9F23B798-9E84-4552-BA63-E776E805C424}" dt="2026-08-26T03:55:40.287" v="23" actId="22"/>
          <ac:picMkLst>
            <pc:docMk/>
            <pc:sldMk cId="0" sldId="265"/>
            <ac:picMk id="4" creationId="{CAA646B6-0D08-759D-F3A9-C8F4824F55A7}"/>
          </ac:picMkLst>
        </pc:picChg>
      </pc:sldChg>
      <pc:sldChg chg="addSp delSp mod modNotes modNotesTx">
        <pc:chgData name="Lai, Wilson" userId="2840974a-0d84-4886-90a9-9a3ed79f3a48" providerId="ADAL" clId="{9F23B798-9E84-4552-BA63-E776E805C424}" dt="2026-08-26T06:29:50.992" v="56"/>
        <pc:sldMkLst>
          <pc:docMk/>
          <pc:sldMk cId="0" sldId="266"/>
        </pc:sldMkLst>
        <pc:picChg chg="del">
          <ac:chgData name="Lai, Wilson" userId="2840974a-0d84-4886-90a9-9a3ed79f3a48" providerId="ADAL" clId="{9F23B798-9E84-4552-BA63-E776E805C424}" dt="2026-08-26T03:57:44.696" v="32" actId="21"/>
          <ac:picMkLst>
            <pc:docMk/>
            <pc:sldMk cId="0" sldId="266"/>
            <ac:picMk id="2" creationId="{00000000-0000-0000-0000-000000000000}"/>
          </ac:picMkLst>
        </pc:picChg>
        <pc:picChg chg="add">
          <ac:chgData name="Lai, Wilson" userId="2840974a-0d84-4886-90a9-9a3ed79f3a48" providerId="ADAL" clId="{9F23B798-9E84-4552-BA63-E776E805C424}" dt="2026-08-26T03:57:58.847" v="33" actId="22"/>
          <ac:picMkLst>
            <pc:docMk/>
            <pc:sldMk cId="0" sldId="266"/>
            <ac:picMk id="4" creationId="{36331D70-C676-09C4-20AA-1C3A575F8056}"/>
          </ac:picMkLst>
        </pc:picChg>
      </pc:sldChg>
      <pc:sldChg chg="addSp delSp mod modNotes">
        <pc:chgData name="Lai, Wilson" userId="2840974a-0d84-4886-90a9-9a3ed79f3a48" providerId="ADAL" clId="{9F23B798-9E84-4552-BA63-E776E805C424}" dt="2026-08-26T06:29:50.992" v="56"/>
        <pc:sldMkLst>
          <pc:docMk/>
          <pc:sldMk cId="0" sldId="267"/>
        </pc:sldMkLst>
        <pc:picChg chg="del">
          <ac:chgData name="Lai, Wilson" userId="2840974a-0d84-4886-90a9-9a3ed79f3a48" providerId="ADAL" clId="{9F23B798-9E84-4552-BA63-E776E805C424}" dt="2026-08-26T03:56:30.764" v="30" actId="21"/>
          <ac:picMkLst>
            <pc:docMk/>
            <pc:sldMk cId="0" sldId="267"/>
            <ac:picMk id="2" creationId="{00000000-0000-0000-0000-000000000000}"/>
          </ac:picMkLst>
        </pc:picChg>
        <pc:picChg chg="add">
          <ac:chgData name="Lai, Wilson" userId="2840974a-0d84-4886-90a9-9a3ed79f3a48" providerId="ADAL" clId="{9F23B798-9E84-4552-BA63-E776E805C424}" dt="2026-08-26T03:57:39.916" v="31" actId="22"/>
          <ac:picMkLst>
            <pc:docMk/>
            <pc:sldMk cId="0" sldId="267"/>
            <ac:picMk id="4" creationId="{881A7FCD-217F-49BB-5140-73D94434C8B3}"/>
          </ac:picMkLst>
        </pc:picChg>
      </pc:sldChg>
      <pc:sldChg chg="addSp delSp mod modNotes modNotesTx">
        <pc:chgData name="Lai, Wilson" userId="2840974a-0d84-4886-90a9-9a3ed79f3a48" providerId="ADAL" clId="{9F23B798-9E84-4552-BA63-E776E805C424}" dt="2026-08-26T06:42:10.383" v="69" actId="20577"/>
        <pc:sldMkLst>
          <pc:docMk/>
          <pc:sldMk cId="0" sldId="268"/>
        </pc:sldMkLst>
        <pc:picChg chg="del">
          <ac:chgData name="Lai, Wilson" userId="2840974a-0d84-4886-90a9-9a3ed79f3a48" providerId="ADAL" clId="{9F23B798-9E84-4552-BA63-E776E805C424}" dt="2026-08-26T03:55:42.898" v="24" actId="21"/>
          <ac:picMkLst>
            <pc:docMk/>
            <pc:sldMk cId="0" sldId="268"/>
            <ac:picMk id="2" creationId="{00000000-0000-0000-0000-000000000000}"/>
          </ac:picMkLst>
        </pc:picChg>
        <pc:picChg chg="add">
          <ac:chgData name="Lai, Wilson" userId="2840974a-0d84-4886-90a9-9a3ed79f3a48" providerId="ADAL" clId="{9F23B798-9E84-4552-BA63-E776E805C424}" dt="2026-08-26T03:55:49.966" v="25" actId="22"/>
          <ac:picMkLst>
            <pc:docMk/>
            <pc:sldMk cId="0" sldId="268"/>
            <ac:picMk id="4" creationId="{460EBF22-99B9-DB24-EFB6-80CFE77E688A}"/>
          </ac:picMkLst>
        </pc:picChg>
      </pc:sldChg>
      <pc:sldChg chg="addSp delSp mod modNotesTx">
        <pc:chgData name="Lai, Wilson" userId="2840974a-0d84-4886-90a9-9a3ed79f3a48" providerId="ADAL" clId="{9F23B798-9E84-4552-BA63-E776E805C424}" dt="2026-08-26T06:42:02.910" v="67" actId="20577"/>
        <pc:sldMkLst>
          <pc:docMk/>
          <pc:sldMk cId="0" sldId="269"/>
        </pc:sldMkLst>
        <pc:picChg chg="del">
          <ac:chgData name="Lai, Wilson" userId="2840974a-0d84-4886-90a9-9a3ed79f3a48" providerId="ADAL" clId="{9F23B798-9E84-4552-BA63-E776E805C424}" dt="2026-08-26T03:55:53.367" v="26" actId="21"/>
          <ac:picMkLst>
            <pc:docMk/>
            <pc:sldMk cId="0" sldId="269"/>
            <ac:picMk id="2" creationId="{00000000-0000-0000-0000-000000000000}"/>
          </ac:picMkLst>
        </pc:picChg>
        <pc:picChg chg="add">
          <ac:chgData name="Lai, Wilson" userId="2840974a-0d84-4886-90a9-9a3ed79f3a48" providerId="ADAL" clId="{9F23B798-9E84-4552-BA63-E776E805C424}" dt="2026-08-26T03:56:00.319" v="27" actId="22"/>
          <ac:picMkLst>
            <pc:docMk/>
            <pc:sldMk cId="0" sldId="269"/>
            <ac:picMk id="4" creationId="{71ACE50A-0257-6FF8-1840-CB11B8924D6F}"/>
          </ac:picMkLst>
        </pc:picChg>
      </pc:sldChg>
      <pc:sldChg chg="addSp delSp mod modNotesTx">
        <pc:chgData name="Lai, Wilson" userId="2840974a-0d84-4886-90a9-9a3ed79f3a48" providerId="ADAL" clId="{9F23B798-9E84-4552-BA63-E776E805C424}" dt="2026-08-26T06:41:52.761" v="65" actId="20577"/>
        <pc:sldMkLst>
          <pc:docMk/>
          <pc:sldMk cId="700492730" sldId="270"/>
        </pc:sldMkLst>
        <pc:picChg chg="del">
          <ac:chgData name="Lai, Wilson" userId="2840974a-0d84-4886-90a9-9a3ed79f3a48" providerId="ADAL" clId="{9F23B798-9E84-4552-BA63-E776E805C424}" dt="2026-08-26T03:56:02.917" v="28" actId="21"/>
          <ac:picMkLst>
            <pc:docMk/>
            <pc:sldMk cId="700492730" sldId="270"/>
            <ac:picMk id="3" creationId="{A4CD4F56-0074-815C-47DD-4C00AB4153DE}"/>
          </ac:picMkLst>
        </pc:picChg>
        <pc:picChg chg="add">
          <ac:chgData name="Lai, Wilson" userId="2840974a-0d84-4886-90a9-9a3ed79f3a48" providerId="ADAL" clId="{9F23B798-9E84-4552-BA63-E776E805C424}" dt="2026-08-26T03:56:15.470" v="29" actId="22"/>
          <ac:picMkLst>
            <pc:docMk/>
            <pc:sldMk cId="700492730" sldId="270"/>
            <ac:picMk id="4" creationId="{1550D93C-AEDC-D08B-F61F-30388AE07316}"/>
          </ac:picMkLst>
        </pc:picChg>
      </pc:sldChg>
      <pc:sldChg chg="addSp delSp mod">
        <pc:chgData name="Lai, Wilson" userId="2840974a-0d84-4886-90a9-9a3ed79f3a48" providerId="ADAL" clId="{9F23B798-9E84-4552-BA63-E776E805C424}" dt="2026-08-26T06:31:09.033" v="60" actId="22"/>
        <pc:sldMkLst>
          <pc:docMk/>
          <pc:sldMk cId="383887087" sldId="271"/>
        </pc:sldMkLst>
        <pc:picChg chg="del">
          <ac:chgData name="Lai, Wilson" userId="2840974a-0d84-4886-90a9-9a3ed79f3a48" providerId="ADAL" clId="{9F23B798-9E84-4552-BA63-E776E805C424}" dt="2026-08-26T06:31:08.303" v="59" actId="478"/>
          <ac:picMkLst>
            <pc:docMk/>
            <pc:sldMk cId="383887087" sldId="271"/>
            <ac:picMk id="3" creationId="{0CB2815C-97AE-81C1-19D0-33F487BD5C78}"/>
          </ac:picMkLst>
        </pc:picChg>
        <pc:picChg chg="add">
          <ac:chgData name="Lai, Wilson" userId="2840974a-0d84-4886-90a9-9a3ed79f3a48" providerId="ADAL" clId="{9F23B798-9E84-4552-BA63-E776E805C424}" dt="2026-08-26T06:31:09.033" v="60" actId="22"/>
          <ac:picMkLst>
            <pc:docMk/>
            <pc:sldMk cId="383887087" sldId="271"/>
            <ac:picMk id="4" creationId="{080B8F84-73F0-EF10-E2DA-C7AED97BC98E}"/>
          </ac:picMkLst>
        </pc:picChg>
      </pc:sldChg>
      <pc:sldMasterChg chg="setBg">
        <pc:chgData name="Lai, Wilson" userId="2840974a-0d84-4886-90a9-9a3ed79f3a48" providerId="ADAL" clId="{9F23B798-9E84-4552-BA63-E776E805C424}" dt="2026-08-26T03:51:58.530" v="1"/>
        <pc:sldMasterMkLst>
          <pc:docMk/>
          <pc:sldMasterMk cId="1743159594"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1DE26A-8EF9-4EE4-AA1C-3DBAE5CA4123}"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0767E7-DF71-498D-842A-1F46B78DF6CB}" type="slidenum">
              <a:rPr lang="en-US" smtClean="0"/>
              <a:t>‹#›</a:t>
            </a:fld>
            <a:endParaRPr lang="en-US"/>
          </a:p>
        </p:txBody>
      </p:sp>
    </p:spTree>
    <p:extLst>
      <p:ext uri="{BB962C8B-B14F-4D97-AF65-F5344CB8AC3E}">
        <p14:creationId xmlns:p14="http://schemas.microsoft.com/office/powerpoint/2010/main" val="3164746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we’re going to explore how to solve problems better than 99% of people by tapping into Seth Godin’s mental models for getting unstuck, beating mediocrity, and doing work that truly matters. </a:t>
            </a:r>
          </a:p>
          <a:p>
            <a:r>
              <a:rPr lang="en-US" sz="1200" kern="1200" dirty="0">
                <a:solidFill>
                  <a:schemeClr val="tx1"/>
                </a:solidFill>
                <a:effectLst/>
                <a:latin typeface="+mn-lt"/>
                <a:ea typeface="+mn-ea"/>
                <a:cs typeface="+mn-cs"/>
              </a:rPr>
              <a:t>Most people spend their entire careers feeling stuck—whether in a job that doesn't fulfill them, with an audience that doesn't care, or stuck re-litigating decisions every single day. They feel like they're tangled in a complex knot they can't untie. </a:t>
            </a:r>
          </a:p>
          <a:p>
            <a:r>
              <a:rPr lang="en-US" sz="1200" kern="1200" dirty="0">
                <a:solidFill>
                  <a:schemeClr val="tx1"/>
                </a:solidFill>
                <a:effectLst/>
                <a:latin typeface="+mn-lt"/>
                <a:ea typeface="+mn-ea"/>
                <a:cs typeface="+mn-cs"/>
              </a:rPr>
              <a:t>As Seth Godin outlines in his work and recent interviews, getting unstuck isn't about working 84-hour weeks, hustling until you burn out, or waiting for guaranteed success before taking a step. In fact, as Seth points out, true success and high performance are about clarity, intentionality, and recognizing the invisible forces—or entanglements—that govern our choices. </a:t>
            </a:r>
          </a:p>
          <a:p>
            <a:r>
              <a:rPr lang="en-US" sz="1200" kern="1200" dirty="0">
                <a:solidFill>
                  <a:schemeClr val="tx1"/>
                </a:solidFill>
                <a:effectLst/>
                <a:latin typeface="+mn-lt"/>
                <a:ea typeface="+mn-ea"/>
                <a:cs typeface="+mn-cs"/>
              </a:rPr>
              <a:t>Look closely at the cover image on this slide: a tight, tangled knot surrounding a solid central post. Many people think solving big problems requires slashing through the complexity with a brute-force sword. But historical legend and smart problem-solvers know better: if you simply pull out the central post, the entire knot unravels. </a:t>
            </a:r>
          </a:p>
          <a:p>
            <a:r>
              <a:rPr lang="en-US" sz="1200" kern="1200" dirty="0">
                <a:solidFill>
                  <a:schemeClr val="tx1"/>
                </a:solidFill>
                <a:effectLst/>
                <a:latin typeface="+mn-lt"/>
                <a:ea typeface="+mn-ea"/>
                <a:cs typeface="+mn-cs"/>
              </a:rPr>
              <a:t>Over the next 11 slides, we are going to unpack the mental frameworks, daily practices, and leadership choices that will allow you to pull out that central post in your own life and career. Let's dive into why most people get trapped in average work in the first place. </a:t>
            </a:r>
          </a:p>
          <a:p>
            <a:endParaRPr lang="en-US" dirty="0"/>
          </a:p>
          <a:p>
            <a:endParaRPr lang="en-US" dirty="0"/>
          </a:p>
          <a:p>
            <a:r>
              <a:rPr lang="en-US" dirty="0"/>
              <a:t>https://www.youtube.com/watch?v=o8yD6nt71Cs</a:t>
            </a:r>
          </a:p>
        </p:txBody>
      </p:sp>
      <p:sp>
        <p:nvSpPr>
          <p:cNvPr id="4" name="Slide Number Placeholder 3"/>
          <p:cNvSpPr>
            <a:spLocks noGrp="1"/>
          </p:cNvSpPr>
          <p:nvPr>
            <p:ph type="sldNum" sz="quarter" idx="5"/>
          </p:nvPr>
        </p:nvSpPr>
        <p:spPr/>
        <p:txBody>
          <a:bodyPr/>
          <a:lstStyle/>
          <a:p>
            <a:fld id="{740767E7-DF71-498D-842A-1F46B78DF6CB}" type="slidenum">
              <a:rPr lang="en-US" smtClean="0"/>
              <a:t>1</a:t>
            </a:fld>
            <a:endParaRPr lang="en-US"/>
          </a:p>
        </p:txBody>
      </p:sp>
    </p:spTree>
    <p:extLst>
      <p:ext uri="{BB962C8B-B14F-4D97-AF65-F5344CB8AC3E}">
        <p14:creationId xmlns:p14="http://schemas.microsoft.com/office/powerpoint/2010/main" val="30579233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Before we talk about excellence, we have to talk about mediocrity. What does 'mediocre' actually mean? At its root, it simply means 'average.' Mediocrity isn't a lack of talent—it is a choice. It is the desire to be average specifically so you can avoid criticism. </a:t>
            </a:r>
          </a:p>
          <a:p>
            <a:r>
              <a:rPr lang="en-US" sz="1200" kern="1200" dirty="0">
                <a:solidFill>
                  <a:schemeClr val="tx1"/>
                </a:solidFill>
                <a:effectLst/>
                <a:latin typeface="+mn-lt"/>
                <a:ea typeface="+mn-ea"/>
                <a:cs typeface="+mn-cs"/>
              </a:rPr>
              <a:t>When we are afraid of standing out or getting hurt, we adopt four defensive postures—what Seth calls the 'Four Horsemen of Mediocrity': </a:t>
            </a:r>
          </a:p>
          <a:p>
            <a:pPr marL="228600" lvl="0" indent="-228600">
              <a:buFont typeface="+mj-lt"/>
              <a:buAutoNum type="arabicPeriod"/>
            </a:pPr>
            <a:r>
              <a:rPr lang="en-US" sz="1200" b="1" kern="1200" dirty="0">
                <a:solidFill>
                  <a:schemeClr val="tx1"/>
                </a:solidFill>
                <a:effectLst/>
                <a:latin typeface="+mn-lt"/>
                <a:ea typeface="+mn-ea"/>
                <a:cs typeface="+mn-cs"/>
              </a:rPr>
              <a:t>Deniability:</a:t>
            </a:r>
            <a:r>
              <a:rPr lang="en-US" sz="1200" kern="1200" dirty="0">
                <a:solidFill>
                  <a:schemeClr val="tx1"/>
                </a:solidFill>
                <a:effectLst/>
                <a:latin typeface="+mn-lt"/>
                <a:ea typeface="+mn-ea"/>
                <a:cs typeface="+mn-cs"/>
              </a:rPr>
              <a:t> This sounds like: </a:t>
            </a:r>
            <a:r>
              <a:rPr lang="en-US" sz="1200" i="1" kern="1200" dirty="0">
                <a:solidFill>
                  <a:schemeClr val="tx1"/>
                </a:solidFill>
                <a:effectLst/>
                <a:latin typeface="+mn-lt"/>
                <a:ea typeface="+mn-ea"/>
                <a:cs typeface="+mn-cs"/>
              </a:rPr>
              <a:t>'It wasn't me, I was just doing what everyone else was doing.'</a:t>
            </a:r>
            <a:r>
              <a:rPr lang="en-US" sz="1200" kern="1200" dirty="0">
                <a:solidFill>
                  <a:schemeClr val="tx1"/>
                </a:solidFill>
                <a:effectLst/>
                <a:latin typeface="+mn-lt"/>
                <a:ea typeface="+mn-ea"/>
                <a:cs typeface="+mn-cs"/>
              </a:rPr>
              <a:t> It’s the refusal to put your name on your work. If things go wrong, you can deny responsibility because you followed the crowd. </a:t>
            </a:r>
          </a:p>
          <a:p>
            <a:pPr marL="228600" lvl="0" indent="-228600">
              <a:buFont typeface="+mj-lt"/>
              <a:buAutoNum type="arabicPeriod"/>
            </a:pPr>
            <a:r>
              <a:rPr lang="en-US" sz="1200" b="1" kern="1200" dirty="0">
                <a:solidFill>
                  <a:schemeClr val="tx1"/>
                </a:solidFill>
                <a:effectLst/>
                <a:latin typeface="+mn-lt"/>
                <a:ea typeface="+mn-ea"/>
                <a:cs typeface="+mn-cs"/>
              </a:rPr>
              <a:t>Helplessness:</a:t>
            </a:r>
            <a:r>
              <a:rPr lang="en-US" sz="1200" kern="1200" dirty="0">
                <a:solidFill>
                  <a:schemeClr val="tx1"/>
                </a:solidFill>
                <a:effectLst/>
                <a:latin typeface="+mn-lt"/>
                <a:ea typeface="+mn-ea"/>
                <a:cs typeface="+mn-cs"/>
              </a:rPr>
              <a:t> This is the mindset of: </a:t>
            </a:r>
            <a:r>
              <a:rPr lang="en-US" sz="1200" i="1" kern="1200" dirty="0">
                <a:solidFill>
                  <a:schemeClr val="tx1"/>
                </a:solidFill>
                <a:effectLst/>
                <a:latin typeface="+mn-lt"/>
                <a:ea typeface="+mn-ea"/>
                <a:cs typeface="+mn-cs"/>
              </a:rPr>
              <a:t>'I don't have the agency to change this.'</a:t>
            </a:r>
            <a:r>
              <a:rPr lang="en-US" sz="1200" kern="1200" dirty="0">
                <a:solidFill>
                  <a:schemeClr val="tx1"/>
                </a:solidFill>
                <a:effectLst/>
                <a:latin typeface="+mn-lt"/>
                <a:ea typeface="+mn-ea"/>
                <a:cs typeface="+mn-cs"/>
              </a:rPr>
              <a:t> People in this posture demand a guarantee of success before they're willing to try. They say, 'If you guarantee everyone will love my idea and nothing bad will happen, I’ll do it.' But because those guarantees don't exist in the real world, they stay put. </a:t>
            </a:r>
          </a:p>
          <a:p>
            <a:pPr marL="228600" lvl="0" indent="-228600">
              <a:buFont typeface="+mj-lt"/>
              <a:buAutoNum type="arabicPeriod"/>
            </a:pPr>
            <a:r>
              <a:rPr lang="en-US" sz="1200" b="1" kern="1200" dirty="0">
                <a:solidFill>
                  <a:schemeClr val="tx1"/>
                </a:solidFill>
                <a:effectLst/>
                <a:latin typeface="+mn-lt"/>
                <a:ea typeface="+mn-ea"/>
                <a:cs typeface="+mn-cs"/>
              </a:rPr>
              <a:t>Contempt:</a:t>
            </a:r>
            <a:r>
              <a:rPr lang="en-US" sz="1200" kern="1200" dirty="0">
                <a:solidFill>
                  <a:schemeClr val="tx1"/>
                </a:solidFill>
                <a:effectLst/>
                <a:latin typeface="+mn-lt"/>
                <a:ea typeface="+mn-ea"/>
                <a:cs typeface="+mn-cs"/>
              </a:rPr>
              <a:t> This is expressed as: </a:t>
            </a:r>
            <a:r>
              <a:rPr lang="en-US" sz="1200" i="1" kern="1200" dirty="0">
                <a:solidFill>
                  <a:schemeClr val="tx1"/>
                </a:solidFill>
                <a:effectLst/>
                <a:latin typeface="+mn-lt"/>
                <a:ea typeface="+mn-ea"/>
                <a:cs typeface="+mn-cs"/>
              </a:rPr>
              <a:t>'I'm just doing my job.'</a:t>
            </a:r>
            <a:r>
              <a:rPr lang="en-US" sz="1200" kern="1200" dirty="0">
                <a:solidFill>
                  <a:schemeClr val="tx1"/>
                </a:solidFill>
                <a:effectLst/>
                <a:latin typeface="+mn-lt"/>
                <a:ea typeface="+mn-ea"/>
                <a:cs typeface="+mn-cs"/>
              </a:rPr>
              <a:t> When a broken industrial system burns an employee's relationship with the work, they stop caring about the customer or the outcome. It’s a protective mechanism to avoid caring. </a:t>
            </a:r>
          </a:p>
          <a:p>
            <a:pPr marL="228600" lvl="0" indent="-228600">
              <a:buFont typeface="+mj-lt"/>
              <a:buAutoNum type="arabicPeriod"/>
            </a:pPr>
            <a:r>
              <a:rPr lang="en-US" sz="1200" b="1" kern="1200" dirty="0">
                <a:solidFill>
                  <a:schemeClr val="tx1"/>
                </a:solidFill>
                <a:effectLst/>
                <a:latin typeface="+mn-lt"/>
                <a:ea typeface="+mn-ea"/>
                <a:cs typeface="+mn-cs"/>
              </a:rPr>
              <a:t>Fear:</a:t>
            </a:r>
            <a:r>
              <a:rPr lang="en-US" sz="1200" kern="1200" dirty="0">
                <a:solidFill>
                  <a:schemeClr val="tx1"/>
                </a:solidFill>
                <a:effectLst/>
                <a:latin typeface="+mn-lt"/>
                <a:ea typeface="+mn-ea"/>
                <a:cs typeface="+mn-cs"/>
              </a:rPr>
              <a:t> Ultimately, the underlying driver is fear: </a:t>
            </a:r>
            <a:r>
              <a:rPr lang="en-US" sz="1200" i="1" kern="1200" dirty="0">
                <a:solidFill>
                  <a:schemeClr val="tx1"/>
                </a:solidFill>
                <a:effectLst/>
                <a:latin typeface="+mn-lt"/>
                <a:ea typeface="+mn-ea"/>
                <a:cs typeface="+mn-cs"/>
              </a:rPr>
              <a:t>'What if they reject me?'</a:t>
            </a:r>
            <a:r>
              <a:rPr lang="en-US" sz="1200" kern="1200" dirty="0">
                <a:solidFill>
                  <a:schemeClr val="tx1"/>
                </a:solidFill>
                <a:effectLst/>
                <a:latin typeface="+mn-lt"/>
                <a:ea typeface="+mn-ea"/>
                <a:cs typeface="+mn-cs"/>
              </a:rPr>
              <a:t> To cope, people sand down all the rough, interesting edges of their work until it is so banal and safe that no one notices them. </a:t>
            </a:r>
          </a:p>
          <a:p>
            <a:r>
              <a:rPr lang="en-US" sz="1200" kern="1200" dirty="0">
                <a:solidFill>
                  <a:schemeClr val="tx1"/>
                </a:solidFill>
                <a:effectLst/>
                <a:latin typeface="+mn-lt"/>
                <a:ea typeface="+mn-ea"/>
                <a:cs typeface="+mn-cs"/>
              </a:rPr>
              <a:t>Ask yourself right now: Which of these four postures do you retreat to when things get tough? To escape mediocrity, we must identify these defense mechanisms and reject the illusion of safety they promise.</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2</a:t>
            </a:fld>
            <a:endParaRPr lang="en-US"/>
          </a:p>
        </p:txBody>
      </p:sp>
    </p:spTree>
    <p:extLst>
      <p:ext uri="{BB962C8B-B14F-4D97-AF65-F5344CB8AC3E}">
        <p14:creationId xmlns:p14="http://schemas.microsoft.com/office/powerpoint/2010/main" val="12394493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understand why we default to these defensive postures, we have to ask a fundamental question: </a:t>
            </a:r>
            <a:r>
              <a:rPr lang="en-US" sz="1200" i="1" kern="1200" dirty="0">
                <a:solidFill>
                  <a:schemeClr val="tx1"/>
                </a:solidFill>
                <a:effectLst/>
                <a:latin typeface="+mn-lt"/>
                <a:ea typeface="+mn-ea"/>
                <a:cs typeface="+mn-cs"/>
              </a:rPr>
              <a:t>Where did you get your desires?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Seth Godin frequently notes that when adults feel lost or stuck, the answer almost always traces back to two words: </a:t>
            </a:r>
            <a:r>
              <a:rPr lang="en-US" sz="1200" b="1" kern="1200" dirty="0">
                <a:solidFill>
                  <a:schemeClr val="tx1"/>
                </a:solidFill>
                <a:effectLst/>
                <a:latin typeface="+mn-lt"/>
                <a:ea typeface="+mn-ea"/>
                <a:cs typeface="+mn-cs"/>
              </a:rPr>
              <a:t>High School</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Our modern schooling system was originally designed during the Industrial Age by factory owners to condition people for factory work. The primary goal was compliance, fitting in, and standing on the assembly line without causing trouble. In high school, motivation is driven by </a:t>
            </a:r>
            <a:r>
              <a:rPr lang="en-US" sz="1200" i="1" kern="1200" dirty="0">
                <a:solidFill>
                  <a:schemeClr val="tx1"/>
                </a:solidFill>
                <a:effectLst/>
                <a:latin typeface="+mn-lt"/>
                <a:ea typeface="+mn-ea"/>
                <a:cs typeface="+mn-cs"/>
              </a:rPr>
              <a:t>mimetic desire</a:t>
            </a:r>
            <a:r>
              <a:rPr lang="en-US" sz="1200" kern="1200" dirty="0">
                <a:solidFill>
                  <a:schemeClr val="tx1"/>
                </a:solidFill>
                <a:effectLst/>
                <a:latin typeface="+mn-lt"/>
                <a:ea typeface="+mn-ea"/>
                <a:cs typeface="+mn-cs"/>
              </a:rPr>
              <a:t>—wanting things simply because the 'cool kids' want them. The core mindset becomes asking, </a:t>
            </a:r>
            <a:r>
              <a:rPr lang="en-US" sz="1200" i="1" kern="1200" dirty="0">
                <a:solidFill>
                  <a:schemeClr val="tx1"/>
                </a:solidFill>
                <a:effectLst/>
                <a:latin typeface="+mn-lt"/>
                <a:ea typeface="+mn-ea"/>
                <a:cs typeface="+mn-cs"/>
              </a:rPr>
              <a:t>'Will this be on the test?'</a:t>
            </a:r>
            <a:r>
              <a:rPr lang="en-US" sz="1200" kern="1200" dirty="0">
                <a:solidFill>
                  <a:schemeClr val="tx1"/>
                </a:solidFill>
                <a:effectLst/>
                <a:latin typeface="+mn-lt"/>
                <a:ea typeface="+mn-ea"/>
                <a:cs typeface="+mn-cs"/>
              </a:rPr>
              <a:t> and measuring vanity metrics like status, grades, or likes. </a:t>
            </a:r>
          </a:p>
          <a:p>
            <a:r>
              <a:rPr lang="en-US" sz="1200" kern="1200" dirty="0">
                <a:solidFill>
                  <a:schemeClr val="tx1"/>
                </a:solidFill>
                <a:effectLst/>
                <a:latin typeface="+mn-lt"/>
                <a:ea typeface="+mn-ea"/>
                <a:cs typeface="+mn-cs"/>
              </a:rPr>
              <a:t>But if you want to do work that matters, you have to transition from the </a:t>
            </a:r>
            <a:r>
              <a:rPr lang="en-US" sz="1200" b="1" kern="1200" dirty="0">
                <a:solidFill>
                  <a:schemeClr val="tx1"/>
                </a:solidFill>
                <a:effectLst/>
                <a:latin typeface="+mn-lt"/>
                <a:ea typeface="+mn-ea"/>
                <a:cs typeface="+mn-cs"/>
              </a:rPr>
              <a:t>High School Indoctrination</a:t>
            </a:r>
            <a:r>
              <a:rPr lang="en-US" sz="1200" kern="1200" dirty="0">
                <a:solidFill>
                  <a:schemeClr val="tx1"/>
                </a:solidFill>
                <a:effectLst/>
                <a:latin typeface="+mn-lt"/>
                <a:ea typeface="+mn-ea"/>
                <a:cs typeface="+mn-cs"/>
              </a:rPr>
              <a:t> to </a:t>
            </a:r>
            <a:r>
              <a:rPr lang="en-US" sz="1200" b="1" kern="1200" dirty="0">
                <a:solidFill>
                  <a:schemeClr val="tx1"/>
                </a:solidFill>
                <a:effectLst/>
                <a:latin typeface="+mn-lt"/>
                <a:ea typeface="+mn-ea"/>
                <a:cs typeface="+mn-cs"/>
              </a:rPr>
              <a:t>The Frontier</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On the Frontier, the goal isn't fitting in; it’s standing out and leading.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Your motivation shifts from mimetic desire to deep, personal desire.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Your mindset turns life into an art project—creating generous, meaningful work.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And your metrics change from vanity metrics to measuring real impact and true connection. </a:t>
            </a:r>
          </a:p>
          <a:p>
            <a:r>
              <a:rPr lang="en-US" sz="1200" kern="1200" dirty="0">
                <a:solidFill>
                  <a:schemeClr val="tx1"/>
                </a:solidFill>
                <a:effectLst/>
                <a:latin typeface="+mn-lt"/>
                <a:ea typeface="+mn-ea"/>
                <a:cs typeface="+mn-cs"/>
              </a:rPr>
              <a:t>Seth leaves us with a powerful reality check: </a:t>
            </a:r>
            <a:r>
              <a:rPr lang="en-US" sz="1200" i="1" kern="1200" dirty="0">
                <a:solidFill>
                  <a:schemeClr val="tx1"/>
                </a:solidFill>
                <a:effectLst/>
                <a:latin typeface="+mn-lt"/>
                <a:ea typeface="+mn-ea"/>
                <a:cs typeface="+mn-cs"/>
              </a:rPr>
              <a:t>If high school life makes you happy as an adult, don't change a thing. But if it doesn't, stop rehearsing its indoctrinations.</a:t>
            </a:r>
            <a:r>
              <a:rPr lang="en-US" sz="1200" kern="1200" dirty="0">
                <a:solidFill>
                  <a:schemeClr val="tx1"/>
                </a:solidFill>
                <a:effectLst/>
                <a:latin typeface="+mn-lt"/>
                <a:ea typeface="+mn-ea"/>
                <a:cs typeface="+mn-cs"/>
              </a:rPr>
              <a:t> It’s time to stop asking if it’s going to be on the test and start creating your own art. </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3</a:t>
            </a:fld>
            <a:endParaRPr lang="en-US"/>
          </a:p>
        </p:txBody>
      </p:sp>
    </p:spTree>
    <p:extLst>
      <p:ext uri="{BB962C8B-B14F-4D97-AF65-F5344CB8AC3E}">
        <p14:creationId xmlns:p14="http://schemas.microsoft.com/office/powerpoint/2010/main" val="20824562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We've all heard the old Vince Lombardi quote: </a:t>
            </a:r>
            <a:r>
              <a:rPr lang="en-US" sz="1200" i="1" kern="1200" dirty="0">
                <a:solidFill>
                  <a:schemeClr val="tx1"/>
                </a:solidFill>
                <a:effectLst/>
                <a:latin typeface="+mn-lt"/>
                <a:ea typeface="+mn-ea"/>
                <a:cs typeface="+mn-cs"/>
              </a:rPr>
              <a:t>'Winners never quit, and quitters never win.'</a:t>
            </a:r>
            <a:r>
              <a:rPr lang="en-US" sz="1200" kern="1200" dirty="0">
                <a:solidFill>
                  <a:schemeClr val="tx1"/>
                </a:solidFill>
                <a:effectLst/>
                <a:latin typeface="+mn-lt"/>
                <a:ea typeface="+mn-ea"/>
                <a:cs typeface="+mn-cs"/>
              </a:rPr>
              <a:t> Seth Godin argues that this is complete nonsense. Winners are actually quitters—provided it is </a:t>
            </a:r>
            <a:r>
              <a:rPr lang="en-US" sz="1200" b="1" kern="1200" dirty="0">
                <a:solidFill>
                  <a:schemeClr val="tx1"/>
                </a:solidFill>
                <a:effectLst/>
                <a:latin typeface="+mn-lt"/>
                <a:ea typeface="+mn-ea"/>
                <a:cs typeface="+mn-cs"/>
              </a:rPr>
              <a:t>strategic quitting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Quitting isn't failing. Failing is sticking with something that isn't working and isn't making you happy just because you started it. Quitting is simply freeing up your resources to invest in the thing you </a:t>
            </a:r>
            <a:r>
              <a:rPr lang="en-US" sz="1200" i="1" kern="1200" dirty="0">
                <a:solidFill>
                  <a:schemeClr val="tx1"/>
                </a:solidFill>
                <a:effectLst/>
                <a:latin typeface="+mn-lt"/>
                <a:ea typeface="+mn-ea"/>
                <a:cs typeface="+mn-cs"/>
              </a:rPr>
              <a:t>should</a:t>
            </a:r>
            <a:r>
              <a:rPr lang="en-US" sz="1200" kern="1200" dirty="0">
                <a:solidFill>
                  <a:schemeClr val="tx1"/>
                </a:solidFill>
                <a:effectLst/>
                <a:latin typeface="+mn-lt"/>
                <a:ea typeface="+mn-ea"/>
                <a:cs typeface="+mn-cs"/>
              </a:rPr>
              <a:t> be doing next. </a:t>
            </a:r>
          </a:p>
          <a:p>
            <a:r>
              <a:rPr lang="en-US" sz="1200" kern="1200" dirty="0">
                <a:solidFill>
                  <a:schemeClr val="tx1"/>
                </a:solidFill>
                <a:effectLst/>
                <a:latin typeface="+mn-lt"/>
                <a:ea typeface="+mn-ea"/>
                <a:cs typeface="+mn-cs"/>
              </a:rPr>
              <a:t>Look at the curve on this slide to understand how strategic quitting works: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Point A (Before you start):</a:t>
            </a:r>
            <a:r>
              <a:rPr lang="en-US" sz="1200" kern="1200" dirty="0">
                <a:solidFill>
                  <a:schemeClr val="tx1"/>
                </a:solidFill>
                <a:effectLst/>
                <a:latin typeface="+mn-lt"/>
                <a:ea typeface="+mn-ea"/>
                <a:cs typeface="+mn-cs"/>
              </a:rPr>
              <a:t> Realize before you embark on a project that there will be a hard part. If the ultimate reward isn't worth going through that hard part, </a:t>
            </a:r>
            <a:r>
              <a:rPr lang="en-US" sz="1200" b="1" kern="1200" dirty="0">
                <a:solidFill>
                  <a:schemeClr val="tx1"/>
                </a:solidFill>
                <a:effectLst/>
                <a:latin typeface="+mn-lt"/>
                <a:ea typeface="+mn-ea"/>
                <a:cs typeface="+mn-cs"/>
              </a:rPr>
              <a:t>quit before you start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Point B (The Dip / The Hard Part):</a:t>
            </a:r>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NEVER quit at the hard part.</a:t>
            </a:r>
            <a:r>
              <a:rPr lang="en-US" sz="1200" kern="1200" dirty="0">
                <a:solidFill>
                  <a:schemeClr val="tx1"/>
                </a:solidFill>
                <a:effectLst/>
                <a:latin typeface="+mn-lt"/>
                <a:ea typeface="+mn-ea"/>
                <a:cs typeface="+mn-cs"/>
              </a:rPr>
              <a:t> The hard part is precisely where value, scarcity, and competitive advantage are created. If it were easy, everyone would do it.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Point C (After the Dip):</a:t>
            </a:r>
            <a:r>
              <a:rPr lang="en-US" sz="1200" kern="1200" dirty="0">
                <a:solidFill>
                  <a:schemeClr val="tx1"/>
                </a:solidFill>
                <a:effectLst/>
                <a:latin typeface="+mn-lt"/>
                <a:ea typeface="+mn-ea"/>
                <a:cs typeface="+mn-cs"/>
              </a:rPr>
              <a:t> If you've pushed through the hard part and the project still isn't delivering results or bringing value, </a:t>
            </a:r>
            <a:r>
              <a:rPr lang="en-US" sz="1200" b="1" kern="1200" dirty="0">
                <a:solidFill>
                  <a:schemeClr val="tx1"/>
                </a:solidFill>
                <a:effectLst/>
                <a:latin typeface="+mn-lt"/>
                <a:ea typeface="+mn-ea"/>
                <a:cs typeface="+mn-cs"/>
              </a:rPr>
              <a:t>quit after the hard part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The key mental hurdle here is handling </a:t>
            </a:r>
            <a:r>
              <a:rPr lang="en-US" sz="1200" b="1" kern="1200" dirty="0">
                <a:solidFill>
                  <a:schemeClr val="tx1"/>
                </a:solidFill>
                <a:effectLst/>
                <a:latin typeface="+mn-lt"/>
                <a:ea typeface="+mn-ea"/>
                <a:cs typeface="+mn-cs"/>
              </a:rPr>
              <a:t>Sunk Costs</a:t>
            </a:r>
            <a:r>
              <a:rPr lang="en-US" sz="1200" kern="1200" dirty="0">
                <a:solidFill>
                  <a:schemeClr val="tx1"/>
                </a:solidFill>
                <a:effectLst/>
                <a:latin typeface="+mn-lt"/>
                <a:ea typeface="+mn-ea"/>
                <a:cs typeface="+mn-cs"/>
              </a:rPr>
              <a:t>. Seth offers a beautiful perspective on this: </a:t>
            </a:r>
            <a:r>
              <a:rPr lang="en-US" sz="1200" i="1" kern="1200" dirty="0">
                <a:solidFill>
                  <a:schemeClr val="tx1"/>
                </a:solidFill>
                <a:effectLst/>
                <a:latin typeface="+mn-lt"/>
                <a:ea typeface="+mn-ea"/>
                <a:cs typeface="+mn-cs"/>
              </a:rPr>
              <a:t>Sunk costs are a gift from your old self. You do not have to accept the gift.</a:t>
            </a:r>
            <a:r>
              <a:rPr lang="en-US" sz="1200" kern="1200" dirty="0">
                <a:solidFill>
                  <a:schemeClr val="tx1"/>
                </a:solidFill>
                <a:effectLst/>
                <a:latin typeface="+mn-lt"/>
                <a:ea typeface="+mn-ea"/>
                <a:cs typeface="+mn-cs"/>
              </a:rPr>
              <a:t> Just because you spent years in a career or invested thousands of dollars in a path doesn't mean your present self owes it to your past self to keep suffering. </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4</a:t>
            </a:fld>
            <a:endParaRPr lang="en-US"/>
          </a:p>
        </p:txBody>
      </p:sp>
    </p:spTree>
    <p:extLst>
      <p:ext uri="{BB962C8B-B14F-4D97-AF65-F5344CB8AC3E}">
        <p14:creationId xmlns:p14="http://schemas.microsoft.com/office/powerpoint/2010/main" val="40514017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put yourself out there and try something new, you will face rejection. How you respond to that rejection determines whether you stay stuck or grow. </a:t>
            </a:r>
          </a:p>
          <a:p>
            <a:r>
              <a:rPr lang="en-US" sz="1200" kern="1200" dirty="0">
                <a:solidFill>
                  <a:schemeClr val="tx1"/>
                </a:solidFill>
                <a:effectLst/>
                <a:latin typeface="+mn-lt"/>
                <a:ea typeface="+mn-ea"/>
                <a:cs typeface="+mn-cs"/>
              </a:rPr>
              <a:t>Most people fall into </a:t>
            </a:r>
            <a:r>
              <a:rPr lang="en-US" sz="1200" b="1" kern="1200" dirty="0">
                <a:solidFill>
                  <a:schemeClr val="tx1"/>
                </a:solidFill>
                <a:effectLst/>
                <a:latin typeface="+mn-lt"/>
                <a:ea typeface="+mn-ea"/>
                <a:cs typeface="+mn-cs"/>
              </a:rPr>
              <a:t>The Ego Trap</a:t>
            </a:r>
            <a:r>
              <a:rPr lang="en-US" sz="1200" kern="1200" dirty="0">
                <a:solidFill>
                  <a:schemeClr val="tx1"/>
                </a:solidFill>
                <a:effectLst/>
                <a:latin typeface="+mn-lt"/>
                <a:ea typeface="+mn-ea"/>
                <a:cs typeface="+mn-cs"/>
              </a:rPr>
              <a:t> (shown in red): They pitch an offer, get rejected, and immediately feel a bruised ego. To protect themselves, they build armor and get defensive. They think, </a:t>
            </a:r>
            <a:r>
              <a:rPr lang="en-US" sz="1200" i="1" kern="1200" dirty="0">
                <a:solidFill>
                  <a:schemeClr val="tx1"/>
                </a:solidFill>
                <a:effectLst/>
                <a:latin typeface="+mn-lt"/>
                <a:ea typeface="+mn-ea"/>
                <a:cs typeface="+mn-cs"/>
              </a:rPr>
              <a:t>'They didn't buy my offer because they're idiots.'</a:t>
            </a:r>
            <a:r>
              <a:rPr lang="en-US" sz="1200" kern="1200" dirty="0">
                <a:solidFill>
                  <a:schemeClr val="tx1"/>
                </a:solidFill>
                <a:effectLst/>
                <a:latin typeface="+mn-lt"/>
                <a:ea typeface="+mn-ea"/>
                <a:cs typeface="+mn-cs"/>
              </a:rPr>
              <a:t> This protective loop leads to zero learning, zero adaptation, and </a:t>
            </a:r>
            <a:r>
              <a:rPr lang="en-US" sz="1200" b="1" kern="1200" dirty="0">
                <a:solidFill>
                  <a:schemeClr val="tx1"/>
                </a:solidFill>
                <a:effectLst/>
                <a:latin typeface="+mn-lt"/>
                <a:ea typeface="+mn-ea"/>
                <a:cs typeface="+mn-cs"/>
              </a:rPr>
              <a:t>zero growth</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Contrast that with </a:t>
            </a:r>
            <a:r>
              <a:rPr lang="en-US" sz="1200" b="1" kern="1200" dirty="0">
                <a:solidFill>
                  <a:schemeClr val="tx1"/>
                </a:solidFill>
                <a:effectLst/>
                <a:latin typeface="+mn-lt"/>
                <a:ea typeface="+mn-ea"/>
                <a:cs typeface="+mn-cs"/>
              </a:rPr>
              <a:t>The Iteration Engine</a:t>
            </a:r>
            <a:r>
              <a:rPr lang="en-US" sz="1200" kern="1200" dirty="0">
                <a:solidFill>
                  <a:schemeClr val="tx1"/>
                </a:solidFill>
                <a:effectLst/>
                <a:latin typeface="+mn-lt"/>
                <a:ea typeface="+mn-ea"/>
                <a:cs typeface="+mn-cs"/>
              </a:rPr>
              <a:t> (shown in green): In Seth Godin's early career as a book packager, he received </a:t>
            </a:r>
            <a:r>
              <a:rPr lang="en-US" sz="1200" b="1" kern="1200" dirty="0">
                <a:solidFill>
                  <a:schemeClr val="tx1"/>
                </a:solidFill>
                <a:effectLst/>
                <a:latin typeface="+mn-lt"/>
                <a:ea typeface="+mn-ea"/>
                <a:cs typeface="+mn-cs"/>
              </a:rPr>
              <a:t>800 rejection letters in a single year</a:t>
            </a:r>
            <a:r>
              <a:rPr lang="en-US" sz="1200" kern="1200" dirty="0">
                <a:solidFill>
                  <a:schemeClr val="tx1"/>
                </a:solidFill>
                <a:effectLst/>
                <a:latin typeface="+mn-lt"/>
                <a:ea typeface="+mn-ea"/>
                <a:cs typeface="+mn-cs"/>
              </a:rPr>
              <a:t>! Think about that—800 times someone wrote back and said 'No.' But Seth didn't spam people, hustle them, or call them idiots. </a:t>
            </a:r>
          </a:p>
          <a:p>
            <a:r>
              <a:rPr lang="en-US" sz="1200" kern="1200" dirty="0">
                <a:solidFill>
                  <a:schemeClr val="tx1"/>
                </a:solidFill>
                <a:effectLst/>
                <a:latin typeface="+mn-lt"/>
                <a:ea typeface="+mn-ea"/>
                <a:cs typeface="+mn-cs"/>
              </a:rPr>
              <a:t>Instead, he used rejection as data. Every time he was rejected, his proposals got slightly better because he asked a crucial question: </a:t>
            </a:r>
            <a:r>
              <a:rPr lang="en-US" sz="1200" b="1" i="1" kern="1200" dirty="0">
                <a:solidFill>
                  <a:schemeClr val="tx1"/>
                </a:solidFill>
                <a:effectLst/>
                <a:latin typeface="+mn-lt"/>
                <a:ea typeface="+mn-ea"/>
                <a:cs typeface="+mn-cs"/>
              </a:rPr>
              <a:t>'Why might they be right?'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Everyone who makes a decision is correct based on who they are, what they believe, and what they heard from you. If you want a different answer, you can't blame them; you must adapt your offer and tell a better story. Rejection isn't personal—it's feedback. </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5</a:t>
            </a:fld>
            <a:endParaRPr lang="en-US"/>
          </a:p>
        </p:txBody>
      </p:sp>
    </p:spTree>
    <p:extLst>
      <p:ext uri="{BB962C8B-B14F-4D97-AF65-F5344CB8AC3E}">
        <p14:creationId xmlns:p14="http://schemas.microsoft.com/office/powerpoint/2010/main" val="3056884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iterate effectively, you need feedback loops. But you must ask yourself a critical question: </a:t>
            </a:r>
            <a:r>
              <a:rPr lang="en-US" sz="1200" b="1" kern="1200" dirty="0">
                <a:solidFill>
                  <a:schemeClr val="tx1"/>
                </a:solidFill>
                <a:effectLst/>
                <a:latin typeface="+mn-lt"/>
                <a:ea typeface="+mn-ea"/>
                <a:cs typeface="+mn-cs"/>
              </a:rPr>
              <a:t>Who benefits from the feedback loop you are using?</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Take a look at the two examples on the slide: </a:t>
            </a:r>
          </a:p>
          <a:p>
            <a:pPr marL="228600" lvl="0" indent="-228600">
              <a:buFont typeface="+mj-lt"/>
              <a:buAutoNum type="arabicPeriod"/>
            </a:pPr>
            <a:r>
              <a:rPr lang="en-US" sz="1200" b="1" kern="1200" dirty="0">
                <a:solidFill>
                  <a:schemeClr val="tx1"/>
                </a:solidFill>
                <a:effectLst/>
                <a:latin typeface="+mn-lt"/>
                <a:ea typeface="+mn-ea"/>
                <a:cs typeface="+mn-cs"/>
              </a:rPr>
              <a:t>The Stairmaster Analogy:</a:t>
            </a:r>
            <a:r>
              <a:rPr lang="en-US" sz="1200" kern="1200" dirty="0">
                <a:solidFill>
                  <a:schemeClr val="tx1"/>
                </a:solidFill>
                <a:effectLst/>
                <a:latin typeface="+mn-lt"/>
                <a:ea typeface="+mn-ea"/>
                <a:cs typeface="+mn-cs"/>
              </a:rPr>
              <a:t> Have you ever seen someone at the gym leaning heavily on the side rails of a Stairmaster? Why do they do that? Leaning takes the weight off their legs, ruins their posture, and reduces the quality of their workout. But they do it because it makes the floor counter on the screen go up faster! They succeeded at the metric, but failed completely at the goal. </a:t>
            </a:r>
          </a:p>
          <a:p>
            <a:pPr marL="228600" lvl="0" indent="-228600">
              <a:buFont typeface="+mj-lt"/>
              <a:buAutoNum type="arabicPeriod"/>
            </a:pPr>
            <a:r>
              <a:rPr lang="en-US" sz="1200" b="1" kern="1200" dirty="0">
                <a:solidFill>
                  <a:schemeClr val="tx1"/>
                </a:solidFill>
                <a:effectLst/>
                <a:latin typeface="+mn-lt"/>
                <a:ea typeface="+mn-ea"/>
                <a:cs typeface="+mn-cs"/>
              </a:rPr>
              <a:t>The Algorithm Trap:</a:t>
            </a:r>
            <a:r>
              <a:rPr lang="en-US" sz="1200" kern="1200" dirty="0">
                <a:solidFill>
                  <a:schemeClr val="tx1"/>
                </a:solidFill>
                <a:effectLst/>
                <a:latin typeface="+mn-lt"/>
                <a:ea typeface="+mn-ea"/>
                <a:cs typeface="+mn-cs"/>
              </a:rPr>
              <a:t> The exact same thing happens on social media. Platforms like Instagram or YouTube make views and likes easy to track because </a:t>
            </a:r>
            <a:r>
              <a:rPr lang="en-US" sz="1200" i="1" kern="1200" dirty="0">
                <a:solidFill>
                  <a:schemeClr val="tx1"/>
                </a:solidFill>
                <a:effectLst/>
                <a:latin typeface="+mn-lt"/>
                <a:ea typeface="+mn-ea"/>
                <a:cs typeface="+mn-cs"/>
              </a:rPr>
              <a:t>they</a:t>
            </a:r>
            <a:r>
              <a:rPr lang="en-US" sz="1200" kern="1200" dirty="0">
                <a:solidFill>
                  <a:schemeClr val="tx1"/>
                </a:solidFill>
                <a:effectLst/>
                <a:latin typeface="+mn-lt"/>
                <a:ea typeface="+mn-ea"/>
                <a:cs typeface="+mn-cs"/>
              </a:rPr>
              <a:t> benefit when you chase those numbers. If you get addicted to vanity metrics, you end up doing outrage-bait or cheap tricks to make the numbers go up, essentially working for the platform for free. </a:t>
            </a:r>
          </a:p>
          <a:p>
            <a:r>
              <a:rPr lang="en-US" sz="1200" kern="1200" dirty="0">
                <a:solidFill>
                  <a:schemeClr val="tx1"/>
                </a:solidFill>
                <a:effectLst/>
                <a:latin typeface="+mn-lt"/>
                <a:ea typeface="+mn-ea"/>
                <a:cs typeface="+mn-cs"/>
              </a:rPr>
              <a:t>Don't measure what is easy to measure; measure what actually brings you closer to your goal. If you spend your time measuring what everyone else is measuring, you're going to get stuck in the exact same place they are. </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6</a:t>
            </a:fld>
            <a:endParaRPr lang="en-US"/>
          </a:p>
        </p:txBody>
      </p:sp>
    </p:spTree>
    <p:extLst>
      <p:ext uri="{BB962C8B-B14F-4D97-AF65-F5344CB8AC3E}">
        <p14:creationId xmlns:p14="http://schemas.microsoft.com/office/powerpoint/2010/main" val="13375192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One of the fundamental shifts in getting unstuck is moving from a manager mindset to a leader mindset. Many organizations are full of managers, but starved for leaders. </a:t>
            </a:r>
          </a:p>
          <a:p>
            <a:r>
              <a:rPr lang="en-US" sz="1200" kern="1200" dirty="0">
                <a:solidFill>
                  <a:schemeClr val="tx1"/>
                </a:solidFill>
                <a:effectLst/>
                <a:latin typeface="+mn-lt"/>
                <a:ea typeface="+mn-ea"/>
                <a:cs typeface="+mn-cs"/>
              </a:rPr>
              <a:t>Let's look at how Seth Godin distinguishes the two: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Manager</a:t>
            </a:r>
            <a:r>
              <a:rPr lang="en-US" sz="1200" kern="1200" dirty="0">
                <a:solidFill>
                  <a:schemeClr val="tx1"/>
                </a:solidFill>
                <a:effectLst/>
                <a:latin typeface="+mn-lt"/>
                <a:ea typeface="+mn-ea"/>
                <a:cs typeface="+mn-cs"/>
              </a:rPr>
              <a:t> belongs to the </a:t>
            </a:r>
            <a:r>
              <a:rPr lang="en-US" sz="1200" b="1" kern="1200" dirty="0">
                <a:solidFill>
                  <a:schemeClr val="tx1"/>
                </a:solidFill>
                <a:effectLst/>
                <a:latin typeface="+mn-lt"/>
                <a:ea typeface="+mn-ea"/>
                <a:cs typeface="+mn-cs"/>
              </a:rPr>
              <a:t>Industrial Assembly Line</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Their primary tool is </a:t>
            </a:r>
            <a:r>
              <a:rPr lang="en-US" sz="1200" b="1" kern="1200" dirty="0">
                <a:solidFill>
                  <a:schemeClr val="tx1"/>
                </a:solidFill>
                <a:effectLst/>
                <a:latin typeface="+mn-lt"/>
                <a:ea typeface="+mn-ea"/>
                <a:cs typeface="+mn-cs"/>
              </a:rPr>
              <a:t>Power &amp; Authority</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Their goal is to get people to repetitively do a job that is already known and understood.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Their fuel is compliance, fear, and salary. They operate under the rule: </a:t>
            </a:r>
            <a:r>
              <a:rPr lang="en-US" sz="1200" i="1" kern="1200" dirty="0">
                <a:solidFill>
                  <a:schemeClr val="tx1"/>
                </a:solidFill>
                <a:effectLst/>
                <a:latin typeface="+mn-lt"/>
                <a:ea typeface="+mn-ea"/>
                <a:cs typeface="+mn-cs"/>
              </a:rPr>
              <a:t>'Do what I say or you'll be punished.'</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Leader</a:t>
            </a:r>
            <a:r>
              <a:rPr lang="en-US" sz="1200" kern="1200" dirty="0">
                <a:solidFill>
                  <a:schemeClr val="tx1"/>
                </a:solidFill>
                <a:effectLst/>
                <a:latin typeface="+mn-lt"/>
                <a:ea typeface="+mn-ea"/>
                <a:cs typeface="+mn-cs"/>
              </a:rPr>
              <a:t>, on the other hand, operates on </a:t>
            </a:r>
            <a:r>
              <a:rPr lang="en-US" sz="1200" b="1" kern="1200" dirty="0">
                <a:solidFill>
                  <a:schemeClr val="tx1"/>
                </a:solidFill>
                <a:effectLst/>
                <a:latin typeface="+mn-lt"/>
                <a:ea typeface="+mn-ea"/>
                <a:cs typeface="+mn-cs"/>
              </a:rPr>
              <a:t>The Frontier</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Their primary tool is </a:t>
            </a:r>
            <a:r>
              <a:rPr lang="en-US" sz="1200" b="1" kern="1200" dirty="0">
                <a:solidFill>
                  <a:schemeClr val="tx1"/>
                </a:solidFill>
                <a:effectLst/>
                <a:latin typeface="+mn-lt"/>
                <a:ea typeface="+mn-ea"/>
                <a:cs typeface="+mn-cs"/>
              </a:rPr>
              <a:t>Voluntary Enrollment</a:t>
            </a:r>
            <a:r>
              <a:rPr lang="en-US" sz="1200" kern="1200" dirty="0">
                <a:solidFill>
                  <a:schemeClr val="tx1"/>
                </a:solidFill>
                <a:effectLst/>
                <a:latin typeface="+mn-lt"/>
                <a:ea typeface="+mn-ea"/>
                <a:cs typeface="+mn-cs"/>
              </a:rPr>
              <a:t>. You cannot force someone to follow a leader; they must choose to.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Their goal is to do things that </a:t>
            </a:r>
            <a:r>
              <a:rPr lang="en-US" sz="1200" b="1" kern="1200" dirty="0">
                <a:solidFill>
                  <a:schemeClr val="tx1"/>
                </a:solidFill>
                <a:effectLst/>
                <a:latin typeface="+mn-lt"/>
                <a:ea typeface="+mn-ea"/>
                <a:cs typeface="+mn-cs"/>
              </a:rPr>
              <a:t>might not work</a:t>
            </a:r>
            <a:r>
              <a:rPr lang="en-US" sz="1200" kern="1200" dirty="0">
                <a:solidFill>
                  <a:schemeClr val="tx1"/>
                </a:solidFill>
                <a:effectLst/>
                <a:latin typeface="+mn-lt"/>
                <a:ea typeface="+mn-ea"/>
                <a:cs typeface="+mn-cs"/>
              </a:rPr>
              <a:t> in order to create new possibilities. </a:t>
            </a:r>
          </a:p>
          <a:p>
            <a:pPr marL="628650" lvl="1" indent="-171450">
              <a:buFont typeface="Arial" panose="020B0604020202020204" pitchFamily="34" charset="0"/>
              <a:buChar char="•"/>
            </a:pPr>
            <a:r>
              <a:rPr lang="en-US" sz="1200" kern="1200" dirty="0">
                <a:solidFill>
                  <a:schemeClr val="tx1"/>
                </a:solidFill>
                <a:effectLst/>
                <a:latin typeface="+mn-lt"/>
                <a:ea typeface="+mn-ea"/>
                <a:cs typeface="+mn-cs"/>
              </a:rPr>
              <a:t>Their fuel is vision, tension, and curiosity. </a:t>
            </a:r>
          </a:p>
          <a:p>
            <a:r>
              <a:rPr lang="en-US" sz="1200" kern="1200" dirty="0">
                <a:solidFill>
                  <a:schemeClr val="tx1"/>
                </a:solidFill>
                <a:effectLst/>
                <a:latin typeface="+mn-lt"/>
                <a:ea typeface="+mn-ea"/>
                <a:cs typeface="+mn-cs"/>
              </a:rPr>
              <a:t>As the slide states: </a:t>
            </a:r>
            <a:r>
              <a:rPr lang="en-US" sz="1200" i="1" kern="1200" dirty="0">
                <a:solidFill>
                  <a:schemeClr val="tx1"/>
                </a:solidFill>
                <a:effectLst/>
                <a:latin typeface="+mn-lt"/>
                <a:ea typeface="+mn-ea"/>
                <a:cs typeface="+mn-cs"/>
              </a:rPr>
              <a:t>Managers want authority, but leaders want responsibility.</a:t>
            </a:r>
            <a:r>
              <a:rPr lang="en-US" sz="1200" kern="1200" dirty="0">
                <a:solidFill>
                  <a:schemeClr val="tx1"/>
                </a:solidFill>
                <a:effectLst/>
                <a:latin typeface="+mn-lt"/>
                <a:ea typeface="+mn-ea"/>
                <a:cs typeface="+mn-cs"/>
              </a:rPr>
              <a:t> Leadership means stepping up to say, 'I'm going over here—who wants to come with me?' It requires taking responsibility for outcomes on the frontier of uncertainty.</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7</a:t>
            </a:fld>
            <a:endParaRPr lang="en-US"/>
          </a:p>
        </p:txBody>
      </p:sp>
    </p:spTree>
    <p:extLst>
      <p:ext uri="{BB962C8B-B14F-4D97-AF65-F5344CB8AC3E}">
        <p14:creationId xmlns:p14="http://schemas.microsoft.com/office/powerpoint/2010/main" val="2661570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do so many smart, capable people end up stuck? Seth Godin calls this 'The Conspiracy of Being Stuck,' created by the overlap of three major confusions: </a:t>
            </a:r>
          </a:p>
          <a:p>
            <a:pPr marL="228600" lvl="0" indent="-228600">
              <a:buFont typeface="+mj-lt"/>
              <a:buAutoNum type="arabicPeriod"/>
            </a:pPr>
            <a:r>
              <a:rPr lang="en-US" sz="1200" b="1" kern="1200" dirty="0">
                <a:solidFill>
                  <a:schemeClr val="tx1"/>
                </a:solidFill>
                <a:effectLst/>
                <a:latin typeface="+mn-lt"/>
                <a:ea typeface="+mn-ea"/>
                <a:cs typeface="+mn-cs"/>
              </a:rPr>
              <a:t>Short-Term Conflict Avoidance:</a:t>
            </a:r>
            <a:r>
              <a:rPr lang="en-US" sz="1200" kern="1200" dirty="0">
                <a:solidFill>
                  <a:schemeClr val="tx1"/>
                </a:solidFill>
                <a:effectLst/>
                <a:latin typeface="+mn-lt"/>
                <a:ea typeface="+mn-ea"/>
                <a:cs typeface="+mn-cs"/>
              </a:rPr>
              <a:t> Human beings naturally dislike uncomfortable conversations. But far too often, people suffer through years of long-term organizational or career pain just to avoid one minute of awkward conversation. They choose chronic discomfort over acute short-term clarity. </a:t>
            </a:r>
          </a:p>
          <a:p>
            <a:pPr marL="228600" lvl="0" indent="-228600">
              <a:buFont typeface="+mj-lt"/>
              <a:buAutoNum type="arabicPeriod"/>
            </a:pPr>
            <a:r>
              <a:rPr lang="en-US" sz="1200" b="1" kern="1200" dirty="0">
                <a:solidFill>
                  <a:schemeClr val="tx1"/>
                </a:solidFill>
                <a:effectLst/>
                <a:latin typeface="+mn-lt"/>
                <a:ea typeface="+mn-ea"/>
                <a:cs typeface="+mn-cs"/>
              </a:rPr>
              <a:t>Unwillingness to Create Tension:</a:t>
            </a:r>
            <a:r>
              <a:rPr lang="en-US" sz="1200" kern="1200" dirty="0">
                <a:solidFill>
                  <a:schemeClr val="tx1"/>
                </a:solidFill>
                <a:effectLst/>
                <a:latin typeface="+mn-lt"/>
                <a:ea typeface="+mn-ea"/>
                <a:cs typeface="+mn-cs"/>
              </a:rPr>
              <a:t> People confuse </a:t>
            </a:r>
            <a:r>
              <a:rPr lang="en-US" sz="1200" i="1" kern="1200" dirty="0">
                <a:solidFill>
                  <a:schemeClr val="tx1"/>
                </a:solidFill>
                <a:effectLst/>
                <a:latin typeface="+mn-lt"/>
                <a:ea typeface="+mn-ea"/>
                <a:cs typeface="+mn-cs"/>
              </a:rPr>
              <a:t>stress</a:t>
            </a:r>
            <a:r>
              <a:rPr lang="en-US" sz="1200" kern="1200" dirty="0">
                <a:solidFill>
                  <a:schemeClr val="tx1"/>
                </a:solidFill>
                <a:effectLst/>
                <a:latin typeface="+mn-lt"/>
                <a:ea typeface="+mn-ea"/>
                <a:cs typeface="+mn-cs"/>
              </a:rPr>
              <a:t> with </a:t>
            </a:r>
            <a:r>
              <a:rPr lang="en-US" sz="1200" i="1" kern="1200" dirty="0">
                <a:solidFill>
                  <a:schemeClr val="tx1"/>
                </a:solidFill>
                <a:effectLst/>
                <a:latin typeface="+mn-lt"/>
                <a:ea typeface="+mn-ea"/>
                <a:cs typeface="+mn-cs"/>
              </a:rPr>
              <a:t>tension</a:t>
            </a:r>
            <a:r>
              <a:rPr lang="en-US" sz="1200" kern="1200" dirty="0">
                <a:solidFill>
                  <a:schemeClr val="tx1"/>
                </a:solidFill>
                <a:effectLst/>
                <a:latin typeface="+mn-lt"/>
                <a:ea typeface="+mn-ea"/>
                <a:cs typeface="+mn-cs"/>
              </a:rPr>
              <a:t>. Stress is bad—it wears down your body and mind. Tension, however, is like pulling back a rubber band before releasing it. Without pulling the band back, it won't fly. Leadership and change require inflicting intentional tension—that feeling of </a:t>
            </a:r>
            <a:r>
              <a:rPr lang="en-US" sz="1200" i="1" kern="1200" dirty="0">
                <a:solidFill>
                  <a:schemeClr val="tx1"/>
                </a:solidFill>
                <a:effectLst/>
                <a:latin typeface="+mn-lt"/>
                <a:ea typeface="+mn-ea"/>
                <a:cs typeface="+mn-cs"/>
              </a:rPr>
              <a:t>'this might not work'</a:t>
            </a:r>
            <a:r>
              <a:rPr lang="en-US" sz="1200" kern="1200" dirty="0">
                <a:solidFill>
                  <a:schemeClr val="tx1"/>
                </a:solidFill>
                <a:effectLst/>
                <a:latin typeface="+mn-lt"/>
                <a:ea typeface="+mn-ea"/>
                <a:cs typeface="+mn-cs"/>
              </a:rPr>
              <a:t>—to move forward. </a:t>
            </a:r>
          </a:p>
          <a:p>
            <a:pPr marL="228600" lvl="0" indent="-228600">
              <a:buFont typeface="+mj-lt"/>
              <a:buAutoNum type="arabicPeriod"/>
            </a:pPr>
            <a:r>
              <a:rPr lang="en-US" sz="1200" b="1" kern="1200" dirty="0">
                <a:solidFill>
                  <a:schemeClr val="tx1"/>
                </a:solidFill>
                <a:effectLst/>
                <a:latin typeface="+mn-lt"/>
                <a:ea typeface="+mn-ea"/>
                <a:cs typeface="+mn-cs"/>
              </a:rPr>
              <a:t>Misunderstanding Risk:</a:t>
            </a:r>
            <a:r>
              <a:rPr lang="en-US" sz="1200" kern="1200" dirty="0">
                <a:solidFill>
                  <a:schemeClr val="tx1"/>
                </a:solidFill>
                <a:effectLst/>
                <a:latin typeface="+mn-lt"/>
                <a:ea typeface="+mn-ea"/>
                <a:cs typeface="+mn-cs"/>
              </a:rPr>
              <a:t> We are notoriously bad at evaluating risk. We fear things that </a:t>
            </a:r>
            <a:r>
              <a:rPr lang="en-US" sz="1200" i="1" kern="1200" dirty="0">
                <a:solidFill>
                  <a:schemeClr val="tx1"/>
                </a:solidFill>
                <a:effectLst/>
                <a:latin typeface="+mn-lt"/>
                <a:ea typeface="+mn-ea"/>
                <a:cs typeface="+mn-cs"/>
              </a:rPr>
              <a:t>feel</a:t>
            </a:r>
            <a:r>
              <a:rPr lang="en-US" sz="1200" kern="1200" dirty="0">
                <a:solidFill>
                  <a:schemeClr val="tx1"/>
                </a:solidFill>
                <a:effectLst/>
                <a:latin typeface="+mn-lt"/>
                <a:ea typeface="+mn-ea"/>
                <a:cs typeface="+mn-cs"/>
              </a:rPr>
              <a:t> risky (like public speaking, asking for a raise, or pitching a new idea) even though they carry zero physical or systemic risk. Meanwhile, we ignore actual, massive systemic risks—like staying passive in a dying industry or doing work that AI can easily automate. </a:t>
            </a:r>
          </a:p>
          <a:p>
            <a:r>
              <a:rPr lang="en-US" sz="1200" kern="1200" dirty="0">
                <a:solidFill>
                  <a:schemeClr val="tx1"/>
                </a:solidFill>
                <a:effectLst/>
                <a:latin typeface="+mn-lt"/>
                <a:ea typeface="+mn-ea"/>
                <a:cs typeface="+mn-cs"/>
              </a:rPr>
              <a:t>When you avoid conflict, refuse to create tension, and miscalculate risk, you lock yourself right in the center of being </a:t>
            </a:r>
            <a:r>
              <a:rPr lang="en-US" sz="1200" b="1" kern="1200" dirty="0">
                <a:solidFill>
                  <a:schemeClr val="tx1"/>
                </a:solidFill>
                <a:effectLst/>
                <a:latin typeface="+mn-lt"/>
                <a:ea typeface="+mn-ea"/>
                <a:cs typeface="+mn-cs"/>
              </a:rPr>
              <a:t>STUCK</a:t>
            </a:r>
            <a:r>
              <a:rPr lang="en-US" sz="12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8</a:t>
            </a:fld>
            <a:endParaRPr lang="en-US"/>
          </a:p>
        </p:txBody>
      </p:sp>
    </p:spTree>
    <p:extLst>
      <p:ext uri="{BB962C8B-B14F-4D97-AF65-F5344CB8AC3E}">
        <p14:creationId xmlns:p14="http://schemas.microsoft.com/office/powerpoint/2010/main" val="4162352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At the core of why we stay stuck are what Seth calls </a:t>
            </a:r>
            <a:r>
              <a:rPr lang="en-US" sz="1200" b="1" kern="1200" dirty="0">
                <a:solidFill>
                  <a:schemeClr val="tx1"/>
                </a:solidFill>
                <a:effectLst/>
                <a:latin typeface="+mn-lt"/>
                <a:ea typeface="+mn-ea"/>
                <a:cs typeface="+mn-cs"/>
              </a:rPr>
              <a:t>Entanglements</a:t>
            </a:r>
            <a:r>
              <a:rPr lang="en-US" sz="1200" kern="1200" dirty="0">
                <a:solidFill>
                  <a:schemeClr val="tx1"/>
                </a:solidFill>
                <a:effectLst/>
                <a:latin typeface="+mn-lt"/>
                <a:ea typeface="+mn-ea"/>
                <a:cs typeface="+mn-cs"/>
              </a:rPr>
              <a:t>. Borrowing a term from physics, entanglements are 'spooky action at a distance.' </a:t>
            </a:r>
          </a:p>
          <a:p>
            <a:r>
              <a:rPr lang="en-US" sz="1200" kern="1200" dirty="0">
                <a:solidFill>
                  <a:schemeClr val="tx1"/>
                </a:solidFill>
                <a:effectLst/>
                <a:latin typeface="+mn-lt"/>
                <a:ea typeface="+mn-ea"/>
                <a:cs typeface="+mn-cs"/>
              </a:rPr>
              <a:t>They are invisible, magnetic forces from your past that secretly dictate your decisions today: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It's the entrepreneur still trying to prove a 3rd-grade teacher wrong.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It's the professional spending 30 years in a career they despise simply because they paid $300,000 for the degree 15 years ago.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It's holding onto a broken process at work because 'that's how we've always done it.' </a:t>
            </a:r>
          </a:p>
          <a:p>
            <a:r>
              <a:rPr lang="en-US" sz="1200" kern="1200" dirty="0">
                <a:solidFill>
                  <a:schemeClr val="tx1"/>
                </a:solidFill>
                <a:effectLst/>
                <a:latin typeface="+mn-lt"/>
                <a:ea typeface="+mn-ea"/>
                <a:cs typeface="+mn-cs"/>
              </a:rPr>
              <a:t>Entanglements stay alive because they excel at preserving themselves in the dark. They hide behind excuses and comfort. </a:t>
            </a:r>
          </a:p>
          <a:p>
            <a:r>
              <a:rPr lang="en-US" sz="1200" kern="1200" dirty="0">
                <a:solidFill>
                  <a:schemeClr val="tx1"/>
                </a:solidFill>
                <a:effectLst/>
                <a:latin typeface="+mn-lt"/>
                <a:ea typeface="+mn-ea"/>
                <a:cs typeface="+mn-cs"/>
              </a:rPr>
              <a:t>So, how do you break free? The antidote is remarkably simple, yet requires immense courage: </a:t>
            </a:r>
            <a:r>
              <a:rPr lang="en-US" sz="1200" b="1" kern="1200" dirty="0">
                <a:solidFill>
                  <a:schemeClr val="tx1"/>
                </a:solidFill>
                <a:effectLst/>
                <a:latin typeface="+mn-lt"/>
                <a:ea typeface="+mn-ea"/>
                <a:cs typeface="+mn-cs"/>
              </a:rPr>
              <a:t>TELL THE TRUTH.</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Tell the truth about your entanglements out loud. When you speak your entanglements out loud—</a:t>
            </a:r>
            <a:r>
              <a:rPr lang="en-US" sz="1200" i="1" kern="1200" dirty="0">
                <a:solidFill>
                  <a:schemeClr val="tx1"/>
                </a:solidFill>
                <a:effectLst/>
                <a:latin typeface="+mn-lt"/>
                <a:ea typeface="+mn-ea"/>
                <a:cs typeface="+mn-cs"/>
              </a:rPr>
              <a:t>'I am only staying in this job because I'm afraid my parents will be disappointed'</a:t>
            </a:r>
            <a:r>
              <a:rPr lang="en-US" sz="1200" kern="1200" dirty="0">
                <a:solidFill>
                  <a:schemeClr val="tx1"/>
                </a:solidFill>
                <a:effectLst/>
                <a:latin typeface="+mn-lt"/>
                <a:ea typeface="+mn-ea"/>
                <a:cs typeface="+mn-cs"/>
              </a:rPr>
              <a:t>—the absurdity becomes clear, and the force of the entanglement withers in the sunlight. </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9</a:t>
            </a:fld>
            <a:endParaRPr lang="en-US"/>
          </a:p>
        </p:txBody>
      </p:sp>
    </p:spTree>
    <p:extLst>
      <p:ext uri="{BB962C8B-B14F-4D97-AF65-F5344CB8AC3E}">
        <p14:creationId xmlns:p14="http://schemas.microsoft.com/office/powerpoint/2010/main" val="914362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we set out to do meaningful work, we often trip over a single word: </a:t>
            </a:r>
            <a:r>
              <a:rPr lang="en-US" sz="1200" b="1" kern="1200" dirty="0">
                <a:solidFill>
                  <a:schemeClr val="tx1"/>
                </a:solidFill>
                <a:effectLst/>
                <a:latin typeface="+mn-lt"/>
                <a:ea typeface="+mn-ea"/>
                <a:cs typeface="+mn-cs"/>
              </a:rPr>
              <a:t>'BUT.'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Seth shares a compelling story about Jackson Pollock, one of the most famous painters of the 20th century. Pollock achieved immense success with his iconic drip paintings. But he wanted to push the artistic frontier further. He went back to his studio and created a completely new, radically different line of work. </a:t>
            </a:r>
          </a:p>
          <a:p>
            <a:r>
              <a:rPr lang="en-US" sz="1200" kern="1200" dirty="0">
                <a:solidFill>
                  <a:schemeClr val="tx1"/>
                </a:solidFill>
                <a:effectLst/>
                <a:latin typeface="+mn-lt"/>
                <a:ea typeface="+mn-ea"/>
                <a:cs typeface="+mn-cs"/>
              </a:rPr>
              <a:t>When he launched it, the critics hated it and nobody bought it. Pollock broke under the pressure because he demanded two opposing things at once: He wanted to be on the radical frontier </a:t>
            </a:r>
            <a:r>
              <a:rPr lang="en-US" sz="1200" i="1" kern="1200" dirty="0">
                <a:solidFill>
                  <a:schemeClr val="tx1"/>
                </a:solidFill>
                <a:effectLst/>
                <a:latin typeface="+mn-lt"/>
                <a:ea typeface="+mn-ea"/>
                <a:cs typeface="+mn-cs"/>
              </a:rPr>
              <a:t>BUT</a:t>
            </a:r>
            <a:r>
              <a:rPr lang="en-US" sz="1200" kern="1200" dirty="0">
                <a:solidFill>
                  <a:schemeClr val="tx1"/>
                </a:solidFill>
                <a:effectLst/>
                <a:latin typeface="+mn-lt"/>
                <a:ea typeface="+mn-ea"/>
                <a:cs typeface="+mn-cs"/>
              </a:rPr>
              <a:t> he also wanted mass commercial applause and instant riches. Expecting both caused him to break. </a:t>
            </a:r>
          </a:p>
          <a:p>
            <a:r>
              <a:rPr lang="en-US" sz="1200" b="1" kern="1200" dirty="0">
                <a:solidFill>
                  <a:schemeClr val="tx1"/>
                </a:solidFill>
                <a:effectLst/>
                <a:latin typeface="+mn-lt"/>
                <a:ea typeface="+mn-ea"/>
                <a:cs typeface="+mn-cs"/>
              </a:rPr>
              <a:t>The Trap:</a:t>
            </a:r>
            <a:r>
              <a:rPr lang="en-US" sz="1200" kern="1200" dirty="0">
                <a:solidFill>
                  <a:schemeClr val="tx1"/>
                </a:solidFill>
                <a:effectLst/>
                <a:latin typeface="+mn-lt"/>
                <a:ea typeface="+mn-ea"/>
                <a:cs typeface="+mn-cs"/>
              </a:rPr>
              <a:t> Saying 'BUT' creates entitlement. </a:t>
            </a:r>
            <a:r>
              <a:rPr lang="en-US" sz="1200" i="1" kern="1200" dirty="0">
                <a:solidFill>
                  <a:schemeClr val="tx1"/>
                </a:solidFill>
                <a:effectLst/>
                <a:latin typeface="+mn-lt"/>
                <a:ea typeface="+mn-ea"/>
                <a:cs typeface="+mn-cs"/>
              </a:rPr>
              <a:t>'I want to run a marathon BUT I don't want to get tired.'</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Fix:</a:t>
            </a:r>
            <a:r>
              <a:rPr lang="en-US" sz="1200" kern="1200" dirty="0">
                <a:solidFill>
                  <a:schemeClr val="tx1"/>
                </a:solidFill>
                <a:effectLst/>
                <a:latin typeface="+mn-lt"/>
                <a:ea typeface="+mn-ea"/>
                <a:cs typeface="+mn-cs"/>
              </a:rPr>
              <a:t> Replace your '</a:t>
            </a:r>
            <a:r>
              <a:rPr lang="en-US" sz="1200" kern="1200" dirty="0" err="1">
                <a:solidFill>
                  <a:schemeClr val="tx1"/>
                </a:solidFill>
                <a:effectLst/>
                <a:latin typeface="+mn-lt"/>
                <a:ea typeface="+mn-ea"/>
                <a:cs typeface="+mn-cs"/>
              </a:rPr>
              <a:t>BUTs'</a:t>
            </a:r>
            <a:r>
              <a:rPr lang="en-US" sz="1200" kern="1200" dirty="0">
                <a:solidFill>
                  <a:schemeClr val="tx1"/>
                </a:solidFill>
                <a:effectLst/>
                <a:latin typeface="+mn-lt"/>
                <a:ea typeface="+mn-ea"/>
                <a:cs typeface="+mn-cs"/>
              </a:rPr>
              <a:t> with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ANDs'</a:t>
            </a:r>
            <a:r>
              <a:rPr lang="en-US" sz="1200" kern="1200" dirty="0">
                <a:solidFill>
                  <a:schemeClr val="tx1"/>
                </a:solidFill>
                <a:effectLst/>
                <a:latin typeface="+mn-lt"/>
                <a:ea typeface="+mn-ea"/>
                <a:cs typeface="+mn-cs"/>
              </a:rPr>
              <a:t> to accept reality: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Change </a:t>
            </a:r>
            <a:r>
              <a:rPr lang="en-US" sz="1200" i="1" kern="1200" dirty="0">
                <a:solidFill>
                  <a:schemeClr val="tx1"/>
                </a:solidFill>
                <a:effectLst/>
                <a:latin typeface="+mn-lt"/>
                <a:ea typeface="+mn-ea"/>
                <a:cs typeface="+mn-cs"/>
              </a:rPr>
              <a:t>'I want to run a marathon BUT I don't want to get tired'</a:t>
            </a:r>
            <a:r>
              <a:rPr lang="en-US" sz="1200" kern="1200" dirty="0">
                <a:solidFill>
                  <a:schemeClr val="tx1"/>
                </a:solidFill>
                <a:effectLst/>
                <a:latin typeface="+mn-lt"/>
                <a:ea typeface="+mn-ea"/>
                <a:cs typeface="+mn-cs"/>
              </a:rPr>
              <a:t> to </a:t>
            </a:r>
            <a:r>
              <a:rPr lang="en-US" sz="1200" b="1" i="1" kern="1200" dirty="0">
                <a:solidFill>
                  <a:schemeClr val="tx1"/>
                </a:solidFill>
                <a:effectLst/>
                <a:latin typeface="+mn-lt"/>
                <a:ea typeface="+mn-ea"/>
                <a:cs typeface="+mn-cs"/>
              </a:rPr>
              <a:t>'I am going to run a marathon AND I am going to get tired.'</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Change </a:t>
            </a:r>
            <a:r>
              <a:rPr lang="en-US" sz="1200" i="1" kern="1200" dirty="0">
                <a:solidFill>
                  <a:schemeClr val="tx1"/>
                </a:solidFill>
                <a:effectLst/>
                <a:latin typeface="+mn-lt"/>
                <a:ea typeface="+mn-ea"/>
                <a:cs typeface="+mn-cs"/>
              </a:rPr>
              <a:t>'I want to build an innovative product BUT people might reject it'</a:t>
            </a:r>
            <a:r>
              <a:rPr lang="en-US" sz="1200" kern="1200" dirty="0">
                <a:solidFill>
                  <a:schemeClr val="tx1"/>
                </a:solidFill>
                <a:effectLst/>
                <a:latin typeface="+mn-lt"/>
                <a:ea typeface="+mn-ea"/>
                <a:cs typeface="+mn-cs"/>
              </a:rPr>
              <a:t> to </a:t>
            </a:r>
            <a:r>
              <a:rPr lang="en-US" sz="1200" b="1" i="1" kern="1200" dirty="0">
                <a:solidFill>
                  <a:schemeClr val="tx1"/>
                </a:solidFill>
                <a:effectLst/>
                <a:latin typeface="+mn-lt"/>
                <a:ea typeface="+mn-ea"/>
                <a:cs typeface="+mn-cs"/>
              </a:rPr>
              <a:t>'I am going to build an innovative product AND it might not work.'</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Embracing 'AND' shifts your posture from entitlement to acceptance. </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10</a:t>
            </a:fld>
            <a:endParaRPr lang="en-US"/>
          </a:p>
        </p:txBody>
      </p:sp>
    </p:spTree>
    <p:extLst>
      <p:ext uri="{BB962C8B-B14F-4D97-AF65-F5344CB8AC3E}">
        <p14:creationId xmlns:p14="http://schemas.microsoft.com/office/powerpoint/2010/main" val="33237709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an era where everyone is trying to go viral, one of the most liberating frameworks Seth Godin teaches is finding your </a:t>
            </a:r>
            <a:r>
              <a:rPr lang="en-US" sz="1200" b="1" kern="1200" dirty="0">
                <a:solidFill>
                  <a:schemeClr val="tx1"/>
                </a:solidFill>
                <a:effectLst/>
                <a:latin typeface="+mn-lt"/>
                <a:ea typeface="+mn-ea"/>
                <a:cs typeface="+mn-cs"/>
              </a:rPr>
              <a:t>Smallest Viable Audience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You do not need to be Oprah. You do not need millions of followers to build a thriving business or career. The internet is actually a terrible mass medium, but it is a perfect micro-medium. It is designed to connect niche groups of people who care about specific things. </a:t>
            </a:r>
          </a:p>
          <a:p>
            <a:r>
              <a:rPr lang="en-US" sz="1200" b="1" kern="1200" dirty="0">
                <a:solidFill>
                  <a:schemeClr val="tx1"/>
                </a:solidFill>
                <a:effectLst/>
                <a:latin typeface="+mn-lt"/>
                <a:ea typeface="+mn-ea"/>
                <a:cs typeface="+mn-cs"/>
              </a:rPr>
              <a:t>The Metric:</a:t>
            </a:r>
            <a:r>
              <a:rPr lang="en-US" sz="1200" kern="1200" dirty="0">
                <a:solidFill>
                  <a:schemeClr val="tx1"/>
                </a:solidFill>
                <a:effectLst/>
                <a:latin typeface="+mn-lt"/>
                <a:ea typeface="+mn-ea"/>
                <a:cs typeface="+mn-cs"/>
              </a:rPr>
              <a:t> Define what 'Enough' looks like. Seth shares the story of a secret 24-seat magic theater behind a bookshelf in Brooklyn. If those 24 seats are filled with the right people who are deeply moved by the performance, that is </a:t>
            </a:r>
            <a:r>
              <a:rPr lang="en-US" sz="1200" i="1" kern="1200" dirty="0">
                <a:solidFill>
                  <a:schemeClr val="tx1"/>
                </a:solidFill>
                <a:effectLst/>
                <a:latin typeface="+mn-lt"/>
                <a:ea typeface="+mn-ea"/>
                <a:cs typeface="+mn-cs"/>
              </a:rPr>
              <a:t>enough</a:t>
            </a:r>
            <a:r>
              <a:rPr lang="en-US" sz="1200" kern="1200" dirty="0">
                <a:solidFill>
                  <a:schemeClr val="tx1"/>
                </a:solidFill>
                <a:effectLst/>
                <a:latin typeface="+mn-lt"/>
                <a:ea typeface="+mn-ea"/>
                <a:cs typeface="+mn-cs"/>
              </a:rPr>
              <a:t>. If you are a local business and 500 households in your neighborhood think you are the best in the world at what you do, that is </a:t>
            </a:r>
            <a:r>
              <a:rPr lang="en-US" sz="1200" i="1" kern="1200" dirty="0">
                <a:solidFill>
                  <a:schemeClr val="tx1"/>
                </a:solidFill>
                <a:effectLst/>
                <a:latin typeface="+mn-lt"/>
                <a:ea typeface="+mn-ea"/>
                <a:cs typeface="+mn-cs"/>
              </a:rPr>
              <a:t>enough</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Mantra:</a:t>
            </a:r>
            <a:r>
              <a:rPr lang="en-US" sz="1200" kern="1200" dirty="0">
                <a:solidFill>
                  <a:schemeClr val="tx1"/>
                </a:solidFill>
                <a:effectLst/>
                <a:latin typeface="+mn-lt"/>
                <a:ea typeface="+mn-ea"/>
                <a:cs typeface="+mn-cs"/>
              </a:rPr>
              <a:t> To serve a specific audience well, you must adopt the mantra: </a:t>
            </a:r>
            <a:r>
              <a:rPr lang="en-US" sz="1200" b="1" i="1" kern="1200" dirty="0">
                <a:solidFill>
                  <a:schemeClr val="tx1"/>
                </a:solidFill>
                <a:effectLst/>
                <a:latin typeface="+mn-lt"/>
                <a:ea typeface="+mn-ea"/>
                <a:cs typeface="+mn-cs"/>
              </a:rPr>
              <a:t>'Thank you, it's not for you.'</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you make scissors specifically for right-handed people, you don't spend your energy arguing with left-handed people or trying to convert them. You simply say, </a:t>
            </a:r>
            <a:r>
              <a:rPr lang="en-US" sz="1200" i="1" kern="1200" dirty="0">
                <a:solidFill>
                  <a:schemeClr val="tx1"/>
                </a:solidFill>
                <a:effectLst/>
                <a:latin typeface="+mn-lt"/>
                <a:ea typeface="+mn-ea"/>
                <a:cs typeface="+mn-cs"/>
              </a:rPr>
              <a:t>'Thank you, it's not for you,'</a:t>
            </a:r>
            <a:r>
              <a:rPr lang="en-US" sz="1200" kern="1200" dirty="0">
                <a:solidFill>
                  <a:schemeClr val="tx1"/>
                </a:solidFill>
                <a:effectLst/>
                <a:latin typeface="+mn-lt"/>
                <a:ea typeface="+mn-ea"/>
                <a:cs typeface="+mn-cs"/>
              </a:rPr>
              <a:t> and focus entirely on serving the people who care. </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11</a:t>
            </a:fld>
            <a:endParaRPr lang="en-US"/>
          </a:p>
        </p:txBody>
      </p:sp>
    </p:spTree>
    <p:extLst>
      <p:ext uri="{BB962C8B-B14F-4D97-AF65-F5344CB8AC3E}">
        <p14:creationId xmlns:p14="http://schemas.microsoft.com/office/powerpoint/2010/main" val="24908477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we look at why so many talented professionals find themselves stuck, we often blame a lack of resources, time, or motivation. But as Seth Godin highlights in </a:t>
            </a:r>
            <a:r>
              <a:rPr lang="en-US" sz="1200" i="1" kern="1200" dirty="0">
                <a:solidFill>
                  <a:schemeClr val="tx1"/>
                </a:solidFill>
                <a:effectLst/>
                <a:latin typeface="+mn-lt"/>
                <a:ea typeface="+mn-ea"/>
                <a:cs typeface="+mn-cs"/>
              </a:rPr>
              <a:t>The Knot</a:t>
            </a:r>
            <a:r>
              <a:rPr lang="en-US" sz="1200" kern="1200" dirty="0">
                <a:solidFill>
                  <a:schemeClr val="tx1"/>
                </a:solidFill>
                <a:effectLst/>
                <a:latin typeface="+mn-lt"/>
                <a:ea typeface="+mn-ea"/>
                <a:cs typeface="+mn-cs"/>
              </a:rPr>
              <a:t>, 'stuck' is often just a code word for 'comfortable'. We construct psychological habits and confusions that keep us safe in the middle—avoiding the friction required to break through. </a:t>
            </a:r>
          </a:p>
          <a:p>
            <a:r>
              <a:rPr lang="en-US" sz="1200" kern="1200" dirty="0">
                <a:solidFill>
                  <a:schemeClr val="tx1"/>
                </a:solidFill>
                <a:effectLst/>
                <a:latin typeface="+mn-lt"/>
                <a:ea typeface="+mn-ea"/>
                <a:cs typeface="+mn-cs"/>
              </a:rPr>
              <a:t>Godin identifies three core confusions that drive this conspiracy of being stuck: </a:t>
            </a:r>
          </a:p>
          <a:p>
            <a:r>
              <a:rPr lang="en-US" sz="1200" kern="1200" dirty="0">
                <a:solidFill>
                  <a:schemeClr val="tx1"/>
                </a:solidFill>
                <a:effectLst/>
                <a:latin typeface="+mn-lt"/>
                <a:ea typeface="+mn-ea"/>
                <a:cs typeface="+mn-cs"/>
              </a:rPr>
              <a:t>First, </a:t>
            </a:r>
            <a:r>
              <a:rPr lang="en-US" sz="1200" b="1" kern="1200" dirty="0">
                <a:solidFill>
                  <a:schemeClr val="tx1"/>
                </a:solidFill>
                <a:effectLst/>
                <a:latin typeface="+mn-lt"/>
                <a:ea typeface="+mn-ea"/>
                <a:cs typeface="+mn-cs"/>
              </a:rPr>
              <a:t>Short-Term Conflict Avoidance</a:t>
            </a:r>
            <a:r>
              <a:rPr lang="en-US" sz="1200" kern="1200" dirty="0">
                <a:solidFill>
                  <a:schemeClr val="tx1"/>
                </a:solidFill>
                <a:effectLst/>
                <a:latin typeface="+mn-lt"/>
                <a:ea typeface="+mn-ea"/>
                <a:cs typeface="+mn-cs"/>
              </a:rPr>
              <a:t>. For thousands of years, humans survived by maintaining social harmony. But today, that instinct backfires. People will suffer through </a:t>
            </a:r>
            <a:r>
              <a:rPr lang="en-US" sz="1200" i="1" kern="1200" dirty="0">
                <a:solidFill>
                  <a:schemeClr val="tx1"/>
                </a:solidFill>
                <a:effectLst/>
                <a:latin typeface="+mn-lt"/>
                <a:ea typeface="+mn-ea"/>
                <a:cs typeface="+mn-cs"/>
              </a:rPr>
              <a:t>years</a:t>
            </a:r>
            <a:r>
              <a:rPr lang="en-US" sz="1200" kern="1200" dirty="0">
                <a:solidFill>
                  <a:schemeClr val="tx1"/>
                </a:solidFill>
                <a:effectLst/>
                <a:latin typeface="+mn-lt"/>
                <a:ea typeface="+mn-ea"/>
                <a:cs typeface="+mn-cs"/>
              </a:rPr>
              <a:t> of systemic pain, toxic work environments, or misaligned roles just to avoid </a:t>
            </a:r>
            <a:r>
              <a:rPr lang="en-US" sz="1200" i="1" kern="1200" dirty="0">
                <a:solidFill>
                  <a:schemeClr val="tx1"/>
                </a:solidFill>
                <a:effectLst/>
                <a:latin typeface="+mn-lt"/>
                <a:ea typeface="+mn-ea"/>
                <a:cs typeface="+mn-cs"/>
              </a:rPr>
              <a:t>one minute</a:t>
            </a:r>
            <a:r>
              <a:rPr lang="en-US" sz="1200" kern="1200" dirty="0">
                <a:solidFill>
                  <a:schemeClr val="tx1"/>
                </a:solidFill>
                <a:effectLst/>
                <a:latin typeface="+mn-lt"/>
                <a:ea typeface="+mn-ea"/>
                <a:cs typeface="+mn-cs"/>
              </a:rPr>
              <a:t> of awkward conversation at work or home. We have to realize that enduring short-term awkwardness is a prerequisite for long-term clarity and freedom. </a:t>
            </a:r>
          </a:p>
          <a:p>
            <a:r>
              <a:rPr lang="en-US" sz="1200" kern="1200" dirty="0">
                <a:solidFill>
                  <a:schemeClr val="tx1"/>
                </a:solidFill>
                <a:effectLst/>
                <a:latin typeface="+mn-lt"/>
                <a:ea typeface="+mn-ea"/>
                <a:cs typeface="+mn-cs"/>
              </a:rPr>
              <a:t>Second, an </a:t>
            </a:r>
            <a:r>
              <a:rPr lang="en-US" sz="1200" b="1" kern="1200" dirty="0">
                <a:solidFill>
                  <a:schemeClr val="tx1"/>
                </a:solidFill>
                <a:effectLst/>
                <a:latin typeface="+mn-lt"/>
                <a:ea typeface="+mn-ea"/>
                <a:cs typeface="+mn-cs"/>
              </a:rPr>
              <a:t>Unwillingness to Create Tension</a:t>
            </a:r>
            <a:r>
              <a:rPr lang="en-US" sz="1200" kern="1200" dirty="0">
                <a:solidFill>
                  <a:schemeClr val="tx1"/>
                </a:solidFill>
                <a:effectLst/>
                <a:latin typeface="+mn-lt"/>
                <a:ea typeface="+mn-ea"/>
                <a:cs typeface="+mn-cs"/>
              </a:rPr>
              <a:t>. People confuse tension with stress. Stress is damaging; tension is potential energy. Think of pulling a rubber band back—if you don't pull it back, it won't fly across the room. When you launch a new product, lead a transformation, or ask for enrollment, you </a:t>
            </a:r>
            <a:r>
              <a:rPr lang="en-US" sz="1200" i="1" kern="1200" dirty="0">
                <a:solidFill>
                  <a:schemeClr val="tx1"/>
                </a:solidFill>
                <a:effectLst/>
                <a:latin typeface="+mn-lt"/>
                <a:ea typeface="+mn-ea"/>
                <a:cs typeface="+mn-cs"/>
              </a:rPr>
              <a:t>must</a:t>
            </a:r>
            <a:r>
              <a:rPr lang="en-US" sz="1200" kern="1200" dirty="0">
                <a:solidFill>
                  <a:schemeClr val="tx1"/>
                </a:solidFill>
                <a:effectLst/>
                <a:latin typeface="+mn-lt"/>
                <a:ea typeface="+mn-ea"/>
                <a:cs typeface="+mn-cs"/>
              </a:rPr>
              <a:t> inflict intentional tension. It’s the feeling of 'this might not work,' and without it, nothing changes. </a:t>
            </a:r>
          </a:p>
          <a:p>
            <a:r>
              <a:rPr lang="en-US" sz="1200" kern="1200" dirty="0">
                <a:solidFill>
                  <a:schemeClr val="tx1"/>
                </a:solidFill>
                <a:effectLst/>
                <a:latin typeface="+mn-lt"/>
                <a:ea typeface="+mn-ea"/>
                <a:cs typeface="+mn-cs"/>
              </a:rPr>
              <a:t>Finally, </a:t>
            </a:r>
            <a:r>
              <a:rPr lang="en-US" sz="1200" b="1" kern="1200" dirty="0">
                <a:solidFill>
                  <a:schemeClr val="tx1"/>
                </a:solidFill>
                <a:effectLst/>
                <a:latin typeface="+mn-lt"/>
                <a:ea typeface="+mn-ea"/>
                <a:cs typeface="+mn-cs"/>
              </a:rPr>
              <a:t>Misunderstanding Risk</a:t>
            </a:r>
            <a:r>
              <a:rPr lang="en-US" sz="1200" kern="1200" dirty="0">
                <a:solidFill>
                  <a:schemeClr val="tx1"/>
                </a:solidFill>
                <a:effectLst/>
                <a:latin typeface="+mn-lt"/>
                <a:ea typeface="+mn-ea"/>
                <a:cs typeface="+mn-cs"/>
              </a:rPr>
              <a:t>. Humans are notoriously terrible at evaluating risk rationally. We buy insurance before getting on airplanes, even though the drive to the airport is drastically more dangerous. In business, public speaking or making a bold pitch </a:t>
            </a:r>
            <a:r>
              <a:rPr lang="en-US" sz="1200" i="1" kern="1200" dirty="0">
                <a:solidFill>
                  <a:schemeClr val="tx1"/>
                </a:solidFill>
                <a:effectLst/>
                <a:latin typeface="+mn-lt"/>
                <a:ea typeface="+mn-ea"/>
                <a:cs typeface="+mn-cs"/>
              </a:rPr>
              <a:t>feels</a:t>
            </a:r>
            <a:r>
              <a:rPr lang="en-US" sz="1200" kern="1200" dirty="0">
                <a:solidFill>
                  <a:schemeClr val="tx1"/>
                </a:solidFill>
                <a:effectLst/>
                <a:latin typeface="+mn-lt"/>
                <a:ea typeface="+mn-ea"/>
                <a:cs typeface="+mn-cs"/>
              </a:rPr>
              <a:t> high-risk, but no one ever dies from a rejected proposal. The real, systemic risk is staying quiet in an industry that is rapidly being mechanized. </a:t>
            </a:r>
          </a:p>
          <a:p>
            <a:r>
              <a:rPr lang="en-US" sz="1200" kern="1200" dirty="0">
                <a:solidFill>
                  <a:schemeClr val="tx1"/>
                </a:solidFill>
                <a:effectLst/>
                <a:latin typeface="+mn-lt"/>
                <a:ea typeface="+mn-ea"/>
                <a:cs typeface="+mn-cs"/>
              </a:rPr>
              <a:t>To move forward, we have to look closely at these hidden forces—or what Seth calls our 'entanglements'.</a:t>
            </a:r>
          </a:p>
          <a:p>
            <a:pPr lvl="0"/>
            <a:r>
              <a:rPr lang="en-US" sz="1200" b="1" kern="1200" dirty="0">
                <a:solidFill>
                  <a:schemeClr val="tx1"/>
                </a:solidFill>
                <a:effectLst/>
                <a:latin typeface="+mn-lt"/>
                <a:ea typeface="+mn-ea"/>
                <a:cs typeface="+mn-cs"/>
              </a:rPr>
              <a:t>Transition to Slide 13:</a:t>
            </a:r>
            <a:r>
              <a:rPr lang="en-US" sz="1200" kern="1200" dirty="0">
                <a:solidFill>
                  <a:schemeClr val="tx1"/>
                </a:solidFill>
                <a:effectLst/>
                <a:latin typeface="+mn-lt"/>
                <a:ea typeface="+mn-ea"/>
                <a:cs typeface="+mn-cs"/>
              </a:rPr>
              <a:t> "Now, let's look at where these entanglements come from and how we can untangle them.</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12</a:t>
            </a:fld>
            <a:endParaRPr lang="en-US"/>
          </a:p>
        </p:txBody>
      </p:sp>
    </p:spTree>
    <p:extLst>
      <p:ext uri="{BB962C8B-B14F-4D97-AF65-F5344CB8AC3E}">
        <p14:creationId xmlns:p14="http://schemas.microsoft.com/office/powerpoint/2010/main" val="2996136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Seth uses the quantum physics term 'spooky action at a distance' to describe entanglements. These are invisible magnetic pull points from our past—a grade school teacher who doubted us, a degree we paid $300,000 for 15 years ago, or a sunk cost we refuse to forgive. We stay stuck in careers or patterns because we feel obligated to choices made by a past version of ourselves. </a:t>
            </a:r>
          </a:p>
          <a:p>
            <a:r>
              <a:rPr lang="en-US" sz="1200" kern="1200" dirty="0">
                <a:solidFill>
                  <a:schemeClr val="tx1"/>
                </a:solidFill>
                <a:effectLst/>
                <a:latin typeface="+mn-lt"/>
                <a:ea typeface="+mn-ea"/>
                <a:cs typeface="+mn-cs"/>
              </a:rPr>
              <a:t>How do you break an entanglement? You </a:t>
            </a:r>
            <a:r>
              <a:rPr lang="en-US" sz="1200" b="1" kern="1200" dirty="0">
                <a:solidFill>
                  <a:schemeClr val="tx1"/>
                </a:solidFill>
                <a:effectLst/>
                <a:latin typeface="+mn-lt"/>
                <a:ea typeface="+mn-ea"/>
                <a:cs typeface="+mn-cs"/>
              </a:rPr>
              <a:t>tell the truth out loud</a:t>
            </a:r>
            <a:r>
              <a:rPr lang="en-US" sz="1200" kern="1200" dirty="0">
                <a:solidFill>
                  <a:schemeClr val="tx1"/>
                </a:solidFill>
                <a:effectLst/>
                <a:latin typeface="+mn-lt"/>
                <a:ea typeface="+mn-ea"/>
                <a:cs typeface="+mn-cs"/>
              </a:rPr>
              <a:t>. When you expose entanglements to sunlight by stating them clearly—'I'm continuing this meeting structure only because I want approval,' or 'I'm staying in this role because of a choice I made 10 years ago'—the absurdity becomes clear, and the grip loosens. </a:t>
            </a:r>
          </a:p>
          <a:p>
            <a:r>
              <a:rPr lang="en-US" sz="1200" kern="1200" dirty="0">
                <a:solidFill>
                  <a:schemeClr val="tx1"/>
                </a:solidFill>
                <a:effectLst/>
                <a:latin typeface="+mn-lt"/>
                <a:ea typeface="+mn-ea"/>
                <a:cs typeface="+mn-cs"/>
              </a:rPr>
              <a:t>This brings us to the </a:t>
            </a:r>
            <a:r>
              <a:rPr lang="en-US" sz="1200" b="1" kern="1200" dirty="0">
                <a:solidFill>
                  <a:schemeClr val="tx1"/>
                </a:solidFill>
                <a:effectLst/>
                <a:latin typeface="+mn-lt"/>
                <a:ea typeface="+mn-ea"/>
                <a:cs typeface="+mn-cs"/>
              </a:rPr>
              <a:t>Paradox of "But"</a:t>
            </a:r>
            <a:r>
              <a:rPr lang="en-US" sz="1200" kern="1200" dirty="0">
                <a:solidFill>
                  <a:schemeClr val="tx1"/>
                </a:solidFill>
                <a:effectLst/>
                <a:latin typeface="+mn-lt"/>
                <a:ea typeface="+mn-ea"/>
                <a:cs typeface="+mn-cs"/>
              </a:rPr>
              <a:t>. Look at the painter Jackson Pollock in the mid-1950s. He was the most famous artist in America, selling out every drip painting. But he wanted to push the artistic frontier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he demanded commercial, sold-out success for his radical new style. Demanding both simultaneously broke him. </a:t>
            </a:r>
          </a:p>
          <a:p>
            <a:r>
              <a:rPr lang="en-US" sz="1200" kern="1200" dirty="0">
                <a:solidFill>
                  <a:schemeClr val="tx1"/>
                </a:solidFill>
                <a:effectLst/>
                <a:latin typeface="+mn-lt"/>
                <a:ea typeface="+mn-ea"/>
                <a:cs typeface="+mn-cs"/>
              </a:rPr>
              <a:t>We do this every day when we say things like: 'I want to run a marathon, </a:t>
            </a:r>
            <a:r>
              <a:rPr lang="en-US" sz="1200" i="1" kern="1200" dirty="0">
                <a:solidFill>
                  <a:schemeClr val="tx1"/>
                </a:solidFill>
                <a:effectLst/>
                <a:latin typeface="+mn-lt"/>
                <a:ea typeface="+mn-ea"/>
                <a:cs typeface="+mn-cs"/>
              </a:rPr>
              <a:t>BUT</a:t>
            </a:r>
            <a:r>
              <a:rPr lang="en-US" sz="1200" kern="1200" dirty="0">
                <a:solidFill>
                  <a:schemeClr val="tx1"/>
                </a:solidFill>
                <a:effectLst/>
                <a:latin typeface="+mn-lt"/>
                <a:ea typeface="+mn-ea"/>
                <a:cs typeface="+mn-cs"/>
              </a:rPr>
              <a:t> I don't want to get tired'. That is entitlement. To fix it, swap your 'BUT' for an 'AND': 'I am going to run a marathon, </a:t>
            </a:r>
            <a:r>
              <a:rPr lang="en-US" sz="1200" i="1" kern="1200" dirty="0">
                <a:solidFill>
                  <a:schemeClr val="tx1"/>
                </a:solidFill>
                <a:effectLst/>
                <a:latin typeface="+mn-lt"/>
                <a:ea typeface="+mn-ea"/>
                <a:cs typeface="+mn-cs"/>
              </a:rPr>
              <a:t>AND</a:t>
            </a:r>
            <a:r>
              <a:rPr lang="en-US" sz="1200" kern="1200" dirty="0">
                <a:solidFill>
                  <a:schemeClr val="tx1"/>
                </a:solidFill>
                <a:effectLst/>
                <a:latin typeface="+mn-lt"/>
                <a:ea typeface="+mn-ea"/>
                <a:cs typeface="+mn-cs"/>
              </a:rPr>
              <a:t> I am going to get tired'. Acceptance clears the path for reality. </a:t>
            </a:r>
          </a:p>
          <a:p>
            <a:r>
              <a:rPr lang="en-US" sz="1200" kern="1200" dirty="0">
                <a:solidFill>
                  <a:schemeClr val="tx1"/>
                </a:solidFill>
                <a:effectLst/>
                <a:latin typeface="+mn-lt"/>
                <a:ea typeface="+mn-ea"/>
                <a:cs typeface="+mn-cs"/>
              </a:rPr>
              <a:t>Once you accept the work, you must define your </a:t>
            </a:r>
            <a:r>
              <a:rPr lang="en-US" sz="1200" b="1" kern="1200" dirty="0">
                <a:solidFill>
                  <a:schemeClr val="tx1"/>
                </a:solidFill>
                <a:effectLst/>
                <a:latin typeface="+mn-lt"/>
                <a:ea typeface="+mn-ea"/>
                <a:cs typeface="+mn-cs"/>
              </a:rPr>
              <a:t>Smallest Viable Audience</a:t>
            </a:r>
            <a:r>
              <a:rPr lang="en-US" sz="1200" kern="1200" dirty="0">
                <a:solidFill>
                  <a:schemeClr val="tx1"/>
                </a:solidFill>
                <a:effectLst/>
                <a:latin typeface="+mn-lt"/>
                <a:ea typeface="+mn-ea"/>
                <a:cs typeface="+mn-cs"/>
              </a:rPr>
              <a:t>. You don't need mass appeal or millions of superficial followers. The internet is a terrible mass medium, but a phenomenal micro medium. Seth references a hidden 24-seat magic shop room in Brooklyn. If that room is filled with the right 24 people, it’s a masterclass. When someone rejects your offering, adopt the ultimate creator mantra: </a:t>
            </a:r>
            <a:r>
              <a:rPr lang="en-US" sz="1200" i="1" kern="1200" dirty="0">
                <a:solidFill>
                  <a:schemeClr val="tx1"/>
                </a:solidFill>
                <a:effectLst/>
                <a:latin typeface="+mn-lt"/>
                <a:ea typeface="+mn-ea"/>
                <a:cs typeface="+mn-cs"/>
              </a:rPr>
              <a:t>'Thank you, it's not for you.'</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Transition to Slide 14:</a:t>
            </a:r>
            <a:r>
              <a:rPr lang="en-US" sz="1200" kern="1200" dirty="0">
                <a:solidFill>
                  <a:schemeClr val="tx1"/>
                </a:solidFill>
                <a:effectLst/>
                <a:latin typeface="+mn-lt"/>
                <a:ea typeface="+mn-ea"/>
                <a:cs typeface="+mn-cs"/>
              </a:rPr>
              <a:t> "To turn this clarity into actual movement, we need to talk about mindset and how we frame optimism.</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13</a:t>
            </a:fld>
            <a:endParaRPr lang="en-US"/>
          </a:p>
        </p:txBody>
      </p:sp>
    </p:spTree>
    <p:extLst>
      <p:ext uri="{BB962C8B-B14F-4D97-AF65-F5344CB8AC3E}">
        <p14:creationId xmlns:p14="http://schemas.microsoft.com/office/powerpoint/2010/main" val="33823558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Many analytical thinkers pride themselves on being 'realists' or cynics, believing pessimism keeps them safe. But chronic pessimism leads directly back to helplessness and deniability—it guarantees mediocrity. Seth Godin reframes this: Optimism is not a mood or a feelings-based disposition; it is a strategic tool. </a:t>
            </a:r>
          </a:p>
          <a:p>
            <a:r>
              <a:rPr lang="en-US" sz="1200" kern="1200" dirty="0">
                <a:solidFill>
                  <a:schemeClr val="tx1"/>
                </a:solidFill>
                <a:effectLst/>
                <a:latin typeface="+mn-lt"/>
                <a:ea typeface="+mn-ea"/>
                <a:cs typeface="+mn-cs"/>
              </a:rPr>
              <a:t>Effective execution requires knowing when to wear two distinct hats: </a:t>
            </a:r>
          </a:p>
          <a:p>
            <a:r>
              <a:rPr lang="en-US" sz="1200" kern="1200" dirty="0">
                <a:solidFill>
                  <a:schemeClr val="tx1"/>
                </a:solidFill>
                <a:effectLst/>
                <a:latin typeface="+mn-lt"/>
                <a:ea typeface="+mn-ea"/>
                <a:cs typeface="+mn-cs"/>
              </a:rPr>
              <a:t>First, put on your </a:t>
            </a:r>
            <a:r>
              <a:rPr lang="en-US" sz="1200" b="1" kern="1200" dirty="0">
                <a:solidFill>
                  <a:schemeClr val="tx1"/>
                </a:solidFill>
                <a:effectLst/>
                <a:latin typeface="+mn-lt"/>
                <a:ea typeface="+mn-ea"/>
                <a:cs typeface="+mn-cs"/>
              </a:rPr>
              <a:t>Pessimist Hat</a:t>
            </a:r>
            <a:r>
              <a:rPr lang="en-US" sz="1200" kern="1200" dirty="0">
                <a:solidFill>
                  <a:schemeClr val="tx1"/>
                </a:solidFill>
                <a:effectLst/>
                <a:latin typeface="+mn-lt"/>
                <a:ea typeface="+mn-ea"/>
                <a:cs typeface="+mn-cs"/>
              </a:rPr>
              <a:t> during the risk assessment phase. Ask: </a:t>
            </a:r>
            <a:r>
              <a:rPr lang="en-US" sz="1200" i="1" kern="1200" dirty="0">
                <a:solidFill>
                  <a:schemeClr val="tx1"/>
                </a:solidFill>
                <a:effectLst/>
                <a:latin typeface="+mn-lt"/>
                <a:ea typeface="+mn-ea"/>
                <a:cs typeface="+mn-cs"/>
              </a:rPr>
              <a:t>What are the specific points of failure? What happens if this launch tanks?</a:t>
            </a:r>
            <a:r>
              <a:rPr lang="en-US" sz="1200" kern="1200" dirty="0">
                <a:solidFill>
                  <a:schemeClr val="tx1"/>
                </a:solidFill>
                <a:effectLst/>
                <a:latin typeface="+mn-lt"/>
                <a:ea typeface="+mn-ea"/>
                <a:cs typeface="+mn-cs"/>
              </a:rPr>
              <a:t> The goal here is simple: ensure the worst-case scenario doesn't wipe you out or remove you from the game entirely. You protect your downside. </a:t>
            </a:r>
          </a:p>
          <a:p>
            <a:r>
              <a:rPr lang="en-US" sz="1200" kern="1200" dirty="0">
                <a:solidFill>
                  <a:schemeClr val="tx1"/>
                </a:solidFill>
                <a:effectLst/>
                <a:latin typeface="+mn-lt"/>
                <a:ea typeface="+mn-ea"/>
                <a:cs typeface="+mn-cs"/>
              </a:rPr>
              <a:t>But once that foundation is secure, take off the pessimist hat and put on </a:t>
            </a:r>
            <a:r>
              <a:rPr lang="en-US" sz="1200" b="1" kern="1200" dirty="0">
                <a:solidFill>
                  <a:schemeClr val="tx1"/>
                </a:solidFill>
                <a:effectLst/>
                <a:latin typeface="+mn-lt"/>
                <a:ea typeface="+mn-ea"/>
                <a:cs typeface="+mn-cs"/>
              </a:rPr>
              <a:t>The Optimist Hat</a:t>
            </a:r>
            <a:r>
              <a:rPr lang="en-US" sz="1200" kern="1200" dirty="0">
                <a:solidFill>
                  <a:schemeClr val="tx1"/>
                </a:solidFill>
                <a:effectLst/>
                <a:latin typeface="+mn-lt"/>
                <a:ea typeface="+mn-ea"/>
                <a:cs typeface="+mn-cs"/>
              </a:rPr>
              <a:t>. Leadership and execution demand that you act as if it </a:t>
            </a:r>
            <a:r>
              <a:rPr lang="en-US" sz="1200" i="1" kern="1200" dirty="0">
                <a:solidFill>
                  <a:schemeClr val="tx1"/>
                </a:solidFill>
                <a:effectLst/>
                <a:latin typeface="+mn-lt"/>
                <a:ea typeface="+mn-ea"/>
                <a:cs typeface="+mn-cs"/>
              </a:rPr>
              <a:t>will</a:t>
            </a:r>
            <a:r>
              <a:rPr lang="en-US" sz="1200" kern="1200" dirty="0">
                <a:solidFill>
                  <a:schemeClr val="tx1"/>
                </a:solidFill>
                <a:effectLst/>
                <a:latin typeface="+mn-lt"/>
                <a:ea typeface="+mn-ea"/>
                <a:cs typeface="+mn-cs"/>
              </a:rPr>
              <a:t> work. You must build the infrastructure, enroll the team, and create the exact conditions required for success. </a:t>
            </a:r>
          </a:p>
          <a:p>
            <a:r>
              <a:rPr lang="en-US" sz="1200" kern="1200" dirty="0">
                <a:solidFill>
                  <a:schemeClr val="tx1"/>
                </a:solidFill>
                <a:effectLst/>
                <a:latin typeface="+mn-lt"/>
                <a:ea typeface="+mn-ea"/>
                <a:cs typeface="+mn-cs"/>
              </a:rPr>
              <a:t>If you stay in perpetual pessimism, you talk yourself out of taking action. You need the deliberate tool of optimism to step onto the frontier.</a:t>
            </a:r>
          </a:p>
          <a:p>
            <a:pPr lvl="0"/>
            <a:r>
              <a:rPr lang="en-US" sz="1200" b="1" kern="1200" dirty="0">
                <a:solidFill>
                  <a:schemeClr val="tx1"/>
                </a:solidFill>
                <a:effectLst/>
                <a:latin typeface="+mn-lt"/>
                <a:ea typeface="+mn-ea"/>
                <a:cs typeface="+mn-cs"/>
              </a:rPr>
              <a:t>Transition to Slide 15:</a:t>
            </a:r>
            <a:r>
              <a:rPr lang="en-US" sz="1200" kern="1200" dirty="0">
                <a:solidFill>
                  <a:schemeClr val="tx1"/>
                </a:solidFill>
                <a:effectLst/>
                <a:latin typeface="+mn-lt"/>
                <a:ea typeface="+mn-ea"/>
                <a:cs typeface="+mn-cs"/>
              </a:rPr>
              <a:t> "This brings us to our ultimate conclusion: how to untie the knot entirely and move forward.</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14</a:t>
            </a:fld>
            <a:endParaRPr lang="en-US"/>
          </a:p>
        </p:txBody>
      </p:sp>
    </p:spTree>
    <p:extLst>
      <p:ext uri="{BB962C8B-B14F-4D97-AF65-F5344CB8AC3E}">
        <p14:creationId xmlns:p14="http://schemas.microsoft.com/office/powerpoint/2010/main" val="7656253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Legend tells us that when Alexander the Great encountered the famous Gordian Knot in Turkey, he drew his sword and sliced it in half. But as Seth notes, that's not what actually happened. </a:t>
            </a:r>
          </a:p>
          <a:p>
            <a:r>
              <a:rPr lang="en-US" sz="1200" kern="1200" dirty="0">
                <a:solidFill>
                  <a:schemeClr val="tx1"/>
                </a:solidFill>
                <a:effectLst/>
                <a:latin typeface="+mn-lt"/>
                <a:ea typeface="+mn-ea"/>
                <a:cs typeface="+mn-cs"/>
              </a:rPr>
              <a:t>Alexander walked up to the ox cart, looked past the tangled mess of ropes, and noticed a central wooden pin holding the assembly to the frame. He pulled out the post, and the complex knot unraveled on its own. </a:t>
            </a:r>
          </a:p>
          <a:p>
            <a:r>
              <a:rPr lang="en-US" sz="1200" kern="1200" dirty="0">
                <a:solidFill>
                  <a:schemeClr val="tx1"/>
                </a:solidFill>
                <a:effectLst/>
                <a:latin typeface="+mn-lt"/>
                <a:ea typeface="+mn-ea"/>
                <a:cs typeface="+mn-cs"/>
              </a:rPr>
              <a:t>Most people spend years picking frantically at the outer loops of their problems—trying new productivity hacks, chasing vanity metrics, or pleasing external critics. They are picking at the knot while leaving the post firmly in place. </a:t>
            </a:r>
          </a:p>
          <a:p>
            <a:r>
              <a:rPr lang="en-US" sz="1200" kern="1200" dirty="0">
                <a:solidFill>
                  <a:schemeClr val="tx1"/>
                </a:solidFill>
                <a:effectLst/>
                <a:latin typeface="+mn-lt"/>
                <a:ea typeface="+mn-ea"/>
                <a:cs typeface="+mn-cs"/>
              </a:rPr>
              <a:t>To untie your knot and solve problems better than 99% of people, you must follow three steps: </a:t>
            </a:r>
          </a:p>
          <a:p>
            <a:pPr lvl="0"/>
            <a:r>
              <a:rPr lang="en-US" sz="1200" b="1" kern="1200" dirty="0">
                <a:solidFill>
                  <a:schemeClr val="tx1"/>
                </a:solidFill>
                <a:effectLst/>
                <a:latin typeface="+mn-lt"/>
                <a:ea typeface="+mn-ea"/>
                <a:cs typeface="+mn-cs"/>
              </a:rPr>
              <a:t>Find the Post:</a:t>
            </a:r>
            <a:r>
              <a:rPr lang="en-US" sz="1200" kern="1200" dirty="0">
                <a:solidFill>
                  <a:schemeClr val="tx1"/>
                </a:solidFill>
                <a:effectLst/>
                <a:latin typeface="+mn-lt"/>
                <a:ea typeface="+mn-ea"/>
                <a:cs typeface="+mn-cs"/>
              </a:rPr>
              <a:t> Tell the absolute truth about the underlying entanglement or fear that is keeping you comfortable. Pull it out. </a:t>
            </a:r>
          </a:p>
          <a:p>
            <a:pPr lvl="0"/>
            <a:r>
              <a:rPr lang="en-US" sz="1200" b="1" kern="1200" dirty="0">
                <a:solidFill>
                  <a:schemeClr val="tx1"/>
                </a:solidFill>
                <a:effectLst/>
                <a:latin typeface="+mn-lt"/>
                <a:ea typeface="+mn-ea"/>
                <a:cs typeface="+mn-cs"/>
              </a:rPr>
              <a:t>Ignore the Mass Audience:</a:t>
            </a:r>
            <a:r>
              <a:rPr lang="en-US" sz="1200" kern="1200" dirty="0">
                <a:solidFill>
                  <a:schemeClr val="tx1"/>
                </a:solidFill>
                <a:effectLst/>
                <a:latin typeface="+mn-lt"/>
                <a:ea typeface="+mn-ea"/>
                <a:cs typeface="+mn-cs"/>
              </a:rPr>
              <a:t> Stop trying to appeal to everyone or chasing viral reach. Serve your Smallest Viable Audience—the specific group of people who would genuinely miss your work if you were gone. </a:t>
            </a:r>
          </a:p>
          <a:p>
            <a:pPr lvl="0"/>
            <a:r>
              <a:rPr lang="en-US" sz="1200" b="1" kern="1200" dirty="0">
                <a:solidFill>
                  <a:schemeClr val="tx1"/>
                </a:solidFill>
                <a:effectLst/>
                <a:latin typeface="+mn-lt"/>
                <a:ea typeface="+mn-ea"/>
                <a:cs typeface="+mn-cs"/>
              </a:rPr>
              <a:t>Embrace the Core Mantra:</a:t>
            </a:r>
            <a:r>
              <a:rPr lang="en-US" sz="1200" kern="1200" dirty="0">
                <a:solidFill>
                  <a:schemeClr val="tx1"/>
                </a:solidFill>
                <a:effectLst/>
                <a:latin typeface="+mn-lt"/>
                <a:ea typeface="+mn-ea"/>
                <a:cs typeface="+mn-cs"/>
              </a:rPr>
              <a:t> Center your daily practice on doing </a:t>
            </a:r>
            <a:r>
              <a:rPr lang="en-US" sz="1200" b="1" kern="1200" dirty="0">
                <a:solidFill>
                  <a:schemeClr val="tx1"/>
                </a:solidFill>
                <a:effectLst/>
                <a:latin typeface="+mn-lt"/>
                <a:ea typeface="+mn-ea"/>
                <a:cs typeface="+mn-cs"/>
              </a:rPr>
              <a:t>'work that matters, for people who care.'</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Problems are solvable when we stop confusing them with unchangeable situations. When you make a single decision to lead, build daily habits around your craft, and pull out the post, you step off the factory floor and onto the frontier.</a:t>
            </a:r>
          </a:p>
          <a:p>
            <a:endParaRPr lang="en-US" dirty="0"/>
          </a:p>
        </p:txBody>
      </p:sp>
      <p:sp>
        <p:nvSpPr>
          <p:cNvPr id="4" name="Slide Number Placeholder 3"/>
          <p:cNvSpPr>
            <a:spLocks noGrp="1"/>
          </p:cNvSpPr>
          <p:nvPr>
            <p:ph type="sldNum" sz="quarter" idx="5"/>
          </p:nvPr>
        </p:nvSpPr>
        <p:spPr/>
        <p:txBody>
          <a:bodyPr/>
          <a:lstStyle/>
          <a:p>
            <a:fld id="{740767E7-DF71-498D-842A-1F46B78DF6CB}" type="slidenum">
              <a:rPr lang="en-US" smtClean="0"/>
              <a:t>15</a:t>
            </a:fld>
            <a:endParaRPr lang="en-US"/>
          </a:p>
        </p:txBody>
      </p:sp>
    </p:spTree>
    <p:extLst>
      <p:ext uri="{BB962C8B-B14F-4D97-AF65-F5344CB8AC3E}">
        <p14:creationId xmlns:p14="http://schemas.microsoft.com/office/powerpoint/2010/main" val="1662926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ED48C3-8BB6-9553-78F1-ED8275A711E7}"/>
              </a:ext>
            </a:extLst>
          </p:cNvPr>
          <p:cNvSpPr>
            <a:spLocks noGrp="1"/>
          </p:cNvSpPr>
          <p:nvPr>
            <p:ph type="dt" sz="half" idx="10"/>
          </p:nvPr>
        </p:nvSpPr>
        <p:spPr/>
        <p:txBody>
          <a:bodyPr/>
          <a:lstStyle/>
          <a:p>
            <a:fld id="{402EBF84-B28E-40AC-904C-1855732EA5D8}" type="datetimeFigureOut">
              <a:rPr lang="en-US" smtClean="0"/>
              <a:t>10/19/2026</a:t>
            </a:fld>
            <a:endParaRPr lang="en-US"/>
          </a:p>
        </p:txBody>
      </p:sp>
      <p:sp>
        <p:nvSpPr>
          <p:cNvPr id="3" name="Footer Placeholder 2">
            <a:extLst>
              <a:ext uri="{FF2B5EF4-FFF2-40B4-BE49-F238E27FC236}">
                <a16:creationId xmlns:a16="http://schemas.microsoft.com/office/drawing/2014/main" id="{8A242A28-C9FB-0331-0EC5-0D3C0C42A6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A793B4-A963-8A70-D9E0-9504CCDD35AB}"/>
              </a:ext>
            </a:extLst>
          </p:cNvPr>
          <p:cNvSpPr>
            <a:spLocks noGrp="1"/>
          </p:cNvSpPr>
          <p:nvPr>
            <p:ph type="sldNum" sz="quarter" idx="12"/>
          </p:nvPr>
        </p:nvSpPr>
        <p:spPr/>
        <p:txBody>
          <a:bodyPr/>
          <a:lstStyle/>
          <a:p>
            <a:fld id="{580B8208-8707-431F-91E0-6D1A99B9A9A6}" type="slidenum">
              <a:rPr lang="en-US" smtClean="0"/>
              <a:t>‹#›</a:t>
            </a:fld>
            <a:endParaRPr lang="en-US"/>
          </a:p>
        </p:txBody>
      </p:sp>
    </p:spTree>
    <p:extLst>
      <p:ext uri="{BB962C8B-B14F-4D97-AF65-F5344CB8AC3E}">
        <p14:creationId xmlns:p14="http://schemas.microsoft.com/office/powerpoint/2010/main" val="876071832"/>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F690B-0D48-35CB-67AC-B90A56062F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27ADE07-0CCB-8BB6-3F86-8923AFF8E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87D069-CC59-F914-DF2F-82493DCFB0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EBF84-B28E-40AC-904C-1855732EA5D8}" type="datetimeFigureOut">
              <a:rPr lang="en-US" smtClean="0"/>
              <a:t>10/19/2026</a:t>
            </a:fld>
            <a:endParaRPr lang="en-US"/>
          </a:p>
        </p:txBody>
      </p:sp>
      <p:sp>
        <p:nvSpPr>
          <p:cNvPr id="5" name="Footer Placeholder 4">
            <a:extLst>
              <a:ext uri="{FF2B5EF4-FFF2-40B4-BE49-F238E27FC236}">
                <a16:creationId xmlns:a16="http://schemas.microsoft.com/office/drawing/2014/main" id="{898EBB97-6895-2EC1-56F3-B5B56EE67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08E6AD-97E9-3CF4-47DD-F53C6A2F62B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0B8208-8707-431F-91E0-6D1A99B9A9A6}" type="slidenum">
              <a:rPr lang="en-US" smtClean="0"/>
              <a:t>‹#›</a:t>
            </a:fld>
            <a:endParaRPr lang="en-US"/>
          </a:p>
        </p:txBody>
      </p:sp>
    </p:spTree>
    <p:extLst>
      <p:ext uri="{BB962C8B-B14F-4D97-AF65-F5344CB8AC3E}">
        <p14:creationId xmlns:p14="http://schemas.microsoft.com/office/powerpoint/2010/main" val="1743159594"/>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18586D8-ECCE-DF39-E32A-99A24B12F7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305E77-9EB9-81F2-C960-BCE7590EA5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D44F9D-4A16-4D00-A621-B7EA953923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47C59DD-4BF3-66B7-B2CF-EB84259BD8A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F3C4E5-122D-6676-B120-3B5FA4BE6B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1FCEC92-B281-C64B-2F4B-0B9DB5F8E30A}"/>
              </a:ext>
            </a:extLst>
          </p:cNvPr>
          <p:cNvPicPr>
            <a:picLocks noChangeAspect="1"/>
          </p:cNvPicPr>
          <p:nvPr/>
        </p:nvPicPr>
        <p:blipFill>
          <a:blip r:embed="rId3"/>
          <a:stretch>
            <a:fillRect/>
          </a:stretch>
        </p:blipFill>
        <p:spPr>
          <a:xfrm>
            <a:off x="0" y="91440"/>
            <a:ext cx="12162812" cy="6766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D613C4-42E8-A09F-4645-8B5D3E365C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AF76BC-8E98-ECF0-D958-321E5478E0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A646B6-0D08-759D-F3A9-C8F4824F55A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6331D70-C676-09C4-20AA-1C3A575F80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1A7FCD-217F-49BB-5140-73D94434C8B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60EBF22-99B9-DB24-EFB6-80CFE77E688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1ACE50A-0257-6FF8-1840-CB11B8924D6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50D93C-AEDC-D08B-F61F-30388AE07316}"/>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700492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80B8F84-73F0-EF10-E2DA-C7AED97BC98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838870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3951</Words>
  <Application>Microsoft Office PowerPoint</Application>
  <PresentationFormat>寬螢幕</PresentationFormat>
  <Paragraphs>120</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2026-08-26T03:34:39Z</dcterms:created>
  <dcterms:modified xsi:type="dcterms:W3CDTF">2026-10-19T15:45:39Z</dcterms:modified>
</cp:coreProperties>
</file>