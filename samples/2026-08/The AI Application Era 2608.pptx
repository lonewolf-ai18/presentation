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7A5450-C459-4E16-AE7B-0A4B7E10250F}" v="20" dt="2026-08-05T03:14:37.7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883"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8-05T03:15:00.335" v="70" actId="166"/>
      <pc:docMkLst>
        <pc:docMk/>
      </pc:docMkLst>
      <pc:sldChg chg="addSp delSp modSp mod modAnim modNotesTx">
        <pc:chgData name="Lai, Wilson" userId="2840974a-0d84-4886-90a9-9a3ed79f3a48" providerId="ADAL" clId="{9F23B798-9E84-4552-BA63-E776E805C424}" dt="2026-08-05T03:15:00.335" v="70" actId="166"/>
        <pc:sldMkLst>
          <pc:docMk/>
          <pc:sldMk cId="0" sldId="257"/>
        </pc:sldMkLst>
        <pc:spChg chg="add mod">
          <ac:chgData name="Lai, Wilson" userId="2840974a-0d84-4886-90a9-9a3ed79f3a48" providerId="ADAL" clId="{9F23B798-9E84-4552-BA63-E776E805C424}" dt="2026-08-05T01:11:23.365" v="17" actId="164"/>
          <ac:spMkLst>
            <pc:docMk/>
            <pc:sldMk cId="0" sldId="257"/>
            <ac:spMk id="5" creationId="{3E55D12E-E111-41B6-5DAC-F2954CD98EBF}"/>
          </ac:spMkLst>
        </pc:spChg>
        <pc:grpChg chg="add mod">
          <ac:chgData name="Lai, Wilson" userId="2840974a-0d84-4886-90a9-9a3ed79f3a48" providerId="ADAL" clId="{9F23B798-9E84-4552-BA63-E776E805C424}" dt="2026-08-05T01:11:23.365" v="17" actId="164"/>
          <ac:grpSpMkLst>
            <pc:docMk/>
            <pc:sldMk cId="0" sldId="257"/>
            <ac:grpSpMk id="6" creationId="{2BB1D7B9-88DA-AD5F-42B4-4AEBF95AC8A8}"/>
          </ac:grpSpMkLst>
        </pc:grpChg>
        <pc:picChg chg="del ord">
          <ac:chgData name="Lai, Wilson" userId="2840974a-0d84-4886-90a9-9a3ed79f3a48" providerId="ADAL" clId="{9F23B798-9E84-4552-BA63-E776E805C424}" dt="2026-08-05T01:31:37.855" v="21" actId="21"/>
          <ac:picMkLst>
            <pc:docMk/>
            <pc:sldMk cId="0" sldId="257"/>
            <ac:picMk id="2" creationId="{00000000-0000-0000-0000-000000000000}"/>
          </ac:picMkLst>
        </pc:picChg>
        <pc:picChg chg="add mod">
          <ac:chgData name="Lai, Wilson" userId="2840974a-0d84-4886-90a9-9a3ed79f3a48" providerId="ADAL" clId="{9F23B798-9E84-4552-BA63-E776E805C424}" dt="2026-08-05T01:11:23.365" v="17" actId="164"/>
          <ac:picMkLst>
            <pc:docMk/>
            <pc:sldMk cId="0" sldId="257"/>
            <ac:picMk id="3" creationId="{D79B0848-9802-1983-2641-2D899329FF93}"/>
          </ac:picMkLst>
        </pc:picChg>
        <pc:picChg chg="add ord">
          <ac:chgData name="Lai, Wilson" userId="2840974a-0d84-4886-90a9-9a3ed79f3a48" providerId="ADAL" clId="{9F23B798-9E84-4552-BA63-E776E805C424}" dt="2026-08-05T03:15:00.335" v="70" actId="166"/>
          <ac:picMkLst>
            <pc:docMk/>
            <pc:sldMk cId="0" sldId="257"/>
            <ac:picMk id="7" creationId="{3C16BCA8-F99A-C203-B528-E3692803AEB7}"/>
          </ac:picMkLst>
        </pc:picChg>
      </pc:sldChg>
      <pc:sldChg chg="addSp delSp mod">
        <pc:chgData name="Lai, Wilson" userId="2840974a-0d84-4886-90a9-9a3ed79f3a48" providerId="ADAL" clId="{9F23B798-9E84-4552-BA63-E776E805C424}" dt="2026-08-05T01:31:33.984" v="20" actId="22"/>
        <pc:sldMkLst>
          <pc:docMk/>
          <pc:sldMk cId="0" sldId="258"/>
        </pc:sldMkLst>
        <pc:picChg chg="del">
          <ac:chgData name="Lai, Wilson" userId="2840974a-0d84-4886-90a9-9a3ed79f3a48" providerId="ADAL" clId="{9F23B798-9E84-4552-BA63-E776E805C424}" dt="2026-08-05T01:31:24.656" v="19" actId="21"/>
          <ac:picMkLst>
            <pc:docMk/>
            <pc:sldMk cId="0" sldId="258"/>
            <ac:picMk id="2" creationId="{00000000-0000-0000-0000-000000000000}"/>
          </ac:picMkLst>
        </pc:picChg>
        <pc:picChg chg="add">
          <ac:chgData name="Lai, Wilson" userId="2840974a-0d84-4886-90a9-9a3ed79f3a48" providerId="ADAL" clId="{9F23B798-9E84-4552-BA63-E776E805C424}" dt="2026-08-05T01:31:33.984" v="20" actId="22"/>
          <ac:picMkLst>
            <pc:docMk/>
            <pc:sldMk cId="0" sldId="258"/>
            <ac:picMk id="4" creationId="{CF1E1B31-7B76-DBCE-98C4-AB5BC7B28B87}"/>
          </ac:picMkLst>
        </pc:picChg>
      </pc:sldChg>
      <pc:sldChg chg="addSp delSp mod">
        <pc:chgData name="Lai, Wilson" userId="2840974a-0d84-4886-90a9-9a3ed79f3a48" providerId="ADAL" clId="{9F23B798-9E84-4552-BA63-E776E805C424}" dt="2026-08-05T01:31:59.080" v="24" actId="22"/>
        <pc:sldMkLst>
          <pc:docMk/>
          <pc:sldMk cId="0" sldId="259"/>
        </pc:sldMkLst>
        <pc:picChg chg="del">
          <ac:chgData name="Lai, Wilson" userId="2840974a-0d84-4886-90a9-9a3ed79f3a48" providerId="ADAL" clId="{9F23B798-9E84-4552-BA63-E776E805C424}" dt="2026-08-05T01:31:51.092" v="23" actId="21"/>
          <ac:picMkLst>
            <pc:docMk/>
            <pc:sldMk cId="0" sldId="259"/>
            <ac:picMk id="2" creationId="{00000000-0000-0000-0000-000000000000}"/>
          </ac:picMkLst>
        </pc:picChg>
        <pc:picChg chg="add">
          <ac:chgData name="Lai, Wilson" userId="2840974a-0d84-4886-90a9-9a3ed79f3a48" providerId="ADAL" clId="{9F23B798-9E84-4552-BA63-E776E805C424}" dt="2026-08-05T01:31:59.080" v="24" actId="22"/>
          <ac:picMkLst>
            <pc:docMk/>
            <pc:sldMk cId="0" sldId="259"/>
            <ac:picMk id="4" creationId="{361F42E9-FC3F-75F1-D779-49452D69D24E}"/>
          </ac:picMkLst>
        </pc:picChg>
      </pc:sldChg>
      <pc:sldChg chg="addSp delSp mod">
        <pc:chgData name="Lai, Wilson" userId="2840974a-0d84-4886-90a9-9a3ed79f3a48" providerId="ADAL" clId="{9F23B798-9E84-4552-BA63-E776E805C424}" dt="2026-08-05T01:32:11.904" v="26" actId="22"/>
        <pc:sldMkLst>
          <pc:docMk/>
          <pc:sldMk cId="0" sldId="260"/>
        </pc:sldMkLst>
        <pc:picChg chg="del">
          <ac:chgData name="Lai, Wilson" userId="2840974a-0d84-4886-90a9-9a3ed79f3a48" providerId="ADAL" clId="{9F23B798-9E84-4552-BA63-E776E805C424}" dt="2026-08-05T01:32:01.980" v="25" actId="21"/>
          <ac:picMkLst>
            <pc:docMk/>
            <pc:sldMk cId="0" sldId="260"/>
            <ac:picMk id="2" creationId="{00000000-0000-0000-0000-000000000000}"/>
          </ac:picMkLst>
        </pc:picChg>
        <pc:picChg chg="add">
          <ac:chgData name="Lai, Wilson" userId="2840974a-0d84-4886-90a9-9a3ed79f3a48" providerId="ADAL" clId="{9F23B798-9E84-4552-BA63-E776E805C424}" dt="2026-08-05T01:32:11.904" v="26" actId="22"/>
          <ac:picMkLst>
            <pc:docMk/>
            <pc:sldMk cId="0" sldId="260"/>
            <ac:picMk id="4" creationId="{8F3F6E31-C591-8F16-CD8E-F26BC969DC39}"/>
          </ac:picMkLst>
        </pc:picChg>
      </pc:sldChg>
      <pc:sldChg chg="addSp delSp mod">
        <pc:chgData name="Lai, Wilson" userId="2840974a-0d84-4886-90a9-9a3ed79f3a48" providerId="ADAL" clId="{9F23B798-9E84-4552-BA63-E776E805C424}" dt="2026-08-05T01:32:26.092" v="28" actId="22"/>
        <pc:sldMkLst>
          <pc:docMk/>
          <pc:sldMk cId="0" sldId="261"/>
        </pc:sldMkLst>
        <pc:picChg chg="del">
          <ac:chgData name="Lai, Wilson" userId="2840974a-0d84-4886-90a9-9a3ed79f3a48" providerId="ADAL" clId="{9F23B798-9E84-4552-BA63-E776E805C424}" dt="2026-08-05T01:32:15.731" v="27" actId="21"/>
          <ac:picMkLst>
            <pc:docMk/>
            <pc:sldMk cId="0" sldId="261"/>
            <ac:picMk id="2" creationId="{00000000-0000-0000-0000-000000000000}"/>
          </ac:picMkLst>
        </pc:picChg>
        <pc:picChg chg="add">
          <ac:chgData name="Lai, Wilson" userId="2840974a-0d84-4886-90a9-9a3ed79f3a48" providerId="ADAL" clId="{9F23B798-9E84-4552-BA63-E776E805C424}" dt="2026-08-05T01:32:26.092" v="28" actId="22"/>
          <ac:picMkLst>
            <pc:docMk/>
            <pc:sldMk cId="0" sldId="261"/>
            <ac:picMk id="4" creationId="{3556328C-FA4C-B6AC-C863-836695BBAAE7}"/>
          </ac:picMkLst>
        </pc:picChg>
      </pc:sldChg>
      <pc:sldChg chg="addSp delSp modSp mod modNotesTx">
        <pc:chgData name="Lai, Wilson" userId="2840974a-0d84-4886-90a9-9a3ed79f3a48" providerId="ADAL" clId="{9F23B798-9E84-4552-BA63-E776E805C424}" dt="2026-08-05T03:12:30.248" v="58" actId="12"/>
        <pc:sldMkLst>
          <pc:docMk/>
          <pc:sldMk cId="0" sldId="262"/>
        </pc:sldMkLst>
        <pc:spChg chg="add del">
          <ac:chgData name="Lai, Wilson" userId="2840974a-0d84-4886-90a9-9a3ed79f3a48" providerId="ADAL" clId="{9F23B798-9E84-4552-BA63-E776E805C424}" dt="2026-08-05T03:12:21.653" v="56" actId="22"/>
          <ac:spMkLst>
            <pc:docMk/>
            <pc:sldMk cId="0" sldId="262"/>
            <ac:spMk id="3" creationId="{D5E4C26B-E12C-3B65-1AA2-9F4E70EBD0FB}"/>
          </ac:spMkLst>
        </pc:spChg>
        <pc:picChg chg="del">
          <ac:chgData name="Lai, Wilson" userId="2840974a-0d84-4886-90a9-9a3ed79f3a48" providerId="ADAL" clId="{9F23B798-9E84-4552-BA63-E776E805C424}" dt="2026-08-05T01:32:27.986" v="29" actId="21"/>
          <ac:picMkLst>
            <pc:docMk/>
            <pc:sldMk cId="0" sldId="262"/>
            <ac:picMk id="2" creationId="{00000000-0000-0000-0000-000000000000}"/>
          </ac:picMkLst>
        </pc:picChg>
        <pc:picChg chg="add">
          <ac:chgData name="Lai, Wilson" userId="2840974a-0d84-4886-90a9-9a3ed79f3a48" providerId="ADAL" clId="{9F23B798-9E84-4552-BA63-E776E805C424}" dt="2026-08-05T01:32:39.733" v="30" actId="22"/>
          <ac:picMkLst>
            <pc:docMk/>
            <pc:sldMk cId="0" sldId="262"/>
            <ac:picMk id="4" creationId="{F78D2746-D1CD-2258-F846-D1769D890E2E}"/>
          </ac:picMkLst>
        </pc:picChg>
      </pc:sldChg>
      <pc:sldChg chg="addSp delSp mod modNotesTx">
        <pc:chgData name="Lai, Wilson" userId="2840974a-0d84-4886-90a9-9a3ed79f3a48" providerId="ADAL" clId="{9F23B798-9E84-4552-BA63-E776E805C424}" dt="2026-08-05T03:12:42.798" v="59" actId="12"/>
        <pc:sldMkLst>
          <pc:docMk/>
          <pc:sldMk cId="0" sldId="263"/>
        </pc:sldMkLst>
        <pc:picChg chg="del">
          <ac:chgData name="Lai, Wilson" userId="2840974a-0d84-4886-90a9-9a3ed79f3a48" providerId="ADAL" clId="{9F23B798-9E84-4552-BA63-E776E805C424}" dt="2026-08-05T01:32:41.498" v="31" actId="21"/>
          <ac:picMkLst>
            <pc:docMk/>
            <pc:sldMk cId="0" sldId="263"/>
            <ac:picMk id="2" creationId="{00000000-0000-0000-0000-000000000000}"/>
          </ac:picMkLst>
        </pc:picChg>
        <pc:picChg chg="add">
          <ac:chgData name="Lai, Wilson" userId="2840974a-0d84-4886-90a9-9a3ed79f3a48" providerId="ADAL" clId="{9F23B798-9E84-4552-BA63-E776E805C424}" dt="2026-08-05T01:33:01.758" v="32" actId="22"/>
          <ac:picMkLst>
            <pc:docMk/>
            <pc:sldMk cId="0" sldId="263"/>
            <ac:picMk id="4" creationId="{AB5129DA-0BB7-FFE2-C0A3-4BFD4FD79EB3}"/>
          </ac:picMkLst>
        </pc:picChg>
      </pc:sldChg>
      <pc:sldChg chg="addSp delSp mod">
        <pc:chgData name="Lai, Wilson" userId="2840974a-0d84-4886-90a9-9a3ed79f3a48" providerId="ADAL" clId="{9F23B798-9E84-4552-BA63-E776E805C424}" dt="2026-08-05T01:33:12.535" v="34" actId="22"/>
        <pc:sldMkLst>
          <pc:docMk/>
          <pc:sldMk cId="0" sldId="264"/>
        </pc:sldMkLst>
        <pc:picChg chg="del">
          <ac:chgData name="Lai, Wilson" userId="2840974a-0d84-4886-90a9-9a3ed79f3a48" providerId="ADAL" clId="{9F23B798-9E84-4552-BA63-E776E805C424}" dt="2026-08-05T01:33:04.694" v="33" actId="21"/>
          <ac:picMkLst>
            <pc:docMk/>
            <pc:sldMk cId="0" sldId="264"/>
            <ac:picMk id="2" creationId="{00000000-0000-0000-0000-000000000000}"/>
          </ac:picMkLst>
        </pc:picChg>
        <pc:picChg chg="add">
          <ac:chgData name="Lai, Wilson" userId="2840974a-0d84-4886-90a9-9a3ed79f3a48" providerId="ADAL" clId="{9F23B798-9E84-4552-BA63-E776E805C424}" dt="2026-08-05T01:33:12.535" v="34" actId="22"/>
          <ac:picMkLst>
            <pc:docMk/>
            <pc:sldMk cId="0" sldId="264"/>
            <ac:picMk id="4" creationId="{882D7A5D-1A50-A2F5-7C28-5D4CFCAB9E3F}"/>
          </ac:picMkLst>
        </pc:picChg>
      </pc:sldChg>
      <pc:sldChg chg="addSp delSp modSp mod modNotesTx">
        <pc:chgData name="Lai, Wilson" userId="2840974a-0d84-4886-90a9-9a3ed79f3a48" providerId="ADAL" clId="{9F23B798-9E84-4552-BA63-E776E805C424}" dt="2026-08-05T03:13:12.247" v="62" actId="12"/>
        <pc:sldMkLst>
          <pc:docMk/>
          <pc:sldMk cId="0" sldId="265"/>
        </pc:sldMkLst>
        <pc:picChg chg="del mod">
          <ac:chgData name="Lai, Wilson" userId="2840974a-0d84-4886-90a9-9a3ed79f3a48" providerId="ADAL" clId="{9F23B798-9E84-4552-BA63-E776E805C424}" dt="2026-08-05T01:33:16.710" v="36" actId="21"/>
          <ac:picMkLst>
            <pc:docMk/>
            <pc:sldMk cId="0" sldId="265"/>
            <ac:picMk id="2" creationId="{00000000-0000-0000-0000-000000000000}"/>
          </ac:picMkLst>
        </pc:picChg>
        <pc:picChg chg="add">
          <ac:chgData name="Lai, Wilson" userId="2840974a-0d84-4886-90a9-9a3ed79f3a48" providerId="ADAL" clId="{9F23B798-9E84-4552-BA63-E776E805C424}" dt="2026-08-05T01:34:00.976" v="37" actId="22"/>
          <ac:picMkLst>
            <pc:docMk/>
            <pc:sldMk cId="0" sldId="265"/>
            <ac:picMk id="4" creationId="{54011A92-1EC7-3287-0817-D1F32BD54B9B}"/>
          </ac:picMkLst>
        </pc:picChg>
      </pc:sldChg>
      <pc:sldChg chg="addSp delSp mod modNotesTx">
        <pc:chgData name="Lai, Wilson" userId="2840974a-0d84-4886-90a9-9a3ed79f3a48" providerId="ADAL" clId="{9F23B798-9E84-4552-BA63-E776E805C424}" dt="2026-08-05T03:13:36.393" v="67" actId="12"/>
        <pc:sldMkLst>
          <pc:docMk/>
          <pc:sldMk cId="0" sldId="266"/>
        </pc:sldMkLst>
        <pc:picChg chg="del">
          <ac:chgData name="Lai, Wilson" userId="2840974a-0d84-4886-90a9-9a3ed79f3a48" providerId="ADAL" clId="{9F23B798-9E84-4552-BA63-E776E805C424}" dt="2026-08-05T01:34:04.152" v="38" actId="21"/>
          <ac:picMkLst>
            <pc:docMk/>
            <pc:sldMk cId="0" sldId="266"/>
            <ac:picMk id="2" creationId="{00000000-0000-0000-0000-000000000000}"/>
          </ac:picMkLst>
        </pc:picChg>
        <pc:picChg chg="add">
          <ac:chgData name="Lai, Wilson" userId="2840974a-0d84-4886-90a9-9a3ed79f3a48" providerId="ADAL" clId="{9F23B798-9E84-4552-BA63-E776E805C424}" dt="2026-08-05T01:34:40.682" v="39" actId="22"/>
          <ac:picMkLst>
            <pc:docMk/>
            <pc:sldMk cId="0" sldId="266"/>
            <ac:picMk id="4" creationId="{C4C05C1E-3E2A-E52D-06B8-8E91B3C7216A}"/>
          </ac:picMkLst>
        </pc:picChg>
      </pc:sldChg>
      <pc:sldChg chg="addSp delSp mod">
        <pc:chgData name="Lai, Wilson" userId="2840974a-0d84-4886-90a9-9a3ed79f3a48" providerId="ADAL" clId="{9F23B798-9E84-4552-BA63-E776E805C424}" dt="2026-08-05T01:34:53.091" v="41" actId="22"/>
        <pc:sldMkLst>
          <pc:docMk/>
          <pc:sldMk cId="0" sldId="267"/>
        </pc:sldMkLst>
        <pc:picChg chg="del">
          <ac:chgData name="Lai, Wilson" userId="2840974a-0d84-4886-90a9-9a3ed79f3a48" providerId="ADAL" clId="{9F23B798-9E84-4552-BA63-E776E805C424}" dt="2026-08-05T01:34:42.950" v="40" actId="21"/>
          <ac:picMkLst>
            <pc:docMk/>
            <pc:sldMk cId="0" sldId="267"/>
            <ac:picMk id="2" creationId="{00000000-0000-0000-0000-000000000000}"/>
          </ac:picMkLst>
        </pc:picChg>
        <pc:picChg chg="add">
          <ac:chgData name="Lai, Wilson" userId="2840974a-0d84-4886-90a9-9a3ed79f3a48" providerId="ADAL" clId="{9F23B798-9E84-4552-BA63-E776E805C424}" dt="2026-08-05T01:34:53.091" v="41" actId="22"/>
          <ac:picMkLst>
            <pc:docMk/>
            <pc:sldMk cId="0" sldId="267"/>
            <ac:picMk id="4" creationId="{907134AD-0AF0-A6EB-0C95-E9EACA94AD2E}"/>
          </ac:picMkLst>
        </pc:picChg>
      </pc:sldChg>
      <pc:sldChg chg="addSp delSp mod">
        <pc:chgData name="Lai, Wilson" userId="2840974a-0d84-4886-90a9-9a3ed79f3a48" providerId="ADAL" clId="{9F23B798-9E84-4552-BA63-E776E805C424}" dt="2026-08-05T01:35:04.612" v="43" actId="22"/>
        <pc:sldMkLst>
          <pc:docMk/>
          <pc:sldMk cId="0" sldId="268"/>
        </pc:sldMkLst>
        <pc:picChg chg="del">
          <ac:chgData name="Lai, Wilson" userId="2840974a-0d84-4886-90a9-9a3ed79f3a48" providerId="ADAL" clId="{9F23B798-9E84-4552-BA63-E776E805C424}" dt="2026-08-05T01:34:56.378" v="42" actId="21"/>
          <ac:picMkLst>
            <pc:docMk/>
            <pc:sldMk cId="0" sldId="268"/>
            <ac:picMk id="2" creationId="{00000000-0000-0000-0000-000000000000}"/>
          </ac:picMkLst>
        </pc:picChg>
        <pc:picChg chg="add">
          <ac:chgData name="Lai, Wilson" userId="2840974a-0d84-4886-90a9-9a3ed79f3a48" providerId="ADAL" clId="{9F23B798-9E84-4552-BA63-E776E805C424}" dt="2026-08-05T01:35:04.612" v="43" actId="22"/>
          <ac:picMkLst>
            <pc:docMk/>
            <pc:sldMk cId="0" sldId="268"/>
            <ac:picMk id="4" creationId="{35255037-71B9-B187-2B27-D46A80D3426B}"/>
          </ac:picMkLst>
        </pc:picChg>
      </pc:sldChg>
      <pc:sldChg chg="addSp delSp mod">
        <pc:chgData name="Lai, Wilson" userId="2840974a-0d84-4886-90a9-9a3ed79f3a48" providerId="ADAL" clId="{9F23B798-9E84-4552-BA63-E776E805C424}" dt="2026-08-05T01:35:16.379" v="45" actId="22"/>
        <pc:sldMkLst>
          <pc:docMk/>
          <pc:sldMk cId="0" sldId="269"/>
        </pc:sldMkLst>
        <pc:picChg chg="del">
          <ac:chgData name="Lai, Wilson" userId="2840974a-0d84-4886-90a9-9a3ed79f3a48" providerId="ADAL" clId="{9F23B798-9E84-4552-BA63-E776E805C424}" dt="2026-08-05T01:35:07.194" v="44" actId="21"/>
          <ac:picMkLst>
            <pc:docMk/>
            <pc:sldMk cId="0" sldId="269"/>
            <ac:picMk id="2" creationId="{00000000-0000-0000-0000-000000000000}"/>
          </ac:picMkLst>
        </pc:picChg>
        <pc:picChg chg="add">
          <ac:chgData name="Lai, Wilson" userId="2840974a-0d84-4886-90a9-9a3ed79f3a48" providerId="ADAL" clId="{9F23B798-9E84-4552-BA63-E776E805C424}" dt="2026-08-05T01:35:16.379" v="45" actId="22"/>
          <ac:picMkLst>
            <pc:docMk/>
            <pc:sldMk cId="0" sldId="269"/>
            <ac:picMk id="4" creationId="{BEC11F62-582A-F747-B0E8-3C4E4DBF15A5}"/>
          </ac:picMkLst>
        </pc:picChg>
      </pc:sldChg>
      <pc:sldChg chg="addSp delSp mod">
        <pc:chgData name="Lai, Wilson" userId="2840974a-0d84-4886-90a9-9a3ed79f3a48" providerId="ADAL" clId="{9F23B798-9E84-4552-BA63-E776E805C424}" dt="2026-08-05T01:35:27.100" v="47" actId="22"/>
        <pc:sldMkLst>
          <pc:docMk/>
          <pc:sldMk cId="0" sldId="270"/>
        </pc:sldMkLst>
        <pc:picChg chg="del">
          <ac:chgData name="Lai, Wilson" userId="2840974a-0d84-4886-90a9-9a3ed79f3a48" providerId="ADAL" clId="{9F23B798-9E84-4552-BA63-E776E805C424}" dt="2026-08-05T01:35:19.088" v="46" actId="21"/>
          <ac:picMkLst>
            <pc:docMk/>
            <pc:sldMk cId="0" sldId="270"/>
            <ac:picMk id="2" creationId="{00000000-0000-0000-0000-000000000000}"/>
          </ac:picMkLst>
        </pc:picChg>
        <pc:picChg chg="add">
          <ac:chgData name="Lai, Wilson" userId="2840974a-0d84-4886-90a9-9a3ed79f3a48" providerId="ADAL" clId="{9F23B798-9E84-4552-BA63-E776E805C424}" dt="2026-08-05T01:35:27.100" v="47" actId="22"/>
          <ac:picMkLst>
            <pc:docMk/>
            <pc:sldMk cId="0" sldId="270"/>
            <ac:picMk id="4" creationId="{0CD54EC9-F161-E51F-7FA3-A57EBDAEAADC}"/>
          </ac:picMkLst>
        </pc:picChg>
      </pc:sldChg>
      <pc:sldChg chg="addSp delSp mod">
        <pc:chgData name="Lai, Wilson" userId="2840974a-0d84-4886-90a9-9a3ed79f3a48" providerId="ADAL" clId="{9F23B798-9E84-4552-BA63-E776E805C424}" dt="2026-08-05T01:35:36.331" v="49" actId="22"/>
        <pc:sldMkLst>
          <pc:docMk/>
          <pc:sldMk cId="0" sldId="271"/>
        </pc:sldMkLst>
        <pc:picChg chg="del">
          <ac:chgData name="Lai, Wilson" userId="2840974a-0d84-4886-90a9-9a3ed79f3a48" providerId="ADAL" clId="{9F23B798-9E84-4552-BA63-E776E805C424}" dt="2026-08-05T01:35:28.888" v="48" actId="21"/>
          <ac:picMkLst>
            <pc:docMk/>
            <pc:sldMk cId="0" sldId="271"/>
            <ac:picMk id="2" creationId="{00000000-0000-0000-0000-000000000000}"/>
          </ac:picMkLst>
        </pc:picChg>
        <pc:picChg chg="add">
          <ac:chgData name="Lai, Wilson" userId="2840974a-0d84-4886-90a9-9a3ed79f3a48" providerId="ADAL" clId="{9F23B798-9E84-4552-BA63-E776E805C424}" dt="2026-08-05T01:35:36.331" v="49" actId="22"/>
          <ac:picMkLst>
            <pc:docMk/>
            <pc:sldMk cId="0" sldId="271"/>
            <ac:picMk id="4" creationId="{74971B1E-E141-1CC5-0CB0-84C298894694}"/>
          </ac:picMkLst>
        </pc:picChg>
      </pc:sldChg>
      <pc:sldChg chg="addSp delSp mod modNotesTx">
        <pc:chgData name="Lai, Wilson" userId="2840974a-0d84-4886-90a9-9a3ed79f3a48" providerId="ADAL" clId="{9F23B798-9E84-4552-BA63-E776E805C424}" dt="2026-08-05T03:14:48.016" v="68" actId="12"/>
        <pc:sldMkLst>
          <pc:docMk/>
          <pc:sldMk cId="2288533847" sldId="272"/>
        </pc:sldMkLst>
        <pc:picChg chg="del">
          <ac:chgData name="Lai, Wilson" userId="2840974a-0d84-4886-90a9-9a3ed79f3a48" providerId="ADAL" clId="{9F23B798-9E84-4552-BA63-E776E805C424}" dt="2026-08-05T01:35:39.936" v="50" actId="21"/>
          <ac:picMkLst>
            <pc:docMk/>
            <pc:sldMk cId="2288533847" sldId="272"/>
            <ac:picMk id="3" creationId="{1633EC72-A9B4-C534-9B93-2590FA222569}"/>
          </ac:picMkLst>
        </pc:picChg>
        <pc:picChg chg="add">
          <ac:chgData name="Lai, Wilson" userId="2840974a-0d84-4886-90a9-9a3ed79f3a48" providerId="ADAL" clId="{9F23B798-9E84-4552-BA63-E776E805C424}" dt="2026-08-05T01:36:05.064" v="51" actId="22"/>
          <ac:picMkLst>
            <pc:docMk/>
            <pc:sldMk cId="2288533847" sldId="272"/>
            <ac:picMk id="4" creationId="{DDC9B15C-B00F-1F3A-CEA7-F0B643181557}"/>
          </ac:picMkLst>
        </pc:picChg>
      </pc:sldChg>
      <pc:sldMasterChg chg="setBg">
        <pc:chgData name="Lai, Wilson" userId="2840974a-0d84-4886-90a9-9a3ed79f3a48" providerId="ADAL" clId="{9F23B798-9E84-4552-BA63-E776E805C424}" dt="2026-08-05T01:04:24.018" v="0"/>
        <pc:sldMasterMkLst>
          <pc:docMk/>
          <pc:sldMasterMk cId="1267114229"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55B7F5-DB4F-4FD7-8BDD-F10D00A0D3A7}"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18F1C1-54B1-4A76-9496-4899C5EFD0ED}" type="slidenum">
              <a:rPr lang="en-US" smtClean="0"/>
              <a:t>‹#›</a:t>
            </a:fld>
            <a:endParaRPr lang="en-US"/>
          </a:p>
        </p:txBody>
      </p:sp>
    </p:spTree>
    <p:extLst>
      <p:ext uri="{BB962C8B-B14F-4D97-AF65-F5344CB8AC3E}">
        <p14:creationId xmlns:p14="http://schemas.microsoft.com/office/powerpoint/2010/main" val="563545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https://www.youtube.com/watch?v=3XVDtPU8xKE</a:t>
            </a:r>
          </a:p>
          <a:p>
            <a:endParaRPr lang="en-US" dirty="0"/>
          </a:p>
          <a:p>
            <a:r>
              <a:rPr lang="en-US" sz="1200" kern="1200" dirty="0">
                <a:solidFill>
                  <a:schemeClr val="tx1"/>
                </a:solidFill>
                <a:effectLst/>
                <a:latin typeface="+mn-lt"/>
                <a:ea typeface="+mn-ea"/>
                <a:cs typeface="+mn-cs"/>
              </a:rPr>
              <a:t>Welcome everyone. Today, we are taking a deep dive into where enduring value, real economic moats, and massive enterprise market capitalization are being constructed in the AI era. </a:t>
            </a:r>
          </a:p>
          <a:p>
            <a:r>
              <a:rPr lang="en-US" sz="1200" kern="1200" dirty="0">
                <a:solidFill>
                  <a:schemeClr val="tx1"/>
                </a:solidFill>
                <a:effectLst/>
                <a:latin typeface="+mn-lt"/>
                <a:ea typeface="+mn-ea"/>
                <a:cs typeface="+mn-cs"/>
              </a:rPr>
              <a:t>While foundational frontier LLMs (OpenAI, Anthropic, Google) receive the vast majority of headlines and initial infrastructure spend, history teaches us that the greatest long-term enterprise value ultimately accrues at the </a:t>
            </a:r>
            <a:r>
              <a:rPr lang="en-US" sz="1200" b="1" kern="1200" dirty="0">
                <a:solidFill>
                  <a:schemeClr val="tx1"/>
                </a:solidFill>
                <a:effectLst/>
                <a:latin typeface="+mn-lt"/>
                <a:ea typeface="+mn-ea"/>
                <a:cs typeface="+mn-cs"/>
              </a:rPr>
              <a:t>application layer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Throughout this presentation, we will explore why we are moving past AI as a mere "magic trick" or novel demo and entering an era defined by mission-critical deployment. </a:t>
            </a:r>
          </a:p>
          <a:p>
            <a:r>
              <a:rPr lang="en-US" sz="1200" kern="1200" dirty="0">
                <a:solidFill>
                  <a:schemeClr val="tx1"/>
                </a:solidFill>
                <a:effectLst/>
                <a:latin typeface="+mn-lt"/>
                <a:ea typeface="+mn-ea"/>
                <a:cs typeface="+mn-cs"/>
              </a:rPr>
              <a:t>We will detail the </a:t>
            </a:r>
            <a:r>
              <a:rPr lang="en-US" sz="1200" b="1" kern="1200" dirty="0">
                <a:solidFill>
                  <a:schemeClr val="tx1"/>
                </a:solidFill>
                <a:effectLst/>
                <a:latin typeface="+mn-lt"/>
                <a:ea typeface="+mn-ea"/>
                <a:cs typeface="+mn-cs"/>
              </a:rPr>
              <a:t>3 Strategic Pillars</a:t>
            </a:r>
            <a:r>
              <a:rPr lang="en-US" sz="1200" kern="1200" dirty="0">
                <a:solidFill>
                  <a:schemeClr val="tx1"/>
                </a:solidFill>
                <a:effectLst/>
                <a:latin typeface="+mn-lt"/>
                <a:ea typeface="+mn-ea"/>
                <a:cs typeface="+mn-cs"/>
              </a:rPr>
              <a:t> driving the application explosion: AI-Native SaaS, Software Eating Labor, and Walled Garden Data Models.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1</a:t>
            </a:fld>
            <a:endParaRPr lang="en-US"/>
          </a:p>
        </p:txBody>
      </p:sp>
    </p:spTree>
    <p:extLst>
      <p:ext uri="{BB962C8B-B14F-4D97-AF65-F5344CB8AC3E}">
        <p14:creationId xmlns:p14="http://schemas.microsoft.com/office/powerpoint/2010/main" val="2439401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AI applications are scaling at an unprecedented rate, we must look at the broad history of technology product cycles. AI is the 6th great wave of computing, following Semiconductors, PCs, the Internet, Cloud, and Mobile. </a:t>
            </a:r>
          </a:p>
          <a:p>
            <a:r>
              <a:rPr lang="en-US" sz="1200" b="1" kern="1200" dirty="0">
                <a:solidFill>
                  <a:schemeClr val="tx1"/>
                </a:solidFill>
                <a:effectLst/>
                <a:latin typeface="+mn-lt"/>
                <a:ea typeface="+mn-ea"/>
                <a:cs typeface="+mn-cs"/>
              </a:rPr>
              <a:t>Crucial Context:</a:t>
            </a:r>
            <a:r>
              <a:rPr lang="en-US" sz="1200" kern="1200" dirty="0">
                <a:solidFill>
                  <a:schemeClr val="tx1"/>
                </a:solidFill>
                <a:effectLst/>
                <a:latin typeface="+mn-lt"/>
                <a:ea typeface="+mn-ea"/>
                <a:cs typeface="+mn-cs"/>
              </a:rPr>
              <a:t> AI did not emerge in a vacuum. It is accelerating exponentially because it sits directly on top of the massive digital infrastructure built over the last 30 years. </a:t>
            </a:r>
          </a:p>
          <a:p>
            <a:r>
              <a:rPr lang="en-US" sz="1200" b="1" kern="1200" dirty="0">
                <a:solidFill>
                  <a:schemeClr val="tx1"/>
                </a:solidFill>
                <a:effectLst/>
                <a:latin typeface="+mn-lt"/>
                <a:ea typeface="+mn-ea"/>
                <a:cs typeface="+mn-cs"/>
              </a:rPr>
              <a:t>The Catalyst:</a:t>
            </a:r>
            <a:r>
              <a:rPr lang="en-US" sz="1200" kern="1200" dirty="0">
                <a:solidFill>
                  <a:schemeClr val="tx1"/>
                </a:solidFill>
                <a:effectLst/>
                <a:latin typeface="+mn-lt"/>
                <a:ea typeface="+mn-ea"/>
                <a:cs typeface="+mn-cs"/>
              </a:rPr>
              <a:t> The Mobile and Cloud eras distributed over 8 billion supercomputers directly into human hands. If AI were invented in 1946 with the ENIAC, it would be a museum curiosity; today, it reaches billions instantaneously. </a:t>
            </a:r>
          </a:p>
          <a:p>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We are observing the fastest software adoption cycle in human history. AI applications are capturing the vast majority of net-new software revenue.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2</a:t>
            </a:fld>
            <a:endParaRPr lang="en-US"/>
          </a:p>
        </p:txBody>
      </p:sp>
    </p:spTree>
    <p:extLst>
      <p:ext uri="{BB962C8B-B14F-4D97-AF65-F5344CB8AC3E}">
        <p14:creationId xmlns:p14="http://schemas.microsoft.com/office/powerpoint/2010/main" val="1341885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analyze how enterprise perception of AI has shifted from late 2022 to today. </a:t>
            </a:r>
          </a:p>
          <a:p>
            <a:r>
              <a:rPr lang="en-US" sz="1200" b="1" kern="1200" dirty="0">
                <a:solidFill>
                  <a:schemeClr val="tx1"/>
                </a:solidFill>
                <a:effectLst/>
                <a:latin typeface="+mn-lt"/>
                <a:ea typeface="+mn-ea"/>
                <a:cs typeface="+mn-cs"/>
              </a:rPr>
              <a:t>2022–2023 ("Party Tricks"):</a:t>
            </a:r>
            <a:r>
              <a:rPr lang="en-US" sz="1200" kern="1200" dirty="0">
                <a:solidFill>
                  <a:schemeClr val="tx1"/>
                </a:solidFill>
                <a:effectLst/>
                <a:latin typeface="+mn-lt"/>
                <a:ea typeface="+mn-ea"/>
                <a:cs typeface="+mn-cs"/>
              </a:rPr>
              <a:t> AI models like GPT-3.5 and early diffusion engines were impressive novelties. Users drafted Seinfeld scripts or generated images—fun magic tricks, but not core line-of-business software. </a:t>
            </a:r>
          </a:p>
          <a:p>
            <a:r>
              <a:rPr lang="en-US" sz="1200" b="1" kern="1200" dirty="0">
                <a:solidFill>
                  <a:schemeClr val="tx1"/>
                </a:solidFill>
                <a:effectLst/>
                <a:latin typeface="+mn-lt"/>
                <a:ea typeface="+mn-ea"/>
                <a:cs typeface="+mn-cs"/>
              </a:rPr>
              <a:t>2024–2026 ("Mission Critical"):</a:t>
            </a:r>
            <a:r>
              <a:rPr lang="en-US" sz="1200" kern="1200" dirty="0">
                <a:solidFill>
                  <a:schemeClr val="tx1"/>
                </a:solidFill>
                <a:effectLst/>
                <a:latin typeface="+mn-lt"/>
                <a:ea typeface="+mn-ea"/>
                <a:cs typeface="+mn-cs"/>
              </a:rPr>
              <a:t> With native multimodal audio, complex reasoning chains, and agentic workflows, AI has become essential infrastructure. </a:t>
            </a:r>
          </a:p>
          <a:p>
            <a:r>
              <a:rPr lang="en-US" sz="1200" b="1" kern="1200" dirty="0">
                <a:solidFill>
                  <a:schemeClr val="tx1"/>
                </a:solidFill>
                <a:effectLst/>
                <a:latin typeface="+mn-lt"/>
                <a:ea typeface="+mn-ea"/>
                <a:cs typeface="+mn-cs"/>
              </a:rPr>
              <a:t>Data Evidence:</a:t>
            </a:r>
            <a:r>
              <a:rPr lang="en-US" sz="1200" kern="1200" dirty="0">
                <a:solidFill>
                  <a:schemeClr val="tx1"/>
                </a:solidFill>
                <a:effectLst/>
                <a:latin typeface="+mn-lt"/>
                <a:ea typeface="+mn-ea"/>
                <a:cs typeface="+mn-cs"/>
              </a:rPr>
              <a:t> Look at the corporate expense usage data from Ramp. Early 2025 marks a sharp, permanent vertical spike in enterprise AI adoption. Mid-market and forward-thinking enterprises moved past pilot phases directly into production spending. </a:t>
            </a:r>
          </a:p>
          <a:p>
            <a:r>
              <a:rPr lang="en-US" sz="1200" b="1" kern="1200" dirty="0">
                <a:solidFill>
                  <a:schemeClr val="tx1"/>
                </a:solidFill>
                <a:effectLst/>
                <a:latin typeface="+mn-lt"/>
                <a:ea typeface="+mn-ea"/>
                <a:cs typeface="+mn-cs"/>
              </a:rPr>
              <a:t>The Core Human Driver:</a:t>
            </a:r>
            <a:r>
              <a:rPr lang="en-US" sz="1200" kern="1200" dirty="0">
                <a:solidFill>
                  <a:schemeClr val="tx1"/>
                </a:solidFill>
                <a:effectLst/>
                <a:latin typeface="+mn-lt"/>
                <a:ea typeface="+mn-ea"/>
                <a:cs typeface="+mn-cs"/>
              </a:rPr>
              <a:t> All human adoption boils down to a single principle: </a:t>
            </a:r>
            <a:r>
              <a:rPr lang="en-US" sz="1200" b="1" kern="1200" dirty="0">
                <a:solidFill>
                  <a:schemeClr val="tx1"/>
                </a:solidFill>
                <a:effectLst/>
                <a:latin typeface="+mn-lt"/>
                <a:ea typeface="+mn-ea"/>
                <a:cs typeface="+mn-cs"/>
              </a:rPr>
              <a:t>Humans inherently seek to be richer and lazier</a:t>
            </a:r>
            <a:r>
              <a:rPr lang="en-US" sz="1200" kern="1200" dirty="0">
                <a:solidFill>
                  <a:schemeClr val="tx1"/>
                </a:solidFill>
                <a:effectLst/>
                <a:latin typeface="+mn-lt"/>
                <a:ea typeface="+mn-ea"/>
                <a:cs typeface="+mn-cs"/>
              </a:rPr>
              <a:t>—achieving higher economic value with dramatically lower friction. AI fulfills this fundamental mandate better than any prior technology.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3</a:t>
            </a:fld>
            <a:endParaRPr lang="en-US"/>
          </a:p>
        </p:txBody>
      </p:sp>
    </p:spTree>
    <p:extLst>
      <p:ext uri="{BB962C8B-B14F-4D97-AF65-F5344CB8AC3E}">
        <p14:creationId xmlns:p14="http://schemas.microsoft.com/office/powerpoint/2010/main" val="2184997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venture investors evaluating where defensibility lies against frontier model encroachment, we focus on three core pillars: </a:t>
            </a:r>
          </a:p>
          <a:p>
            <a:r>
              <a:rPr lang="en-US" sz="1200" b="1" kern="1200" dirty="0">
                <a:solidFill>
                  <a:schemeClr val="tx1"/>
                </a:solidFill>
                <a:effectLst/>
                <a:latin typeface="+mn-lt"/>
                <a:ea typeface="+mn-ea"/>
                <a:cs typeface="+mn-cs"/>
              </a:rPr>
              <a:t>Pillar 1: Existing Categories Going AI-Native:</a:t>
            </a:r>
            <a:r>
              <a:rPr lang="en-US" sz="1200" kern="1200" dirty="0">
                <a:solidFill>
                  <a:schemeClr val="tx1"/>
                </a:solidFill>
                <a:effectLst/>
                <a:latin typeface="+mn-lt"/>
                <a:ea typeface="+mn-ea"/>
                <a:cs typeface="+mn-cs"/>
              </a:rPr>
              <a:t> Complete rewrite of traditional SaaS vertical and enterprise "Bingo Boards" (ERP, CRM, HR, Support). </a:t>
            </a:r>
          </a:p>
          <a:p>
            <a:r>
              <a:rPr lang="en-US" sz="1200" b="1" kern="1200" dirty="0">
                <a:solidFill>
                  <a:schemeClr val="tx1"/>
                </a:solidFill>
                <a:effectLst/>
                <a:latin typeface="+mn-lt"/>
                <a:ea typeface="+mn-ea"/>
                <a:cs typeface="+mn-cs"/>
              </a:rPr>
              <a:t>Pillar 2: Software Eating Labor:</a:t>
            </a:r>
            <a:r>
              <a:rPr lang="en-US" sz="1200" kern="1200" dirty="0">
                <a:solidFill>
                  <a:schemeClr val="tx1"/>
                </a:solidFill>
                <a:effectLst/>
                <a:latin typeface="+mn-lt"/>
                <a:ea typeface="+mn-ea"/>
                <a:cs typeface="+mn-cs"/>
              </a:rPr>
              <a:t> Shifting focus from selling internal workflow tools for human workers to selling automated software that completes the full job itself. This opens access to the global labor market. </a:t>
            </a:r>
          </a:p>
          <a:p>
            <a:r>
              <a:rPr lang="en-US" sz="1200" b="1" kern="1200" dirty="0">
                <a:solidFill>
                  <a:schemeClr val="tx1"/>
                </a:solidFill>
                <a:effectLst/>
                <a:latin typeface="+mn-lt"/>
                <a:ea typeface="+mn-ea"/>
                <a:cs typeface="+mn-cs"/>
              </a:rPr>
              <a:t>Pillar 3: The Walled Garden:</a:t>
            </a:r>
            <a:r>
              <a:rPr lang="en-US" sz="1200" kern="1200" dirty="0">
                <a:solidFill>
                  <a:schemeClr val="tx1"/>
                </a:solidFill>
                <a:effectLst/>
                <a:latin typeface="+mn-lt"/>
                <a:ea typeface="+mn-ea"/>
                <a:cs typeface="+mn-cs"/>
              </a:rPr>
              <a:t> Building defensible competitive moats using hard-to-access, proprietary data assets that base LLMs cannot scrape or train on.</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4</a:t>
            </a:fld>
            <a:endParaRPr lang="en-US"/>
          </a:p>
        </p:txBody>
      </p:sp>
    </p:spTree>
    <p:extLst>
      <p:ext uri="{BB962C8B-B14F-4D97-AF65-F5344CB8AC3E}">
        <p14:creationId xmlns:p14="http://schemas.microsoft.com/office/powerpoint/2010/main" val="688610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the classic SaaS "Bingo Board". Every major incumbent software category—SAP for ERP, Salesforce for CRM, Workday for HR, Zendesk for Support—is being challenged by AI-native platforms. </a:t>
            </a:r>
          </a:p>
          <a:p>
            <a:r>
              <a:rPr lang="en-US" sz="1200" b="1" kern="1200" dirty="0">
                <a:solidFill>
                  <a:schemeClr val="tx1"/>
                </a:solidFill>
                <a:effectLst/>
                <a:latin typeface="+mn-lt"/>
                <a:ea typeface="+mn-ea"/>
                <a:cs typeface="+mn-cs"/>
              </a:rPr>
              <a:t>Incumbent Strategy:</a:t>
            </a:r>
            <a:r>
              <a:rPr lang="en-US" sz="1200" kern="1200" dirty="0">
                <a:solidFill>
                  <a:schemeClr val="tx1"/>
                </a:solidFill>
                <a:effectLst/>
                <a:latin typeface="+mn-lt"/>
                <a:ea typeface="+mn-ea"/>
                <a:cs typeface="+mn-cs"/>
              </a:rPr>
              <a:t> Legacy vendors are adding thin AI features to hold their customers "hostage". The best incumbent businesses have high switching costs rather than high NPS, allowing them to bolt on AI surcharges. </a:t>
            </a:r>
          </a:p>
          <a:p>
            <a:r>
              <a:rPr lang="en-US" sz="1200" b="1" kern="1200" dirty="0">
                <a:solidFill>
                  <a:schemeClr val="tx1"/>
                </a:solidFill>
                <a:effectLst/>
                <a:latin typeface="+mn-lt"/>
                <a:ea typeface="+mn-ea"/>
                <a:cs typeface="+mn-cs"/>
              </a:rPr>
              <a:t>AI-Native Disruption:</a:t>
            </a:r>
            <a:r>
              <a:rPr lang="en-US" sz="1200" kern="1200" dirty="0">
                <a:solidFill>
                  <a:schemeClr val="tx1"/>
                </a:solidFill>
                <a:effectLst/>
                <a:latin typeface="+mn-lt"/>
                <a:ea typeface="+mn-ea"/>
                <a:cs typeface="+mn-cs"/>
              </a:rPr>
              <a:t> Challengers are abandoning obsolete </a:t>
            </a:r>
            <a:r>
              <a:rPr lang="en-US" sz="1200" b="1" kern="1200" dirty="0">
                <a:solidFill>
                  <a:schemeClr val="tx1"/>
                </a:solidFill>
                <a:effectLst/>
                <a:latin typeface="+mn-lt"/>
                <a:ea typeface="+mn-ea"/>
                <a:cs typeface="+mn-cs"/>
              </a:rPr>
              <a:t>per-seat pricing models</a:t>
            </a:r>
            <a:r>
              <a:rPr lang="en-US" sz="1200" kern="1200" dirty="0">
                <a:solidFill>
                  <a:schemeClr val="tx1"/>
                </a:solidFill>
                <a:effectLst/>
                <a:latin typeface="+mn-lt"/>
                <a:ea typeface="+mn-ea"/>
                <a:cs typeface="+mn-cs"/>
              </a:rPr>
              <a:t>. When an AI support bot handles 99% of inquiries, selling seat licenses makes no economic sense. Instead, AI-native platforms charge per completed outcome or resolution. </a:t>
            </a:r>
          </a:p>
          <a:p>
            <a:r>
              <a:rPr lang="en-US" sz="1200" b="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Build the definitive, end-to-end AI </a:t>
            </a:r>
            <a:r>
              <a:rPr lang="en-US" sz="1200" b="1" kern="1200" dirty="0">
                <a:solidFill>
                  <a:schemeClr val="tx1"/>
                </a:solidFill>
                <a:effectLst/>
                <a:latin typeface="+mn-lt"/>
                <a:ea typeface="+mn-ea"/>
                <a:cs typeface="+mn-cs"/>
              </a:rPr>
              <a:t>System of Record</a:t>
            </a:r>
            <a:r>
              <a:rPr lang="en-US" sz="1200" kern="1200" dirty="0">
                <a:solidFill>
                  <a:schemeClr val="tx1"/>
                </a:solidFill>
                <a:effectLst/>
                <a:latin typeface="+mn-lt"/>
                <a:ea typeface="+mn-ea"/>
                <a:cs typeface="+mn-cs"/>
              </a:rPr>
              <a:t> that manages the business context natively.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5</a:t>
            </a:fld>
            <a:endParaRPr lang="en-US"/>
          </a:p>
        </p:txBody>
      </p:sp>
    </p:spTree>
    <p:extLst>
      <p:ext uri="{BB962C8B-B14F-4D97-AF65-F5344CB8AC3E}">
        <p14:creationId xmlns:p14="http://schemas.microsoft.com/office/powerpoint/2010/main" val="612548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Disruption strategy on the SaaS Bingo Board requires distinguishing between Greenfield and Brownfield opportunities. </a:t>
            </a:r>
          </a:p>
          <a:p>
            <a:r>
              <a:rPr lang="en-US" sz="1200" b="1" kern="1200" dirty="0">
                <a:solidFill>
                  <a:schemeClr val="tx1"/>
                </a:solidFill>
                <a:effectLst/>
                <a:latin typeface="+mn-lt"/>
                <a:ea typeface="+mn-ea"/>
                <a:cs typeface="+mn-cs"/>
              </a:rPr>
              <a:t>Greenfield (Startups):</a:t>
            </a:r>
            <a:r>
              <a:rPr lang="en-US" sz="1200" kern="1200" dirty="0">
                <a:solidFill>
                  <a:schemeClr val="tx1"/>
                </a:solidFill>
                <a:effectLst/>
                <a:latin typeface="+mn-lt"/>
                <a:ea typeface="+mn-ea"/>
                <a:cs typeface="+mn-cs"/>
              </a:rPr>
              <a:t> Targets net-new companies with zero pre-existing vendor lock-in. </a:t>
            </a: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Dynamics:</a:t>
            </a:r>
            <a:r>
              <a:rPr lang="en-US" sz="1200" kern="1200" dirty="0">
                <a:solidFill>
                  <a:schemeClr val="tx1"/>
                </a:solidFill>
                <a:effectLst/>
                <a:latin typeface="+mn-lt"/>
                <a:ea typeface="+mn-ea"/>
                <a:cs typeface="+mn-cs"/>
              </a:rPr>
              <a:t> Extremely easy customer acquisition because there is no legacy system to rip out. However, revenue growth is strictly bounded by macro startup creation rates. </a:t>
            </a:r>
          </a:p>
          <a:p>
            <a:r>
              <a:rPr lang="en-US" sz="1200" b="1" kern="1200" dirty="0">
                <a:solidFill>
                  <a:schemeClr val="tx1"/>
                </a:solidFill>
                <a:effectLst/>
                <a:latin typeface="+mn-lt"/>
                <a:ea typeface="+mn-ea"/>
                <a:cs typeface="+mn-cs"/>
              </a:rPr>
              <a:t>Brownfield (Enterprise):</a:t>
            </a:r>
            <a:r>
              <a:rPr lang="en-US" sz="1200" kern="1200" dirty="0">
                <a:solidFill>
                  <a:schemeClr val="tx1"/>
                </a:solidFill>
                <a:effectLst/>
                <a:latin typeface="+mn-lt"/>
                <a:ea typeface="+mn-ea"/>
                <a:cs typeface="+mn-cs"/>
              </a:rPr>
              <a:t> Targets established markets dominated by legacy software like NetSuite or SAP. </a:t>
            </a: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Dynamics:</a:t>
            </a:r>
            <a:r>
              <a:rPr lang="en-US" sz="1200" kern="1200" dirty="0">
                <a:solidFill>
                  <a:schemeClr val="tx1"/>
                </a:solidFill>
                <a:effectLst/>
                <a:latin typeface="+mn-lt"/>
                <a:ea typeface="+mn-ea"/>
                <a:cs typeface="+mn-cs"/>
              </a:rPr>
              <a:t> Hard to replace entrenched incumbents unless you hit a sharp customer inflection point (e.g., expanding from single to multi-entity/multi-currency operations) or offer a 10x AI wedge. Winning a Brownfield account unlocks massive market capitalization.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6</a:t>
            </a:fld>
            <a:endParaRPr lang="en-US"/>
          </a:p>
        </p:txBody>
      </p:sp>
    </p:spTree>
    <p:extLst>
      <p:ext uri="{BB962C8B-B14F-4D97-AF65-F5344CB8AC3E}">
        <p14:creationId xmlns:p14="http://schemas.microsoft.com/office/powerpoint/2010/main" val="712251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to Pillar 2: The global labor budget is orders of magnitude larger than the global IT software budget. </a:t>
            </a:r>
          </a:p>
          <a:p>
            <a:r>
              <a:rPr lang="en-US" sz="1200" kern="1200" dirty="0">
                <a:solidFill>
                  <a:schemeClr val="tx1"/>
                </a:solidFill>
                <a:effectLst/>
                <a:latin typeface="+mn-lt"/>
                <a:ea typeface="+mn-ea"/>
                <a:cs typeface="+mn-cs"/>
              </a:rPr>
              <a:t>Consider an optometry practice hiring a front-desk receptionist: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Human Worker:</a:t>
            </a:r>
            <a:r>
              <a:rPr lang="en-US" sz="1200" kern="1200" dirty="0">
                <a:solidFill>
                  <a:schemeClr val="tx1"/>
                </a:solidFill>
                <a:effectLst/>
                <a:latin typeface="+mn-lt"/>
                <a:ea typeface="+mn-ea"/>
                <a:cs typeface="+mn-cs"/>
              </a:rPr>
              <a:t> $47,000/year to answer phones, schedule appointments, and verify insurance.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AI Front Desk Agent:</a:t>
            </a:r>
            <a:r>
              <a:rPr lang="en-US" sz="1200" kern="1200" dirty="0">
                <a:solidFill>
                  <a:schemeClr val="tx1"/>
                </a:solidFill>
                <a:effectLst/>
                <a:latin typeface="+mn-lt"/>
                <a:ea typeface="+mn-ea"/>
                <a:cs typeface="+mn-cs"/>
              </a:rPr>
              <a:t> $20,000/year license fee providing 24/7 natural voice response, instantaneous scheduling, and real-time database checks. </a:t>
            </a:r>
          </a:p>
          <a:p>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We are transitioning from selling $500/year seat-based productivity widgets to selling $20,000/year digital workers that complete tasks end-to-end. AI is no longer just the tool; AI is becoming the workforce.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7</a:t>
            </a:fld>
            <a:endParaRPr lang="en-US"/>
          </a:p>
        </p:txBody>
      </p:sp>
    </p:spTree>
    <p:extLst>
      <p:ext uri="{BB962C8B-B14F-4D97-AF65-F5344CB8AC3E}">
        <p14:creationId xmlns:p14="http://schemas.microsoft.com/office/powerpoint/2010/main" val="2479654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is the economic threshold driving this rapid transition to digital labor? </a:t>
            </a:r>
          </a:p>
          <a:p>
            <a:r>
              <a:rPr lang="en-US" sz="1200" b="1" kern="1200" dirty="0">
                <a:solidFill>
                  <a:schemeClr val="tx1"/>
                </a:solidFill>
                <a:effectLst/>
                <a:latin typeface="+mn-lt"/>
                <a:ea typeface="+mn-ea"/>
                <a:cs typeface="+mn-cs"/>
              </a:rPr>
              <a:t>The Rule of Hiring:</a:t>
            </a:r>
            <a:r>
              <a:rPr lang="en-US" sz="1200" kern="1200" dirty="0">
                <a:solidFill>
                  <a:schemeClr val="tx1"/>
                </a:solidFill>
                <a:effectLst/>
                <a:latin typeface="+mn-lt"/>
                <a:ea typeface="+mn-ea"/>
                <a:cs typeface="+mn-cs"/>
              </a:rPr>
              <a:t> An organization never hires a human worker if their total compensation exceeds the economic value they generate. </a:t>
            </a:r>
          </a:p>
          <a:p>
            <a:r>
              <a:rPr lang="en-US" sz="1200" b="1" kern="1200" dirty="0">
                <a:solidFill>
                  <a:schemeClr val="tx1"/>
                </a:solidFill>
                <a:effectLst/>
                <a:latin typeface="+mn-lt"/>
                <a:ea typeface="+mn-ea"/>
                <a:cs typeface="+mn-cs"/>
              </a:rPr>
              <a:t>The 2 AM Problem:</a:t>
            </a:r>
            <a:r>
              <a:rPr lang="en-US" sz="1200" kern="1200" dirty="0">
                <a:solidFill>
                  <a:schemeClr val="tx1"/>
                </a:solidFill>
                <a:effectLst/>
                <a:latin typeface="+mn-lt"/>
                <a:ea typeface="+mn-ea"/>
                <a:cs typeface="+mn-cs"/>
              </a:rPr>
              <a:t> You cannot economically hire human staff to handle late-night customer support across 21 languages for edge-case queries—the cost vastly exceeds the marginal value. </a:t>
            </a:r>
          </a:p>
          <a:p>
            <a:r>
              <a:rPr lang="en-US" sz="1200" b="1" kern="1200" dirty="0">
                <a:solidFill>
                  <a:schemeClr val="tx1"/>
                </a:solidFill>
                <a:effectLst/>
                <a:latin typeface="+mn-lt"/>
                <a:ea typeface="+mn-ea"/>
                <a:cs typeface="+mn-cs"/>
              </a:rPr>
              <a:t>The Inversion Point:</a:t>
            </a:r>
            <a:r>
              <a:rPr lang="en-US" sz="1200" kern="1200" dirty="0">
                <a:solidFill>
                  <a:schemeClr val="tx1"/>
                </a:solidFill>
                <a:effectLst/>
                <a:latin typeface="+mn-lt"/>
                <a:ea typeface="+mn-ea"/>
                <a:cs typeface="+mn-cs"/>
              </a:rPr>
              <a:t> As inference token costs collapse while reasoning capabilities improve, the AI cost/value dynamic permanently inverts. Organizations can now deploy hyper-competent AI labor for tasks that were previously cost-prohibitive.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8</a:t>
            </a:fld>
            <a:endParaRPr lang="en-US"/>
          </a:p>
        </p:txBody>
      </p:sp>
    </p:spTree>
    <p:extLst>
      <p:ext uri="{BB962C8B-B14F-4D97-AF65-F5344CB8AC3E}">
        <p14:creationId xmlns:p14="http://schemas.microsoft.com/office/powerpoint/2010/main" val="2594814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two specific case studies: </a:t>
            </a:r>
            <a:r>
              <a:rPr lang="en-US" sz="1200" b="1" kern="1200" dirty="0">
                <a:solidFill>
                  <a:schemeClr val="tx1"/>
                </a:solidFill>
                <a:effectLst/>
                <a:latin typeface="+mn-lt"/>
                <a:ea typeface="+mn-ea"/>
                <a:cs typeface="+mn-cs"/>
              </a:rPr>
              <a:t>EVE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SALIENT</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EVE (Plaintiff Legal AI):</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Business Model:</a:t>
            </a:r>
            <a:r>
              <a:rPr lang="en-US" sz="1200" kern="1200" dirty="0">
                <a:solidFill>
                  <a:schemeClr val="tx1"/>
                </a:solidFill>
                <a:effectLst/>
                <a:latin typeface="+mn-lt"/>
                <a:ea typeface="+mn-ea"/>
                <a:cs typeface="+mn-cs"/>
              </a:rPr>
              <a:t> Contingency-aligned. Unlike hourly corporate law firms, plaintiff lawyers only get paid if they win. </a:t>
            </a: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Moat:</a:t>
            </a:r>
            <a:r>
              <a:rPr lang="en-US" sz="1200" kern="1200" dirty="0">
                <a:solidFill>
                  <a:schemeClr val="tx1"/>
                </a:solidFill>
                <a:effectLst/>
                <a:latin typeface="+mn-lt"/>
                <a:ea typeface="+mn-ea"/>
                <a:cs typeface="+mn-cs"/>
              </a:rPr>
              <a:t> EVE handles end-to-end workflows from intake voice calls to drafting medical chronologies and demand letters. By reducing administrative friction, EVE allows law firms to turn previously unprofitable $5k cases into high-margin wins. </a:t>
            </a:r>
          </a:p>
          <a:p>
            <a:r>
              <a:rPr lang="en-US" sz="1200" b="1" kern="1200" dirty="0">
                <a:solidFill>
                  <a:schemeClr val="tx1"/>
                </a:solidFill>
                <a:effectLst/>
                <a:latin typeface="+mn-lt"/>
                <a:ea typeface="+mn-ea"/>
                <a:cs typeface="+mn-cs"/>
              </a:rPr>
              <a:t>SALIENT (Auto-Loan Collections):</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Business Model:</a:t>
            </a:r>
            <a:r>
              <a:rPr lang="en-US" sz="1200" kern="1200" dirty="0">
                <a:solidFill>
                  <a:schemeClr val="tx1"/>
                </a:solidFill>
                <a:effectLst/>
                <a:latin typeface="+mn-lt"/>
                <a:ea typeface="+mn-ea"/>
                <a:cs typeface="+mn-cs"/>
              </a:rPr>
              <a:t> Replaces $50M call centers suffering from 70% annual employee turnover. </a:t>
            </a: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Moat:</a:t>
            </a:r>
            <a:r>
              <a:rPr lang="en-US" sz="1200" kern="1200" dirty="0">
                <a:solidFill>
                  <a:schemeClr val="tx1"/>
                </a:solidFill>
                <a:effectLst/>
                <a:latin typeface="+mn-lt"/>
                <a:ea typeface="+mn-ea"/>
                <a:cs typeface="+mn-cs"/>
              </a:rPr>
              <a:t> Guarantees real-time regulatory compliance across all 50 states. SALIENT doesn't just save money; its optimized AI scripts yield </a:t>
            </a:r>
            <a:r>
              <a:rPr lang="en-US" sz="1200" b="1" kern="1200" dirty="0">
                <a:solidFill>
                  <a:schemeClr val="tx1"/>
                </a:solidFill>
                <a:effectLst/>
                <a:latin typeface="+mn-lt"/>
                <a:ea typeface="+mn-ea"/>
                <a:cs typeface="+mn-cs"/>
              </a:rPr>
              <a:t>50% higher debt recovery rates</a:t>
            </a:r>
            <a:r>
              <a:rPr lang="en-US" sz="1200" kern="1200" dirty="0">
                <a:solidFill>
                  <a:schemeClr val="tx1"/>
                </a:solidFill>
                <a:effectLst/>
                <a:latin typeface="+mn-lt"/>
                <a:ea typeface="+mn-ea"/>
                <a:cs typeface="+mn-cs"/>
              </a:rPr>
              <a:t> than human call center agents.</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9</a:t>
            </a:fld>
            <a:endParaRPr lang="en-US"/>
          </a:p>
        </p:txBody>
      </p:sp>
    </p:spTree>
    <p:extLst>
      <p:ext uri="{BB962C8B-B14F-4D97-AF65-F5344CB8AC3E}">
        <p14:creationId xmlns:p14="http://schemas.microsoft.com/office/powerpoint/2010/main" val="3317927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Pillar 3 focuses on defensibility in an environment where base LLMs are becoming commoditized. </a:t>
            </a:r>
          </a:p>
          <a:p>
            <a:pPr marL="0" indent="0">
              <a:buFont typeface="Arial" panose="020B0604020202020204" pitchFamily="34" charset="0"/>
              <a:buNone/>
            </a:pPr>
            <a:r>
              <a:rPr lang="en-US" sz="1200" kern="1200" dirty="0">
                <a:solidFill>
                  <a:schemeClr val="tx1"/>
                </a:solidFill>
                <a:effectLst/>
                <a:latin typeface="+mn-lt"/>
                <a:ea typeface="+mn-ea"/>
                <a:cs typeface="+mn-cs"/>
              </a:rPr>
              <a:t>The Metaphor: Vegetable Farm vs. 5-Star Restaurant: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Foundational model providers (OpenAI, Anthropic) operate like vegetable farms selling raw ingredients (tokens) at declining margins.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Walled Gardens operate as 5-star restaurants. They gather unstructured, niche, public, or proprietary data assets (FlightAware paths, domain WHOIS records, property filings), process them through AI layers, and sell high-value finished outcomes. </a:t>
            </a:r>
          </a:p>
          <a:p>
            <a:r>
              <a:rPr lang="en-US" sz="1200" kern="1200" dirty="0">
                <a:solidFill>
                  <a:schemeClr val="tx1"/>
                </a:solidFill>
                <a:effectLst/>
                <a:latin typeface="+mn-lt"/>
                <a:ea typeface="+mn-ea"/>
                <a:cs typeface="+mn-cs"/>
              </a:rPr>
              <a:t>Base foundation models cannot replicate these outcomes because they lack access to the underlying </a:t>
            </a:r>
            <a:r>
              <a:rPr lang="en-US" sz="1200" kern="1200" dirty="0" err="1">
                <a:solidFill>
                  <a:schemeClr val="tx1"/>
                </a:solidFill>
                <a:effectLst/>
                <a:latin typeface="+mn-lt"/>
                <a:ea typeface="+mn-ea"/>
                <a:cs typeface="+mn-cs"/>
              </a:rPr>
              <a:t>underlying</a:t>
            </a:r>
            <a:r>
              <a:rPr lang="en-US" sz="1200" kern="1200" dirty="0">
                <a:solidFill>
                  <a:schemeClr val="tx1"/>
                </a:solidFill>
                <a:effectLst/>
                <a:latin typeface="+mn-lt"/>
                <a:ea typeface="+mn-ea"/>
                <a:cs typeface="+mn-cs"/>
              </a:rPr>
              <a:t> data vaults.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10</a:t>
            </a:fld>
            <a:endParaRPr lang="en-US"/>
          </a:p>
        </p:txBody>
      </p:sp>
    </p:spTree>
    <p:extLst>
      <p:ext uri="{BB962C8B-B14F-4D97-AF65-F5344CB8AC3E}">
        <p14:creationId xmlns:p14="http://schemas.microsoft.com/office/powerpoint/2010/main" val="4075759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are three real-world examples of Walled Garden architectures: </a:t>
            </a:r>
          </a:p>
          <a:p>
            <a:r>
              <a:rPr lang="en-US" sz="1200" b="1" kern="1200" dirty="0">
                <a:solidFill>
                  <a:schemeClr val="tx1"/>
                </a:solidFill>
                <a:effectLst/>
                <a:latin typeface="+mn-lt"/>
                <a:ea typeface="+mn-ea"/>
                <a:cs typeface="+mn-cs"/>
              </a:rPr>
              <a:t>Open Evidence:</a:t>
            </a:r>
            <a:r>
              <a:rPr lang="en-US" sz="1200" kern="1200" dirty="0">
                <a:solidFill>
                  <a:schemeClr val="tx1"/>
                </a:solidFill>
                <a:effectLst/>
                <a:latin typeface="+mn-lt"/>
                <a:ea typeface="+mn-ea"/>
                <a:cs typeface="+mn-cs"/>
              </a:rPr>
              <a:t> Secured exclusive licensing to the New England Journal of Medicine and premier medical literature. Today, two-thirds of US doctors use it weekly because general LLMs do not possess its verified evidence-based medical dataset. </a:t>
            </a:r>
          </a:p>
          <a:p>
            <a:r>
              <a:rPr lang="en-US" sz="1200" b="1" kern="1200" dirty="0">
                <a:solidFill>
                  <a:schemeClr val="tx1"/>
                </a:solidFill>
                <a:effectLst/>
                <a:latin typeface="+mn-lt"/>
                <a:ea typeface="+mn-ea"/>
                <a:cs typeface="+mn-cs"/>
              </a:rPr>
              <a:t>VLEX:</a:t>
            </a:r>
            <a:r>
              <a:rPr lang="en-US" sz="1200" kern="1200" dirty="0">
                <a:solidFill>
                  <a:schemeClr val="tx1"/>
                </a:solidFill>
                <a:effectLst/>
                <a:latin typeface="+mn-lt"/>
                <a:ea typeface="+mn-ea"/>
                <a:cs typeface="+mn-cs"/>
              </a:rPr>
              <a:t> Digitized decades of unindexed legal records across Spain and international jurisdictions. By integrating an AI reasoning interface over this exclusive legal corpus, VLEX quintupled its annual revenue. </a:t>
            </a:r>
          </a:p>
          <a:p>
            <a:r>
              <a:rPr lang="en-US" sz="1200" b="1" kern="1200" dirty="0">
                <a:solidFill>
                  <a:schemeClr val="tx1"/>
                </a:solidFill>
                <a:effectLst/>
                <a:latin typeface="+mn-lt"/>
                <a:ea typeface="+mn-ea"/>
                <a:cs typeface="+mn-cs"/>
              </a:rPr>
              <a:t>Ask Leo:</a:t>
            </a:r>
            <a:r>
              <a:rPr lang="en-US" sz="1200" kern="1200" dirty="0">
                <a:solidFill>
                  <a:schemeClr val="tx1"/>
                </a:solidFill>
                <a:effectLst/>
                <a:latin typeface="+mn-lt"/>
                <a:ea typeface="+mn-ea"/>
                <a:cs typeface="+mn-cs"/>
              </a:rPr>
              <a:t> Ingests confidential enterprise vendor and procurement contracts. It provides contract negotiation leverage that general public models cannot match.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11</a:t>
            </a:fld>
            <a:endParaRPr lang="en-US"/>
          </a:p>
        </p:txBody>
      </p:sp>
    </p:spTree>
    <p:extLst>
      <p:ext uri="{BB962C8B-B14F-4D97-AF65-F5344CB8AC3E}">
        <p14:creationId xmlns:p14="http://schemas.microsoft.com/office/powerpoint/2010/main" val="4128779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Anish Acharya highlights, consumer AI adoption directly parallels the structural patterns seen in enterprise software. </a:t>
            </a:r>
          </a:p>
          <a:p>
            <a:r>
              <a:rPr lang="en-US" sz="1200" b="1" kern="1200" dirty="0">
                <a:solidFill>
                  <a:schemeClr val="tx1"/>
                </a:solidFill>
                <a:effectLst/>
                <a:latin typeface="+mn-lt"/>
                <a:ea typeface="+mn-ea"/>
                <a:cs typeface="+mn-cs"/>
              </a:rPr>
              <a:t>Existing Tools Rebuilt:</a:t>
            </a:r>
            <a:r>
              <a:rPr lang="en-US" sz="1200" kern="1200" dirty="0">
                <a:solidFill>
                  <a:schemeClr val="tx1"/>
                </a:solidFill>
                <a:effectLst/>
                <a:latin typeface="+mn-lt"/>
                <a:ea typeface="+mn-ea"/>
                <a:cs typeface="+mn-cs"/>
              </a:rPr>
              <a:t> Legacy design software like Photoshop is being bypassed by digital natives in favor of AI-first suites like </a:t>
            </a:r>
            <a:r>
              <a:rPr lang="en-US" sz="1200" b="1" kern="1200" dirty="0">
                <a:solidFill>
                  <a:schemeClr val="tx1"/>
                </a:solidFill>
                <a:effectLst/>
                <a:latin typeface="+mn-lt"/>
                <a:ea typeface="+mn-ea"/>
                <a:cs typeface="+mn-cs"/>
              </a:rPr>
              <a:t>Korea</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Labor Replacement &amp; Category Creation:</a:t>
            </a:r>
            <a:r>
              <a:rPr lang="en-US" sz="1200" kern="1200" dirty="0">
                <a:solidFill>
                  <a:schemeClr val="tx1"/>
                </a:solidFill>
                <a:effectLst/>
                <a:latin typeface="+mn-lt"/>
                <a:ea typeface="+mn-ea"/>
                <a:cs typeface="+mn-cs"/>
              </a:rPr>
              <a:t> Instead of hiring human voice actors, creators rely on </a:t>
            </a:r>
            <a:r>
              <a:rPr lang="en-US" sz="1200" b="1" kern="1200" dirty="0" err="1">
                <a:solidFill>
                  <a:schemeClr val="tx1"/>
                </a:solidFill>
                <a:effectLst/>
                <a:latin typeface="+mn-lt"/>
                <a:ea typeface="+mn-ea"/>
                <a:cs typeface="+mn-cs"/>
              </a:rPr>
              <a:t>ElevenLabs</a:t>
            </a:r>
            <a:r>
              <a:rPr lang="en-US" sz="1200" kern="1200" dirty="0">
                <a:solidFill>
                  <a:schemeClr val="tx1"/>
                </a:solidFill>
                <a:effectLst/>
                <a:latin typeface="+mn-lt"/>
                <a:ea typeface="+mn-ea"/>
                <a:cs typeface="+mn-cs"/>
              </a:rPr>
              <a:t>, establishing a voice and audio synthesis category. </a:t>
            </a:r>
          </a:p>
          <a:p>
            <a:r>
              <a:rPr lang="en-US" sz="1200" b="1" kern="1200" dirty="0">
                <a:solidFill>
                  <a:schemeClr val="tx1"/>
                </a:solidFill>
                <a:effectLst/>
                <a:latin typeface="+mn-lt"/>
                <a:ea typeface="+mn-ea"/>
                <a:cs typeface="+mn-cs"/>
              </a:rPr>
              <a:t>Proprietary Data Moats: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Slingshot (Ash)</a:t>
            </a:r>
            <a:r>
              <a:rPr lang="en-US" sz="1200" kern="1200" dirty="0">
                <a:solidFill>
                  <a:schemeClr val="tx1"/>
                </a:solidFill>
                <a:effectLst/>
                <a:latin typeface="+mn-lt"/>
                <a:ea typeface="+mn-ea"/>
                <a:cs typeface="+mn-cs"/>
              </a:rPr>
              <a:t> deploys AI scribes alongside licensed human therapists during real sessions. They use these confidential notes to fine-tune specialized therapy models, creating a consumer moat that generic LLMs cannot easily replicate.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12</a:t>
            </a:fld>
            <a:endParaRPr lang="en-US"/>
          </a:p>
        </p:txBody>
      </p:sp>
    </p:spTree>
    <p:extLst>
      <p:ext uri="{BB962C8B-B14F-4D97-AF65-F5344CB8AC3E}">
        <p14:creationId xmlns:p14="http://schemas.microsoft.com/office/powerpoint/2010/main" val="354732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summarize long-term software defensibility in the AI era? </a:t>
            </a:r>
          </a:p>
          <a:p>
            <a:r>
              <a:rPr lang="en-US" sz="1200" b="1" kern="1200" dirty="0">
                <a:solidFill>
                  <a:schemeClr val="tx1"/>
                </a:solidFill>
                <a:effectLst/>
                <a:latin typeface="+mn-lt"/>
                <a:ea typeface="+mn-ea"/>
                <a:cs typeface="+mn-cs"/>
              </a:rPr>
              <a:t>The Kayak Metaphor:</a:t>
            </a:r>
            <a:r>
              <a:rPr lang="en-US" sz="1200" kern="1200" dirty="0">
                <a:solidFill>
                  <a:schemeClr val="tx1"/>
                </a:solidFill>
                <a:effectLst/>
                <a:latin typeface="+mn-lt"/>
                <a:ea typeface="+mn-ea"/>
                <a:cs typeface="+mn-cs"/>
              </a:rPr>
              <a:t> Travelers do not visit individual airline sites directly; they go to Kayak to search across all options. Similarly, users often want a single pane of glass aggregating specialized models rather than relying on a single frontier model provider. </a:t>
            </a:r>
          </a:p>
          <a:p>
            <a:r>
              <a:rPr lang="en-US" sz="1200" b="1" kern="1200" dirty="0">
                <a:solidFill>
                  <a:schemeClr val="tx1"/>
                </a:solidFill>
                <a:effectLst/>
                <a:latin typeface="+mn-lt"/>
                <a:ea typeface="+mn-ea"/>
                <a:cs typeface="+mn-cs"/>
              </a:rPr>
              <a:t>Where Moats live:</a:t>
            </a:r>
            <a:r>
              <a:rPr lang="en-US" sz="1200" kern="1200" dirty="0">
                <a:solidFill>
                  <a:schemeClr val="tx1"/>
                </a:solidFill>
                <a:effectLst/>
                <a:latin typeface="+mn-lt"/>
                <a:ea typeface="+mn-ea"/>
                <a:cs typeface="+mn-cs"/>
              </a:rPr>
              <a:t> Defensibility is not created by owning an underlying foundation model, as those are increasingly commoditized. </a:t>
            </a:r>
          </a:p>
          <a:p>
            <a:r>
              <a:rPr lang="en-US" sz="1200" kern="1200" dirty="0">
                <a:solidFill>
                  <a:schemeClr val="tx1"/>
                </a:solidFill>
                <a:effectLst/>
                <a:latin typeface="+mn-lt"/>
                <a:ea typeface="+mn-ea"/>
                <a:cs typeface="+mn-cs"/>
              </a:rPr>
              <a:t>True, enduring moats are built by owning the user relationship, mastering the end-to-end contextual workflow, and securing proprietary data inside a walled garden.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13</a:t>
            </a:fld>
            <a:endParaRPr lang="en-US"/>
          </a:p>
        </p:txBody>
      </p:sp>
    </p:spTree>
    <p:extLst>
      <p:ext uri="{BB962C8B-B14F-4D97-AF65-F5344CB8AC3E}">
        <p14:creationId xmlns:p14="http://schemas.microsoft.com/office/powerpoint/2010/main" val="847679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capture high-value application platforms, venture firms must align their operational cadence with two operational modes: </a:t>
            </a:r>
            <a:r>
              <a:rPr lang="en-US" sz="1200" b="1" kern="1200" dirty="0">
                <a:solidFill>
                  <a:schemeClr val="tx1"/>
                </a:solidFill>
                <a:effectLst/>
                <a:latin typeface="+mn-lt"/>
                <a:ea typeface="+mn-ea"/>
                <a:cs typeface="+mn-cs"/>
              </a:rPr>
              <a:t>Process vs. Interrupt</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Process (The Media Engine):</a:t>
            </a:r>
            <a:r>
              <a:rPr lang="en-US" sz="1200" kern="1200" dirty="0">
                <a:solidFill>
                  <a:schemeClr val="tx1"/>
                </a:solidFill>
                <a:effectLst/>
                <a:latin typeface="+mn-lt"/>
                <a:ea typeface="+mn-ea"/>
                <a:cs typeface="+mn-cs"/>
              </a:rPr>
              <a:t> Consistently publishing market theses, deep technical benchmarks, and domain research. This establishes market expertise and attracts positive inbound founder selection. </a:t>
            </a:r>
          </a:p>
          <a:p>
            <a:r>
              <a:rPr lang="en-US" sz="1200" b="1" kern="1200" dirty="0">
                <a:solidFill>
                  <a:schemeClr val="tx1"/>
                </a:solidFill>
                <a:effectLst/>
                <a:latin typeface="+mn-lt"/>
                <a:ea typeface="+mn-ea"/>
                <a:cs typeface="+mn-cs"/>
              </a:rPr>
              <a:t>Interrupt (Kinetic Execution):</a:t>
            </a:r>
            <a:r>
              <a:rPr lang="en-US" sz="1200" kern="1200" dirty="0">
                <a:solidFill>
                  <a:schemeClr val="tx1"/>
                </a:solidFill>
                <a:effectLst/>
                <a:latin typeface="+mn-lt"/>
                <a:ea typeface="+mn-ea"/>
                <a:cs typeface="+mn-cs"/>
              </a:rPr>
              <a:t> The organizational agility to drop everything instantly when a generational founder emerges. </a:t>
            </a:r>
          </a:p>
          <a:p>
            <a:r>
              <a:rPr lang="en-US" sz="1200" b="1" kern="1200" dirty="0">
                <a:solidFill>
                  <a:schemeClr val="tx1"/>
                </a:solidFill>
                <a:effectLst/>
                <a:latin typeface="+mn-lt"/>
                <a:ea typeface="+mn-ea"/>
                <a:cs typeface="+mn-cs"/>
              </a:rPr>
              <a:t>Selection Dynamics:</a:t>
            </a:r>
            <a:r>
              <a:rPr lang="en-US" sz="1200" kern="1200" dirty="0">
                <a:solidFill>
                  <a:schemeClr val="tx1"/>
                </a:solidFill>
                <a:effectLst/>
                <a:latin typeface="+mn-lt"/>
                <a:ea typeface="+mn-ea"/>
                <a:cs typeface="+mn-cs"/>
              </a:rPr>
              <a:t> Deals lingering on the market for 6 months represent adverse selection. Generational opportunities move quickly and require clear domain authority to win.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14</a:t>
            </a:fld>
            <a:endParaRPr lang="en-US"/>
          </a:p>
        </p:txBody>
      </p:sp>
    </p:spTree>
    <p:extLst>
      <p:ext uri="{BB962C8B-B14F-4D97-AF65-F5344CB8AC3E}">
        <p14:creationId xmlns:p14="http://schemas.microsoft.com/office/powerpoint/2010/main" val="1286152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The ultimate promise of the AI era is unlocking the oldest driver of human economic activity—achieving higher economic value with lower operational friction. </a:t>
            </a:r>
          </a:p>
          <a:p>
            <a:r>
              <a:rPr lang="en-US" sz="1200" kern="1200" dirty="0">
                <a:solidFill>
                  <a:schemeClr val="tx1"/>
                </a:solidFill>
                <a:effectLst/>
                <a:latin typeface="+mn-lt"/>
                <a:ea typeface="+mn-ea"/>
                <a:cs typeface="+mn-cs"/>
              </a:rPr>
              <a:t>The category-defining platforms of this decade will not merely provide raw AI capabilities. They will deliver finished, end-to-end business outcomes, embedded deeply inside daily user workflows, and secured behind proprietary data walls. </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15</a:t>
            </a:fld>
            <a:endParaRPr lang="en-US"/>
          </a:p>
        </p:txBody>
      </p:sp>
    </p:spTree>
    <p:extLst>
      <p:ext uri="{BB962C8B-B14F-4D97-AF65-F5344CB8AC3E}">
        <p14:creationId xmlns:p14="http://schemas.microsoft.com/office/powerpoint/2010/main" val="2436066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executive summary slide maps the core transformations discussed throughout the presentation: </a:t>
            </a:r>
          </a:p>
          <a:p>
            <a:pPr marL="228600" indent="-228600">
              <a:buFont typeface="+mj-lt"/>
              <a:buAutoNum type="arabicPeriod"/>
            </a:pPr>
            <a:r>
              <a:rPr lang="en-US" sz="1200" b="1" kern="1200" dirty="0">
                <a:solidFill>
                  <a:schemeClr val="tx1"/>
                </a:solidFill>
                <a:effectLst/>
                <a:latin typeface="+mn-lt"/>
                <a:ea typeface="+mn-ea"/>
                <a:cs typeface="+mn-cs"/>
              </a:rPr>
              <a:t>Evolution of Product Cycles:</a:t>
            </a:r>
            <a:r>
              <a:rPr lang="en-US" sz="1200" kern="1200" dirty="0">
                <a:solidFill>
                  <a:schemeClr val="tx1"/>
                </a:solidFill>
                <a:effectLst/>
                <a:latin typeface="+mn-lt"/>
                <a:ea typeface="+mn-ea"/>
                <a:cs typeface="+mn-cs"/>
              </a:rPr>
              <a:t> PC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Internet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Cloud/Mobile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AI Application Layer. </a:t>
            </a:r>
          </a:p>
          <a:p>
            <a:pPr marL="228600" indent="-228600">
              <a:buFont typeface="+mj-lt"/>
              <a:buAutoNum type="arabicPeriod"/>
            </a:pPr>
            <a:r>
              <a:rPr lang="en-US" sz="1200" b="1" kern="1200" dirty="0">
                <a:solidFill>
                  <a:schemeClr val="tx1"/>
                </a:solidFill>
                <a:effectLst/>
                <a:latin typeface="+mn-lt"/>
                <a:ea typeface="+mn-ea"/>
                <a:cs typeface="+mn-cs"/>
              </a:rPr>
              <a:t>Business Model Shift:</a:t>
            </a:r>
            <a:r>
              <a:rPr lang="en-US" sz="1200" kern="1200" dirty="0">
                <a:solidFill>
                  <a:schemeClr val="tx1"/>
                </a:solidFill>
                <a:effectLst/>
                <a:latin typeface="+mn-lt"/>
                <a:ea typeface="+mn-ea"/>
                <a:cs typeface="+mn-cs"/>
              </a:rPr>
              <a:t> Transitioning from static "Per-Seat" SaaS subscriptions to value-aligned "Per-Outcome" pricing models. </a:t>
            </a:r>
          </a:p>
          <a:p>
            <a:pPr marL="228600" indent="-228600">
              <a:buFont typeface="+mj-lt"/>
              <a:buAutoNum type="arabicPeriod"/>
            </a:pPr>
            <a:r>
              <a:rPr lang="en-US" sz="1200" b="1" kern="1200" dirty="0">
                <a:solidFill>
                  <a:schemeClr val="tx1"/>
                </a:solidFill>
                <a:effectLst/>
                <a:latin typeface="+mn-lt"/>
                <a:ea typeface="+mn-ea"/>
                <a:cs typeface="+mn-cs"/>
              </a:rPr>
              <a:t>Labor Expansion:</a:t>
            </a:r>
            <a:r>
              <a:rPr lang="en-US" sz="1200" kern="1200" dirty="0">
                <a:solidFill>
                  <a:schemeClr val="tx1"/>
                </a:solidFill>
                <a:effectLst/>
                <a:latin typeface="+mn-lt"/>
                <a:ea typeface="+mn-ea"/>
                <a:cs typeface="+mn-cs"/>
              </a:rPr>
              <a:t> Moving beyond basic workflow assistance to full end-to-end task completion. </a:t>
            </a:r>
          </a:p>
          <a:p>
            <a:pPr marL="228600" indent="-228600">
              <a:buFont typeface="+mj-lt"/>
              <a:buAutoNum type="arabicPeriod"/>
            </a:pPr>
            <a:r>
              <a:rPr lang="en-US" sz="1200" b="1" kern="1200" dirty="0">
                <a:solidFill>
                  <a:schemeClr val="tx1"/>
                </a:solidFill>
                <a:effectLst/>
                <a:latin typeface="+mn-lt"/>
                <a:ea typeface="+mn-ea"/>
                <a:cs typeface="+mn-cs"/>
              </a:rPr>
              <a:t>Value Focus:</a:t>
            </a:r>
            <a:r>
              <a:rPr lang="en-US" sz="1200" kern="1200" dirty="0">
                <a:solidFill>
                  <a:schemeClr val="tx1"/>
                </a:solidFill>
                <a:effectLst/>
                <a:latin typeface="+mn-lt"/>
                <a:ea typeface="+mn-ea"/>
                <a:cs typeface="+mn-cs"/>
              </a:rPr>
              <a:t> Prioritizing top-line revenue generation (e.g., 50% higher debt recovery) over basic cost reduction.</a:t>
            </a:r>
          </a:p>
          <a:p>
            <a:endParaRPr lang="en-US" dirty="0"/>
          </a:p>
        </p:txBody>
      </p:sp>
      <p:sp>
        <p:nvSpPr>
          <p:cNvPr id="4" name="Slide Number Placeholder 3"/>
          <p:cNvSpPr>
            <a:spLocks noGrp="1"/>
          </p:cNvSpPr>
          <p:nvPr>
            <p:ph type="sldNum" sz="quarter" idx="5"/>
          </p:nvPr>
        </p:nvSpPr>
        <p:spPr/>
        <p:txBody>
          <a:bodyPr/>
          <a:lstStyle/>
          <a:p>
            <a:fld id="{7918F1C1-54B1-4A76-9496-4899C5EFD0ED}" type="slidenum">
              <a:rPr lang="en-US" smtClean="0"/>
              <a:t>16</a:t>
            </a:fld>
            <a:endParaRPr lang="en-US"/>
          </a:p>
        </p:txBody>
      </p:sp>
    </p:spTree>
    <p:extLst>
      <p:ext uri="{BB962C8B-B14F-4D97-AF65-F5344CB8AC3E}">
        <p14:creationId xmlns:p14="http://schemas.microsoft.com/office/powerpoint/2010/main" val="1714919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018E69-C464-CE6E-6253-8D27C80842F2}"/>
              </a:ext>
            </a:extLst>
          </p:cNvPr>
          <p:cNvSpPr>
            <a:spLocks noGrp="1"/>
          </p:cNvSpPr>
          <p:nvPr>
            <p:ph type="dt" sz="half" idx="10"/>
          </p:nvPr>
        </p:nvSpPr>
        <p:spPr/>
        <p:txBody>
          <a:bodyPr/>
          <a:lstStyle/>
          <a:p>
            <a:fld id="{0F83138E-EA15-4E0C-9187-EDC4C2236E35}" type="datetimeFigureOut">
              <a:rPr lang="en-US" smtClean="0"/>
              <a:t>10/19/2026</a:t>
            </a:fld>
            <a:endParaRPr lang="en-US"/>
          </a:p>
        </p:txBody>
      </p:sp>
      <p:sp>
        <p:nvSpPr>
          <p:cNvPr id="3" name="Footer Placeholder 2">
            <a:extLst>
              <a:ext uri="{FF2B5EF4-FFF2-40B4-BE49-F238E27FC236}">
                <a16:creationId xmlns:a16="http://schemas.microsoft.com/office/drawing/2014/main" id="{E3F01D31-B7FE-A4F4-C603-A4956E0C30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4B3EC6-7E87-5792-FBA5-7A9A94596748}"/>
              </a:ext>
            </a:extLst>
          </p:cNvPr>
          <p:cNvSpPr>
            <a:spLocks noGrp="1"/>
          </p:cNvSpPr>
          <p:nvPr>
            <p:ph type="sldNum" sz="quarter" idx="12"/>
          </p:nvPr>
        </p:nvSpPr>
        <p:spPr/>
        <p:txBody>
          <a:bodyPr/>
          <a:lstStyle/>
          <a:p>
            <a:fld id="{14ECF8FC-35A7-4ADF-8652-9AE8D187DBB8}" type="slidenum">
              <a:rPr lang="en-US" smtClean="0"/>
              <a:t>‹#›</a:t>
            </a:fld>
            <a:endParaRPr lang="en-US"/>
          </a:p>
        </p:txBody>
      </p:sp>
    </p:spTree>
    <p:extLst>
      <p:ext uri="{BB962C8B-B14F-4D97-AF65-F5344CB8AC3E}">
        <p14:creationId xmlns:p14="http://schemas.microsoft.com/office/powerpoint/2010/main" val="44123275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644691-8026-01FA-13A1-D37789278B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EDCFDC-33A8-8E3A-849C-3760067C1A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C62BA0-6BB2-887C-E7BB-4BB2A4F736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83138E-EA15-4E0C-9187-EDC4C2236E35}" type="datetimeFigureOut">
              <a:rPr lang="en-US" smtClean="0"/>
              <a:t>10/19/2026</a:t>
            </a:fld>
            <a:endParaRPr lang="en-US"/>
          </a:p>
        </p:txBody>
      </p:sp>
      <p:sp>
        <p:nvSpPr>
          <p:cNvPr id="5" name="Footer Placeholder 4">
            <a:extLst>
              <a:ext uri="{FF2B5EF4-FFF2-40B4-BE49-F238E27FC236}">
                <a16:creationId xmlns:a16="http://schemas.microsoft.com/office/drawing/2014/main" id="{7947F402-5544-56BA-C769-D94E448173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5319238-BE9B-9263-749B-A571E75762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ECF8FC-35A7-4ADF-8652-9AE8D187DBB8}" type="slidenum">
              <a:rPr lang="en-US" smtClean="0"/>
              <a:t>‹#›</a:t>
            </a:fld>
            <a:endParaRPr lang="en-US"/>
          </a:p>
        </p:txBody>
      </p:sp>
    </p:spTree>
    <p:extLst>
      <p:ext uri="{BB962C8B-B14F-4D97-AF65-F5344CB8AC3E}">
        <p14:creationId xmlns:p14="http://schemas.microsoft.com/office/powerpoint/2010/main" val="126711422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16BCA8-F99A-C203-B528-E3692803AE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1E1B31-7B76-DBCE-98C4-AB5BC7B28B8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1F42E9-FC3F-75F1-D779-49452D69D24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3F6E31-C591-8F16-CD8E-F26BC969DC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56328C-FA4C-B6AC-C863-836695BBAA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8D2746-D1CD-2258-F846-D1769D890E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5129DA-0BB7-FFE2-C0A3-4BFD4FD79E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2D7A5D-1A50-A2F5-7C28-5D4CFCAB9E3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011A92-1EC7-3287-0817-D1F32BD54B9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C05C1E-3E2A-E52D-06B8-8E91B3C721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7134AD-0AF0-A6EB-0C95-E9EACA94AD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255037-71B9-B187-2B27-D46A80D342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C11F62-582A-F747-B0E8-3C4E4DBF15A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D54EC9-F161-E51F-7FA3-A57EBDAEAA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971B1E-E141-1CC5-0CB0-84C2988946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C9B15C-B00F-1F3A-CEA7-F0B643181557}"/>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288533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1862</Words>
  <Application>Microsoft Office PowerPoint</Application>
  <PresentationFormat>寬螢幕</PresentationFormat>
  <Paragraphs>88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2026-08-05T01:03:06Z</dcterms:created>
  <dcterms:modified xsi:type="dcterms:W3CDTF">2026-10-19T15:39:32Z</dcterms:modified>
</cp:coreProperties>
</file>