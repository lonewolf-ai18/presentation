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8645" autoAdjust="0"/>
  </p:normalViewPr>
  <p:slideViewPr>
    <p:cSldViewPr snapToGrid="0">
      <p:cViewPr varScale="1">
        <p:scale>
          <a:sx n="40" d="100"/>
          <a:sy n="40" d="100"/>
        </p:scale>
        <p:origin x="27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DD99B6C-B59D-4DA5-8852-C21E7FDA67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lvl="0" indent="0"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US" altLang="zh-HK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Mark Cuban on Why AI Could Turn Solo Founders Into Trillionaires</a:t>
            </a:r>
          </a:p>
          <a:p>
            <a:pPr marL="0" lvl="0" indent="0">
              <a:buSzPts val="1000"/>
              <a:buFont typeface="Symbol" panose="05050102010706020507" pitchFamily="18" charset="2"/>
              <a:buNone/>
              <a:tabLst>
                <a:tab pos="457200" algn="l"/>
              </a:tabLst>
            </a:pPr>
            <a:r>
              <a:rPr lang="en-US" altLang="zh-HK" sz="1200" b="1" kern="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https://www.youtube.com/watch?v=5UWDUD6qaM4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4–6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Dive deep into the structural flaws of legacy healthcare.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how vertical integration among major incumbents has created massive conglomerates with thousands of subsidiaries and billions in intercompany transfers.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how premiums and deductibles continually rise while pushing patients and providers into rigid, non-competitive relationships.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Highlight the reality of administrative bloat and opaque supply chains. Emphasize that the system is set up to benefit middlemen rather than patients or employers.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2766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Contrast healthcare with other consumer industries where free-market competition drives innovation and lower costs.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 the information asymmetry: patients and self-insured employers have virtually zero visibility into actual pricing or underlying contract terms.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the role of price discovery as the ultimate safeguard of a functioning market—and how its absence in healthcare drives costs through the roof.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4229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4–6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Examine the scale of legacy insurance giants, Pharmacy Benefit Managers (PBMs), and Third-Party Administrators (TPAs).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how these entities control multiple touchpoints of care—from insurance and administration to pharmacy fulfillment—creating closed loops that extract maximum profit.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Reference the sheer scale of major conglomerates (comparable to state-level GDPs) and how intercompany transfers mask true costs from self-insured employers.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7823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Explore how transparent pricing models and direct-to-consumer alternatives have proven that incumbents </a:t>
            </a: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 challenged.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the psychological shift: when pricing is made public, even competitors are forced to adjust their benchmarks downward.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Highlight how the presence of disruptive models (such as transparent drug pricing APIs) serves as an external benchmark that corporate buyers use to negotiate better rates, even without direct contracts.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7571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4–6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the evolution from mail-order solutions to local community integration.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Emphasize the importance of supporting independent pharmacies to ensure local accessibility for critical medications, cold-chain products, and specialty generics.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Outline the tiered approach to distribution—combining low-cost mail-order options with local discount cards and affiliate pharmacy networks to balance affordability with community support.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5461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4–6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 the vulnerabilities of global supply chains, particularly regarding FDA-approved drug shortages (e.g., essential hospital injectables and pediatric oncology drugs).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Introduce advanced manufacturing innovations: using robotics and AI to shrink traditional manufacturing footprints down to compact, agile production units ("pods").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Explain how these units can rapidly switch production runs (e.g., turning over every few hours) and scale to meet emergency needs, disaster relief, or decentralized clinical trials.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2503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 the friction in hospital procurement where CEOs want cost savings, but entrenched purchasing departments stick to legacy vendor habits.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how transparent marketplace models for sterile injectables and clinical supplies can save hospital systems millions of dollars annually.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Emphasize the challenge of shifting enterprise mindset from status-quo purchasing to cost-plus efficiency.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8246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4–6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Focus on self-insured employers who cover the majority of working Americans and are suffering under double-digit annual premium hikes.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Break down the hidden traps in Administrative Services Only (ASO) and PBM contracts—such as spread pricing, hidden fees, and restricted access to raw claims data.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Detail the concept of "contractual terrorism"—massive, multi-thousand-page agreements designed to obscure financial extraction.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9162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4–6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 focus to practical, immediate applications of Artificial Intelligence in enterprise operations.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how AI agents and Large Language Models (LLMs) can ingest complex vendor contracts in seconds to expose hidden penalty clauses and unfavorable terms.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Share the practical prompt strategy: running existing healthcare and vendor contracts through AI with the explicit query, </a:t>
            </a:r>
            <a:r>
              <a:rPr lang="en-US" altLang="zh-HK" sz="1200" i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"Where are they taking advantage of us, and what should we do about it?"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41246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 a radical alternative to traditional insurance webs: direct agreements between self-insured employers and healthcare providers.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Outline the core pillars: honoring clinical judgment (eliminating burdensome pre-authorizations), guaranteeing on-time payments, and absorbing patient out-of-pocket credit risk.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Emphasize open-sourcing these direct contracts so other employers and providers can use them as templates to bypass legacy insurers entirely.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8560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4–6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Look ahead at how frontier AI and genetic sequencing are transforming drug design and personal treatment efficacy.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the shift from generalized population-level treatments (where one-size-fits-all drugs fail significant portions of patients) to true $N \text{ of } 1$ precision medicine.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Explain how marginal costs for advanced genetic analysis and custom formulations will trend toward zero, integrating personalized health into routine subscriptions.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10409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 workforce anxieties surrounding automation and AI in clinical settings.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Reframe the doctor's role: moving away from rote administrative tasks, coding, and box-checking toward higher-order clinical science, novel data generation, and human empathy.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Emphasize that while AI handles data synthesis and pattern matching, the human-in-the-loop (with all five senses and emotional intelligence) remains irreplaceable for patient reassurance and complex care delivery.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4874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4–6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Address the anxiety and financial terror consumers face regarding medical debt and emergency bills.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Empower patients and families to use AI tools to understand their Explanation of Benefits (EOB), research nonprofit hospital financial assistance policies, and explore alternative funding models.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Highlight that patient education and proactive navigation are the ultimate keys to breaking reliance on broken institutional gatekeepers.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14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5455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Outline actionable policy recommendations for lawmakers: mandating transparency on all government-funded contracts with zero redactions, allowing out-of-pocket savings to apply toward deductibles, and making nonprofit hospital ledgers fully open to the public.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 structural alternatives to legacy insurance, such as personal health savings accounts backed by government safety-net stop-loss programs.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Summarize that true reform requires removing regulatory capture and scale-based monopolies.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78658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 Duration: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3–5 minutes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Talking Points: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/>
            <a:b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 an inspiring closing call to action for entrepreneurs, business leaders, and innovators.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Reiterate that despite regulatory hurdles, there has never been a better time to build solutions that fix foundational economic problems.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914400"/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HK" sz="1200" b="1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Video Connection:</a:t>
            </a:r>
            <a:r>
              <a:rPr lang="en-US" altLang="zh-HK" sz="1200" kern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Conclude with the core mindset shift: embrace uncomfortableness, leverage AI not just to avoid learning but to master any subject, and build the future of healthcare with uncompromising trust and transparency.</a:t>
            </a:r>
            <a:endParaRPr lang="zh-TW" altLang="zh-HK" sz="1200" kern="100">
              <a:solidFill>
                <a:srgbClr val="1F1F1F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HK" sz="1200" kern="10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 </a:t>
            </a:r>
            <a:endParaRPr lang="zh-TW" altLang="zh-HK" sz="12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1DD99B6C-B59D-4DA5-8852-C21E7FDA67A5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9985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320CBF-C565-4515-9B21-AFE6A76610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B8A8BF-8EEF-4CA5-9127-98E7188E1E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AD722B-F9C8-4186-8109-CB8AFC3C56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A0FC38-46A9-43C8-AF02-3F1132B1FD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09A392-E9CF-47E4-97B4-1E4F42F6DC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5FD871-6BA6-45BC-8641-B4AD6561B1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8F385E-058E-4969-9954-22E74204F0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15A688-388D-486A-9BAD-46B6A39797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C5DB9B-53D3-4C59-A7E3-72020BDCB9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34BDE3-077A-40C5-BAC2-A9DE50D98D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A0D17A-42FA-4694-A957-799E26BD97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3"/>
          <a:stretch/>
        </p:blipFill>
        <p:spPr>
          <a:xfrm>
            <a:off x="0" y="6768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1331</Words>
  <Application>Microsoft Office PowerPoint</Application>
  <PresentationFormat>自訂</PresentationFormat>
  <Paragraphs>169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13</cp:revision>
  <dcterms:created xsi:type="dcterms:W3CDTF">2006-08-16T00:00:00Z</dcterms:created>
  <dcterms:modified xsi:type="dcterms:W3CDTF">2026-10-30T11:29:25Z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