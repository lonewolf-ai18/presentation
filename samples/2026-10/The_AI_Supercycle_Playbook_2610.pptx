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2" d="100"/>
          <a:sy n="42" d="100"/>
        </p:scale>
        <p:origin x="78" y="7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44963E6-E569-4C55-9437-9FBE22C5F8F1}"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217488" y="812800"/>
            <a:ext cx="7124700" cy="4008438"/>
          </a:xfrm>
          <a:prstGeom prst="rect">
            <a:avLst/>
          </a:prstGeom>
          <a:ln w="0">
            <a:noFill/>
          </a:ln>
        </p:spPr>
      </p:sp>
      <p:sp>
        <p:nvSpPr>
          <p:cNvPr id="8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"Welcome everyone. Let's start with the trillion-dollar question: Where are we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really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in this AI cycle? The headlines are loud, volatility is high, and the bears are vocal. But let's look at the data."</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Cumulative capital spending puts us only about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one-third of the 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through a massive 8-to-12-year infrastructure cycle. However, from a stock market valuation and re-rating perspective, we are roughly halfway through.</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 structural momentum started around May 2023. We are in a generational shift where infrastructure, power, and memory constraints will drive superior compounding for years to come. Do not mistake short-term sentiment swings for the end of the supercycle.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p>
          <a:p>
            <a:pPr marL="914400"/>
            <a:endPar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endParaRPr>
          </a:p>
          <a:p>
            <a:pPr marL="914400"/>
            <a:endPar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endParaRPr>
          </a:p>
          <a:p>
            <a:pPr marL="914400"/>
            <a:endPar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Parker: The AI stocks set to DOMINATE 2027</a:t>
            </a: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https://www.youtube.com/watch?v=AyMTWKoW80w</a:t>
            </a:r>
          </a:p>
          <a:p>
            <a:pPr marL="914400"/>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3–4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 biggest fear voiced by market skeptics is capital exhaustion. Let's dismantle that myth right now."</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Unlike past tech bubbles where capital access abruptly vanished, today’s hyperscalers (Microsoft, Meta, Google, Amazon) and key players like Elon Musk boast robust core cash flows and deep access to low-cost capital markets.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 binding constraint isn't money—it's a fundamental shortage of compute, silicon, and physical power. Sectors tied directly to these bottlenecks will continue to outgrow nominal GDP by wide margins.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7877541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4–6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"If you want to understand why legacy Wall Street thinking is failing investors, look no further than the most divisive stock in tech right now: Micron."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Many veteran investors are applying outdated cyclical playbooks—predicting an immediate 40% crash and shouting "I told you so." But this ignores the sheer magnitude and duration of the upcycle. Producing billions in free cash flow at high gross margins in a severe structural supply shortage changes the fundamental math.</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Yes, semiconductors are cyclical, but duration and magnitude matter. Treating a generational structural supplier like a standard cyclical commodity trap is a critical analytical error.</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8863859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2–4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"Investors often ask: Should I play the memory boom through Korean ADRs, international ETFs, or pure-play domestic leaders?"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While international memory complex names (like SK Hynix and Samsung) are heavily correlated, cleaner domestic execution offers distinct structural advantages for US-based portfolios. Sovereign manufacturing priorities and cleaner institutional positioning minimize volatility risks.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Keep your exposure focused on best-in-breed market leaders that offer direct alignment with domestic infrastructure security and institutional liquidity.</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0118639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"Not all layers of the AI tech stack are created equal. Buying a generic tech ETF is no longer a bulletproof strategy."</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Empirical cluster analysis breaks AI revenue into distinct buckets: Semiconductors/Memory, Data Center Buildouts &amp; REITs, AI Platforms, Edge/Verticals, and Services/Integration. While hardware and power are thriving, IT services (like major consultants) face headwinds because enterprise productivity transitions take longer to monetize.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Monitor correlations closely. AI semis and AI software have shifted from positive to negative correlations—precision and selective overweighting in the hardware/power bottlenecks win over blanket index exposure.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6746321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2–4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"Have you ever checked the actual stock weights inside your favorite 'AI-themed' ETF? You might be surprised—and disappointed."</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Many thematic ETFs carry flashy marketing names but underperform standard benchmarks even when their target factor is thriving. Momentum ETFs, for instance, frequently suffer from poor underlying selection logic.</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Avoid relying on passive acronyms. A narrower, carefully curated basket of individual high-conviction securities provides a far cleaner vehicle to express your core AI thesis.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739266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4–6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"Here is a deeply counterintuitive data point for active managers: In today’s hyper-concentrated market driven by quant flows, zero-day options, and algorithmic trading, running a concentrated portfolio is statistically harder than ever."</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Historical simulations of 25-stock versus 75-stock portfolios show that since 2019, highly concentrated funds experience significantly higher volatility and worse relative performance medians. Furthermore, the number of independent active bets you get from a 100-stock growth portfolio has dropped from 25 down to about 10.</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You cannot afford to be completely wrong on structural leaders like the Magnificent Seven. Holding a slightly more diversified baseline acts as a vital risk-management shield without sacrificing alpha capture.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2781389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"Warren Buffett made a fortune preaching 10-year buy-and-hold investing. But is that timeless wisdom—or marketing fiction for a completely different macroeconomic era?"</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Over the last decade, the percentage of S&amp;P 500 stocks beating the index over a 10-year holding period has dropped to historic lows (around 20%). The half-life of a growth stock is shrinking rapidly. Many long-term success stories are actually the result of accidental luck in shifting secular regimes rather than clairvoyant 10-year forecasting.</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Adopt a realistic time horizon of 1 to 2 years for active growth positioning. In a fast-moving AI regime, rigid 10-year holding rules expose you to severe technological disruption risk.</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434675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"For decades, investors loved buying cheap, beaten-down stocks ahead of earnings reports, calling themselves 'contrarians.' Let’s look at what the hard data actually says."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Empirically, the cheapest decile of stocks has a mere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48% probability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of beating earnings, and buying them when they get cheaper leads straight into value traps. Conversely, high-multiple stocks that grew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more expensive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over the prior quarter boast a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74% probability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of beating earnings.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In today’s market, missing earnings carries an unprecedented penalty. Strong momentum and positive revision trends contain vital fundamental information. Buy the rich stocks that are getting richer; avoid the cheap stocks that keep missing.</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450900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"Old-school portfolio management taught us to 'average down'—add to our losers when prices dip and trim our winners. That instinct is currently financial suicide."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Empirical testing of mean-reverting sizing strategies over the last 25 years proves that adding to underperforming losers has never performed worse than it has recently. Serial correlation means bad stocks keep missing, and penalizing winners early cuts your best compounding engine.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Let your winners run and cut your losers ruthlessly. Do not fight the fundamental momentum of earnings revisions with outdated mean-reversion rules.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488858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"If you want a sector that offers both stellar structural growth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and</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negative correlation to tech sell-offs, look directly at healthcare."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Healthcare isn't just a defensive safe haven; it houses some of the fastest-growing multi-year secular trends in the market—spanning precision diagnostics, advanced therapeutics, and GLP-1 weight management innovations. Furthermore, labor-intensive healthcare services stand to become massive AI productivity beneficiaries.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Overweight healthcare to balance your portfolio risk profile. It provides exceptional alpha potential while dampening overall portfolio beta during semiconductor corrections.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5172105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2–4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 longevity megatrend—extending healthy, productive human lifespans—is reshaping consumer staples, pharma, and lifestyle sectors."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Weight-loss therapies and next-generation pharmaceuticals (such as forthcoming oral pill formulations of GLP-1s) represent only a fraction of their eventual total addressable market. Traditional consumer staples (snacking, alcohol) face sustained structural disruption as consumer behaviors permanently shift.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Align your portfolio with the longevity wave. Avoid legacy consumer brands that fail to adapt to the sweeping health and wellness revolution.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402089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2–4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"While consensus strategists love piling into financials and traditional consumer sectors at the start of every year, the empirical evidence advises extreme caution."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Consensus rate-cut narratives and alt-asset euphoria frequently misread sector fundamentals. Financials do not share the same direct AI productivity leverage as healthcare, and consumer discretionary names remain vulnerable to shifting wallet share.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Maintain an underweight posture in generic financials and stagnant consumer staples. Focus your capital where structural earnings growth is undeniable: Semis, Power, and Healthcare.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089720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"You cannot talk about artificial intelligence without talking about electricity. Compute demand is colliding with a hard power wall."</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Independent power producers, nuclear energy providers, and select traditional energy stalwarts form the critical backbone of the AI buildout. Energy supply security is paramount for data center expansion.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Invest in the energy value chain—from specialized power providers to efficient infrastructure plays. Without power, the AI supercycle stops in its tracks.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592506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3–5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"Let’s look past the near-term noise and project our vision toward the end of the decade. What comes after digital AI agents?"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We are heading toward an industrial and physical automation revolution in the 2030s. Just as software agents handle digital workflows, physical AI and humanoids will address labor shortages in elder care, logistics, and heavy industry—supercharging demand for advanced sensors, actuators, and silicon.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Key Takeaway: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 structural runway for hardware, semiconductors, and robotics is decades long. Stay focused on the multi-year macro horizon rather than monthly political headlines.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15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652950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Target Duration: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2–4 minutes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Speaker Notes: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4572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Opening Hook: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"Let’s bring all these insights together into a clean, actionable game plan for your portfolio."</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Core Message: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1143000" lvl="2" indent="-228600">
              <a:buFont typeface="+mj-lt"/>
              <a:buAutoNum type="arabicPeriod"/>
              <a:tabLst>
                <a:tab pos="13716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Stay Overweight AI Infrastructure: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Focus on semiconductors, memory, and power bottlenecks.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13716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1143000" lvl="2" indent="-228600">
              <a:buFont typeface="+mj-lt"/>
              <a:buAutoNum type="arabicPeriod" startAt="2"/>
              <a:tabLst>
                <a:tab pos="13716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Embrace Healthcare Alpha:</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Combine structural growth with low tech-sector correlation.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13716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1143000" lvl="2" indent="-228600">
              <a:buFont typeface="+mj-lt"/>
              <a:buAutoNum type="arabicPeriod" startAt="3"/>
              <a:tabLst>
                <a:tab pos="13716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Abandon Legacy Dogma:</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Stop buying cheap losers, avoid low-turnover 10-year myths, and trust positive earnings revisions.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13716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Closing Call to Action: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 playbook has changed. Position your portfolio not for the past, but for the realities of today's high-velocity AI supercycle. Thank you!"</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r>
              <a:rPr lang="en-US" altLang="zh-HK" sz="1200" kern="100">
                <a:effectLst/>
                <a:latin typeface="Calibri" panose="020F0502020204030204" pitchFamily="34" charset="0"/>
                <a:ea typeface="新細明體" panose="02020500000000000000" pitchFamily="18" charset="-12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944963E6-E569-4C55-9437-9FBE22C5F8F1}" type="slidenum">
              <a:rPr lang="en-US" sz="1400" b="0" u="none" strike="noStrike" smtClean="0">
                <a:solidFill>
                  <a:srgbClr val="000000"/>
                </a:solidFill>
                <a:effectLst/>
                <a:uFillTx/>
                <a:latin typeface="Times New Roman"/>
              </a:rPr>
              <a:t>16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016492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173921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DD6E69D8-367F-85D9-AAF3-6F63FEEF73B0}"/>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BCCDBB1-88AA-A89F-9588-191763379A37}"/>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5"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7"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8"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9"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0"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0F825761-8ACE-4C6F-CF76-33499C99440E}"/>
              </a:ext>
            </a:extLst>
          </p:cNvPr>
          <p:cNvPicPr>
            <a:picLocks noChangeAspect="1"/>
          </p:cNvPicPr>
          <p:nvPr/>
        </p:nvPicPr>
        <p:blipFill>
          <a:blip r:embed="rId3"/>
          <a:stretch>
            <a:fillRect/>
          </a:stretch>
        </p:blipFill>
        <p:spPr>
          <a:xfrm>
            <a:off x="3175" y="33337"/>
            <a:ext cx="16249650" cy="90773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TotalTime>
  <Words>2013</Words>
  <Application>Microsoft Office PowerPoint</Application>
  <PresentationFormat>自訂</PresentationFormat>
  <Paragraphs>186</Paragraphs>
  <Slides>16</Slides>
  <Notes>16</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16</vt:i4>
      </vt:variant>
    </vt:vector>
  </HeadingPairs>
  <TitlesOfParts>
    <vt:vector size="22" baseType="lpstr">
      <vt:lpstr>Arial</vt:lpstr>
      <vt:lpstr>Calibri</vt:lpstr>
      <vt:lpstr>Courier New</vt:lpstr>
      <vt:lpstr>Symbol</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4</cp:revision>
  <dcterms:created xsi:type="dcterms:W3CDTF">2006-08-16T00:00:00Z</dcterms:created>
  <dcterms:modified xsi:type="dcterms:W3CDTF">2026-10-31T05:37:24Z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