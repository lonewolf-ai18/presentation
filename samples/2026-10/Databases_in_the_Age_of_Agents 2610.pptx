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6256000" cy="9144000"/>
  <p:notesSz cx="7559675" cy="10691813"/>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85455" autoAdjust="0"/>
  </p:normalViewPr>
  <p:slideViewPr>
    <p:cSldViewPr snapToGrid="0">
      <p:cViewPr varScale="1">
        <p:scale>
          <a:sx n="56" d="100"/>
          <a:sy n="56" d="100"/>
        </p:scale>
        <p:origin x="102" y="2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defTabSz="914400"/>
            <a:r>
              <a:rPr lang="en-US" sz="4400" b="0" u="none" strike="noStrike">
                <a:solidFill>
                  <a:schemeClr val="dk1"/>
                </a:solidFill>
                <a:effectLst/>
                <a:uFillTx/>
                <a:latin typeface="Calibri"/>
              </a:rPr>
              <a:t>Click to move the slide</a:t>
            </a: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30FCB4A9-B6B7-4D8C-B78E-5908DB5B3FA6}"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noRot="1" noChangeAspect="1"/>
          </p:cNvSpPr>
          <p:nvPr>
            <p:ph type="sldImg"/>
          </p:nvPr>
        </p:nvSpPr>
        <p:spPr>
          <a:xfrm>
            <a:off x="217488" y="812800"/>
            <a:ext cx="7124700" cy="4008438"/>
          </a:xfrm>
          <a:prstGeom prst="rect">
            <a:avLst/>
          </a:prstGeom>
          <a:ln w="0">
            <a:noFill/>
          </a:ln>
        </p:spPr>
      </p:sp>
      <p:sp>
        <p:nvSpPr>
          <p:cNvPr id="84"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dirty="0">
                <a:solidFill>
                  <a:srgbClr val="000000"/>
                </a:solidFill>
                <a:effectLst/>
                <a:uFillTx/>
                <a:latin typeface="Arial"/>
              </a:rPr>
              <a:t>Core Topic: Introduction to the Agentic Era of Data Management</a:t>
            </a:r>
          </a:p>
          <a:p>
            <a:pPr indent="0" algn="l">
              <a:buNone/>
            </a:pPr>
            <a:endParaRPr lang="en-US" sz="2000" b="0" u="none" strike="noStrike" dirty="0">
              <a:solidFill>
                <a:srgbClr val="000000"/>
              </a:solidFill>
              <a:effectLst/>
              <a:uFillTx/>
              <a:latin typeface="Arial"/>
            </a:endParaRPr>
          </a:p>
          <a:p>
            <a:pPr indent="0" algn="l">
              <a:buNone/>
            </a:pPr>
            <a:r>
              <a:rPr lang="en-US" sz="2000" b="0" u="none" strike="noStrike" dirty="0">
                <a:solidFill>
                  <a:srgbClr val="000000"/>
                </a:solidFill>
                <a:effectLst/>
                <a:uFillTx/>
                <a:latin typeface="Arial"/>
              </a:rPr>
              <a:t>Good morning, everyone, and welcome. Today, we are exploring one of the most profound architectural shifts in enterprise software engineering: Databases in the Age of Agents. </a:t>
            </a:r>
          </a:p>
          <a:p>
            <a:pPr indent="0" algn="l">
              <a:buNone/>
            </a:pPr>
            <a:r>
              <a:rPr lang="en-US" sz="2000" b="0" u="none" strike="noStrike" dirty="0">
                <a:solidFill>
                  <a:srgbClr val="000000"/>
                </a:solidFill>
                <a:effectLst/>
                <a:uFillTx/>
                <a:latin typeface="Arial"/>
              </a:rPr>
              <a:t>If you look at the title subtitle on this slide, it asks a critical question: How billions of autonomous AI agents are rewriting the rules of database volume, management, and architecture. For decades, database systems were engineered around a very predictable user profile: human beings sitting at desks typing queries, browsing web apps on mobile phones, or streaming static data. Humans are slow, humans make mistakes, humans sleep for eight hours a day, and humans rarely execute thousands of concurrent schema alterations. </a:t>
            </a:r>
          </a:p>
          <a:p>
            <a:pPr indent="0" algn="l">
              <a:buNone/>
            </a:pPr>
            <a:r>
              <a:rPr lang="en-US" sz="2000" b="0" u="none" strike="noStrike" dirty="0">
                <a:solidFill>
                  <a:srgbClr val="000000"/>
                </a:solidFill>
                <a:effectLst/>
                <a:uFillTx/>
                <a:latin typeface="Arial"/>
              </a:rPr>
              <a:t>That world is completely gone. Today, we are entering an era where software is no longer just a passive tool responding to user clicks. We are deploying autonomous AI agents—swarms of digital workers that run 24/7, write their own application code, spin up testing environments, and execute relentless read/write lifecycles. </a:t>
            </a:r>
          </a:p>
          <a:p>
            <a:pPr indent="0" algn="l">
              <a:buNone/>
            </a:pPr>
            <a:r>
              <a:rPr lang="en-US" sz="2000" b="0" u="none" strike="noStrike" dirty="0">
                <a:solidFill>
                  <a:srgbClr val="000000"/>
                </a:solidFill>
                <a:effectLst/>
                <a:uFillTx/>
                <a:latin typeface="Arial"/>
              </a:rPr>
              <a:t>Over the next 16 slides, we will break down what happens when billions of autonomous agents hit your database architecture—covering scaling explosions, branching sandboxes, security guardrails, vector assimilation, and self-driving DB tuning. Let's dive in. </a:t>
            </a:r>
          </a:p>
          <a:p>
            <a:pPr indent="0" algn="l">
              <a:buNone/>
            </a:pPr>
            <a:endParaRPr lang="en-US" sz="2000" b="0" u="none" strike="noStrike" dirty="0">
              <a:solidFill>
                <a:srgbClr val="000000"/>
              </a:solidFill>
              <a:effectLst/>
              <a:uFillTx/>
              <a:latin typeface="Arial"/>
            </a:endParaRPr>
          </a:p>
          <a:p>
            <a:pPr indent="0" algn="l">
              <a:buNone/>
            </a:pPr>
            <a:endParaRPr lang="en-US" sz="2000" b="0" u="none" strike="noStrike" dirty="0">
              <a:solidFill>
                <a:srgbClr val="000000"/>
              </a:solidFill>
              <a:effectLst/>
              <a:uFillTx/>
              <a:latin typeface="Arial"/>
            </a:endParaRPr>
          </a:p>
          <a:p>
            <a:pPr indent="0" algn="l">
              <a:buNone/>
            </a:pPr>
            <a:endParaRPr lang="en-US" sz="2000" b="0" u="none" strike="noStrike" dirty="0">
              <a:solidFill>
                <a:srgbClr val="000000"/>
              </a:solidFill>
              <a:effectLst/>
              <a:uFillTx/>
              <a:latin typeface="Arial"/>
            </a:endParaRPr>
          </a:p>
          <a:p>
            <a:pPr indent="0" algn="l">
              <a:buNone/>
            </a:pPr>
            <a:endParaRPr lang="en-US" sz="2000" b="0" u="none" strike="noStrike" dirty="0">
              <a:solidFill>
                <a:srgbClr val="000000"/>
              </a:solidFill>
              <a:effectLst/>
              <a:uFillTx/>
              <a:latin typeface="Arial"/>
            </a:endParaRPr>
          </a:p>
          <a:p>
            <a:pPr indent="0" algn="l">
              <a:buNone/>
            </a:pPr>
            <a:r>
              <a:rPr lang="en-US" altLang="zh-HK" sz="2000" b="0" u="none" strike="noStrike" dirty="0">
                <a:solidFill>
                  <a:srgbClr val="000000"/>
                </a:solidFill>
                <a:effectLst/>
                <a:uFillTx/>
                <a:latin typeface="Arial"/>
              </a:rPr>
              <a:t>What Happens When Billions of AI Agents Hit Your Database? (Andy </a:t>
            </a:r>
            <a:r>
              <a:rPr lang="en-US" altLang="zh-HK" sz="2000" b="0" u="none" strike="noStrike" dirty="0" err="1">
                <a:solidFill>
                  <a:srgbClr val="000000"/>
                </a:solidFill>
                <a:effectLst/>
                <a:uFillTx/>
                <a:latin typeface="Arial"/>
              </a:rPr>
              <a:t>Pavlo</a:t>
            </a:r>
            <a:r>
              <a:rPr lang="en-US" altLang="zh-HK" sz="2000" b="0" u="none" strike="noStrike" dirty="0">
                <a:solidFill>
                  <a:srgbClr val="000000"/>
                </a:solidFill>
                <a:effectLst/>
                <a:uFillTx/>
                <a:latin typeface="Arial"/>
              </a:rPr>
              <a:t>)</a:t>
            </a:r>
          </a:p>
          <a:p>
            <a:pPr indent="0" algn="l">
              <a:buNone/>
            </a:pPr>
            <a:r>
              <a:rPr lang="en-US" altLang="zh-HK" sz="2000" b="0" u="none" strike="noStrike" dirty="0">
                <a:solidFill>
                  <a:srgbClr val="000000"/>
                </a:solidFill>
                <a:effectLst/>
                <a:uFillTx/>
                <a:latin typeface="Arial"/>
              </a:rPr>
              <a:t>https://www.youtube.com/watch?v=74X0DJOVEc8</a:t>
            </a:r>
          </a:p>
          <a:p>
            <a:pPr indent="0" algn="l">
              <a:buNone/>
            </a:pPr>
            <a:endParaRPr lang="en-US" sz="2000" b="0" u="none" strike="noStrike" dirty="0">
              <a:solidFill>
                <a:srgbClr val="000000"/>
              </a:solidFill>
              <a:effectLst/>
              <a:uFillTx/>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The Paradigm Shift from RAG (2022) to Agentic Operations (2024+)</a:t>
            </a:r>
          </a:p>
          <a:p>
            <a:endParaRPr lang="en-US" altLang="zh-HK" dirty="0"/>
          </a:p>
          <a:p>
            <a:r>
              <a:rPr lang="en-US" altLang="zh-HK" dirty="0"/>
              <a:t>To understand where we are going, we must first look at how far we have traveled in a very short window of time. </a:t>
            </a:r>
          </a:p>
          <a:p>
            <a:r>
              <a:rPr lang="en-US" altLang="zh-HK" dirty="0"/>
              <a:t>Look at the stark contrast on this slide between 2022 and today: </a:t>
            </a:r>
          </a:p>
          <a:p>
            <a:pPr marL="171450" indent="-171450">
              <a:buFont typeface="Arial" panose="020B0604020202020204" pitchFamily="34" charset="0"/>
              <a:buChar char="•"/>
            </a:pPr>
            <a:r>
              <a:rPr lang="en-US" altLang="zh-HK" dirty="0"/>
              <a:t>2022 (The RAG Era): Artificial intelligence interacted with databases primarily through Retrieval-Augmented Generation. The interaction model was passive, read-only, and focused entirely on context-gathering. Vector search dominated every enterprise conversation. You gave the LLM a read-only window into your data so it could answer user questions. </a:t>
            </a:r>
          </a:p>
          <a:p>
            <a:pPr marL="171450" indent="-171450">
              <a:buFont typeface="Arial" panose="020B0604020202020204" pitchFamily="34" charset="0"/>
              <a:buChar char="•"/>
            </a:pPr>
            <a:r>
              <a:rPr lang="en-US" altLang="zh-HK" dirty="0"/>
              <a:t>2024+ (The Agentic Era): Agents are no longer just reading documents. They are actively creating, branching, writing, modifying, and deleting databases entirely on their own. They execute complex, 24/7 read/write lifecycles across production and staging environments. </a:t>
            </a:r>
          </a:p>
          <a:p>
            <a:r>
              <a:rPr lang="en-US" altLang="zh-HK" dirty="0"/>
              <a:t>The Key Takeaway: AI is no longer just a query interface or a smart search box; it is an active user with root-level potential. When an agent can execute arbitrary code and manipulate database schemas, our security and architectural assumptions must undergo a radical reboot. </a:t>
            </a:r>
            <a:endParaRPr lang="zh-HK" altLang="en-US" dirty="0"/>
          </a:p>
        </p:txBody>
      </p:sp>
      <p:sp>
        <p:nvSpPr>
          <p:cNvPr id="4" name="投影片編號版面配置區 3"/>
          <p:cNvSpPr>
            <a:spLocks noGrp="1"/>
          </p:cNvSpPr>
          <p:nvPr>
            <p:ph type="sldNum" idx="36"/>
          </p:nvPr>
        </p:nvSpPr>
        <p:spPr/>
        <p:txBody>
          <a:bodyPr/>
          <a:lstStyle/>
          <a:p>
            <a:pPr indent="0" algn="r">
              <a:buNone/>
            </a:pPr>
            <a:fld id="{30FCB4A9-B6B7-4D8C-B78E-5908DB5B3FA6}" type="slidenum">
              <a:rPr lang="en-US" sz="1400" b="0" u="none" strike="noStrike" smtClean="0">
                <a:solidFill>
                  <a:srgbClr val="000000"/>
                </a:solidFill>
                <a:effectLst/>
                <a:uFillTx/>
                <a:latin typeface="Times New Roman"/>
              </a:rPr>
              <a:t>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1989194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Historical Eras of Scale and the Exponential Agentic Volume Spike</a:t>
            </a:r>
          </a:p>
          <a:p>
            <a:br>
              <a:rPr lang="en-US" altLang="zh-HK" dirty="0"/>
            </a:br>
            <a:r>
              <a:rPr lang="en-US" altLang="zh-HK" dirty="0"/>
              <a:t>Database scale has historically evolved in distinct macro waves. Let’s look at the trajectory mapped out on this slide: </a:t>
            </a:r>
          </a:p>
          <a:p>
            <a:pPr marL="171450" indent="-171450">
              <a:buFont typeface="Arial" panose="020B0604020202020204" pitchFamily="34" charset="0"/>
              <a:buChar char="•"/>
            </a:pPr>
            <a:r>
              <a:rPr lang="en-US" altLang="zh-HK" dirty="0"/>
              <a:t>Era 1 (1970s–80s): Humans at Work. Enterprise mainframes and early relational databases supporting back-office enterprise operations. Low data volume, predictable transactions. </a:t>
            </a:r>
          </a:p>
          <a:p>
            <a:pPr marL="171450" indent="-171450">
              <a:buFont typeface="Arial" panose="020B0604020202020204" pitchFamily="34" charset="0"/>
              <a:buChar char="•"/>
            </a:pPr>
            <a:r>
              <a:rPr lang="en-US" altLang="zh-HK" dirty="0"/>
              <a:t>Era 2 (1990s–2000s): Humans at Home. The rise of the commercial internet, e-commerce, and web applications. Medium volume, driven by consumers browsing websites. </a:t>
            </a:r>
          </a:p>
          <a:p>
            <a:pPr marL="171450" indent="-171450">
              <a:buFont typeface="Arial" panose="020B0604020202020204" pitchFamily="34" charset="0"/>
              <a:buChar char="•"/>
            </a:pPr>
            <a:r>
              <a:rPr lang="en-US" altLang="zh-HK" dirty="0"/>
              <a:t>Era 3 (2010s): Mobile Everywhere. Smartphones, cloud-native apps, and IoT streaming data. High volume, characterized by billions of mobile users generating continuous clickstreams. </a:t>
            </a:r>
          </a:p>
          <a:p>
            <a:pPr marL="171450" indent="-171450">
              <a:buFont typeface="Arial" panose="020B0604020202020204" pitchFamily="34" charset="0"/>
              <a:buChar char="•"/>
            </a:pPr>
            <a:r>
              <a:rPr lang="en-US" altLang="zh-HK" dirty="0"/>
              <a:t>Era 4 (Now): 24/7 Autonomous Agents. This is where the curve goes vertical. </a:t>
            </a:r>
          </a:p>
          <a:p>
            <a:r>
              <a:rPr lang="en-US" altLang="zh-HK" dirty="0"/>
              <a:t>Notice the projected scale highlighted in the callout box: A 10x to 100x increase in volume. Why? Because unlike humans, agents do not sleep, they do not take weekends off, and they do not wait for human approval before executing heavy programmatic queries. A single agent managing an enterprise workflow can generate more database operations in ten minutes than an entire human department generates in a month. </a:t>
            </a:r>
            <a:endParaRPr lang="zh-HK" altLang="en-US" dirty="0"/>
          </a:p>
        </p:txBody>
      </p:sp>
      <p:sp>
        <p:nvSpPr>
          <p:cNvPr id="4" name="投影片編號版面配置區 3"/>
          <p:cNvSpPr>
            <a:spLocks noGrp="1"/>
          </p:cNvSpPr>
          <p:nvPr>
            <p:ph type="sldNum" idx="36"/>
          </p:nvPr>
        </p:nvSpPr>
        <p:spPr/>
        <p:txBody>
          <a:bodyPr/>
          <a:lstStyle/>
          <a:p>
            <a:pPr indent="0" algn="r">
              <a:buNone/>
            </a:pPr>
            <a:fld id="{30FCB4A9-B6B7-4D8C-B78E-5908DB5B3FA6}" type="slidenum">
              <a:rPr lang="en-US" sz="1400" b="0" u="none" strike="noStrike" smtClean="0">
                <a:solidFill>
                  <a:srgbClr val="000000"/>
                </a:solidFill>
                <a:effectLst/>
                <a:uFillTx/>
                <a:latin typeface="Times New Roman"/>
              </a:rPr>
              <a:t>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176598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Categorizing Agent Roles: Users, DBAs, and Builders</a:t>
            </a:r>
          </a:p>
          <a:p>
            <a:endParaRPr lang="en-US" altLang="zh-HK" dirty="0"/>
          </a:p>
          <a:p>
            <a:r>
              <a:rPr lang="en-US" altLang="zh-HK" dirty="0"/>
              <a:t>How do AI agents actually interface with databases in modern system architectures? We can categorize their roles into three distinct pillars around the database core: </a:t>
            </a:r>
          </a:p>
          <a:p>
            <a:pPr marL="228600" indent="-228600">
              <a:buFont typeface="+mj-lt"/>
              <a:buAutoNum type="arabicPeriod"/>
            </a:pPr>
            <a:r>
              <a:rPr lang="en-US" altLang="zh-HK" dirty="0"/>
              <a:t>Agents as Users: This is the most common pattern. Agents spin up isolated execution environments, branch databases for working memory, and execute autonomous application code to accomplish multi-step business goals. </a:t>
            </a:r>
          </a:p>
          <a:p>
            <a:pPr marL="228600" indent="-228600">
              <a:buFont typeface="+mj-lt"/>
              <a:buAutoNum type="arabicPeriod"/>
            </a:pPr>
            <a:r>
              <a:rPr lang="en-US" altLang="zh-HK" dirty="0"/>
              <a:t>Agents as DBAs (Database Administrators): AI is taking over the tedious operational tuning tasks. Instead of human engineers manually adjusting memory pools, indexing tables, and configuring legacy defaults, agentic DBAs monitor and tune database performance autonomously. </a:t>
            </a:r>
          </a:p>
          <a:p>
            <a:pPr marL="228600" indent="-228600">
              <a:buFont typeface="+mj-lt"/>
              <a:buAutoNum type="arabicPeriod"/>
            </a:pPr>
            <a:r>
              <a:rPr lang="en-US" altLang="zh-HK" dirty="0"/>
              <a:t>Agents as Builders: This is where the industry is rapidly heading. Autonomous coding agents are now committing raw engine code, writing database extensions, and building entire storage and execution engines from scratch. </a:t>
            </a:r>
          </a:p>
          <a:p>
            <a:r>
              <a:rPr lang="en-US" altLang="zh-HK" dirty="0"/>
              <a:t>The database is no longer just a passive data store sitting at the bottom of a software stack; it is the central nervous system connecting autonomous users, automated administrators, and algorithmic builders. </a:t>
            </a:r>
            <a:endParaRPr lang="zh-HK" altLang="en-US" dirty="0"/>
          </a:p>
        </p:txBody>
      </p:sp>
      <p:sp>
        <p:nvSpPr>
          <p:cNvPr id="4" name="投影片編號版面配置區 3"/>
          <p:cNvSpPr>
            <a:spLocks noGrp="1"/>
          </p:cNvSpPr>
          <p:nvPr>
            <p:ph type="sldNum" idx="36"/>
          </p:nvPr>
        </p:nvSpPr>
        <p:spPr/>
        <p:txBody>
          <a:bodyPr/>
          <a:lstStyle/>
          <a:p>
            <a:pPr indent="0" algn="r">
              <a:buNone/>
            </a:pPr>
            <a:fld id="{30FCB4A9-B6B7-4D8C-B78E-5908DB5B3FA6}" type="slidenum">
              <a:rPr lang="en-US" sz="1400" b="0" u="none" strike="noStrike" smtClean="0">
                <a:solidFill>
                  <a:srgbClr val="000000"/>
                </a:solidFill>
                <a:effectLst/>
                <a:uFillTx/>
                <a:latin typeface="Times New Roman"/>
              </a:rPr>
              <a:t>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2122117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Copy-on-Write Snapshots and Safe Agent Testing</a:t>
            </a:r>
          </a:p>
          <a:p>
            <a:endParaRPr lang="en-US" altLang="zh-HK" dirty="0"/>
          </a:p>
          <a:p>
            <a:r>
              <a:rPr lang="en-US" altLang="zh-HK" dirty="0"/>
              <a:t>Because autonomous agents write their own application logic and dynamically generate database schemas on the fly, we face a major operational risk. If an agent writes a flawed migration script or executes an unintended drop table command, production goes down instantly. </a:t>
            </a:r>
          </a:p>
          <a:p>
            <a:r>
              <a:rPr lang="en-US" altLang="zh-HK" dirty="0"/>
              <a:t>This brings us to The Branching Imperative. Look at the architectural flow on this slide: </a:t>
            </a:r>
          </a:p>
          <a:p>
            <a:pPr marL="171450" indent="-171450">
              <a:buFont typeface="Arial" panose="020B0604020202020204" pitchFamily="34" charset="0"/>
              <a:buChar char="•"/>
            </a:pPr>
            <a:r>
              <a:rPr lang="en-US" altLang="zh-HK" dirty="0"/>
              <a:t>We start with our Production Database (System of Record). </a:t>
            </a:r>
          </a:p>
          <a:p>
            <a:pPr marL="171450" indent="-171450">
              <a:buFont typeface="Arial" panose="020B0604020202020204" pitchFamily="34" charset="0"/>
              <a:buChar char="•"/>
            </a:pPr>
            <a:r>
              <a:rPr lang="en-US" altLang="zh-HK" dirty="0"/>
              <a:t>Before letting an autonomous coding agent test new application logic or modify database schemas, we use Copy-on-Write Snapshots to instantly spin up an isolated Agent Sandbox. </a:t>
            </a:r>
          </a:p>
          <a:p>
            <a:pPr marL="171450" indent="-171450">
              <a:buFont typeface="Arial" panose="020B0604020202020204" pitchFamily="34" charset="0"/>
              <a:buChar char="•"/>
            </a:pPr>
            <a:r>
              <a:rPr lang="en-US" altLang="zh-HK" dirty="0"/>
              <a:t>Inside this sandbox, the agent can test schemas, write experimental data, and run chaotic workflows safely away from the production core. </a:t>
            </a:r>
          </a:p>
          <a:p>
            <a:pPr marL="171450" indent="-171450">
              <a:buFont typeface="Arial" panose="020B0604020202020204" pitchFamily="34" charset="0"/>
              <a:buChar char="•"/>
            </a:pPr>
            <a:r>
              <a:rPr lang="en-US" altLang="zh-HK" dirty="0"/>
              <a:t>Once the schema or code is rigorously vetted and verified by automated testing, the approved changes are safely deployed back to production. </a:t>
            </a:r>
          </a:p>
          <a:p>
            <a:r>
              <a:rPr lang="en-US" altLang="zh-HK" dirty="0"/>
              <a:t>Core Insight: You cannot give autonomous coding agents direct, unbridled access to your primary system of record. Just like software engineers use Git branches before merging code to main, agents require instant database branching to test modifications safely. </a:t>
            </a:r>
            <a:endParaRPr lang="zh-HK" altLang="en-US" dirty="0"/>
          </a:p>
        </p:txBody>
      </p:sp>
      <p:sp>
        <p:nvSpPr>
          <p:cNvPr id="4" name="投影片編號版面配置區 3"/>
          <p:cNvSpPr>
            <a:spLocks noGrp="1"/>
          </p:cNvSpPr>
          <p:nvPr>
            <p:ph type="sldNum" idx="36"/>
          </p:nvPr>
        </p:nvSpPr>
        <p:spPr/>
        <p:txBody>
          <a:bodyPr/>
          <a:lstStyle/>
          <a:p>
            <a:pPr indent="0" algn="r">
              <a:buNone/>
            </a:pPr>
            <a:fld id="{30FCB4A9-B6B7-4D8C-B78E-5908DB5B3FA6}" type="slidenum">
              <a:rPr lang="en-US" sz="1400" b="0" u="none" strike="noStrike" smtClean="0">
                <a:solidFill>
                  <a:srgbClr val="000000"/>
                </a:solidFill>
                <a:effectLst/>
                <a:uFillTx/>
                <a:latin typeface="Times New Roman"/>
              </a:rPr>
              <a:t>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8080273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Enterprise Security Failures and Access Control Best Practices</a:t>
            </a:r>
          </a:p>
          <a:p>
            <a:endParaRPr lang="en-US" altLang="zh-HK" dirty="0"/>
          </a:p>
          <a:p>
            <a:r>
              <a:rPr lang="en-US" altLang="zh-HK" dirty="0"/>
              <a:t>Let's address the elephant in the room—a quote from database luminary Andy </a:t>
            </a:r>
            <a:r>
              <a:rPr lang="en-US" altLang="zh-HK" dirty="0" err="1"/>
              <a:t>Pavlo</a:t>
            </a:r>
            <a:r>
              <a:rPr lang="en-US" altLang="zh-HK" dirty="0"/>
              <a:t> that captures the current chaotic state of AI engineering:</a:t>
            </a:r>
          </a:p>
          <a:p>
            <a:r>
              <a:rPr lang="en-US" altLang="zh-HK" dirty="0"/>
              <a:t>It’s like taking a cheetah, giving it a bunch of cocaine, and putting it in a Ferrari.</a:t>
            </a:r>
          </a:p>
          <a:p>
            <a:r>
              <a:rPr lang="en-US" altLang="zh-HK" dirty="0"/>
              <a:t>That is precisely what many engineering teams are doing today. They take a blazing-fast, highly aggressive autonomous LLM agent, give it root database credentials, and turn it loose on production. </a:t>
            </a:r>
          </a:p>
          <a:p>
            <a:r>
              <a:rPr lang="en-US" altLang="zh-HK" dirty="0"/>
              <a:t>Look at the reality on the ground:</a:t>
            </a:r>
          </a:p>
          <a:p>
            <a:pPr marL="171450" indent="-171450">
              <a:buFont typeface="Arial" panose="020B0604020202020204" pitchFamily="34" charset="0"/>
              <a:buChar char="•"/>
            </a:pPr>
            <a:r>
              <a:rPr lang="en-US" altLang="zh-HK" dirty="0"/>
              <a:t>The Wild West: We are seeing monthly incidents of autonomous coding agents accidentally dropping production tables, overwriting critical user records, or executing unintended enterprise deletions. </a:t>
            </a:r>
          </a:p>
          <a:p>
            <a:pPr marL="171450" indent="-171450">
              <a:buFont typeface="Arial" panose="020B0604020202020204" pitchFamily="34" charset="0"/>
              <a:buChar char="•"/>
            </a:pPr>
            <a:r>
              <a:rPr lang="en-US" altLang="zh-HK" dirty="0"/>
              <a:t>The Root Cause: Developers are blindly abandoning 40 years of established legacy database access control mechanisms—such as Role-Based Access Control (RBAC) and least-privilege permissions—just because the client calling the API is an AI model. </a:t>
            </a:r>
          </a:p>
          <a:p>
            <a:pPr marL="171450" indent="-171450">
              <a:buFont typeface="Arial" panose="020B0604020202020204" pitchFamily="34" charset="0"/>
              <a:buChar char="•"/>
            </a:pPr>
            <a:r>
              <a:rPr lang="en-US" altLang="zh-HK" dirty="0"/>
              <a:t>The Fix: Treat AI agents exactly like human users. Enforce strict API constraints, granular database user permissions, and explicit read/write boundaries. Intelligence does not exempt an application from basic security hygiene. </a:t>
            </a:r>
            <a:endParaRPr lang="zh-HK" altLang="en-US" dirty="0"/>
          </a:p>
        </p:txBody>
      </p:sp>
      <p:sp>
        <p:nvSpPr>
          <p:cNvPr id="4" name="投影片編號版面配置區 3"/>
          <p:cNvSpPr>
            <a:spLocks noGrp="1"/>
          </p:cNvSpPr>
          <p:nvPr>
            <p:ph type="sldNum" idx="36"/>
          </p:nvPr>
        </p:nvSpPr>
        <p:spPr/>
        <p:txBody>
          <a:bodyPr/>
          <a:lstStyle/>
          <a:p>
            <a:pPr indent="0" algn="r">
              <a:buNone/>
            </a:pPr>
            <a:fld id="{30FCB4A9-B6B7-4D8C-B78E-5908DB5B3FA6}" type="slidenum">
              <a:rPr lang="en-US" sz="1400" b="0" u="none" strike="noStrike" smtClean="0">
                <a:solidFill>
                  <a:srgbClr val="000000"/>
                </a:solidFill>
                <a:effectLst/>
                <a:uFillTx/>
                <a:latin typeface="Times New Roman"/>
              </a:rPr>
              <a:t>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2490729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Universal Handshakes and 99.5% Text-to-SQL Accuracy</a:t>
            </a:r>
          </a:p>
          <a:p>
            <a:endParaRPr lang="en-US" altLang="zh-HK" dirty="0"/>
          </a:p>
          <a:p>
            <a:r>
              <a:rPr lang="en-US" altLang="zh-HK" dirty="0"/>
              <a:t>How do we bridge the gap between unstructured agent intent and structured database execution? We need a standardized interface. </a:t>
            </a:r>
          </a:p>
          <a:p>
            <a:r>
              <a:rPr lang="en-US" altLang="zh-HK" dirty="0"/>
              <a:t>Enter the Model Context Protocol (MCP). MCP acts as the universal digital handshake—a standardized REST API and protocol layer sitting between the agent and the database: </a:t>
            </a:r>
          </a:p>
          <a:p>
            <a:pPr marL="171450" indent="-171450">
              <a:buFont typeface="Arial" panose="020B0604020202020204" pitchFamily="34" charset="0"/>
              <a:buChar char="•"/>
            </a:pPr>
            <a:r>
              <a:rPr lang="en-US" altLang="zh-HK" dirty="0"/>
              <a:t>At the top, The Agent generates unstructured intent or natural language requests. </a:t>
            </a:r>
          </a:p>
          <a:p>
            <a:pPr marL="171450" indent="-171450">
              <a:buFont typeface="Arial" panose="020B0604020202020204" pitchFamily="34" charset="0"/>
              <a:buChar char="•"/>
            </a:pPr>
            <a:r>
              <a:rPr lang="en-US" altLang="zh-HK" dirty="0"/>
              <a:t>In the middle, The Model Context Protocol (MCP) translates that intent securely across standardized schemas and tool definitions. </a:t>
            </a:r>
          </a:p>
          <a:p>
            <a:pPr marL="171450" indent="-171450">
              <a:buFont typeface="Arial" panose="020B0604020202020204" pitchFamily="34" charset="0"/>
              <a:buChar char="•"/>
            </a:pPr>
            <a:r>
              <a:rPr lang="en-US" altLang="zh-HK" dirty="0"/>
              <a:t>At the bottom, The Database executes structured Text-to-SQL queries. </a:t>
            </a:r>
          </a:p>
          <a:p>
            <a:pPr marL="0" indent="0">
              <a:buFont typeface="Arial" panose="020B0604020202020204" pitchFamily="34" charset="0"/>
              <a:buNone/>
            </a:pPr>
            <a:r>
              <a:rPr lang="en-US" altLang="zh-HK" dirty="0"/>
              <a:t>Look at the performance metric on the right: 99.5% Accuracy. While off-the-shelf, naive Text-to-SQL models notoriously hover around 60% accuracy—failing on complex joins and enterprise schemas—heavily invested semantic layers and MCP context standards now allow agents to execute complex SQL queries accurately 99.5% of the time. Standardization bridges the gap between natural language and relational engines. </a:t>
            </a:r>
            <a:endParaRPr lang="zh-HK" altLang="en-US" dirty="0"/>
          </a:p>
        </p:txBody>
      </p:sp>
      <p:sp>
        <p:nvSpPr>
          <p:cNvPr id="4" name="投影片編號版面配置區 3"/>
          <p:cNvSpPr>
            <a:spLocks noGrp="1"/>
          </p:cNvSpPr>
          <p:nvPr>
            <p:ph type="sldNum" idx="36"/>
          </p:nvPr>
        </p:nvSpPr>
        <p:spPr/>
        <p:txBody>
          <a:bodyPr/>
          <a:lstStyle/>
          <a:p>
            <a:pPr indent="0" algn="r">
              <a:buNone/>
            </a:pPr>
            <a:fld id="{30FCB4A9-B6B7-4D8C-B78E-5908DB5B3FA6}" type="slidenum">
              <a:rPr lang="en-US" sz="1400" b="0" u="none" strike="noStrike" smtClean="0">
                <a:solidFill>
                  <a:srgbClr val="000000"/>
                </a:solidFill>
                <a:effectLst/>
                <a:uFillTx/>
                <a:latin typeface="Times New Roman"/>
              </a:rPr>
              <a:t>7</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959995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Why Everything is a Database</a:t>
            </a:r>
          </a:p>
          <a:p>
            <a:endParaRPr lang="en-US" altLang="zh-HK" dirty="0"/>
          </a:p>
          <a:p>
            <a:r>
              <a:rPr lang="en-US" altLang="zh-HK" dirty="0"/>
              <a:t>When developers build agent memory systems, they often default to storing state in flat file systems—dumping JSON files into local directories or cloud object storage. Let's look at why that is an architectural trap. </a:t>
            </a:r>
          </a:p>
          <a:p>
            <a:r>
              <a:rPr lang="en-US" altLang="zh-HK" dirty="0"/>
              <a:t>Look at the comparison table on this slide: </a:t>
            </a:r>
          </a:p>
          <a:p>
            <a:pPr marL="171450" indent="-171450">
              <a:buFont typeface="Arial" panose="020B0604020202020204" pitchFamily="34" charset="0"/>
              <a:buChar char="•"/>
            </a:pPr>
            <a:r>
              <a:rPr lang="en-US" altLang="zh-HK" dirty="0"/>
              <a:t>File Systems (e.g., JSON in directories): Prone to concurrent write corruption errors when multiple agents try to update state simultaneously. They lack built-in safety guarantees, forcing developers to blindly reinvent database concurrency control, indexing, and recovery architecture from scratch. </a:t>
            </a:r>
          </a:p>
          <a:p>
            <a:pPr marL="171450" indent="-171450">
              <a:buFont typeface="Arial" panose="020B0604020202020204" pitchFamily="34" charset="0"/>
              <a:buChar char="•"/>
            </a:pPr>
            <a:r>
              <a:rPr lang="en-US" altLang="zh-HK" dirty="0"/>
              <a:t>Databases (e.g., SQLite, Postgres): Built-in shared state natively designed for multi-agent swarms. They provide native ACID compliance, crash recovery, and strict access controls. </a:t>
            </a:r>
          </a:p>
          <a:p>
            <a:pPr marL="0" indent="0">
              <a:buFont typeface="Arial" panose="020B0604020202020204" pitchFamily="34" charset="0"/>
              <a:buNone/>
            </a:pPr>
            <a:r>
              <a:rPr lang="en-US" altLang="zh-HK" dirty="0"/>
              <a:t>The Verdict: Everything is a database. Put it in a database. Do not try to build custom file-locking mechanisms for multi-agent memory; leverage relational engines that have solved concurrency and persistence for decades. </a:t>
            </a:r>
            <a:endParaRPr lang="zh-HK" altLang="en-US" dirty="0"/>
          </a:p>
        </p:txBody>
      </p:sp>
      <p:sp>
        <p:nvSpPr>
          <p:cNvPr id="4" name="投影片編號版面配置區 3"/>
          <p:cNvSpPr>
            <a:spLocks noGrp="1"/>
          </p:cNvSpPr>
          <p:nvPr>
            <p:ph type="sldNum" idx="36"/>
          </p:nvPr>
        </p:nvSpPr>
        <p:spPr/>
        <p:txBody>
          <a:bodyPr/>
          <a:lstStyle/>
          <a:p>
            <a:pPr indent="0" algn="r">
              <a:buNone/>
            </a:pPr>
            <a:fld id="{30FCB4A9-B6B7-4D8C-B78E-5908DB5B3FA6}" type="slidenum">
              <a:rPr lang="en-US" sz="1400" b="0" u="none" strike="noStrike" smtClean="0">
                <a:solidFill>
                  <a:srgbClr val="000000"/>
                </a:solidFill>
                <a:effectLst/>
                <a:uFillTx/>
                <a:latin typeface="Times New Roman"/>
              </a:rPr>
              <a:t>8</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3832415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AI-Driven Tuning vs. Traditional ML Tuning</a:t>
            </a:r>
          </a:p>
          <a:p>
            <a:endParaRPr lang="en-US" altLang="zh-HK" dirty="0"/>
          </a:p>
          <a:p>
            <a:r>
              <a:rPr lang="en-US" altLang="zh-HK" dirty="0"/>
              <a:t>For decades, database tuning was a dark art practiced by elite DBAs. Traditional ML-based database tuning required hours of training data and massive proprietary datasets to achieve 99% optimal performance. </a:t>
            </a:r>
          </a:p>
          <a:p>
            <a:r>
              <a:rPr lang="en-US" altLang="zh-HK" dirty="0"/>
              <a:t>Now, look at LLM / Agent Tuning: It takes roughly 15 minutes. Autonomous agents read internet-scraped documentation, vendor best practices, and system telemetry to instantly achieve ~85% optimal performance. </a:t>
            </a:r>
          </a:p>
          <a:p>
            <a:r>
              <a:rPr lang="en-US" altLang="zh-HK" dirty="0"/>
              <a:t>The Insight: 85% optimal performance is more than enough to fix the terrible default configurations that major cloud providers ship out of the box—settings that most users blindly accept and leave sub-optimal. Legacy tuning knobs—buffer pool sizes, thread allocations, and query optimizers—are now managed entirely by AI agents. </a:t>
            </a:r>
            <a:endParaRPr lang="zh-HK" altLang="en-US" dirty="0"/>
          </a:p>
        </p:txBody>
      </p:sp>
      <p:sp>
        <p:nvSpPr>
          <p:cNvPr id="4" name="投影片編號版面配置區 3"/>
          <p:cNvSpPr>
            <a:spLocks noGrp="1"/>
          </p:cNvSpPr>
          <p:nvPr>
            <p:ph type="sldNum" idx="36"/>
          </p:nvPr>
        </p:nvSpPr>
        <p:spPr/>
        <p:txBody>
          <a:bodyPr/>
          <a:lstStyle/>
          <a:p>
            <a:pPr indent="0" algn="r">
              <a:buNone/>
            </a:pPr>
            <a:fld id="{30FCB4A9-B6B7-4D8C-B78E-5908DB5B3FA6}" type="slidenum">
              <a:rPr lang="en-US" sz="1400" b="0" u="none" strike="noStrike" smtClean="0">
                <a:solidFill>
                  <a:srgbClr val="000000"/>
                </a:solidFill>
                <a:effectLst/>
                <a:uFillTx/>
                <a:latin typeface="Times New Roman"/>
              </a:rPr>
              <a:t>9</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0168598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AI-Generated Database Commits and Core Infrastructure</a:t>
            </a:r>
          </a:p>
          <a:p>
            <a:endParaRPr lang="en-US" altLang="zh-HK" dirty="0"/>
          </a:p>
          <a:p>
            <a:r>
              <a:rPr lang="en-US" altLang="zh-HK" dirty="0"/>
              <a:t>This slide highlights a statistic that would have sounded like science fiction just a few years ago: </a:t>
            </a:r>
          </a:p>
          <a:p>
            <a:r>
              <a:rPr lang="en-US" altLang="zh-HK" dirty="0"/>
              <a:t>&gt;60% of open-source database systems currently feature core commits generated and co-signed by AI agents.</a:t>
            </a:r>
          </a:p>
          <a:p>
            <a:r>
              <a:rPr lang="en-US" altLang="zh-HK" dirty="0"/>
              <a:t>Let that sink in. Autonomous coding agents are no longer just writing frontend wrappers or simple Python scripts; they are writing storage engine code, optimizing B-tree index structures, and implementing concurrency control protocols. </a:t>
            </a:r>
          </a:p>
          <a:p>
            <a:r>
              <a:rPr lang="en-US" altLang="zh-HK" dirty="0"/>
              <a:t>The Future Reality: While the final 10% of extreme performance optimization still requires veteran human storage engineers, autonomous agents are fully capable of building the first 90% of a foundational database system from scratch. The barrier to entry for creating new database engines has collapsed. </a:t>
            </a:r>
            <a:endParaRPr lang="zh-HK" altLang="en-US" dirty="0"/>
          </a:p>
        </p:txBody>
      </p:sp>
      <p:sp>
        <p:nvSpPr>
          <p:cNvPr id="4" name="投影片編號版面配置區 3"/>
          <p:cNvSpPr>
            <a:spLocks noGrp="1"/>
          </p:cNvSpPr>
          <p:nvPr>
            <p:ph type="sldNum" idx="36"/>
          </p:nvPr>
        </p:nvSpPr>
        <p:spPr/>
        <p:txBody>
          <a:bodyPr/>
          <a:lstStyle/>
          <a:p>
            <a:pPr indent="0" algn="r">
              <a:buNone/>
            </a:pPr>
            <a:fld id="{30FCB4A9-B6B7-4D8C-B78E-5908DB5B3FA6}" type="slidenum">
              <a:rPr lang="en-US" sz="1400" b="0" u="none" strike="noStrike" smtClean="0">
                <a:solidFill>
                  <a:srgbClr val="000000"/>
                </a:solidFill>
                <a:effectLst/>
                <a:uFillTx/>
                <a:latin typeface="Times New Roman"/>
              </a:rPr>
              <a:t>10</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851497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The Assimilation of Vector Search and Property Graphs into Relational Engines</a:t>
            </a:r>
          </a:p>
          <a:p>
            <a:endParaRPr lang="en-US" altLang="zh-HK" dirty="0"/>
          </a:p>
          <a:p>
            <a:r>
              <a:rPr lang="en-US" altLang="zh-HK" dirty="0"/>
              <a:t>Every time a new trend emerges in AI, venture capitalists fund dozens of single-purpose database startups claiming traditional relational databases are dead. Let's do a reality check on Vector and Graph databases: </a:t>
            </a:r>
          </a:p>
          <a:p>
            <a:pPr marL="171450" indent="-171450">
              <a:buFont typeface="Arial" panose="020B0604020202020204" pitchFamily="34" charset="0"/>
              <a:buChar char="•"/>
            </a:pPr>
            <a:r>
              <a:rPr lang="en-US" altLang="zh-HK" dirty="0"/>
              <a:t>Vector Databases (Verdict: Assimilated): Dedicated vector databases will not replace the enterprise data stack; they will shrink to a few hyper-specialized winners (like </a:t>
            </a:r>
            <a:r>
              <a:rPr lang="en-US" altLang="zh-HK" dirty="0" err="1"/>
              <a:t>Turbopuffer</a:t>
            </a:r>
            <a:r>
              <a:rPr lang="en-US" altLang="zh-HK" dirty="0"/>
              <a:t>). Why? Because vector search has become a table-stakes index capability built directly inside every major relational database. You don't need a separate silo for vectors when Postgres handles relational data and vector embeddings natively. </a:t>
            </a:r>
          </a:p>
          <a:p>
            <a:pPr marL="171450" indent="-171450">
              <a:buFont typeface="Arial" panose="020B0604020202020204" pitchFamily="34" charset="0"/>
              <a:buChar char="•"/>
            </a:pPr>
            <a:r>
              <a:rPr lang="en-US" altLang="zh-HK" dirty="0"/>
              <a:t>Graph Databases (Verdict: Unnecessary for Most): With relational databases executing SQL property graph queries (standardized in recent SQL specs), engines can process complex multi-hop graph traversals on the server side significantly faster and with transactional safety compared to standalone graph databases. </a:t>
            </a:r>
          </a:p>
          <a:p>
            <a:pPr marL="0" indent="0">
              <a:buFontTx/>
              <a:buNone/>
            </a:pPr>
            <a:r>
              <a:rPr lang="en-US" altLang="zh-HK" dirty="0"/>
              <a:t>The Lesson: Relational foundations absorb specialized extensions over time. </a:t>
            </a:r>
            <a:endParaRPr lang="zh-HK" altLang="en-US" dirty="0"/>
          </a:p>
        </p:txBody>
      </p:sp>
      <p:sp>
        <p:nvSpPr>
          <p:cNvPr id="4" name="投影片編號版面配置區 3"/>
          <p:cNvSpPr>
            <a:spLocks noGrp="1"/>
          </p:cNvSpPr>
          <p:nvPr>
            <p:ph type="sldNum" idx="36"/>
          </p:nvPr>
        </p:nvSpPr>
        <p:spPr/>
        <p:txBody>
          <a:bodyPr/>
          <a:lstStyle/>
          <a:p>
            <a:pPr indent="0" algn="r">
              <a:buNone/>
            </a:pPr>
            <a:fld id="{30FCB4A9-B6B7-4D8C-B78E-5908DB5B3FA6}" type="slidenum">
              <a:rPr lang="en-US" sz="1400" b="0" u="none" strike="noStrike" smtClean="0">
                <a:solidFill>
                  <a:srgbClr val="000000"/>
                </a:solidFill>
                <a:effectLst/>
                <a:uFillTx/>
                <a:latin typeface="Times New Roman"/>
              </a:rPr>
              <a:t>11</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6053267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Moving Analytics to GPU Memory and Hardware Bottlenecks</a:t>
            </a:r>
          </a:p>
          <a:p>
            <a:endParaRPr lang="en-US" altLang="zh-HK" dirty="0"/>
          </a:p>
          <a:p>
            <a:r>
              <a:rPr lang="en-US" altLang="zh-HK" dirty="0"/>
              <a:t>With the massive explosion of GPU hardware driven by AI training, we are seeing a resurgence in GPU Databases. </a:t>
            </a:r>
          </a:p>
          <a:p>
            <a:r>
              <a:rPr lang="en-US" altLang="zh-HK" dirty="0"/>
              <a:t>Let's break down the architecture:</a:t>
            </a:r>
          </a:p>
          <a:p>
            <a:pPr marL="171450" indent="-171450">
              <a:buFont typeface="Arial" panose="020B0604020202020204" pitchFamily="34" charset="0"/>
              <a:buChar char="•"/>
            </a:pPr>
            <a:r>
              <a:rPr lang="en-US" altLang="zh-HK" dirty="0"/>
              <a:t>The Pivot: Moving analytical query execution off main CPU memory and directly onto GPUs. This trend is underscored by major industry moves, such as Nvidia's heavy acquisitions of Voltron and </a:t>
            </a:r>
            <a:r>
              <a:rPr lang="en-US" altLang="zh-HK" dirty="0" err="1"/>
              <a:t>HeavyDB</a:t>
            </a:r>
            <a:r>
              <a:rPr lang="en-US" altLang="zh-HK" dirty="0"/>
              <a:t>. </a:t>
            </a:r>
          </a:p>
          <a:p>
            <a:pPr marL="171450" indent="-171450">
              <a:buFont typeface="Arial" panose="020B0604020202020204" pitchFamily="34" charset="0"/>
              <a:buChar char="•"/>
            </a:pPr>
            <a:r>
              <a:rPr lang="en-US" altLang="zh-HK" dirty="0"/>
              <a:t>The Hurdle (The PCIe Bottleneck): Look at the diagram. Moving entire enterprise databases across the PCIe bus from CPU memory to GPU VRAM creates a severe hardware bottleneck. It is constrained by transfer speeds, staggering hardware costs, and limited GPU availability. </a:t>
            </a:r>
          </a:p>
          <a:p>
            <a:pPr marL="171450" indent="-171450">
              <a:buFont typeface="Arial" panose="020B0604020202020204" pitchFamily="34" charset="0"/>
              <a:buChar char="•"/>
            </a:pPr>
            <a:r>
              <a:rPr lang="en-US" altLang="zh-HK" dirty="0"/>
              <a:t>The Unknown: Will complex agentic workloads truly justify the massive financial premium of GPU-accelerated database engines over highly optimized, modern columnar CPU analytics? The jury is still out. </a:t>
            </a:r>
            <a:endParaRPr lang="zh-HK" altLang="en-US" dirty="0"/>
          </a:p>
        </p:txBody>
      </p:sp>
      <p:sp>
        <p:nvSpPr>
          <p:cNvPr id="4" name="投影片編號版面配置區 3"/>
          <p:cNvSpPr>
            <a:spLocks noGrp="1"/>
          </p:cNvSpPr>
          <p:nvPr>
            <p:ph type="sldNum" idx="36"/>
          </p:nvPr>
        </p:nvSpPr>
        <p:spPr/>
        <p:txBody>
          <a:bodyPr/>
          <a:lstStyle/>
          <a:p>
            <a:pPr indent="0" algn="r">
              <a:buNone/>
            </a:pPr>
            <a:fld id="{30FCB4A9-B6B7-4D8C-B78E-5908DB5B3FA6}" type="slidenum">
              <a:rPr lang="en-US" sz="1400" b="0" u="none" strike="noStrike" smtClean="0">
                <a:solidFill>
                  <a:srgbClr val="000000"/>
                </a:solidFill>
                <a:effectLst/>
                <a:uFillTx/>
                <a:latin typeface="Times New Roman"/>
              </a:rPr>
              <a:t>12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1225786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HTAP, Hybrid Storage, and Unified AI Routing Layers</a:t>
            </a:r>
          </a:p>
          <a:p>
            <a:endParaRPr lang="en-US" altLang="zh-HK" dirty="0"/>
          </a:p>
          <a:p>
            <a:r>
              <a:rPr lang="en-US" altLang="zh-HK" dirty="0"/>
              <a:t>For decades, database architects maintained a strict separation between OLTP (Online Transaction Processing for fast writes) and OLAP (Online Analytical Processing for heavy reads and reporting). </a:t>
            </a:r>
          </a:p>
          <a:p>
            <a:r>
              <a:rPr lang="en-US" altLang="zh-HK" dirty="0"/>
              <a:t>In the age of agents, that dividing line is blurring rapidly: </a:t>
            </a:r>
          </a:p>
          <a:p>
            <a:pPr marL="171450" indent="-171450">
              <a:buFont typeface="Arial" panose="020B0604020202020204" pitchFamily="34" charset="0"/>
              <a:buChar char="•"/>
            </a:pPr>
            <a:r>
              <a:rPr lang="en-US" altLang="zh-HK" dirty="0"/>
              <a:t>Analytical systems (like </a:t>
            </a:r>
            <a:r>
              <a:rPr lang="en-US" altLang="zh-HK" dirty="0" err="1"/>
              <a:t>ClickHouse</a:t>
            </a:r>
            <a:r>
              <a:rPr lang="en-US" altLang="zh-HK" dirty="0"/>
              <a:t> or Databricks) are aggressively acquiring transactional startups to capture the full execution stack. </a:t>
            </a:r>
          </a:p>
          <a:p>
            <a:pPr marL="171450" indent="-171450">
              <a:buFont typeface="Arial" panose="020B0604020202020204" pitchFamily="34" charset="0"/>
              <a:buChar char="•"/>
            </a:pPr>
            <a:r>
              <a:rPr lang="en-US" altLang="zh-HK" dirty="0"/>
              <a:t>Transactional systems are expanding into real-time analytical capabilities. </a:t>
            </a:r>
          </a:p>
          <a:p>
            <a:pPr marL="0" indent="0">
              <a:buFont typeface="Arial" panose="020B0604020202020204" pitchFamily="34" charset="0"/>
              <a:buNone/>
            </a:pPr>
            <a:r>
              <a:rPr lang="en-US" altLang="zh-HK" dirty="0"/>
              <a:t>The Engineering Reality: True hybrid storage (HTAP) remains historically difficult to build in a single engine. Organizations still demand 'best of breed' engines optimized for specific workloads. Therefore, the future points toward a unified AI routing layer that intelligently abstracts specialized underlying engines, routing transactional and analytical queries dynamically. </a:t>
            </a:r>
            <a:endParaRPr lang="zh-HK" altLang="en-US" dirty="0"/>
          </a:p>
        </p:txBody>
      </p:sp>
      <p:sp>
        <p:nvSpPr>
          <p:cNvPr id="4" name="投影片編號版面配置區 3"/>
          <p:cNvSpPr>
            <a:spLocks noGrp="1"/>
          </p:cNvSpPr>
          <p:nvPr>
            <p:ph type="sldNum" idx="36"/>
          </p:nvPr>
        </p:nvSpPr>
        <p:spPr/>
        <p:txBody>
          <a:bodyPr/>
          <a:lstStyle/>
          <a:p>
            <a:pPr indent="0" algn="r">
              <a:buNone/>
            </a:pPr>
            <a:fld id="{30FCB4A9-B6B7-4D8C-B78E-5908DB5B3FA6}" type="slidenum">
              <a:rPr lang="en-US" sz="1400" b="0" u="none" strike="noStrike" smtClean="0">
                <a:solidFill>
                  <a:srgbClr val="000000"/>
                </a:solidFill>
                <a:effectLst/>
                <a:uFillTx/>
                <a:latin typeface="Times New Roman"/>
              </a:rPr>
              <a:t>13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4137010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From Manual Mechanics to High-Level Architecture</a:t>
            </a:r>
          </a:p>
          <a:p>
            <a:endParaRPr lang="en-US" altLang="zh-HK" dirty="0"/>
          </a:p>
          <a:p>
            <a:r>
              <a:rPr lang="en-US" altLang="zh-HK" dirty="0"/>
              <a:t>What does the rise of autonomous agents mean for database engineers, DBAs, and data professionals? Your job description is undergoing a profound transformation. </a:t>
            </a:r>
          </a:p>
          <a:p>
            <a:pPr marL="171450" indent="-171450">
              <a:buFont typeface="Arial" panose="020B0604020202020204" pitchFamily="34" charset="0"/>
              <a:buChar char="•"/>
            </a:pPr>
            <a:r>
              <a:rPr lang="en-US" altLang="zh-HK" dirty="0"/>
              <a:t>Before: The Mechanic. Data professionals spent 80% of their time on manual mechanics—picking indexes, allocating memory pools, writing custom query hints, and tuning execution plans. Status: Completely outsourced to AI agents. </a:t>
            </a:r>
          </a:p>
          <a:p>
            <a:pPr marL="171450" indent="-171450">
              <a:buFont typeface="Arial" panose="020B0604020202020204" pitchFamily="34" charset="0"/>
              <a:buChar char="•"/>
            </a:pPr>
            <a:r>
              <a:rPr lang="en-US" altLang="zh-HK" dirty="0"/>
              <a:t>After: The Architect. Data professionals evolve into high-level system architects. Your focus shifts to business alignment, semantic data modeling, and defining the strict security parameters and access guardrails of agentic systems. </a:t>
            </a:r>
          </a:p>
          <a:p>
            <a:r>
              <a:rPr lang="en-US" altLang="zh-HK" dirty="0"/>
              <a:t>Status: This is the critical, high-level human mandate. AI handles the mechanical execution; humans drive the architectural vision and governance. </a:t>
            </a:r>
            <a:endParaRPr lang="zh-HK" altLang="en-US" dirty="0"/>
          </a:p>
        </p:txBody>
      </p:sp>
      <p:sp>
        <p:nvSpPr>
          <p:cNvPr id="4" name="投影片編號版面配置區 3"/>
          <p:cNvSpPr>
            <a:spLocks noGrp="1"/>
          </p:cNvSpPr>
          <p:nvPr>
            <p:ph type="sldNum" idx="36"/>
          </p:nvPr>
        </p:nvSpPr>
        <p:spPr/>
        <p:txBody>
          <a:bodyPr/>
          <a:lstStyle/>
          <a:p>
            <a:pPr indent="0" algn="r">
              <a:buNone/>
            </a:pPr>
            <a:fld id="{30FCB4A9-B6B7-4D8C-B78E-5908DB5B3FA6}" type="slidenum">
              <a:rPr lang="en-US" sz="1400" b="0" u="none" strike="noStrike" smtClean="0">
                <a:solidFill>
                  <a:srgbClr val="000000"/>
                </a:solidFill>
                <a:effectLst/>
                <a:uFillTx/>
                <a:latin typeface="Times New Roman"/>
              </a:rPr>
              <a:t>14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5123967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Summary of First Principles in Database Engineering</a:t>
            </a:r>
          </a:p>
          <a:p>
            <a:endParaRPr lang="en-US" altLang="zh-HK" dirty="0"/>
          </a:p>
          <a:p>
            <a:r>
              <a:rPr lang="en-US" altLang="zh-HK" dirty="0"/>
              <a:t>As we wrap up our analysis, let's anchor ourselves in The Durable Truths of the Agentic Era: </a:t>
            </a:r>
          </a:p>
          <a:p>
            <a:pPr marL="228600" indent="-228600">
              <a:buFont typeface="+mj-lt"/>
              <a:buAutoNum type="arabicPeriod"/>
            </a:pPr>
            <a:r>
              <a:rPr lang="en-US" altLang="zh-HK" dirty="0"/>
              <a:t>Relational Fundamentals Remain Unchanged: We aren't throwing away basic math. SQL and relational models are the undisputed foundation of data management; everything else is simply an optimization layer. </a:t>
            </a:r>
          </a:p>
          <a:p>
            <a:pPr marL="228600" indent="-228600">
              <a:buFont typeface="+mj-lt"/>
              <a:buAutoNum type="arabicPeriod"/>
            </a:pPr>
            <a:r>
              <a:rPr lang="en-US" altLang="zh-HK" dirty="0"/>
              <a:t>Unprecedented Scale Demands Strict Isolation: The 100x agent volume explosion requires rigorous database branching environments and an immediate return to enterprise access controls. </a:t>
            </a:r>
          </a:p>
          <a:p>
            <a:pPr marL="228600" indent="-228600">
              <a:buFont typeface="+mj-lt"/>
              <a:buAutoNum type="arabicPeriod"/>
            </a:pPr>
            <a:r>
              <a:rPr lang="en-US" altLang="zh-HK" dirty="0"/>
              <a:t>The AI-Native DB is Self-Building: Future databases won't just store AI context; their core engines will be written, managed, and perpetually tuned by the agents themselves. </a:t>
            </a:r>
            <a:endParaRPr lang="zh-HK" altLang="en-US" dirty="0"/>
          </a:p>
        </p:txBody>
      </p:sp>
      <p:sp>
        <p:nvSpPr>
          <p:cNvPr id="4" name="投影片編號版面配置區 3"/>
          <p:cNvSpPr>
            <a:spLocks noGrp="1"/>
          </p:cNvSpPr>
          <p:nvPr>
            <p:ph type="sldNum" idx="36"/>
          </p:nvPr>
        </p:nvSpPr>
        <p:spPr/>
        <p:txBody>
          <a:bodyPr/>
          <a:lstStyle/>
          <a:p>
            <a:pPr indent="0" algn="r">
              <a:buNone/>
            </a:pPr>
            <a:fld id="{30FCB4A9-B6B7-4D8C-B78E-5908DB5B3FA6}" type="slidenum">
              <a:rPr lang="en-US" sz="1400" b="0" u="none" strike="noStrike" smtClean="0">
                <a:solidFill>
                  <a:srgbClr val="000000"/>
                </a:solidFill>
                <a:effectLst/>
                <a:uFillTx/>
                <a:latin typeface="Times New Roman"/>
              </a:rPr>
              <a:t>15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480440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Comprehensive Visual Recap of Volume Shifts and Safety Guardrails</a:t>
            </a:r>
          </a:p>
          <a:p>
            <a:endParaRPr lang="en-US" altLang="zh-HK" dirty="0"/>
          </a:p>
          <a:p>
            <a:r>
              <a:rPr lang="en-US" altLang="zh-HK" dirty="0"/>
              <a:t>To conclude, let's review the comprehensive architectural blueprint summarized on this final slide: </a:t>
            </a:r>
          </a:p>
          <a:p>
            <a:pPr marL="171450" indent="-171450">
              <a:buFont typeface="Arial" panose="020B0604020202020204" pitchFamily="34" charset="0"/>
              <a:buChar char="•"/>
            </a:pPr>
            <a:r>
              <a:rPr lang="en-US" altLang="zh-HK" dirty="0"/>
              <a:t>The 10x–100x Workload Volume Shift: Autonomous agents running 24/7 generate unprecedented query volumes, executing continuous mixed read/write operations without stopping. </a:t>
            </a:r>
          </a:p>
          <a:p>
            <a:pPr marL="171450" indent="-171450">
              <a:buFont typeface="Arial" panose="020B0604020202020204" pitchFamily="34" charset="0"/>
              <a:buChar char="•"/>
            </a:pPr>
            <a:r>
              <a:rPr lang="en-US" altLang="zh-HK" dirty="0"/>
              <a:t>Safe Sandboxing via Database Branching: Copy-on-write snapshot branches allow coding agents to safely test application schema changes isolated from production. </a:t>
            </a:r>
          </a:p>
          <a:p>
            <a:pPr marL="171450" indent="-171450">
              <a:buFont typeface="Arial" panose="020B0604020202020204" pitchFamily="34" charset="0"/>
              <a:buChar char="•"/>
            </a:pPr>
            <a:r>
              <a:rPr lang="en-US" altLang="zh-HK" dirty="0"/>
              <a:t>Preventing Production Disasters: Unchecked agents frequently delete tables or alter critical records unless strict enterprise access controls and MCP protocols are enforced. </a:t>
            </a:r>
          </a:p>
          <a:p>
            <a:pPr marL="0" indent="0">
              <a:buFont typeface="Arial" panose="020B0604020202020204" pitchFamily="34" charset="0"/>
              <a:buNone/>
            </a:pPr>
            <a:r>
              <a:rPr lang="en-US" altLang="zh-HK" dirty="0"/>
              <a:t>The age of agents is here. By pairing relentless agentic automation with rigorous database guardrails and branching architectures, we can build robust, high-performance data systems for the future. </a:t>
            </a:r>
          </a:p>
          <a:p>
            <a:pPr marL="0" indent="0">
              <a:buFont typeface="Arial" panose="020B0604020202020204" pitchFamily="34" charset="0"/>
              <a:buNone/>
            </a:pPr>
            <a:r>
              <a:rPr lang="en-US" altLang="zh-HK" dirty="0"/>
              <a:t>Thank you! Let's open the floor to questions. </a:t>
            </a:r>
            <a:endParaRPr lang="zh-HK" altLang="en-US" dirty="0"/>
          </a:p>
        </p:txBody>
      </p:sp>
      <p:sp>
        <p:nvSpPr>
          <p:cNvPr id="4" name="投影片編號版面配置區 3"/>
          <p:cNvSpPr>
            <a:spLocks noGrp="1"/>
          </p:cNvSpPr>
          <p:nvPr>
            <p:ph type="sldNum" idx="36"/>
          </p:nvPr>
        </p:nvSpPr>
        <p:spPr/>
        <p:txBody>
          <a:bodyPr/>
          <a:lstStyle/>
          <a:p>
            <a:pPr indent="0" algn="r">
              <a:buNone/>
            </a:pPr>
            <a:fld id="{30FCB4A9-B6B7-4D8C-B78E-5908DB5B3FA6}" type="slidenum">
              <a:rPr lang="en-US" sz="1400" b="0" u="none" strike="noStrike" smtClean="0">
                <a:solidFill>
                  <a:srgbClr val="000000"/>
                </a:solidFill>
                <a:effectLst/>
                <a:uFillTx/>
                <a:latin typeface="Times New Roman"/>
              </a:rPr>
              <a:t>16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426029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Tree>
    <p:extLst>
      <p:ext uri="{BB962C8B-B14F-4D97-AF65-F5344CB8AC3E}">
        <p14:creationId xmlns:p14="http://schemas.microsoft.com/office/powerpoint/2010/main" val="77345685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 name="圖片 81"/>
          <p:cNvPicPr/>
          <p:nvPr/>
        </p:nvPicPr>
        <p:blipFill>
          <a:blip r:embed="rId3"/>
          <a:stretch/>
        </p:blipFill>
        <p:spPr>
          <a:xfrm>
            <a:off x="-11160" y="39960"/>
            <a:ext cx="16255800" cy="9072720"/>
          </a:xfrm>
          <a:prstGeom prst="rect">
            <a:avLst/>
          </a:prstGeom>
          <a:noFill/>
          <a:ln w="0">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TotalTime>
  <Words>2815</Words>
  <Application>Microsoft Office PowerPoint</Application>
  <PresentationFormat>自訂</PresentationFormat>
  <Paragraphs>132</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Arial</vt:lpstr>
      <vt:lpstr>Calibri</vt:lpstr>
      <vt:lpstr>Times New Roman</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subject/>
  <dc:creator/>
  <dc:description/>
  <cp:lastModifiedBy>Wilson Lai</cp:lastModifiedBy>
  <cp:revision>6</cp:revision>
  <dcterms:created xsi:type="dcterms:W3CDTF">2006-08-16T00:00:00Z</dcterms:created>
  <dcterms:modified xsi:type="dcterms:W3CDTF">2026-10-10T13:23:22Z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