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0788" autoAdjust="0"/>
  </p:normalViewPr>
  <p:slideViewPr>
    <p:cSldViewPr snapToGrid="0">
      <p:cViewPr varScale="1">
        <p:scale>
          <a:sx n="42" d="100"/>
          <a:sy n="42" d="100"/>
        </p:scale>
        <p:origin x="266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98C90B2-1C97-4580-9B46-8D7AEB79C6BB}"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dirty="0">
                <a:solidFill>
                  <a:srgbClr val="000000"/>
                </a:solidFill>
                <a:effectLst/>
                <a:uFillTx/>
                <a:latin typeface="Arial"/>
              </a:rPr>
              <a:t>Core Topic: Introduction to The Ulti4mate Vibe Coding Playbook</a:t>
            </a:r>
          </a:p>
          <a:p>
            <a:pPr indent="0" algn="l">
              <a:buNone/>
            </a:pPr>
            <a:endParaRPr lang="en-US" sz="2000" b="0" u="none" strike="noStrike" dirty="0">
              <a:solidFill>
                <a:srgbClr val="000000"/>
              </a:solidFill>
              <a:effectLst/>
              <a:uFillTx/>
              <a:latin typeface="Arial"/>
            </a:endParaRPr>
          </a:p>
          <a:p>
            <a:pPr indent="0" algn="l">
              <a:buNone/>
            </a:pPr>
            <a:r>
              <a:rPr lang="en-US" sz="2000" b="0" u="none" strike="noStrike" dirty="0">
                <a:solidFill>
                  <a:srgbClr val="000000"/>
                </a:solidFill>
                <a:effectLst/>
                <a:uFillTx/>
                <a:latin typeface="Arial"/>
              </a:rPr>
              <a:t>Good morning, everyone, and welcome. Today, we are diving into one of the most exciting shifts in software creation: </a:t>
            </a:r>
            <a:r>
              <a:rPr lang="en-US" sz="2000" b="1" u="none" strike="noStrike" dirty="0">
                <a:solidFill>
                  <a:srgbClr val="000000"/>
                </a:solidFill>
                <a:effectLst/>
                <a:uFillTx/>
                <a:latin typeface="Arial"/>
              </a:rPr>
              <a:t>The Ultimate Vibe Coding Playbook</a:t>
            </a:r>
            <a:r>
              <a:rPr lang="en-US" sz="2000" b="0" u="none" strike="noStrike" dirty="0">
                <a:solidFill>
                  <a:srgbClr val="000000"/>
                </a:solidFill>
                <a:effectLst/>
                <a:uFillTx/>
                <a:latin typeface="Arial"/>
              </a:rPr>
              <a:t>. </a:t>
            </a:r>
          </a:p>
          <a:p>
            <a:pPr indent="0" algn="l">
              <a:buNone/>
            </a:pPr>
            <a:r>
              <a:rPr lang="en-US" sz="2000" b="0" u="none" strike="noStrike" dirty="0">
                <a:solidFill>
                  <a:srgbClr val="000000"/>
                </a:solidFill>
                <a:effectLst/>
                <a:uFillTx/>
                <a:latin typeface="Arial"/>
              </a:rPr>
              <a:t>If you look at the subtitle on this slide, it sets a bold premise: How to build, secure, and monetize a full-stack SaaS with zero technical background. For decades, building software required years of computer science education, complex syntax memorization, and exhausting debugging sessions. </a:t>
            </a:r>
          </a:p>
          <a:p>
            <a:pPr indent="0" algn="l">
              <a:buNone/>
            </a:pPr>
            <a:r>
              <a:rPr lang="en-US" sz="2000" b="0" u="none" strike="noStrike" dirty="0">
                <a:solidFill>
                  <a:srgbClr val="000000"/>
                </a:solidFill>
                <a:effectLst/>
                <a:uFillTx/>
                <a:latin typeface="Arial"/>
              </a:rPr>
              <a:t>Today, we are entering the era of Vibe Coding—where natural language direction replaces manual coding, and AI agents act as your engineering team. Throughout this session, we will break down the complete playbook—from planning and UI generation to automated security, database management, and live deployment. Let's get started. </a:t>
            </a: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endParaRPr lang="en-US" sz="2000" b="0" u="none" strike="noStrike" dirty="0">
              <a:solidFill>
                <a:srgbClr val="000000"/>
              </a:solidFill>
              <a:effectLst/>
              <a:uFillTx/>
              <a:latin typeface="Arial"/>
            </a:endParaRPr>
          </a:p>
          <a:p>
            <a:pPr indent="0" algn="l">
              <a:buNone/>
            </a:pPr>
            <a:r>
              <a:rPr lang="en-US" altLang="zh-HK" sz="2000" b="0" u="none" strike="noStrike" dirty="0">
                <a:solidFill>
                  <a:srgbClr val="000000"/>
                </a:solidFill>
                <a:effectLst/>
                <a:uFillTx/>
                <a:latin typeface="Arial"/>
              </a:rPr>
              <a:t>The Ultimate Vibe Coding Tutorial for Beginners</a:t>
            </a:r>
          </a:p>
          <a:p>
            <a:pPr indent="0" algn="l">
              <a:buNone/>
            </a:pPr>
            <a:r>
              <a:rPr lang="en-US" altLang="zh-HK" sz="2000" b="0" u="none" strike="noStrike" dirty="0">
                <a:solidFill>
                  <a:srgbClr val="000000"/>
                </a:solidFill>
                <a:effectLst/>
                <a:uFillTx/>
                <a:latin typeface="Arial"/>
              </a:rPr>
              <a:t>https://www.youtube.com/watch?v=XLhdE-qV87E</a:t>
            </a:r>
          </a:p>
          <a:p>
            <a:pPr indent="0" algn="l">
              <a:buNone/>
            </a:pPr>
            <a:endParaRPr lang="en-US" sz="2000" b="0" u="none" strike="noStrike" dirty="0">
              <a:solidFill>
                <a:srgbClr val="000000"/>
              </a:solidFill>
              <a:effectLst/>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Natural Language Direction vs. Traditional Coding and Real-World SaaS Proof</a:t>
            </a:r>
          </a:p>
          <a:p>
            <a:endParaRPr lang="en-US" altLang="zh-HK" dirty="0"/>
          </a:p>
          <a:p>
            <a:r>
              <a:rPr lang="en-US" altLang="zh-HK" dirty="0"/>
              <a:t>To understand vibe coding, we must first recognize the fundamental paradigm shift illustrated on this slide. </a:t>
            </a:r>
          </a:p>
          <a:p>
            <a:r>
              <a:rPr lang="en-US" altLang="zh-HK" dirty="0"/>
              <a:t>On the left, we see the legacy world of software engineering: staring at raw terminal windows, typing complex syntax line by line, and managing arcane build scripts. On the right, we see the new world: prompting an AI agent with natural language—‘Build me a resume </a:t>
            </a:r>
            <a:r>
              <a:rPr lang="en-US" altLang="zh-HK" dirty="0" err="1"/>
              <a:t>SaaS’</a:t>
            </a:r>
            <a:r>
              <a:rPr lang="en-US" altLang="zh-HK" dirty="0"/>
              <a:t>—and watching a fully functional, beautiful dashboard materialize instantly. </a:t>
            </a:r>
          </a:p>
          <a:p>
            <a:r>
              <a:rPr lang="en-US" altLang="zh-HK" b="1" dirty="0"/>
              <a:t>Proof of Concept</a:t>
            </a:r>
            <a:r>
              <a:rPr lang="en-US" altLang="zh-HK" dirty="0"/>
              <a:t>: This isn't just theory. As noted in the callout box, a solo-founder AI resume builder built using this exact methodology currently </a:t>
            </a:r>
            <a:r>
              <a:rPr lang="en-US" altLang="zh-HK" b="1" dirty="0"/>
              <a:t>generates $250,000 per month in recurring revenue</a:t>
            </a:r>
            <a:r>
              <a:rPr lang="en-US" altLang="zh-HK" dirty="0"/>
              <a:t>. You no longer need a 20-person engineering team to launch a profitable software company.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075751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Six Layers of Modern AI Stack</a:t>
            </a:r>
          </a:p>
          <a:p>
            <a:endParaRPr lang="en-US" altLang="zh-HK" dirty="0"/>
          </a:p>
          <a:p>
            <a:r>
              <a:rPr lang="en-US" altLang="zh-HK" dirty="0"/>
              <a:t>What does the modern solo-founder stack actually look like? Let's examine the six-layer architecture stacked out on this slide: </a:t>
            </a:r>
          </a:p>
          <a:p>
            <a:pPr marL="228600" indent="-228600">
              <a:buFont typeface="+mj-lt"/>
              <a:buAutoNum type="arabicPeriod"/>
            </a:pPr>
            <a:r>
              <a:rPr lang="en-US" altLang="zh-HK" b="1" dirty="0"/>
              <a:t>The Brain</a:t>
            </a:r>
            <a:r>
              <a:rPr lang="en-US" altLang="zh-HK" dirty="0"/>
              <a:t>: Claude 3.5 Sonnet / Codex via Cursor or VS Code providing the intelligence. </a:t>
            </a:r>
          </a:p>
          <a:p>
            <a:pPr marL="228600" indent="-228600">
              <a:buFont typeface="+mj-lt"/>
              <a:buAutoNum type="arabicPeriod"/>
            </a:pPr>
            <a:r>
              <a:rPr lang="en-US" altLang="zh-HK" b="1" dirty="0"/>
              <a:t>The Framework</a:t>
            </a:r>
            <a:r>
              <a:rPr lang="en-US" altLang="zh-HK" dirty="0"/>
              <a:t>: Next.js and Node.js serving as the robust application foundation. </a:t>
            </a:r>
          </a:p>
          <a:p>
            <a:pPr marL="228600" indent="-228600">
              <a:buFont typeface="+mj-lt"/>
              <a:buAutoNum type="arabicPeriod"/>
            </a:pPr>
            <a:r>
              <a:rPr lang="en-US" altLang="zh-HK" b="1" dirty="0"/>
              <a:t>The Vault</a:t>
            </a:r>
            <a:r>
              <a:rPr lang="en-US" altLang="zh-HK" dirty="0"/>
              <a:t>: Neon Postgres Database &amp; Auth handling user data and identity securely. </a:t>
            </a:r>
          </a:p>
          <a:p>
            <a:pPr marL="228600" indent="-228600">
              <a:buFont typeface="+mj-lt"/>
              <a:buAutoNum type="arabicPeriod"/>
            </a:pPr>
            <a:r>
              <a:rPr lang="en-US" altLang="zh-HK" b="1" dirty="0"/>
              <a:t>The Shield</a:t>
            </a:r>
            <a:r>
              <a:rPr lang="en-US" altLang="zh-HK" dirty="0"/>
              <a:t>: </a:t>
            </a:r>
            <a:r>
              <a:rPr lang="en-US" altLang="zh-HK" dirty="0" err="1"/>
              <a:t>CodeRabbit</a:t>
            </a:r>
            <a:r>
              <a:rPr lang="en-US" altLang="zh-HK" dirty="0"/>
              <a:t> providing automated AI security code reviews. </a:t>
            </a:r>
          </a:p>
          <a:p>
            <a:pPr marL="228600" indent="-228600">
              <a:buFont typeface="+mj-lt"/>
              <a:buAutoNum type="arabicPeriod"/>
            </a:pPr>
            <a:r>
              <a:rPr lang="en-US" altLang="zh-HK" b="1" dirty="0"/>
              <a:t>The Engine</a:t>
            </a:r>
            <a:r>
              <a:rPr lang="en-US" altLang="zh-HK" dirty="0"/>
              <a:t>: Polar.sh webhooks and payment processing handling transactions. </a:t>
            </a:r>
          </a:p>
          <a:p>
            <a:pPr marL="228600" indent="-228600">
              <a:buFont typeface="+mj-lt"/>
              <a:buAutoNum type="arabicPeriod"/>
            </a:pPr>
            <a:r>
              <a:rPr lang="en-US" altLang="zh-HK" b="1" dirty="0"/>
              <a:t>The Stage</a:t>
            </a:r>
            <a:r>
              <a:rPr lang="en-US" altLang="zh-HK" dirty="0"/>
              <a:t>: </a:t>
            </a:r>
            <a:r>
              <a:rPr lang="en-US" altLang="zh-HK" dirty="0" err="1"/>
              <a:t>Cloudways</a:t>
            </a:r>
            <a:r>
              <a:rPr lang="en-US" altLang="zh-HK" dirty="0"/>
              <a:t> and Cloudflare managing lightning-fast global deployment and custom domains. </a:t>
            </a:r>
          </a:p>
          <a:p>
            <a:r>
              <a:rPr lang="en-US" altLang="zh-HK" dirty="0"/>
              <a:t>Each layer is managed by specialized AI tools, allowing a single non-technical founder to operate a complete enterprise stack.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102185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Understanding Frontend, Backend, and Database Layers</a:t>
            </a:r>
          </a:p>
          <a:p>
            <a:endParaRPr lang="en-US" altLang="zh-HK" dirty="0"/>
          </a:p>
          <a:p>
            <a:r>
              <a:rPr lang="en-US" altLang="zh-HK" dirty="0"/>
              <a:t>Before we start prompting AI, we need to understand the basic anatomy of an application, just like looking at the cross-section of a building: </a:t>
            </a:r>
          </a:p>
          <a:p>
            <a:pPr marL="171450" indent="-171450">
              <a:buFont typeface="Arial" panose="020B0604020202020204" pitchFamily="34" charset="0"/>
              <a:buChar char="•"/>
            </a:pPr>
            <a:r>
              <a:rPr lang="en-US" altLang="zh-HK" b="1" dirty="0"/>
              <a:t>Frontend (The Surface)</a:t>
            </a:r>
            <a:r>
              <a:rPr lang="en-US" altLang="zh-HK" dirty="0"/>
              <a:t>: What users see and touch. The user interface, buttons, text, color schemes, and visual animations. </a:t>
            </a:r>
          </a:p>
          <a:p>
            <a:pPr marL="171450" indent="-171450">
              <a:buFont typeface="Arial" panose="020B0604020202020204" pitchFamily="34" charset="0"/>
              <a:buChar char="•"/>
            </a:pPr>
            <a:r>
              <a:rPr lang="en-US" altLang="zh-HK" b="1" dirty="0"/>
              <a:t>Backend (The Gears)</a:t>
            </a:r>
            <a:r>
              <a:rPr lang="en-US" altLang="zh-HK" dirty="0"/>
              <a:t>: The invisible logic. It processes payments, sends verification emails, and handles user requests securely behind the scenes. </a:t>
            </a:r>
          </a:p>
          <a:p>
            <a:pPr marL="171450" indent="-171450">
              <a:buFont typeface="Arial" panose="020B0604020202020204" pitchFamily="34" charset="0"/>
              <a:buChar char="•"/>
            </a:pPr>
            <a:r>
              <a:rPr lang="en-US" altLang="zh-HK" b="1" dirty="0"/>
              <a:t>Database (The Memory)</a:t>
            </a:r>
            <a:r>
              <a:rPr lang="en-US" altLang="zh-HK" dirty="0"/>
              <a:t>: The structural vault. Where critical information lives permanently, such as user accounts, subscription tiers, and transaction records. </a:t>
            </a:r>
          </a:p>
          <a:p>
            <a:r>
              <a:rPr lang="en-US" altLang="zh-HK" dirty="0"/>
              <a:t>Knowing these three components ensures you can direct your AI agent precisely when something needs fixing.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607066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Authentication vs. Authorization</a:t>
            </a:r>
          </a:p>
          <a:p>
            <a:endParaRPr lang="en-US" altLang="zh-HK" dirty="0"/>
          </a:p>
          <a:p>
            <a:r>
              <a:rPr lang="en-US" altLang="zh-HK" dirty="0"/>
              <a:t>Security is paramount when building monetized software. We must distinguish between two core concepts: </a:t>
            </a:r>
          </a:p>
          <a:p>
            <a:pPr marL="171450" indent="-171450">
              <a:buFont typeface="Arial" panose="020B0604020202020204" pitchFamily="34" charset="0"/>
              <a:buChar char="•"/>
            </a:pPr>
            <a:r>
              <a:rPr lang="en-US" altLang="zh-HK" b="1" dirty="0"/>
              <a:t>Authentication (Who are you?):</a:t>
            </a:r>
            <a:r>
              <a:rPr lang="en-US" altLang="zh-HK" dirty="0"/>
              <a:t> The identity check. When a user logs in via Google, Apple, or email, authentication verifies their identity. </a:t>
            </a:r>
          </a:p>
          <a:p>
            <a:pPr marL="171450" indent="-171450">
              <a:buFont typeface="Arial" panose="020B0604020202020204" pitchFamily="34" charset="0"/>
              <a:buChar char="•"/>
            </a:pPr>
            <a:r>
              <a:rPr lang="en-US" altLang="zh-HK" b="1" dirty="0"/>
              <a:t>Authorization (What can you do?)</a:t>
            </a:r>
            <a:r>
              <a:rPr lang="en-US" altLang="zh-HK" dirty="0"/>
              <a:t>: The permission check. Once logged in, authorization determines whether a user is allowed to access a paid feature or if an Admin has rights to delete a database record. </a:t>
            </a:r>
          </a:p>
          <a:p>
            <a:r>
              <a:rPr lang="en-US" altLang="zh-HK" dirty="0"/>
              <a:t>Conflating these two is the #1 cause of security vulnerabilities in beginner-built applications. Always instruct your AI agent to enforce strict authorization checks on every backend route.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021114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APIs, Environment Variables, and Webhooks</a:t>
            </a:r>
          </a:p>
          <a:p>
            <a:endParaRPr lang="en-US" altLang="zh-HK" dirty="0"/>
          </a:p>
          <a:p>
            <a:r>
              <a:rPr lang="en-US" altLang="zh-HK" dirty="0"/>
              <a:t>Applications don't live in a vacuum; they talk to external services using specific connectors: </a:t>
            </a:r>
          </a:p>
          <a:p>
            <a:pPr marL="171450" indent="-171450">
              <a:buFont typeface="Arial" panose="020B0604020202020204" pitchFamily="34" charset="0"/>
              <a:buChar char="•"/>
            </a:pPr>
            <a:r>
              <a:rPr lang="en-US" altLang="zh-HK" b="1" dirty="0"/>
              <a:t>APIs (The Translator)</a:t>
            </a:r>
            <a:r>
              <a:rPr lang="en-US" altLang="zh-HK" dirty="0"/>
              <a:t>: Allow two separate applications—like your app and Stripe or Polar—to communicate and share data seamlessly. </a:t>
            </a:r>
          </a:p>
          <a:p>
            <a:pPr marL="171450" indent="-171450">
              <a:buFont typeface="Arial" panose="020B0604020202020204" pitchFamily="34" charset="0"/>
              <a:buChar char="•"/>
            </a:pPr>
            <a:r>
              <a:rPr lang="en-US" altLang="zh-HK" b="1" dirty="0"/>
              <a:t>API Keys &amp; .env (The VIP Pass)</a:t>
            </a:r>
            <a:r>
              <a:rPr lang="en-US" altLang="zh-HK" dirty="0"/>
              <a:t>: Cryptographic secrets stored in a hidden .env vault. Crucial Rule: Never push your .env file to GitHub, or your database and payment keys will be exposed to the public. </a:t>
            </a:r>
          </a:p>
          <a:p>
            <a:pPr marL="171450" indent="-171450">
              <a:buFont typeface="Arial" panose="020B0604020202020204" pitchFamily="34" charset="0"/>
              <a:buChar char="•"/>
            </a:pPr>
            <a:r>
              <a:rPr lang="en-US" altLang="zh-HK" b="1" dirty="0"/>
              <a:t>Webhooks (The Courier)</a:t>
            </a:r>
            <a:r>
              <a:rPr lang="en-US" altLang="zh-HK" dirty="0"/>
              <a:t>: Automated messages triggered instantly when a specific event occurs—such as notifying your app the exact second a customer's payment clears.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163532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Version Control, Local Commits, and Global Remote Vaults</a:t>
            </a:r>
          </a:p>
          <a:p>
            <a:endParaRPr lang="en-US" altLang="zh-HK" dirty="0"/>
          </a:p>
          <a:p>
            <a:r>
              <a:rPr lang="en-US" altLang="zh-HK" dirty="0"/>
              <a:t>When building with AI, your application will break often. That’s why we use version control—our time machine for code: </a:t>
            </a:r>
          </a:p>
          <a:p>
            <a:pPr marL="171450" indent="-171450">
              <a:buFont typeface="Arial" panose="020B0604020202020204" pitchFamily="34" charset="0"/>
              <a:buChar char="•"/>
            </a:pPr>
            <a:r>
              <a:rPr lang="en-US" altLang="zh-HK" b="1" dirty="0"/>
              <a:t>Git (Local Time Machine)</a:t>
            </a:r>
            <a:r>
              <a:rPr lang="en-US" altLang="zh-HK" dirty="0"/>
              <a:t>: Tracks changes directly on your laptop. It allows you to 'commit' safe checkpoints and instantly roll back if a newly prompted AI feature breaks your app. </a:t>
            </a:r>
          </a:p>
          <a:p>
            <a:pPr marL="171450" indent="-171450">
              <a:buFont typeface="Arial" panose="020B0604020202020204" pitchFamily="34" charset="0"/>
              <a:buChar char="•"/>
            </a:pPr>
            <a:r>
              <a:rPr lang="en-US" altLang="zh-HK" b="1" dirty="0"/>
              <a:t>GitHub (Global Vault)</a:t>
            </a:r>
            <a:r>
              <a:rPr lang="en-US" altLang="zh-HK" dirty="0"/>
              <a:t>: The online cloud-based repository. It protects your code from hardware failure, enables backup, and acts as the secure trigger for live production deployments.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055066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Planning Mode, plan.md, and agents.md</a:t>
            </a:r>
          </a:p>
          <a:p>
            <a:endParaRPr lang="en-US" altLang="zh-HK" dirty="0"/>
          </a:p>
          <a:p>
            <a:r>
              <a:rPr lang="en-US" altLang="zh-HK" dirty="0"/>
              <a:t>Now let's walk through the 6-phase Vibe Coding Playbook. </a:t>
            </a:r>
            <a:r>
              <a:rPr lang="en-US" altLang="zh-HK" b="1" dirty="0"/>
              <a:t>Phase 1 is Context &amp; Architecture</a:t>
            </a:r>
            <a:r>
              <a:rPr lang="en-US" altLang="zh-HK" dirty="0"/>
              <a:t>. </a:t>
            </a:r>
          </a:p>
          <a:p>
            <a:r>
              <a:rPr lang="en-US" altLang="zh-HK" dirty="0"/>
              <a:t>AI is terrible at guessing. The biggest mistake beginners make is skipping planning and jumping straight into coding. Reverse the prompt and make the AI interview you: </a:t>
            </a:r>
          </a:p>
          <a:p>
            <a:pPr marL="228600" indent="-228600">
              <a:buFont typeface="+mj-lt"/>
              <a:buAutoNum type="arabicPeriod"/>
            </a:pPr>
            <a:r>
              <a:rPr lang="en-US" altLang="zh-HK" b="1" dirty="0"/>
              <a:t>Plan Mode</a:t>
            </a:r>
            <a:r>
              <a:rPr lang="en-US" altLang="zh-HK" dirty="0"/>
              <a:t>: Instruct the agent to interview you systematically about your app's core features. </a:t>
            </a:r>
          </a:p>
          <a:p>
            <a:pPr marL="228600" indent="-228600">
              <a:buFont typeface="+mj-lt"/>
              <a:buAutoNum type="arabicPeriod"/>
            </a:pPr>
            <a:r>
              <a:rPr lang="en-US" altLang="zh-HK" b="1" dirty="0"/>
              <a:t>Generate plan.</a:t>
            </a:r>
            <a:r>
              <a:rPr lang="en-US" altLang="zh-HK" dirty="0"/>
              <a:t>md: Create a comprehensive, permanent reference document outlining the entire project scope. </a:t>
            </a:r>
          </a:p>
          <a:p>
            <a:pPr marL="228600" indent="-228600">
              <a:buFont typeface="+mj-lt"/>
              <a:buAutoNum type="arabicPeriod"/>
            </a:pPr>
            <a:r>
              <a:rPr lang="en-US" altLang="zh-HK" b="1" dirty="0"/>
              <a:t>Establish agents.md</a:t>
            </a:r>
            <a:r>
              <a:rPr lang="en-US" altLang="zh-HK" dirty="0"/>
              <a:t>: Feed global rules, tech stack choices, and design guidelines into the AI's context at the start of every single session.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420696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Sourcing UI References and Prototyping with Hardcoded Mock Data</a:t>
            </a:r>
          </a:p>
          <a:p>
            <a:endParaRPr lang="en-US" altLang="zh-HK" dirty="0"/>
          </a:p>
          <a:p>
            <a:r>
              <a:rPr lang="en-US" altLang="zh-HK" dirty="0"/>
              <a:t>Phase 2 focuses on </a:t>
            </a:r>
            <a:r>
              <a:rPr lang="en-US" altLang="zh-HK" b="1" dirty="0"/>
              <a:t>High-Fidelity UI Generation</a:t>
            </a:r>
            <a:r>
              <a:rPr lang="en-US" altLang="zh-HK" dirty="0"/>
              <a:t>. </a:t>
            </a:r>
          </a:p>
          <a:p>
            <a:r>
              <a:rPr lang="en-US" altLang="zh-HK" dirty="0"/>
              <a:t>Look at the warning on this slide: Do not let AI hallucinate raw design, or you'll end up with generic, ugly interfaces (like the bad reference on the left). Instead, source professional UI references—like screenshots from Pinterest or top-tier SaaS dashboards—and feed them directly into your agent. </a:t>
            </a:r>
          </a:p>
          <a:p>
            <a:r>
              <a:rPr lang="en-US" altLang="zh-HK" b="1" dirty="0"/>
              <a:t>Critical Insight</a:t>
            </a:r>
            <a:r>
              <a:rPr lang="en-US" altLang="zh-HK" dirty="0"/>
              <a:t>: Build the entire user interface using hardcoded fake data first. Perfect your aesthetics and user experience locally before wiring up complex backend databases and payment APIs.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72695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Iteration Cycle: Prompt, Test, Commit, PR, Merge</a:t>
            </a:r>
          </a:p>
          <a:p>
            <a:endParaRPr lang="en-US" altLang="zh-HK" dirty="0"/>
          </a:p>
          <a:p>
            <a:r>
              <a:rPr lang="en-US" altLang="zh-HK" dirty="0"/>
              <a:t>Phase 3 is the beating heart of our workflow: </a:t>
            </a:r>
            <a:r>
              <a:rPr lang="en-US" altLang="zh-HK" b="1" dirty="0"/>
              <a:t>The Vibe Coding Loop</a:t>
            </a:r>
            <a:r>
              <a:rPr lang="en-US" altLang="zh-HK" dirty="0"/>
              <a:t>. </a:t>
            </a:r>
          </a:p>
          <a:p>
            <a:r>
              <a:rPr lang="en-US" altLang="zh-HK" dirty="0"/>
              <a:t>Follow this disciplined iteration cycle for every single feature:</a:t>
            </a:r>
          </a:p>
          <a:p>
            <a:pPr marL="228600" indent="-228600">
              <a:buFont typeface="+mj-lt"/>
              <a:buAutoNum type="arabicPeriod"/>
            </a:pPr>
            <a:r>
              <a:rPr lang="en-US" altLang="zh-HK" b="1" dirty="0"/>
              <a:t>Prompt</a:t>
            </a:r>
            <a:r>
              <a:rPr lang="en-US" altLang="zh-HK" dirty="0"/>
              <a:t>: Direct the agent via natural language for a specific feature. </a:t>
            </a:r>
          </a:p>
          <a:p>
            <a:pPr marL="228600" indent="-228600">
              <a:buFont typeface="+mj-lt"/>
              <a:buAutoNum type="arabicPeriod"/>
            </a:pPr>
            <a:r>
              <a:rPr lang="en-US" altLang="zh-HK" b="1" dirty="0"/>
              <a:t>Self-Check</a:t>
            </a:r>
            <a:r>
              <a:rPr lang="en-US" altLang="zh-HK" dirty="0"/>
              <a:t>: Manually test the UI, buttons, and responsiveness locally. </a:t>
            </a:r>
          </a:p>
          <a:p>
            <a:pPr marL="228600" indent="-228600">
              <a:buFont typeface="+mj-lt"/>
              <a:buAutoNum type="arabicPeriod"/>
            </a:pPr>
            <a:r>
              <a:rPr lang="en-US" altLang="zh-HK" b="1" dirty="0"/>
              <a:t>Commit</a:t>
            </a:r>
            <a:r>
              <a:rPr lang="en-US" altLang="zh-HK" dirty="0"/>
              <a:t>: Save the working checkpoint to a separate branch. </a:t>
            </a:r>
          </a:p>
          <a:p>
            <a:pPr marL="228600" indent="-228600">
              <a:buFont typeface="+mj-lt"/>
              <a:buAutoNum type="arabicPeriod"/>
            </a:pPr>
            <a:r>
              <a:rPr lang="en-US" altLang="zh-HK" b="1" dirty="0"/>
              <a:t>Pull Request</a:t>
            </a:r>
            <a:r>
              <a:rPr lang="en-US" altLang="zh-HK" dirty="0"/>
              <a:t>: Send code for automated security review. </a:t>
            </a:r>
          </a:p>
          <a:p>
            <a:pPr marL="228600" indent="-228600">
              <a:buFont typeface="+mj-lt"/>
              <a:buAutoNum type="arabicPeriod"/>
            </a:pPr>
            <a:r>
              <a:rPr lang="en-US" altLang="zh-HK" b="1" dirty="0"/>
              <a:t>Merge</a:t>
            </a:r>
            <a:r>
              <a:rPr lang="en-US" altLang="zh-HK" dirty="0"/>
              <a:t>: Push the secured, functioning feature into the main application.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2170682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a:t>
            </a:r>
            <a:r>
              <a:rPr lang="en-US" altLang="zh-HK" dirty="0" err="1"/>
              <a:t>CodeRabbit</a:t>
            </a:r>
            <a:r>
              <a:rPr lang="en-US" altLang="zh-HK" dirty="0"/>
              <a:t> Deep Scans and Intercepting Vulnerabilities</a:t>
            </a:r>
          </a:p>
          <a:p>
            <a:endParaRPr lang="en-US" altLang="zh-HK" dirty="0"/>
          </a:p>
          <a:p>
            <a:r>
              <a:rPr lang="en-US" altLang="zh-HK" dirty="0"/>
              <a:t>Phase 4 addresses </a:t>
            </a:r>
            <a:r>
              <a:rPr lang="en-US" altLang="zh-HK" b="1" dirty="0"/>
              <a:t>Automated Security &amp; Code Review.</a:t>
            </a:r>
            <a:r>
              <a:rPr lang="en-US" altLang="zh-HK" dirty="0"/>
              <a:t> </a:t>
            </a:r>
          </a:p>
          <a:p>
            <a:r>
              <a:rPr lang="en-US" altLang="zh-HK" dirty="0"/>
              <a:t>When you vibe code, AI can generate hundreds of files in seconds, making manual human code review virtually impossible. That's why we deploy </a:t>
            </a:r>
            <a:r>
              <a:rPr lang="en-US" altLang="zh-HK" b="1" dirty="0" err="1"/>
              <a:t>CodeRabbit</a:t>
            </a:r>
            <a:r>
              <a:rPr lang="en-US" altLang="zh-HK" dirty="0"/>
              <a:t>: </a:t>
            </a:r>
          </a:p>
          <a:p>
            <a:pPr marL="171450" indent="-171450">
              <a:buFont typeface="Arial" panose="020B0604020202020204" pitchFamily="34" charset="0"/>
              <a:buChar char="•"/>
            </a:pPr>
            <a:r>
              <a:rPr lang="en-US" altLang="zh-HK" dirty="0" err="1"/>
              <a:t>CodeRabbit</a:t>
            </a:r>
            <a:r>
              <a:rPr lang="en-US" altLang="zh-HK" dirty="0"/>
              <a:t> intercepts every Pull Request on GitHub. </a:t>
            </a:r>
          </a:p>
          <a:p>
            <a:pPr marL="171450" indent="-171450">
              <a:buFont typeface="Arial" panose="020B0604020202020204" pitchFamily="34" charset="0"/>
              <a:buChar char="•"/>
            </a:pPr>
            <a:r>
              <a:rPr lang="en-US" altLang="zh-HK" dirty="0"/>
              <a:t>It acts as an automated Senior DevOps engineer, identifying injection vulnerabilities, broken user authorizations, and silent logic bugs. </a:t>
            </a:r>
          </a:p>
          <a:p>
            <a:pPr marL="171450" indent="-171450">
              <a:buFont typeface="Arial" panose="020B0604020202020204" pitchFamily="34" charset="0"/>
              <a:buChar char="•"/>
            </a:pPr>
            <a:r>
              <a:rPr lang="en-US" altLang="zh-HK" dirty="0"/>
              <a:t>Feed its security fixes directly back into your AI coding assistant to instantly patch and secure the app before merging.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2045525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Polar.sh Integration, Webhooks, and Sandbox Testing</a:t>
            </a:r>
          </a:p>
          <a:p>
            <a:endParaRPr lang="en-US" altLang="zh-HK" dirty="0"/>
          </a:p>
          <a:p>
            <a:r>
              <a:rPr lang="en-US" altLang="zh-HK" dirty="0"/>
              <a:t>Phase 5 is where your hobby turns into a business: </a:t>
            </a:r>
            <a:r>
              <a:rPr lang="en-US" altLang="zh-HK" b="1" dirty="0"/>
              <a:t>The Monetization Engine.</a:t>
            </a:r>
            <a:r>
              <a:rPr lang="en-US" altLang="zh-HK" dirty="0"/>
              <a:t> </a:t>
            </a:r>
          </a:p>
          <a:p>
            <a:r>
              <a:rPr lang="en-US" altLang="zh-HK" dirty="0"/>
              <a:t>Let's trace the payment flow:</a:t>
            </a:r>
          </a:p>
          <a:p>
            <a:pPr marL="228600" indent="-228600">
              <a:buFont typeface="+mj-lt"/>
              <a:buAutoNum type="arabicPeriod"/>
            </a:pPr>
            <a:r>
              <a:rPr lang="en-US" altLang="zh-HK" dirty="0"/>
              <a:t>User clicks 'Upgrade' on your app. </a:t>
            </a:r>
          </a:p>
          <a:p>
            <a:pPr marL="228600" indent="-228600">
              <a:buFont typeface="+mj-lt"/>
              <a:buAutoNum type="arabicPeriod"/>
            </a:pPr>
            <a:r>
              <a:rPr lang="en-US" altLang="zh-HK" b="1" dirty="0"/>
              <a:t>Polar.sh </a:t>
            </a:r>
            <a:r>
              <a:rPr lang="en-US" altLang="zh-HK" dirty="0"/>
              <a:t>processes the payment securely. </a:t>
            </a:r>
          </a:p>
          <a:p>
            <a:pPr marL="228600" indent="-228600">
              <a:buFont typeface="+mj-lt"/>
              <a:buAutoNum type="arabicPeriod"/>
            </a:pPr>
            <a:r>
              <a:rPr lang="en-US" altLang="zh-HK" dirty="0"/>
              <a:t>A </a:t>
            </a:r>
            <a:r>
              <a:rPr lang="en-US" altLang="zh-HK" b="1" dirty="0"/>
              <a:t>Webhook </a:t>
            </a:r>
            <a:r>
              <a:rPr lang="en-US" altLang="zh-HK" dirty="0"/>
              <a:t>fires instantly back to your server. </a:t>
            </a:r>
          </a:p>
          <a:p>
            <a:pPr marL="228600" indent="-228600">
              <a:buFont typeface="+mj-lt"/>
              <a:buAutoNum type="arabicPeriod"/>
            </a:pPr>
            <a:r>
              <a:rPr lang="en-US" altLang="zh-HK" dirty="0"/>
              <a:t>Your app verifies the environment secret and unlocks pro features in the database. </a:t>
            </a:r>
          </a:p>
          <a:p>
            <a:r>
              <a:rPr lang="en-US" altLang="zh-HK" dirty="0"/>
              <a:t>Always use sandbox mode to test credit card transactions locally with fake test data before deploying your live payment gateway to production.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930587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a:t>
            </a:r>
            <a:r>
              <a:rPr lang="en-US" altLang="zh-HK" dirty="0" err="1"/>
              <a:t>Cloudways</a:t>
            </a:r>
            <a:r>
              <a:rPr lang="en-US" altLang="zh-HK" dirty="0"/>
              <a:t> Velocity and Cloudflare Custom Domain Routing</a:t>
            </a:r>
          </a:p>
          <a:p>
            <a:endParaRPr lang="en-US" altLang="zh-HK" dirty="0"/>
          </a:p>
          <a:p>
            <a:r>
              <a:rPr lang="en-US" altLang="zh-HK" dirty="0"/>
              <a:t>Phase 6 brings us to </a:t>
            </a:r>
            <a:r>
              <a:rPr lang="en-US" altLang="zh-HK" b="1" dirty="0"/>
              <a:t>Continuous Deployment</a:t>
            </a:r>
            <a:r>
              <a:rPr lang="en-US" altLang="zh-HK" dirty="0"/>
              <a:t>. Building locally is just a sandbox; deploying makes it a real business. </a:t>
            </a:r>
          </a:p>
          <a:p>
            <a:pPr marL="171450" indent="-171450">
              <a:buFont typeface="Arial" panose="020B0604020202020204" pitchFamily="34" charset="0"/>
              <a:buChar char="•"/>
            </a:pPr>
            <a:r>
              <a:rPr lang="en-US" altLang="zh-HK" b="1" dirty="0" err="1"/>
              <a:t>Cloudways</a:t>
            </a:r>
            <a:r>
              <a:rPr lang="en-US" altLang="zh-HK" b="1" dirty="0"/>
              <a:t> Velocity</a:t>
            </a:r>
            <a:r>
              <a:rPr lang="en-US" altLang="zh-HK" dirty="0"/>
              <a:t>: Connects directly to your GitHub repository. Every time a new feature branch is successfully merged, production auto-updates in real-time on your live server. </a:t>
            </a:r>
          </a:p>
          <a:p>
            <a:pPr marL="171450" indent="-171450">
              <a:buFont typeface="Arial" panose="020B0604020202020204" pitchFamily="34" charset="0"/>
              <a:buChar char="•"/>
            </a:pPr>
            <a:r>
              <a:rPr lang="en-US" altLang="zh-HK" b="1" dirty="0"/>
              <a:t>Cloudflare Routing</a:t>
            </a:r>
            <a:r>
              <a:rPr lang="en-US" altLang="zh-HK" dirty="0"/>
              <a:t>: Routes a premium, custom domain directly to your live server while managing secure DNS records effortlessly.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0682568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Summary of the 5-Step Solo Founder Pipeline</a:t>
            </a:r>
          </a:p>
          <a:p>
            <a:endParaRPr lang="en-US" altLang="zh-HK" dirty="0"/>
          </a:p>
          <a:p>
            <a:r>
              <a:rPr lang="en-US" altLang="zh-HK" dirty="0"/>
              <a:t>Let's synthesize the complete solo matrix on this slide: </a:t>
            </a:r>
          </a:p>
          <a:p>
            <a:pPr marL="171450" indent="-171450">
              <a:buFont typeface="Arial" panose="020B0604020202020204" pitchFamily="34" charset="0"/>
              <a:buChar char="•"/>
            </a:pPr>
            <a:r>
              <a:rPr lang="en-US" altLang="zh-HK" b="1" dirty="0"/>
              <a:t>Vision</a:t>
            </a:r>
            <a:r>
              <a:rPr lang="en-US" altLang="zh-HK" dirty="0"/>
              <a:t>: Define your scope in plan.md. </a:t>
            </a:r>
          </a:p>
          <a:p>
            <a:pPr marL="171450" indent="-171450">
              <a:buFont typeface="Arial" panose="020B0604020202020204" pitchFamily="34" charset="0"/>
              <a:buChar char="•"/>
            </a:pPr>
            <a:r>
              <a:rPr lang="en-US" altLang="zh-HK" b="1" dirty="0"/>
              <a:t>Build</a:t>
            </a:r>
            <a:r>
              <a:rPr lang="en-US" altLang="zh-HK" dirty="0"/>
              <a:t>: Let AI structure your Next.js and Postgres database. </a:t>
            </a:r>
          </a:p>
          <a:p>
            <a:pPr marL="171450" indent="-171450">
              <a:buFont typeface="Arial" panose="020B0604020202020204" pitchFamily="34" charset="0"/>
              <a:buChar char="•"/>
            </a:pPr>
            <a:r>
              <a:rPr lang="en-US" altLang="zh-HK" b="1" dirty="0"/>
              <a:t>Secure</a:t>
            </a:r>
            <a:r>
              <a:rPr lang="en-US" altLang="zh-HK" dirty="0"/>
              <a:t>: Run </a:t>
            </a:r>
            <a:r>
              <a:rPr lang="en-US" altLang="zh-HK" dirty="0" err="1"/>
              <a:t>CodeRabbit</a:t>
            </a:r>
            <a:r>
              <a:rPr lang="en-US" altLang="zh-HK" dirty="0"/>
              <a:t> automated vulnerability scans. </a:t>
            </a:r>
          </a:p>
          <a:p>
            <a:pPr marL="171450" indent="-171450">
              <a:buFont typeface="Arial" panose="020B0604020202020204" pitchFamily="34" charset="0"/>
              <a:buChar char="•"/>
            </a:pPr>
            <a:r>
              <a:rPr lang="en-US" altLang="zh-HK" b="1" dirty="0"/>
              <a:t>Deploy</a:t>
            </a:r>
            <a:r>
              <a:rPr lang="en-US" altLang="zh-HK" dirty="0"/>
              <a:t>: Sync live via </a:t>
            </a:r>
            <a:r>
              <a:rPr lang="en-US" altLang="zh-HK" dirty="0" err="1"/>
              <a:t>Cloudways</a:t>
            </a:r>
            <a:r>
              <a:rPr lang="en-US" altLang="zh-HK" dirty="0"/>
              <a:t> and GitHub. </a:t>
            </a:r>
          </a:p>
          <a:p>
            <a:pPr marL="171450" indent="-171450">
              <a:buFont typeface="Arial" panose="020B0604020202020204" pitchFamily="34" charset="0"/>
              <a:buChar char="•"/>
            </a:pPr>
            <a:r>
              <a:rPr lang="en-US" altLang="zh-HK" b="1" dirty="0"/>
              <a:t>Monetize</a:t>
            </a:r>
            <a:r>
              <a:rPr lang="en-US" altLang="zh-HK" dirty="0"/>
              <a:t>: Power subscriptions with Polar.sh webhooks. </a:t>
            </a:r>
          </a:p>
          <a:p>
            <a:r>
              <a:rPr lang="en-US" altLang="zh-HK" b="1" dirty="0"/>
              <a:t>The Core Takeaway</a:t>
            </a:r>
            <a:r>
              <a:rPr lang="en-US" altLang="zh-HK" dirty="0"/>
              <a:t>: The modern solo founder is no longer a syntax typist—they are a director coordinating expert automated systems.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290758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dirty="0"/>
              <a:t>Core Topic: The New Barrier to Entry in Software Development</a:t>
            </a:r>
          </a:p>
          <a:p>
            <a:endParaRPr lang="en-US" altLang="zh-HK" dirty="0"/>
          </a:p>
          <a:p>
            <a:r>
              <a:rPr lang="en-US" altLang="zh-HK" dirty="0"/>
              <a:t>As we look at the concluding message on this slide, the barrier to building software has fundamentally transformed: </a:t>
            </a:r>
          </a:p>
          <a:p>
            <a:r>
              <a:rPr lang="en-US" altLang="zh-HK" dirty="0"/>
              <a:t>It is no longer about technical coding skill; it is about clarity of thought, product vision, and creative problem-solving. With the right workflow and AI tools, any idea can become a fully functional, revenue-generating product.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44803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r>
              <a:rPr lang="en-US" altLang="zh-HK"/>
              <a:t>Core </a:t>
            </a:r>
            <a:r>
              <a:rPr lang="en-US" altLang="zh-HK" dirty="0"/>
              <a:t>Topic: Comprehensive Visual Recap of the Launch Workflow</a:t>
            </a:r>
          </a:p>
          <a:p>
            <a:endParaRPr lang="en-US" altLang="zh-HK" dirty="0"/>
          </a:p>
          <a:p>
            <a:r>
              <a:rPr lang="en-US" altLang="zh-HK" dirty="0"/>
              <a:t>To wrap up, this final blueprint encapsulates our entire journey: interview AI to build specs, supply human UI references, execute frontend prototyping before database wiring, run automated code reviews, and deploy continuously for live updates. </a:t>
            </a:r>
          </a:p>
          <a:p>
            <a:r>
              <a:rPr lang="en-US" altLang="zh-HK" dirty="0"/>
              <a:t>Thank you for joining today! Go build your SaaS. </a:t>
            </a:r>
            <a:endParaRPr lang="zh-HK" altLang="en-US" dirty="0"/>
          </a:p>
        </p:txBody>
      </p:sp>
      <p:sp>
        <p:nvSpPr>
          <p:cNvPr id="4" name="投影片編號版面配置區 3"/>
          <p:cNvSpPr>
            <a:spLocks noGrp="1"/>
          </p:cNvSpPr>
          <p:nvPr>
            <p:ph type="sldNum" idx="36"/>
          </p:nvPr>
        </p:nvSpPr>
        <p:spPr/>
        <p:txBody>
          <a:bodyPr/>
          <a:lstStyle/>
          <a:p>
            <a:pPr indent="0" algn="r">
              <a:buNone/>
            </a:pPr>
            <a:fld id="{598C90B2-1C97-4580-9B46-8D7AEB79C6BB}"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831627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77236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8D470DD-2139-0717-6D35-3D7188276C22}"/>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C0B6DFB4-5343-DDD9-2D11-239D624FFB4F}"/>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F7DD307-8CAC-9484-BB70-D882AB264D09}"/>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AC8BFAA-85E4-3FB7-4E77-AEBD6C2F765B}"/>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C3D6947-4103-F78B-76BC-D7497A7ADE6D}"/>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9BA94A4-594D-CE92-8168-501FD7488A56}"/>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F7990953-D02C-09ED-6704-2DE6822BEDF6}"/>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4708DB0-63AE-6161-B09E-E2194D10DE2A}"/>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9735216-030D-1DC9-FAC7-70EA98A2BEF9}"/>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F895098E-718E-A168-8B63-E61885D70FFC}"/>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D0780A3C-969C-57C3-52AB-3C608BA4570A}"/>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BC9FEEF-5358-A726-62D7-3E2404947462}"/>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CBCAE9C-8988-AED3-1852-4C2C7E480945}"/>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6AF168B6-E132-6236-FE41-D45A20D034F6}"/>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452C199-5359-D420-9B70-D5B6A8612CC6}"/>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9C1BF20-6E2C-1C1F-0DA9-2ABA4DA1CE16}"/>
              </a:ext>
            </a:extLst>
          </p:cNvPr>
          <p:cNvPicPr>
            <a:picLocks noChangeAspect="1"/>
          </p:cNvPicPr>
          <p:nvPr/>
        </p:nvPicPr>
        <p:blipFill>
          <a:blip r:embed="rId3"/>
          <a:stretch>
            <a:fillRect/>
          </a:stretch>
        </p:blipFill>
        <p:spPr>
          <a:xfrm>
            <a:off x="3175" y="33337"/>
            <a:ext cx="16249650" cy="90773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TotalTime>
  <Words>1797</Words>
  <Application>Microsoft Office PowerPoint</Application>
  <PresentationFormat>自訂</PresentationFormat>
  <Paragraphs>124</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Arial</vt:lpstr>
      <vt:lpstr>Calibri</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7</cp:revision>
  <dcterms:created xsi:type="dcterms:W3CDTF">2006-08-16T00:00:00Z</dcterms:created>
  <dcterms:modified xsi:type="dcterms:W3CDTF">2026-10-18T00:17:39Z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