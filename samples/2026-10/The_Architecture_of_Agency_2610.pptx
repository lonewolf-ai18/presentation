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578" autoAdjust="0"/>
  </p:normalViewPr>
  <p:slideViewPr>
    <p:cSldViewPr snapToGrid="0">
      <p:cViewPr varScale="1">
        <p:scale>
          <a:sx n="56" d="100"/>
          <a:sy n="56" d="100"/>
        </p:scale>
        <p:origin x="102" y="5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E8F56C40-E89C-4901-977A-AB72235A0EFD}"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noRot="1" noChangeAspect="1"/>
          </p:cNvSpPr>
          <p:nvPr>
            <p:ph type="sldImg"/>
          </p:nvPr>
        </p:nvSpPr>
        <p:spPr>
          <a:xfrm>
            <a:off x="217488" y="812800"/>
            <a:ext cx="7124700" cy="4008438"/>
          </a:xfrm>
          <a:prstGeom prst="rect">
            <a:avLst/>
          </a:prstGeom>
          <a:ln w="0">
            <a:noFill/>
          </a:ln>
        </p:spPr>
      </p:sp>
      <p:sp>
        <p:nvSpPr>
          <p:cNvPr id="8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dirty="0">
                <a:solidFill>
                  <a:srgbClr val="000000"/>
                </a:solidFill>
                <a:effectLst/>
                <a:uFillTx/>
                <a:latin typeface="Arial"/>
              </a:rPr>
              <a:t>Core Topic: Introduction to Mental Resilience as an Operating System</a:t>
            </a:r>
          </a:p>
          <a:p>
            <a:pPr indent="0" algn="l">
              <a:buNone/>
            </a:pPr>
            <a:endParaRPr lang="en-US" sz="2000" b="0" u="none" strike="noStrike" dirty="0">
              <a:solidFill>
                <a:srgbClr val="000000"/>
              </a:solidFill>
              <a:effectLst/>
              <a:uFillTx/>
              <a:latin typeface="Arial"/>
            </a:endParaRPr>
          </a:p>
          <a:p>
            <a:pPr indent="0" algn="l">
              <a:buNone/>
            </a:pPr>
            <a:r>
              <a:rPr lang="en-US" sz="2000" b="0" u="none" strike="noStrike" dirty="0">
                <a:solidFill>
                  <a:srgbClr val="000000"/>
                </a:solidFill>
                <a:effectLst/>
                <a:uFillTx/>
                <a:latin typeface="Arial"/>
              </a:rPr>
              <a:t>Good morning, everyone, and welcome. Today, we are exploring a vital operating manual for high performance: </a:t>
            </a:r>
            <a:r>
              <a:rPr lang="en-US" sz="2000" b="1" u="none" strike="noStrike" dirty="0">
                <a:solidFill>
                  <a:srgbClr val="000000"/>
                </a:solidFill>
                <a:effectLst/>
                <a:uFillTx/>
                <a:latin typeface="Arial"/>
              </a:rPr>
              <a:t>The Architecture of Agency: An Operating Manual for Mental Resilience.</a:t>
            </a:r>
          </a:p>
          <a:p>
            <a:pPr indent="0" algn="l">
              <a:buNone/>
            </a:pPr>
            <a:r>
              <a:rPr lang="en-US" sz="2000" b="0" u="none" strike="noStrike" dirty="0">
                <a:solidFill>
                  <a:srgbClr val="000000"/>
                </a:solidFill>
                <a:effectLst/>
                <a:uFillTx/>
                <a:latin typeface="Arial"/>
              </a:rPr>
              <a:t>If you look at the title slide, it establishes our core premise: resilience isn't an innate personality trait you're simply born with; it is an architectural structure. Just as physical buildings require robust pillars and foundations to withstand external loads, human agency requires deliberate mental frameworks to navigate stress, uncertainty, and friction without collapsing. Over the next 16 slides, we are going to dissect the exact mechanics of mental strength, moving from reactive emotional loops to calculated, value-driven execution. Let's begin.</a:t>
            </a: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endParaRPr lang="en-US" altLang="zh-HK" sz="2000" b="0" u="none" strike="noStrike" dirty="0">
              <a:solidFill>
                <a:srgbClr val="000000"/>
              </a:solidFill>
              <a:effectLst/>
              <a:uFillTx/>
              <a:latin typeface="Arial"/>
            </a:endParaRPr>
          </a:p>
          <a:p>
            <a:pPr indent="0" algn="l">
              <a:buNone/>
            </a:pPr>
            <a:endParaRPr lang="en-US" altLang="zh-HK" sz="2000" b="0" u="none" strike="noStrike" dirty="0">
              <a:solidFill>
                <a:srgbClr val="000000"/>
              </a:solidFill>
              <a:effectLst/>
              <a:uFillTx/>
              <a:latin typeface="Arial"/>
            </a:endParaRPr>
          </a:p>
          <a:p>
            <a:pPr indent="0" algn="l">
              <a:buNone/>
            </a:pPr>
            <a:endParaRPr lang="en-US" altLang="zh-HK" sz="2000" b="0" u="none" strike="noStrike" dirty="0">
              <a:solidFill>
                <a:srgbClr val="000000"/>
              </a:solidFill>
              <a:effectLst/>
              <a:uFillTx/>
              <a:latin typeface="Arial"/>
            </a:endParaRPr>
          </a:p>
          <a:p>
            <a:pPr indent="0" algn="l">
              <a:buNone/>
            </a:pPr>
            <a:endParaRPr lang="en-US" altLang="zh-HK" sz="2000" b="0" u="none" strike="noStrike" dirty="0">
              <a:solidFill>
                <a:srgbClr val="000000"/>
              </a:solidFill>
              <a:effectLst/>
              <a:uFillTx/>
              <a:latin typeface="Arial"/>
            </a:endParaRPr>
          </a:p>
          <a:p>
            <a:pPr indent="0" algn="l">
              <a:buNone/>
            </a:pPr>
            <a:r>
              <a:rPr lang="en-US" altLang="zh-HK" sz="2000" b="0" u="none" strike="noStrike" dirty="0">
                <a:solidFill>
                  <a:srgbClr val="000000"/>
                </a:solidFill>
                <a:effectLst/>
                <a:uFillTx/>
                <a:latin typeface="Arial"/>
              </a:rPr>
              <a:t>Build an Unbreakable Mindset 💪 | Full Audiobook for Mental Strength, Discipline &amp; Success</a:t>
            </a:r>
          </a:p>
          <a:p>
            <a:pPr indent="0" algn="l">
              <a:buNone/>
            </a:pPr>
            <a:r>
              <a:rPr lang="en-US" altLang="zh-HK" sz="2000" b="0" u="none" strike="noStrike" dirty="0">
                <a:solidFill>
                  <a:srgbClr val="000000"/>
                </a:solidFill>
                <a:effectLst/>
                <a:uFillTx/>
                <a:latin typeface="Arial"/>
              </a:rPr>
              <a:t>https://www.youtube.com/watch?v=TkzBwPVCYGg</a:t>
            </a:r>
          </a:p>
          <a:p>
            <a:pPr indent="0" algn="l">
              <a:buNone/>
            </a:pPr>
            <a:endParaRPr lang="en-US" sz="2000" b="0" u="none" strike="noStrike" dirty="0">
              <a:solidFill>
                <a:srgbClr val="000000"/>
              </a:solidFill>
              <a:effectLst/>
              <a:uFillTx/>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Untested Assumptions and the Space Between Stimulus and Action</a:t>
            </a:r>
          </a:p>
          <a:p>
            <a:endParaRPr lang="en-US" altLang="zh-HK" dirty="0"/>
          </a:p>
          <a:p>
            <a:r>
              <a:rPr lang="en-US" altLang="zh-HK" dirty="0"/>
              <a:t>Let’s start with a foundational truth: </a:t>
            </a:r>
            <a:r>
              <a:rPr lang="en-US" altLang="zh-HK" b="1" dirty="0"/>
              <a:t>Quiet assumptions are quietly shaping your reality.</a:t>
            </a:r>
          </a:p>
          <a:p>
            <a:r>
              <a:rPr lang="en-US" altLang="zh-HK" dirty="0"/>
              <a:t>You may look calm, composed, and capable on the outside while privately reacting to a relentless stream of untested internal assumptions. An unbreakable mindset is never the total absence of emotion or struggle; rather, it is the deliberate, engineered space between what happens to you and what you choose to do next.</a:t>
            </a:r>
          </a:p>
          <a:p>
            <a:r>
              <a:rPr lang="en-US" altLang="zh-HK" dirty="0"/>
              <a:t>As the callout highlights: Familiar thoughts become easy to overlook. The real work begins by recognizing what is weakening your mindset without you fully noticing it. Uncovering these silent scripts is the first step toward true agency.</a:t>
            </a:r>
            <a:endParaRPr lang="zh-HK" altLang="en-US" dirty="0"/>
          </a:p>
        </p:txBody>
      </p:sp>
      <p:sp>
        <p:nvSpPr>
          <p:cNvPr id="4" name="投影片編號版面配置區 3"/>
          <p:cNvSpPr>
            <a:spLocks noGrp="1"/>
          </p:cNvSpPr>
          <p:nvPr>
            <p:ph type="sldNum" idx="36"/>
          </p:nvPr>
        </p:nvSpPr>
        <p:spPr/>
        <p:txBody>
          <a:bodyPr/>
          <a:lstStyle/>
          <a:p>
            <a:pPr indent="0" algn="r">
              <a:buNone/>
            </a:pPr>
            <a:fld id="{E8F56C40-E89C-4901-977A-AB72235A0EFD}"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137527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The Four Pillars: Awareness, Agency, Architecture, and Alignment</a:t>
            </a:r>
          </a:p>
          <a:p>
            <a:endParaRPr lang="en-US" altLang="zh-HK" dirty="0"/>
          </a:p>
          <a:p>
            <a:r>
              <a:rPr lang="en-US" altLang="zh-HK" dirty="0"/>
              <a:t>How do we structurally expand that crucial space? Look at the four-pillar architecture illustrated on this slide:</a:t>
            </a:r>
          </a:p>
          <a:p>
            <a:r>
              <a:rPr lang="en-US" altLang="zh-HK" dirty="0"/>
              <a:t>1. Awareness: Noticing the automatic thought before it hijacks your behavior.</a:t>
            </a:r>
          </a:p>
          <a:p>
            <a:r>
              <a:rPr lang="en-US" altLang="zh-HK" dirty="0"/>
              <a:t>2. Agency: Taking full responsibility for the reaction rather than blaming external circumstances.</a:t>
            </a:r>
          </a:p>
          <a:p>
            <a:r>
              <a:rPr lang="en-US" altLang="zh-HK" dirty="0"/>
              <a:t>3. Architecture: Building proactive systems and habits that make good choices the default.</a:t>
            </a:r>
          </a:p>
          <a:p>
            <a:r>
              <a:rPr lang="en-US" altLang="zh-HK" dirty="0"/>
              <a:t>4. Alignment: Anchoring daily decisions to long-term core values.</a:t>
            </a:r>
          </a:p>
          <a:p>
            <a:r>
              <a:rPr lang="en-US" altLang="zh-HK" dirty="0"/>
              <a:t>Mental resilience is an operational system. By restructuring how you process external inputs, you shift permanently from default reactivity to deliberate, value-aligned choice.</a:t>
            </a:r>
            <a:endParaRPr lang="zh-HK" altLang="en-US" dirty="0"/>
          </a:p>
        </p:txBody>
      </p:sp>
      <p:sp>
        <p:nvSpPr>
          <p:cNvPr id="4" name="投影片編號版面配置區 3"/>
          <p:cNvSpPr>
            <a:spLocks noGrp="1"/>
          </p:cNvSpPr>
          <p:nvPr>
            <p:ph type="sldNum" idx="36"/>
          </p:nvPr>
        </p:nvSpPr>
        <p:spPr/>
        <p:txBody>
          <a:bodyPr/>
          <a:lstStyle/>
          <a:p>
            <a:pPr indent="0" algn="r">
              <a:buNone/>
            </a:pPr>
            <a:fld id="{E8F56C40-E89C-4901-977A-AB72235A0EFD}"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117734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The Event-Thought-Emotion-Behavior Chain and Interrogating Interpretations</a:t>
            </a:r>
          </a:p>
          <a:p>
            <a:endParaRPr lang="en-US" altLang="zh-HK" dirty="0"/>
          </a:p>
          <a:p>
            <a:r>
              <a:rPr lang="en-US" altLang="zh-HK" dirty="0"/>
              <a:t>Your mind moves with terrifying speed from a neutral event straight to a broad emotional conclusion. Look at the vertical chain on this slide:</a:t>
            </a:r>
          </a:p>
          <a:p>
            <a:pPr marL="171450" indent="-171450">
              <a:buFont typeface="Arial" panose="020B0604020202020204" pitchFamily="34" charset="0"/>
              <a:buChar char="•"/>
            </a:pPr>
            <a:br>
              <a:rPr lang="en-US" altLang="zh-HK" dirty="0"/>
            </a:br>
            <a:r>
              <a:rPr lang="en-US" altLang="zh-HK" dirty="0"/>
              <a:t>The Event: (e.g., A colleague remains silent during a pitch).</a:t>
            </a:r>
          </a:p>
          <a:p>
            <a:pPr marL="171450" indent="-171450">
              <a:buFont typeface="Arial" panose="020B0604020202020204" pitchFamily="34" charset="0"/>
              <a:buChar char="•"/>
            </a:pPr>
            <a:r>
              <a:rPr lang="en-US" altLang="zh-HK" dirty="0"/>
              <a:t>The Thought: (e.g., 'My idea was completely rejected and they think I'm incompetent').</a:t>
            </a:r>
          </a:p>
          <a:p>
            <a:pPr marL="171450" indent="-171450">
              <a:buFont typeface="Arial" panose="020B0604020202020204" pitchFamily="34" charset="0"/>
              <a:buChar char="•"/>
            </a:pPr>
            <a:r>
              <a:rPr lang="en-US" altLang="zh-HK" dirty="0"/>
              <a:t>The Emotion: (Defensiveness, anxiety, or resentment).</a:t>
            </a:r>
          </a:p>
          <a:p>
            <a:pPr marL="171450" indent="-171450">
              <a:buFont typeface="Arial" panose="020B0604020202020204" pitchFamily="34" charset="0"/>
              <a:buChar char="•"/>
            </a:pPr>
            <a:r>
              <a:rPr lang="en-US" altLang="zh-HK" dirty="0"/>
              <a:t>The Behavior: (Withdrawal, snapping, or shutting down).</a:t>
            </a:r>
          </a:p>
          <a:p>
            <a:r>
              <a:rPr lang="en-US" altLang="zh-HK" dirty="0"/>
              <a:t>Stop asking, 'Why am I like this?' and begin asking, 'What was I telling myself immediately before I acted?' The Intervention Point is right there between thought and emotion, where you ask: Is this an objective fact, or an untested interpretation?</a:t>
            </a:r>
            <a:endParaRPr lang="zh-HK" altLang="en-US" dirty="0"/>
          </a:p>
        </p:txBody>
      </p:sp>
      <p:sp>
        <p:nvSpPr>
          <p:cNvPr id="4" name="投影片編號版面配置區 3"/>
          <p:cNvSpPr>
            <a:spLocks noGrp="1"/>
          </p:cNvSpPr>
          <p:nvPr>
            <p:ph type="sldNum" idx="36"/>
          </p:nvPr>
        </p:nvSpPr>
        <p:spPr/>
        <p:txBody>
          <a:bodyPr/>
          <a:lstStyle/>
          <a:p>
            <a:pPr indent="0" algn="r">
              <a:buNone/>
            </a:pPr>
            <a:fld id="{E8F56C40-E89C-4901-977A-AB72235A0EFD}"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4338924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Physiological Arousal, The Pause, and Delayed Reaction</a:t>
            </a:r>
          </a:p>
          <a:p>
            <a:endParaRPr lang="en-US" altLang="zh-HK" dirty="0"/>
          </a:p>
          <a:p>
            <a:r>
              <a:rPr lang="en-US" altLang="zh-HK" dirty="0"/>
              <a:t>A core tenet of mental architecture is recognizing that Emotion is information, not an instruction.</a:t>
            </a:r>
          </a:p>
          <a:p>
            <a:r>
              <a:rPr lang="en-US" altLang="zh-HK" dirty="0"/>
              <a:t>Emotional control does not mean becoming an unfeeling robot or feeling instantly calm. It means feeling your heart beat faster, noticing the physical tension rising, and actively deciding not to let those raw physical reactions dictate your next action.</a:t>
            </a:r>
          </a:p>
          <a:p>
            <a:r>
              <a:rPr lang="en-US" altLang="zh-HK" dirty="0"/>
              <a:t>Follow the three-step pause protocol:</a:t>
            </a:r>
          </a:p>
          <a:p>
            <a:pPr marL="228600" indent="-228600">
              <a:buFont typeface="+mj-lt"/>
              <a:buAutoNum type="arabicPeriod"/>
            </a:pPr>
            <a:r>
              <a:rPr lang="en-US" altLang="zh-HK" dirty="0"/>
              <a:t>Observe: Notice the physical signal (tight jaw, shallow breathing).</a:t>
            </a:r>
          </a:p>
          <a:p>
            <a:pPr marL="228600" indent="-228600">
              <a:buFont typeface="+mj-lt"/>
              <a:buAutoNum type="arabicPeriod"/>
            </a:pPr>
            <a:r>
              <a:rPr lang="en-US" altLang="zh-HK" dirty="0"/>
              <a:t>Identify: Name the specific emotion accurately (uncertainty, not general stress).</a:t>
            </a:r>
          </a:p>
          <a:p>
            <a:pPr marL="228600" indent="-228600">
              <a:buFont typeface="+mj-lt"/>
              <a:buAutoNum type="arabicPeriod"/>
            </a:pPr>
            <a:r>
              <a:rPr lang="en-US" altLang="zh-HK" dirty="0"/>
              <a:t>Delay: Allow the immediate desire for relief to pass before deciding.</a:t>
            </a:r>
            <a:endParaRPr lang="zh-HK" altLang="en-US" dirty="0"/>
          </a:p>
        </p:txBody>
      </p:sp>
      <p:sp>
        <p:nvSpPr>
          <p:cNvPr id="4" name="投影片編號版面配置區 3"/>
          <p:cNvSpPr>
            <a:spLocks noGrp="1"/>
          </p:cNvSpPr>
          <p:nvPr>
            <p:ph type="sldNum" idx="36"/>
          </p:nvPr>
        </p:nvSpPr>
        <p:spPr/>
        <p:txBody>
          <a:bodyPr/>
          <a:lstStyle/>
          <a:p>
            <a:pPr indent="0" algn="r">
              <a:buNone/>
            </a:pPr>
            <a:fld id="{E8F56C40-E89C-4901-977A-AB72235A0EFD}"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8787085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The Reflex of Blame vs. The Stance of Responsibility</a:t>
            </a:r>
          </a:p>
          <a:p>
            <a:endParaRPr lang="en-US" altLang="zh-HK" dirty="0"/>
          </a:p>
          <a:p>
            <a:r>
              <a:rPr lang="en-US" altLang="zh-HK" dirty="0"/>
              <a:t>When setbacks occur, we face a crucial fork in the road: blame the environment or take ownership.</a:t>
            </a:r>
          </a:p>
          <a:p>
            <a:pPr marL="171450" indent="-171450">
              <a:buFont typeface="Arial" panose="020B0604020202020204" pitchFamily="34" charset="0"/>
              <a:buChar char="•"/>
            </a:pPr>
            <a:r>
              <a:rPr lang="en-US" altLang="zh-HK" dirty="0"/>
              <a:t>The Reflex of Blame: Focuses on 'Who caused this problem?' It protects the ego short-term while waiting passively for external conditions or other people to change. Result: Chronic dependency and recurring frustration.</a:t>
            </a:r>
          </a:p>
          <a:p>
            <a:pPr marL="171450" indent="-171450">
              <a:buFont typeface="Arial" panose="020B0604020202020204" pitchFamily="34" charset="0"/>
              <a:buChar char="•"/>
            </a:pPr>
            <a:r>
              <a:rPr lang="en-US" altLang="zh-HK" dirty="0"/>
              <a:t>The Stance of Responsibility: Focuses on 'What is mine to manage right now?' It gathers objective data and examines personal contribution to the outcome. Result: Behavioral options and immense psychological leverage.</a:t>
            </a:r>
          </a:p>
          <a:p>
            <a:r>
              <a:rPr lang="en-US" altLang="zh-HK" dirty="0"/>
              <a:t>Blaming circumstances provides temporary emotional relief while quietly destroying your power to change your life.</a:t>
            </a:r>
            <a:endParaRPr lang="zh-HK" altLang="en-US" dirty="0"/>
          </a:p>
        </p:txBody>
      </p:sp>
      <p:sp>
        <p:nvSpPr>
          <p:cNvPr id="4" name="投影片編號版面配置區 3"/>
          <p:cNvSpPr>
            <a:spLocks noGrp="1"/>
          </p:cNvSpPr>
          <p:nvPr>
            <p:ph type="sldNum" idx="36"/>
          </p:nvPr>
        </p:nvSpPr>
        <p:spPr/>
        <p:txBody>
          <a:bodyPr/>
          <a:lstStyle/>
          <a:p>
            <a:pPr indent="0" algn="r">
              <a:buNone/>
            </a:pPr>
            <a:fld id="{E8F56C40-E89C-4901-977A-AB72235A0EFD}"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6613789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The Minimum Viable Habit (MVH) Curve and Avoiding the Zero Floor</a:t>
            </a:r>
          </a:p>
          <a:p>
            <a:endParaRPr lang="en-US" altLang="zh-HK" dirty="0"/>
          </a:p>
          <a:p>
            <a:r>
              <a:rPr lang="en-US" altLang="zh-HK" dirty="0"/>
              <a:t>Ambitious routines and New Year's resolutions inevitably collapse when motivation fades and life gets chaotic. Look at </a:t>
            </a:r>
            <a:r>
              <a:rPr lang="en-US" altLang="zh-HK" b="1" dirty="0"/>
              <a:t>The Minimum Viable Habit (MVH)</a:t>
            </a:r>
            <a:r>
              <a:rPr lang="en-US" altLang="zh-HK" dirty="0"/>
              <a:t> Curve on this slide:</a:t>
            </a:r>
          </a:p>
          <a:p>
            <a:r>
              <a:rPr lang="en-US" altLang="zh-HK" dirty="0"/>
              <a:t>Self-discipline is not demanding maximum intensity every single day; it is establishing a floor that prevents your behavior from dropping to zero when resistance appears.</a:t>
            </a:r>
          </a:p>
          <a:p>
            <a:r>
              <a:rPr lang="en-US" altLang="zh-HK" dirty="0"/>
              <a:t>Notice the gold floor line on the chart: even when output fluctuates wildly due to external conditions, maintaining a tiny baseline standard (e.g., 10 pages of reading, 5 minutes of mobility work) ensures your action remains connected to your intention without relying on fleeting motivation.</a:t>
            </a:r>
            <a:endParaRPr lang="zh-HK" altLang="en-US" dirty="0"/>
          </a:p>
        </p:txBody>
      </p:sp>
      <p:sp>
        <p:nvSpPr>
          <p:cNvPr id="4" name="投影片編號版面配置區 3"/>
          <p:cNvSpPr>
            <a:spLocks noGrp="1"/>
          </p:cNvSpPr>
          <p:nvPr>
            <p:ph type="sldNum" idx="36"/>
          </p:nvPr>
        </p:nvSpPr>
        <p:spPr/>
        <p:txBody>
          <a:bodyPr/>
          <a:lstStyle/>
          <a:p>
            <a:pPr indent="0" algn="r">
              <a:buNone/>
            </a:pPr>
            <a:fld id="{E8F56C40-E89C-4901-977A-AB72235A0EFD}"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001806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The Focus Filter, Environmental Design, and Sustained Attention</a:t>
            </a:r>
          </a:p>
          <a:p>
            <a:endParaRPr lang="en-US" altLang="zh-HK" dirty="0"/>
          </a:p>
          <a:p>
            <a:r>
              <a:rPr lang="en-US" altLang="zh-HK" dirty="0"/>
              <a:t>Constant distraction is rarely a time-management problem; it is almost always an attempt to escape the internal discomfort of a difficult, cognitively demanding task. Removing your phone from the desk does not remove that internal discomfort.</a:t>
            </a:r>
          </a:p>
          <a:p>
            <a:r>
              <a:rPr lang="en-US" altLang="zh-HK" dirty="0"/>
              <a:t>Look at the Focus Filter funnel on this slide:</a:t>
            </a:r>
          </a:p>
          <a:p>
            <a:pPr marL="171450" indent="-171450">
              <a:buFont typeface="Arial" panose="020B0604020202020204" pitchFamily="34" charset="0"/>
              <a:buChar char="•"/>
            </a:pPr>
            <a:r>
              <a:rPr lang="en-US" altLang="zh-HK" dirty="0"/>
              <a:t>Unfinished responsibilities, notifications, and the urge to escape boredom bombard our working memory.</a:t>
            </a:r>
          </a:p>
          <a:p>
            <a:pPr marL="171450" indent="-171450">
              <a:buFont typeface="Arial" panose="020B0604020202020204" pitchFamily="34" charset="0"/>
              <a:buChar char="•"/>
            </a:pPr>
            <a:r>
              <a:rPr lang="en-US" altLang="zh-HK" dirty="0"/>
              <a:t>To achieve sustained attention, you must build a 3-tier barrier: (1) Specific task definitions, (2) External devices removed, and (3) Designated response times. Rest allows the mind to recover; constant distraction keeps attention permanently fractured.</a:t>
            </a:r>
            <a:endParaRPr lang="zh-HK" altLang="en-US" dirty="0"/>
          </a:p>
        </p:txBody>
      </p:sp>
      <p:sp>
        <p:nvSpPr>
          <p:cNvPr id="4" name="投影片編號版面配置區 3"/>
          <p:cNvSpPr>
            <a:spLocks noGrp="1"/>
          </p:cNvSpPr>
          <p:nvPr>
            <p:ph type="sldNum" idx="36"/>
          </p:nvPr>
        </p:nvSpPr>
        <p:spPr/>
        <p:txBody>
          <a:bodyPr/>
          <a:lstStyle/>
          <a:p>
            <a:pPr indent="0" algn="r">
              <a:buNone/>
            </a:pPr>
            <a:fld id="{E8F56C40-E89C-4901-977A-AB72235A0EFD}"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057706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Decision Horizon Scale, Short-Term Relief vs. Long-Term Compound Costs</a:t>
            </a:r>
          </a:p>
          <a:p>
            <a:endParaRPr lang="en-US" altLang="zh-HK" dirty="0"/>
          </a:p>
          <a:p>
            <a:r>
              <a:rPr lang="en-US" altLang="zh-HK" dirty="0"/>
              <a:t>When you are tired, stressed, or overwhelmed, your brain naturally prioritizes quick emotional relief over future consequences. Look at The Decision Horizon Scale on this slide:</a:t>
            </a:r>
          </a:p>
          <a:p>
            <a:r>
              <a:rPr lang="en-US" altLang="zh-HK" dirty="0"/>
              <a:t>On the left pan, we put immediate comfort: escaping difficulty, seeking emotional release, or avoiding a hard conversation. On the right pan sits the long-term cost: compound financial pressure, declining capability, eroded trust, and restricted future options.</a:t>
            </a:r>
          </a:p>
          <a:p>
            <a:r>
              <a:rPr lang="en-US" altLang="zh-HK" dirty="0"/>
              <a:t>Long-term thinking forces the future version of you to have a voice in your present decision. Always ask yourself: Amis responding to what actually matters, or simply trying to change how I feel right now?</a:t>
            </a:r>
            <a:endParaRPr lang="zh-HK" altLang="en-US" dirty="0"/>
          </a:p>
        </p:txBody>
      </p:sp>
      <p:sp>
        <p:nvSpPr>
          <p:cNvPr id="4" name="投影片編號版面配置區 3"/>
          <p:cNvSpPr>
            <a:spLocks noGrp="1"/>
          </p:cNvSpPr>
          <p:nvPr>
            <p:ph type="sldNum" idx="36"/>
          </p:nvPr>
        </p:nvSpPr>
        <p:spPr/>
        <p:txBody>
          <a:bodyPr/>
          <a:lstStyle/>
          <a:p>
            <a:pPr indent="0" algn="r">
              <a:buNone/>
            </a:pPr>
            <a:fld id="{E8F56C40-E89C-4901-977A-AB72235A0EFD}"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8856870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The Competence Loop and Over-Preparation as Avoidance</a:t>
            </a:r>
          </a:p>
          <a:p>
            <a:endParaRPr lang="en-US" altLang="zh-HK" dirty="0"/>
          </a:p>
          <a:p>
            <a:r>
              <a:rPr lang="en-US" altLang="zh-HK" dirty="0"/>
              <a:t>Waiting for guaranteed confidence before taking action creates an impossible, paralyzing standard. Confidence is not the naive expectation that everything will go perfectly; it is trust in your ability to handle the experience.</a:t>
            </a:r>
          </a:p>
          <a:p>
            <a:r>
              <a:rPr lang="en-US" altLang="zh-HK" dirty="0"/>
              <a:t>Look at The Competence Loop interlocking chain on this slide:</a:t>
            </a:r>
          </a:p>
          <a:p>
            <a:pPr marL="171450" indent="-171450">
              <a:buFont typeface="Arial" panose="020B0604020202020204" pitchFamily="34" charset="0"/>
              <a:buChar char="•"/>
            </a:pPr>
            <a:r>
              <a:rPr lang="en-US" altLang="zh-HK" dirty="0"/>
              <a:t>Deliberate Action: Stepping into reasonable uncertainty.</a:t>
            </a:r>
          </a:p>
          <a:p>
            <a:pPr marL="171450" indent="-171450">
              <a:buFont typeface="Arial" panose="020B0604020202020204" pitchFamily="34" charset="0"/>
              <a:buChar char="•"/>
            </a:pPr>
            <a:r>
              <a:rPr lang="en-US" altLang="zh-HK" dirty="0"/>
              <a:t>Direct Experience: Gathering hard data on actual performance under pressure.</a:t>
            </a:r>
          </a:p>
          <a:p>
            <a:pPr marL="171450" indent="-171450">
              <a:buFont typeface="Arial" panose="020B0604020202020204" pitchFamily="34" charset="0"/>
              <a:buChar char="•"/>
            </a:pPr>
            <a:r>
              <a:rPr lang="en-US" altLang="zh-HK" dirty="0"/>
              <a:t>Adjusted Competence: Adapting behavior based on real feedback, not abstract imagination.</a:t>
            </a:r>
          </a:p>
          <a:p>
            <a:pPr marL="0" indent="0">
              <a:buFont typeface="Arial" panose="020B0604020202020204" pitchFamily="34" charset="0"/>
              <a:buNone/>
            </a:pPr>
            <a:r>
              <a:rPr lang="en-US" altLang="zh-HK" dirty="0"/>
              <a:t>Remember: Over-preparation is often just a socially acceptable form of psychological avoidance.</a:t>
            </a:r>
            <a:endParaRPr lang="zh-HK" altLang="en-US" dirty="0"/>
          </a:p>
        </p:txBody>
      </p:sp>
      <p:sp>
        <p:nvSpPr>
          <p:cNvPr id="4" name="投影片編號版面配置區 3"/>
          <p:cNvSpPr>
            <a:spLocks noGrp="1"/>
          </p:cNvSpPr>
          <p:nvPr>
            <p:ph type="sldNum" idx="36"/>
          </p:nvPr>
        </p:nvSpPr>
        <p:spPr/>
        <p:txBody>
          <a:bodyPr/>
          <a:lstStyle/>
          <a:p>
            <a:pPr indent="0" algn="r">
              <a:buNone/>
            </a:pPr>
            <a:fld id="{E8F56C40-E89C-4901-977A-AB72235A0EFD}"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410057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The Identity Trap vs. Information Extraction</a:t>
            </a:r>
          </a:p>
          <a:p>
            <a:endParaRPr lang="en-US" altLang="zh-HK" dirty="0"/>
          </a:p>
          <a:p>
            <a:r>
              <a:rPr lang="en-US" altLang="zh-HK" dirty="0"/>
              <a:t>The most dangerous reaction to a setback—such as a missed deadline, a rejected pitch, or a failed project—is converting a temporary event into a permanent indictment of your character.</a:t>
            </a:r>
          </a:p>
          <a:p>
            <a:pPr marL="171450" indent="-171450">
              <a:buFont typeface="Arial" panose="020B0604020202020204" pitchFamily="34" charset="0"/>
              <a:buChar char="•"/>
            </a:pPr>
            <a:r>
              <a:rPr lang="en-US" altLang="zh-HK" dirty="0"/>
              <a:t>The Identity Trap: Asks 'What is wrong with me?' Leads to the conclusion 'I am a failure,' which results in the avoidance of future risk and growth.</a:t>
            </a:r>
          </a:p>
          <a:p>
            <a:pPr marL="171450" indent="-171450">
              <a:buFont typeface="Arial" panose="020B0604020202020204" pitchFamily="34" charset="0"/>
              <a:buChar char="•"/>
            </a:pPr>
            <a:r>
              <a:rPr lang="en-US" altLang="zh-HK" dirty="0"/>
              <a:t>The Information Extraction: Asks 'What specific variables contributed to this outcome?' Leads to the conclusion 'My timeline estimation or strategy was flawed,' which results in precise behavioral adjustments.</a:t>
            </a:r>
          </a:p>
          <a:p>
            <a:r>
              <a:rPr lang="en-US" altLang="zh-HK" dirty="0"/>
              <a:t>Resilience requires extracting cold data from failure, not warm emotional suffering.</a:t>
            </a:r>
            <a:endParaRPr lang="zh-HK" altLang="en-US" dirty="0"/>
          </a:p>
        </p:txBody>
      </p:sp>
      <p:sp>
        <p:nvSpPr>
          <p:cNvPr id="4" name="投影片編號版面配置區 3"/>
          <p:cNvSpPr>
            <a:spLocks noGrp="1"/>
          </p:cNvSpPr>
          <p:nvPr>
            <p:ph type="sldNum" idx="36"/>
          </p:nvPr>
        </p:nvSpPr>
        <p:spPr/>
        <p:txBody>
          <a:bodyPr/>
          <a:lstStyle/>
          <a:p>
            <a:pPr indent="0" algn="r">
              <a:buNone/>
            </a:pPr>
            <a:fld id="{E8F56C40-E89C-4901-977A-AB72235A0EFD}"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048527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Stated Values vs. Revealed Priorities</a:t>
            </a:r>
          </a:p>
          <a:p>
            <a:endParaRPr lang="en-US" altLang="zh-HK" dirty="0"/>
          </a:p>
          <a:p>
            <a:r>
              <a:rPr lang="en-US" altLang="zh-HK" dirty="0"/>
              <a:t>Values are not abstract ideals you admire in quiet moments; they are priorities that you are actively willing to practice and protect under pressure. If your schedule continuously absorbs whatever external demands shout the loudest, your life is organized by urgency, not importance.</a:t>
            </a:r>
          </a:p>
          <a:p>
            <a:pPr marL="171450" indent="-171450">
              <a:buFont typeface="Arial" panose="020B0604020202020204" pitchFamily="34" charset="0"/>
              <a:buChar char="•"/>
            </a:pPr>
            <a:r>
              <a:rPr lang="en-US" altLang="zh-HK" dirty="0"/>
              <a:t>Stated Values: What you say matters when you are isolated from pressure and friction.</a:t>
            </a:r>
          </a:p>
          <a:p>
            <a:pPr marL="171450" indent="-171450">
              <a:buFont typeface="Arial" panose="020B0604020202020204" pitchFamily="34" charset="0"/>
              <a:buChar char="•"/>
            </a:pPr>
            <a:r>
              <a:rPr lang="en-US" altLang="zh-HK" dirty="0"/>
              <a:t>Revealed Priorities: What you actually choose when discomfort, competing demands, and fatigue arrive.</a:t>
            </a:r>
          </a:p>
          <a:p>
            <a:r>
              <a:rPr lang="en-US" altLang="zh-HK" dirty="0"/>
              <a:t>A goal tells you where you want to arrive. A value determines what you are unwilling to become along the way.</a:t>
            </a:r>
            <a:endParaRPr lang="zh-HK" altLang="en-US" dirty="0"/>
          </a:p>
        </p:txBody>
      </p:sp>
      <p:sp>
        <p:nvSpPr>
          <p:cNvPr id="4" name="投影片編號版面配置區 3"/>
          <p:cNvSpPr>
            <a:spLocks noGrp="1"/>
          </p:cNvSpPr>
          <p:nvPr>
            <p:ph type="sldNum" idx="36"/>
          </p:nvPr>
        </p:nvSpPr>
        <p:spPr/>
        <p:txBody>
          <a:bodyPr/>
          <a:lstStyle/>
          <a:p>
            <a:pPr indent="0" algn="r">
              <a:buNone/>
            </a:pPr>
            <a:fld id="{E8F56C40-E89C-4901-977A-AB72235A0EFD}"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7117413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Comprehensive Matrix of Default Mind vs. Unbreakable Mind</a:t>
            </a:r>
          </a:p>
          <a:p>
            <a:endParaRPr lang="en-US" altLang="zh-HK" dirty="0"/>
          </a:p>
          <a:p>
            <a:r>
              <a:rPr lang="en-US" altLang="zh-HK" dirty="0"/>
              <a:t>Let’s review the complete structural contrast summarized in this matrix:</a:t>
            </a:r>
          </a:p>
          <a:p>
            <a:pPr marL="171450" indent="-171450">
              <a:buFont typeface="Arial" panose="020B0604020202020204" pitchFamily="34" charset="0"/>
              <a:buChar char="•"/>
            </a:pPr>
            <a:r>
              <a:rPr lang="en-US" altLang="zh-HK" dirty="0"/>
              <a:t>Emotion: The Default Mind obeys feelings as immediate instructions. The Unbreakable Mind extracts data from the feeling while delaying reaction.</a:t>
            </a:r>
          </a:p>
          <a:p>
            <a:pPr marL="171450" indent="-171450">
              <a:buFont typeface="Arial" panose="020B0604020202020204" pitchFamily="34" charset="0"/>
              <a:buChar char="•"/>
            </a:pPr>
            <a:r>
              <a:rPr lang="en-US" altLang="zh-HK" dirty="0"/>
              <a:t>Setbacks: The Default Mind internalizes failure as a permanent identity. The Unbreakable Mind extracts behavioral lessons from temporary defeat.</a:t>
            </a:r>
          </a:p>
          <a:p>
            <a:pPr marL="171450" indent="-171450">
              <a:buFont typeface="Arial" panose="020B0604020202020204" pitchFamily="34" charset="0"/>
              <a:buChar char="•"/>
            </a:pPr>
            <a:r>
              <a:rPr lang="en-US" altLang="zh-HK" dirty="0"/>
              <a:t>Focus: The Default Mind is fractured by environmental friction and avoidance. The Unbreakable Mind filters out noise to protect sustained attention.</a:t>
            </a:r>
          </a:p>
          <a:p>
            <a:pPr marL="171450" indent="-171450">
              <a:buFont typeface="Arial" panose="020B0604020202020204" pitchFamily="34" charset="0"/>
              <a:buChar char="•"/>
            </a:pPr>
            <a:r>
              <a:rPr lang="en-US" altLang="zh-HK" dirty="0"/>
              <a:t>Action: The Default Mind waits for certainty and emotional comfort. The Unbreakable Mind gathers evidence through deliberate, uncomfortable action.</a:t>
            </a:r>
            <a:endParaRPr lang="zh-HK" altLang="en-US" dirty="0"/>
          </a:p>
        </p:txBody>
      </p:sp>
      <p:sp>
        <p:nvSpPr>
          <p:cNvPr id="4" name="投影片編號版面配置區 3"/>
          <p:cNvSpPr>
            <a:spLocks noGrp="1"/>
          </p:cNvSpPr>
          <p:nvPr>
            <p:ph type="sldNum" idx="36"/>
          </p:nvPr>
        </p:nvSpPr>
        <p:spPr/>
        <p:txBody>
          <a:bodyPr/>
          <a:lstStyle/>
          <a:p>
            <a:pPr indent="0" algn="r">
              <a:buNone/>
            </a:pPr>
            <a:fld id="{E8F56C40-E89C-4901-977A-AB72235A0EFD}"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5298231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The Gear System: Pause, Minimum Standard, and Objective Evaluation</a:t>
            </a:r>
          </a:p>
          <a:p>
            <a:endParaRPr lang="en-US" altLang="zh-HK" dirty="0"/>
          </a:p>
          <a:p>
            <a:r>
              <a:rPr lang="en-US" altLang="zh-HK" dirty="0"/>
              <a:t>When you assemble these individual mechanics, they compound into an unstoppable engine of quiet resilience. Look at the clockwork gear mechanism illustrated on this slide:</a:t>
            </a:r>
          </a:p>
          <a:p>
            <a:pPr marL="171450" indent="-171450">
              <a:buFont typeface="Arial" panose="020B0604020202020204" pitchFamily="34" charset="0"/>
              <a:buChar char="•"/>
            </a:pPr>
            <a:r>
              <a:rPr lang="en-US" altLang="zh-HK" dirty="0"/>
              <a:t>Input: Unpredictable, chaotic external circumstances.</a:t>
            </a:r>
          </a:p>
          <a:p>
            <a:pPr marL="171450" indent="-171450">
              <a:buFont typeface="Arial" panose="020B0604020202020204" pitchFamily="34" charset="0"/>
              <a:buChar char="•"/>
            </a:pPr>
            <a:r>
              <a:rPr lang="en-US" altLang="zh-HK" dirty="0"/>
              <a:t>Core Gears: The Pause, The Minimum Standard, and Objective Evaluation.</a:t>
            </a:r>
          </a:p>
          <a:p>
            <a:pPr marL="171450" indent="-171450">
              <a:buFont typeface="Arial" panose="020B0604020202020204" pitchFamily="34" charset="0"/>
              <a:buChar char="•"/>
            </a:pPr>
            <a:r>
              <a:rPr lang="en-US" altLang="zh-HK" dirty="0"/>
              <a:t>Output: Deliberate, value-aligned behavior.</a:t>
            </a:r>
          </a:p>
          <a:p>
            <a:pPr marL="0" indent="0">
              <a:buFont typeface="Arial" panose="020B0604020202020204" pitchFamily="34" charset="0"/>
              <a:buNone/>
            </a:pPr>
            <a:r>
              <a:rPr lang="en-US" altLang="zh-HK" dirty="0"/>
              <a:t>Stability does not require every part of your life to be calm or predictable at once. True stability requires maintaining internal behavioral standards that help you function effectively while external conditions change.</a:t>
            </a:r>
            <a:endParaRPr lang="zh-HK" altLang="en-US" dirty="0"/>
          </a:p>
        </p:txBody>
      </p:sp>
      <p:sp>
        <p:nvSpPr>
          <p:cNvPr id="4" name="投影片編號版面配置區 3"/>
          <p:cNvSpPr>
            <a:spLocks noGrp="1"/>
          </p:cNvSpPr>
          <p:nvPr>
            <p:ph type="sldNum" idx="36"/>
          </p:nvPr>
        </p:nvSpPr>
        <p:spPr/>
        <p:txBody>
          <a:bodyPr/>
          <a:lstStyle/>
          <a:p>
            <a:pPr indent="0" algn="r">
              <a:buNone/>
            </a:pPr>
            <a:fld id="{E8F56C40-E89C-4901-977A-AB72235A0EFD}"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1022660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Conscious Behavior and the Ultimate Reflective Question</a:t>
            </a:r>
          </a:p>
          <a:p>
            <a:endParaRPr lang="en-US" altLang="zh-HK" dirty="0"/>
          </a:p>
          <a:p>
            <a:r>
              <a:rPr lang="en-US" altLang="zh-HK" dirty="0"/>
              <a:t>As we look down this corridor toward the light on this slide, consider the ultimate diagnostic question:</a:t>
            </a:r>
          </a:p>
          <a:p>
            <a:r>
              <a:rPr lang="en-US" altLang="zh-HK" dirty="0"/>
              <a:t>If your life is already expressing your values through your daily behavior, what changes when you finally become fully conscious of what that behavior is saying?</a:t>
            </a:r>
          </a:p>
          <a:p>
            <a:r>
              <a:rPr lang="en-US" altLang="zh-HK" dirty="0"/>
              <a:t>Your decisions are quietly revealing what you value, what you tolerate, and what you are prepared to sacrifice. Meaningful direction is created by repeatedly allowing those core values to influence what you choose, what you decline, and where you invest your attention.</a:t>
            </a:r>
            <a:endParaRPr lang="zh-HK" altLang="en-US" dirty="0"/>
          </a:p>
        </p:txBody>
      </p:sp>
      <p:sp>
        <p:nvSpPr>
          <p:cNvPr id="4" name="投影片編號版面配置區 3"/>
          <p:cNvSpPr>
            <a:spLocks noGrp="1"/>
          </p:cNvSpPr>
          <p:nvPr>
            <p:ph type="sldNum" idx="36"/>
          </p:nvPr>
        </p:nvSpPr>
        <p:spPr/>
        <p:txBody>
          <a:bodyPr/>
          <a:lstStyle/>
          <a:p>
            <a:pPr indent="0" algn="r">
              <a:buNone/>
            </a:pPr>
            <a:fld id="{E8F56C40-E89C-4901-977A-AB72235A0EFD}" type="slidenum">
              <a:rPr lang="en-US" sz="1400" b="0" u="none" strike="noStrike" smtClean="0">
                <a:solidFill>
                  <a:srgbClr val="000000"/>
                </a:solidFill>
                <a:effectLst/>
                <a:uFillTx/>
                <a:latin typeface="Times New Roman"/>
              </a:rPr>
              <a:t>15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9523974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Summary of Internal Awareness, Emotional Control, and Discipline</a:t>
            </a:r>
          </a:p>
          <a:p>
            <a:endParaRPr lang="en-US" altLang="zh-HK" dirty="0"/>
          </a:p>
          <a:p>
            <a:r>
              <a:rPr lang="en-US" altLang="zh-HK" dirty="0"/>
              <a:t>To wrap up our operating manual, this summary dashboard encapsulates our journey:</a:t>
            </a:r>
          </a:p>
          <a:p>
            <a:pPr marL="171450" indent="-171450">
              <a:buFont typeface="Arial" panose="020B0604020202020204" pitchFamily="34" charset="0"/>
              <a:buChar char="•"/>
            </a:pPr>
            <a:r>
              <a:rPr lang="en-US" altLang="zh-HK" dirty="0"/>
              <a:t>Master internal awareness by separating objective facts from emotional interpretations.</a:t>
            </a:r>
          </a:p>
          <a:p>
            <a:pPr marL="171450" indent="-171450">
              <a:buFont typeface="Arial" panose="020B0604020202020204" pitchFamily="34" charset="0"/>
              <a:buChar char="•"/>
            </a:pPr>
            <a:r>
              <a:rPr lang="en-US" altLang="zh-HK" dirty="0"/>
              <a:t>Drive consistency through minimum standards, prioritizing long-term horizons over immediate comfort.</a:t>
            </a:r>
          </a:p>
          <a:p>
            <a:pPr marL="171450" indent="-171450">
              <a:buFont typeface="Arial" panose="020B0604020202020204" pitchFamily="34" charset="0"/>
              <a:buChar char="•"/>
            </a:pPr>
            <a:r>
              <a:rPr lang="en-US" altLang="zh-HK" dirty="0"/>
              <a:t>Build bulletproof confidence through direct action.</a:t>
            </a:r>
          </a:p>
          <a:p>
            <a:r>
              <a:rPr lang="en-US" altLang="zh-HK" dirty="0"/>
              <a:t>Thank you for your time today. Go build your architecture of agency.</a:t>
            </a:r>
            <a:endParaRPr lang="zh-HK" altLang="en-US" dirty="0"/>
          </a:p>
        </p:txBody>
      </p:sp>
      <p:sp>
        <p:nvSpPr>
          <p:cNvPr id="4" name="投影片編號版面配置區 3"/>
          <p:cNvSpPr>
            <a:spLocks noGrp="1"/>
          </p:cNvSpPr>
          <p:nvPr>
            <p:ph type="sldNum" idx="36"/>
          </p:nvPr>
        </p:nvSpPr>
        <p:spPr/>
        <p:txBody>
          <a:bodyPr/>
          <a:lstStyle/>
          <a:p>
            <a:pPr indent="0" algn="r">
              <a:buNone/>
            </a:pPr>
            <a:fld id="{E8F56C40-E89C-4901-977A-AB72235A0EFD}" type="slidenum">
              <a:rPr lang="en-US" sz="1400" b="0" u="none" strike="noStrike" smtClean="0">
                <a:solidFill>
                  <a:srgbClr val="000000"/>
                </a:solidFill>
                <a:effectLst/>
                <a:uFillTx/>
                <a:latin typeface="Times New Roman"/>
              </a:rPr>
              <a:t>16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180257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361258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4C29D5D1-D4D2-14D2-2A16-0AC112B39D86}"/>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1C5AD4DC-4F34-1633-29F0-7CA2131FE8EB}"/>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5242377-2248-E6F0-5806-E7DBDFD3C896}"/>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413E462A-4206-19D5-2E35-CC6C6BF5FADA}"/>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43B583F2-694E-5580-4752-2576EEA684CF}"/>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4CA09815-AF79-AFFA-5AA8-CE2C9F9224A7}"/>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08367BE6-E488-7459-DB03-CEA496E8B9C8}"/>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FA01F141-B483-94D6-B26B-3AC2DB0C4691}"/>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0ED07CB-1D52-FBD0-45F0-0A472CD0DA72}"/>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BD31C88A-A72A-F2D2-E677-92ACC26944B3}"/>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02BEE407-F288-FF92-9B6D-11CBA502C948}"/>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37F66B21-FAE0-AD46-98D6-CBDD986D92F8}"/>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196596A5-BE0F-734B-ED79-B0F9A5FB5AE4}"/>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BE9FB735-4A0F-C37F-4FD8-0AE21AD88C95}"/>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BCB02CA5-FD01-7152-3ACA-2F9FC2593675}"/>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04DFCB1F-A255-F1DE-1B3F-E1DB7E011633}"/>
              </a:ext>
            </a:extLst>
          </p:cNvPr>
          <p:cNvPicPr>
            <a:picLocks noChangeAspect="1"/>
          </p:cNvPicPr>
          <p:nvPr/>
        </p:nvPicPr>
        <p:blipFill>
          <a:blip r:embed="rId3"/>
          <a:stretch>
            <a:fillRect/>
          </a:stretch>
        </p:blipFill>
        <p:spPr>
          <a:xfrm>
            <a:off x="3175" y="33337"/>
            <a:ext cx="16249650" cy="90773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TotalTime>
  <Words>1934</Words>
  <Application>Microsoft Office PowerPoint</Application>
  <PresentationFormat>自訂</PresentationFormat>
  <Paragraphs>125</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Arial</vt:lpstr>
      <vt:lpstr>Calibri</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6</cp:revision>
  <dcterms:created xsi:type="dcterms:W3CDTF">2006-08-16T00:00:00Z</dcterms:created>
  <dcterms:modified xsi:type="dcterms:W3CDTF">2026-10-21T13:09:07Z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