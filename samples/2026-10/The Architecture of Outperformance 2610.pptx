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9073" autoAdjust="0"/>
  </p:normalViewPr>
  <p:slideViewPr>
    <p:cSldViewPr snapToGrid="0">
      <p:cViewPr varScale="1">
        <p:scale>
          <a:sx n="34" d="100"/>
          <a:sy n="34" d="100"/>
        </p:scale>
        <p:origin x="122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A01E18C-9A3B-4CB4-8B30-50995476458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dirty="0">
                <a:solidFill>
                  <a:srgbClr val="000000"/>
                </a:solidFill>
                <a:effectLst/>
                <a:uFillTx/>
                <a:latin typeface="Arial"/>
              </a:rPr>
              <a:t>Core Topic: Introduction to the Horizon Kinetics Framework and Financial Exchanges as Structural Outperformers</a:t>
            </a:r>
          </a:p>
          <a:p>
            <a:pPr indent="0" algn="l">
              <a:buNone/>
            </a:pPr>
            <a:endParaRPr lang="en-US" sz="2000" b="0" u="none" strike="noStrike" dirty="0">
              <a:solidFill>
                <a:srgbClr val="000000"/>
              </a:solidFill>
              <a:effectLst/>
              <a:uFillTx/>
              <a:latin typeface="Arial"/>
            </a:endParaRPr>
          </a:p>
          <a:p>
            <a:pPr indent="0" algn="l">
              <a:buNone/>
            </a:pPr>
            <a:r>
              <a:rPr lang="en-US" sz="2000" b="0" u="none" strike="noStrike" dirty="0">
                <a:solidFill>
                  <a:srgbClr val="000000"/>
                </a:solidFill>
                <a:effectLst/>
                <a:uFillTx/>
                <a:latin typeface="Arial"/>
              </a:rPr>
              <a:t>Good morning, everyone, and welcome. Today, we are exploring one of the most powerful and enduring investment theses in global capital markets: </a:t>
            </a:r>
            <a:r>
              <a:rPr lang="en-US" sz="2000" b="1" u="none" strike="noStrike" dirty="0">
                <a:solidFill>
                  <a:srgbClr val="000000"/>
                </a:solidFill>
                <a:effectLst/>
                <a:uFillTx/>
                <a:latin typeface="Arial"/>
              </a:rPr>
              <a:t>The Architecture of Outperformance</a:t>
            </a:r>
            <a:r>
              <a:rPr lang="en-US" sz="2000" b="0" u="none" strike="noStrike" dirty="0">
                <a:solidFill>
                  <a:srgbClr val="000000"/>
                </a:solidFill>
                <a:effectLst/>
                <a:uFillTx/>
                <a:latin typeface="Arial"/>
              </a:rPr>
              <a:t>. </a:t>
            </a:r>
          </a:p>
          <a:p>
            <a:pPr indent="0" algn="l">
              <a:buNone/>
            </a:pPr>
            <a:r>
              <a:rPr lang="en-US" sz="2000" b="0" u="none" strike="noStrike" dirty="0">
                <a:solidFill>
                  <a:srgbClr val="000000"/>
                </a:solidFill>
                <a:effectLst/>
                <a:uFillTx/>
                <a:latin typeface="Arial"/>
              </a:rPr>
              <a:t>If you look at the subtitle on this slide, it sets our core inquiry: Why financial exchanges systematically beat the market. Insights from James </a:t>
            </a:r>
            <a:r>
              <a:rPr lang="en-US" sz="2000" b="0" u="none" strike="noStrike" dirty="0" err="1">
                <a:solidFill>
                  <a:srgbClr val="000000"/>
                </a:solidFill>
                <a:effectLst/>
                <a:uFillTx/>
                <a:latin typeface="Arial"/>
              </a:rPr>
              <a:t>Davolos</a:t>
            </a:r>
            <a:r>
              <a:rPr lang="en-US" sz="2000" b="0" u="none" strike="noStrike" dirty="0">
                <a:solidFill>
                  <a:srgbClr val="000000"/>
                </a:solidFill>
                <a:effectLst/>
                <a:uFillTx/>
                <a:latin typeface="Arial"/>
              </a:rPr>
              <a:t> and the Horizon Kinetics framework. For decades, institutional investors have chased growth stocks, cyclical commodities, and complex trading strategies, frequently underperforming the broader indices over long time horizons. </a:t>
            </a:r>
          </a:p>
          <a:p>
            <a:pPr indent="0" algn="l">
              <a:buNone/>
            </a:pPr>
            <a:r>
              <a:rPr lang="en-US" sz="2000" b="0" u="none" strike="noStrike" dirty="0">
                <a:solidFill>
                  <a:srgbClr val="000000"/>
                </a:solidFill>
                <a:effectLst/>
                <a:uFillTx/>
                <a:latin typeface="Arial"/>
              </a:rPr>
              <a:t>Yet, hidden in plain sight, financial exchanges—the infrastructure underlying global capitalism—have quietly and consistently compounded at rates that leave traditional indexes far behind. Drawing from the rigorous, long-horizon analysis of James </a:t>
            </a:r>
            <a:r>
              <a:rPr lang="en-US" sz="2000" b="0" u="none" strike="noStrike" dirty="0" err="1">
                <a:solidFill>
                  <a:srgbClr val="000000"/>
                </a:solidFill>
                <a:effectLst/>
                <a:uFillTx/>
                <a:latin typeface="Arial"/>
              </a:rPr>
              <a:t>Davolos</a:t>
            </a:r>
            <a:r>
              <a:rPr lang="en-US" sz="2000" b="0" u="none" strike="noStrike" dirty="0">
                <a:solidFill>
                  <a:srgbClr val="000000"/>
                </a:solidFill>
                <a:effectLst/>
                <a:uFillTx/>
                <a:latin typeface="Arial"/>
              </a:rPr>
              <a:t> and Murray Stahl at Horizon Kinetics, this presentation breaks down the structural mechanics of 'croupier businesses.' Let's examine how financial exchanges achieve this structural alpha. </a:t>
            </a: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r>
              <a:rPr lang="en-US" altLang="zh-HK" sz="2000" b="0" u="none" strike="noStrike" dirty="0">
                <a:solidFill>
                  <a:srgbClr val="000000"/>
                </a:solidFill>
                <a:effectLst/>
                <a:uFillTx/>
                <a:latin typeface="Arial"/>
              </a:rPr>
              <a:t>20 Years of Investing in Exchanges in 1 Hour | James </a:t>
            </a:r>
            <a:r>
              <a:rPr lang="en-US" altLang="zh-HK" sz="2000" b="0" u="none" strike="noStrike" dirty="0" err="1">
                <a:solidFill>
                  <a:srgbClr val="000000"/>
                </a:solidFill>
                <a:effectLst/>
                <a:uFillTx/>
                <a:latin typeface="Arial"/>
              </a:rPr>
              <a:t>Davolos</a:t>
            </a:r>
            <a:endParaRPr lang="en-US" altLang="zh-HK" sz="2000" b="0" u="none" strike="noStrike" dirty="0">
              <a:solidFill>
                <a:srgbClr val="000000"/>
              </a:solidFill>
              <a:effectLst/>
              <a:uFillTx/>
              <a:latin typeface="Arial"/>
            </a:endParaRPr>
          </a:p>
          <a:p>
            <a:pPr indent="0" algn="l">
              <a:buNone/>
            </a:pPr>
            <a:r>
              <a:rPr lang="en-US" altLang="zh-HK" sz="2000" b="0" u="none" strike="noStrike" dirty="0">
                <a:solidFill>
                  <a:srgbClr val="000000"/>
                </a:solidFill>
                <a:effectLst/>
                <a:uFillTx/>
                <a:latin typeface="Arial"/>
              </a:rPr>
              <a:t>https://www.youtube.com/watch?v=4Ay7d4fSflM</a:t>
            </a:r>
          </a:p>
          <a:p>
            <a:pPr indent="0" algn="l">
              <a:buNone/>
            </a:pPr>
            <a:endParaRPr lang="en-US" sz="2000" b="0" u="none" strike="noStrike" dirty="0">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Global Exchange Performance Over 20 Years Across US, UK, Germany, Singapore, Australia, and Hong Kong</a:t>
            </a:r>
          </a:p>
          <a:p>
            <a:endParaRPr lang="en-US" altLang="zh-HK" dirty="0"/>
          </a:p>
          <a:p>
            <a:r>
              <a:rPr lang="en-US" altLang="zh-HK" dirty="0"/>
              <a:t>Let's begin with empirical reality. Look at the 20-year performance comparison chart on this slide: </a:t>
            </a:r>
          </a:p>
          <a:p>
            <a:r>
              <a:rPr lang="en-US" altLang="zh-HK" dirty="0"/>
              <a:t>Across every major global financial center—the US, UK, Germany, Singapore, Australia, and Hong Kong—exchanges (represented by the tall green bars) have outperformed their local indices by massive multiples, generating cumulative returns ranging from +420% to over +710%, compared to baseline index gains hovering around +90% to +155%. </a:t>
            </a:r>
          </a:p>
          <a:p>
            <a:r>
              <a:rPr lang="en-US" altLang="zh-HK" b="1" dirty="0"/>
              <a:t>The Core Thesis</a:t>
            </a:r>
            <a:r>
              <a:rPr lang="en-US" altLang="zh-HK" dirty="0"/>
              <a:t>: Exchanges inherently out-compound the underlying economies they serve. They act as a direct, unleveraged proxy for economic throughput, but with infinite operating leverage and fixed cost bases. When nominal activity rises, the exchange takes its toll without incurring proportional operational expansion.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8274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Zero Proprietary Risk, Volumetric Revenue, and Fixed Cost Advantages</a:t>
            </a:r>
          </a:p>
          <a:p>
            <a:endParaRPr lang="en-US" altLang="zh-HK" dirty="0"/>
          </a:p>
          <a:p>
            <a:r>
              <a:rPr lang="en-US" altLang="zh-HK" dirty="0"/>
              <a:t>Why do these businesses possess such unique compounding characteristics? We call this The Croupier Business Model. Think of a casino croupier who collects a rake from every hand dealt without ever placing a bet: </a:t>
            </a:r>
          </a:p>
          <a:p>
            <a:pPr marL="171450" indent="-171450">
              <a:buFont typeface="Arial" panose="020B0604020202020204" pitchFamily="34" charset="0"/>
              <a:buChar char="•"/>
            </a:pPr>
            <a:r>
              <a:rPr lang="en-US" altLang="zh-HK" dirty="0"/>
              <a:t>Zero Proprietary Risk: Exchanges act as pure risk-transfer mechanisms between market participants, taking zero directional capital risk on their balance sheets. </a:t>
            </a:r>
          </a:p>
          <a:p>
            <a:pPr marL="171450" indent="-171450">
              <a:buFont typeface="Arial" panose="020B0604020202020204" pitchFamily="34" charset="0"/>
              <a:buChar char="•"/>
            </a:pPr>
            <a:r>
              <a:rPr lang="en-US" altLang="zh-HK" dirty="0"/>
              <a:t>Volumetric Revenue: They earn a risk-free spread—the 'rake'—on every unit of transactional volume. </a:t>
            </a:r>
          </a:p>
          <a:p>
            <a:pPr marL="171450" indent="-171450">
              <a:buFont typeface="Arial" panose="020B0604020202020204" pitchFamily="34" charset="0"/>
              <a:buChar char="•"/>
            </a:pPr>
            <a:r>
              <a:rPr lang="en-US" altLang="zh-HK" dirty="0"/>
              <a:t>Fixed Cost Base: Variable expenses approach zero at scale; once the matching engine and regulatory infrastructure are built, processing another trillion dollars of volume expands computing power frictionlessly. </a:t>
            </a:r>
          </a:p>
          <a:p>
            <a:pPr marL="0" indent="0">
              <a:buFont typeface="Arial" panose="020B0604020202020204" pitchFamily="34" charset="0"/>
              <a:buNone/>
            </a:pPr>
            <a:r>
              <a:rPr lang="en-US" altLang="zh-HK" dirty="0"/>
              <a:t>From the early 2000s monetization of floor seats to modern high-frequency digital networks, the croupier always wins because they never sit at the table.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26880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Nominal Growth, Volatility, Velocity of Money, and Product Innovation</a:t>
            </a:r>
          </a:p>
          <a:p>
            <a:endParaRPr lang="en-US" altLang="zh-HK" dirty="0"/>
          </a:p>
          <a:p>
            <a:r>
              <a:rPr lang="en-US" altLang="zh-HK" dirty="0"/>
              <a:t>Exchanges operate as the ultimate Toll Booths of Global Finance. Look at the four foundational growth drivers illustrated on this slide: </a:t>
            </a:r>
          </a:p>
          <a:p>
            <a:pPr marL="228600" indent="-228600">
              <a:buFont typeface="+mj-lt"/>
              <a:buAutoNum type="arabicPeriod"/>
            </a:pPr>
            <a:r>
              <a:rPr lang="en-US" altLang="zh-HK" dirty="0"/>
              <a:t>Nominal Growth: Baseline economic expansion translates directly into capital market growth. </a:t>
            </a:r>
          </a:p>
          <a:p>
            <a:pPr marL="228600" indent="-228600">
              <a:buFont typeface="+mj-lt"/>
              <a:buAutoNum type="arabicPeriod"/>
            </a:pPr>
            <a:r>
              <a:rPr lang="en-US" altLang="zh-HK" dirty="0"/>
              <a:t>Volatility: Systemic shocks, geopolitical crises, and uncertainty drive hedging and heavy speculative volume. </a:t>
            </a:r>
          </a:p>
          <a:p>
            <a:pPr marL="228600" indent="-228600">
              <a:buFont typeface="+mj-lt"/>
              <a:buAutoNum type="arabicPeriod"/>
            </a:pPr>
            <a:r>
              <a:rPr lang="en-US" altLang="zh-HK" dirty="0"/>
              <a:t>Velocity of Money: The technological acceleration of trading frequencies and algorithmic execution increases transaction counts. </a:t>
            </a:r>
          </a:p>
          <a:p>
            <a:pPr marL="228600" indent="-228600">
              <a:buFont typeface="+mj-lt"/>
              <a:buAutoNum type="arabicPeriod"/>
            </a:pPr>
            <a:r>
              <a:rPr lang="en-US" altLang="zh-HK" dirty="0"/>
              <a:t>Product Innovation: Continuous expansion into new proprietary derivative contracts, interest rate swaps, and specialized indexes. </a:t>
            </a:r>
          </a:p>
          <a:p>
            <a:r>
              <a:rPr lang="en-US" altLang="zh-HK" dirty="0"/>
              <a:t>The Financial Supercomputer: Processing another trillion dollars in interest rate futures requires nothing more than scaling cloud capacity. The marginal cost of volume is practically nil.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82008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Comparing Fungibility, Venue Lock-in, Competitive Advantage, and Margins</a:t>
            </a:r>
          </a:p>
          <a:p>
            <a:endParaRPr lang="en-US" altLang="zh-HK" dirty="0"/>
          </a:p>
          <a:p>
            <a:r>
              <a:rPr lang="en-US" altLang="zh-HK" dirty="0"/>
              <a:t>Not all exchange revenue is created equal. To understand where the true economic moat lies, we must contrast Equities versus Derivatives: </a:t>
            </a:r>
          </a:p>
          <a:p>
            <a:pPr marL="171450" indent="-171450">
              <a:buFont typeface="Arial" panose="020B0604020202020204" pitchFamily="34" charset="0"/>
              <a:buChar char="•"/>
            </a:pPr>
            <a:r>
              <a:rPr lang="en-US" altLang="zh-HK" dirty="0"/>
              <a:t>Equities: Highly fungible and traded across fragmented venues due to regulatory frameworks like Reg NMS. A share of Amazon is identical whether bought on NASDAQ, NYSE, or a dark pool. Consequently, equities are low margin and hyper-competitive. </a:t>
            </a:r>
          </a:p>
          <a:p>
            <a:pPr marL="171450" indent="-171450">
              <a:buFont typeface="Arial" panose="020B0604020202020204" pitchFamily="34" charset="0"/>
              <a:buChar char="•"/>
            </a:pPr>
            <a:r>
              <a:rPr lang="en-US" altLang="zh-HK" dirty="0"/>
              <a:t>Derivatives: Non-fungible contracts with specific terms. Because liquidity is captive to the specific exchange that established the product (e.g., Eurodollar futures or specific index options), the competitive advantage is absolute. Once liquidity settles in one venue, it cannot be displaced, yielding elite profit margins.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83683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Counterparty Risk, Collateral, and Absolute Ecosystem Monopolies</a:t>
            </a:r>
          </a:p>
          <a:p>
            <a:endParaRPr lang="en-US" altLang="zh-HK" dirty="0"/>
          </a:p>
          <a:p>
            <a:r>
              <a:rPr lang="en-US" altLang="zh-HK" dirty="0"/>
              <a:t>The structural anchor of this derivative moat is The Clearinghouse. Look at how risk flows through the center of this architecture: </a:t>
            </a:r>
          </a:p>
          <a:p>
            <a:r>
              <a:rPr lang="en-US" altLang="zh-HK" dirty="0"/>
              <a:t>When a hedge fund takes short risk and a commodity house takes long risk, neither trades directly with the other. Both sides post collateral, submit to rolling margin calculations, and rely on the clearinghouse for guaranteed settlement. </a:t>
            </a:r>
          </a:p>
          <a:p>
            <a:r>
              <a:rPr lang="en-US" altLang="zh-HK" dirty="0"/>
              <a:t>The Closed Ecosystem: You cannot buy an interest rate future on the CME and clear it on ICE. The clearinghouse enforces an absolute monopoly on established liquidity, creating insurmountable switching costs for institutional market participants.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79100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Five Stages of Market Shock and Left-Tail Advantage</a:t>
            </a:r>
          </a:p>
          <a:p>
            <a:endParaRPr lang="en-US" altLang="zh-HK" dirty="0"/>
          </a:p>
          <a:p>
            <a:r>
              <a:rPr lang="en-US" altLang="zh-HK" dirty="0"/>
              <a:t>One of the most counterintuitive aspects of exchange economics is how they profit from chaos. Look at The Volatility Flywheel on this slide: </a:t>
            </a:r>
          </a:p>
          <a:p>
            <a:pPr marL="171450" indent="-171450">
              <a:buFont typeface="Arial" panose="020B0604020202020204" pitchFamily="34" charset="0"/>
              <a:buChar char="•"/>
            </a:pPr>
            <a:r>
              <a:rPr lang="en-US" altLang="zh-HK" dirty="0"/>
              <a:t>Stage 1 (Market Shock): COVID shutdowns, inflation surprises, or geopolitical crises hit the global economy. </a:t>
            </a:r>
          </a:p>
          <a:p>
            <a:pPr marL="171450" indent="-171450">
              <a:buFont typeface="Arial" panose="020B0604020202020204" pitchFamily="34" charset="0"/>
              <a:buChar char="•"/>
            </a:pPr>
            <a:r>
              <a:rPr lang="en-US" altLang="zh-HK" dirty="0"/>
              <a:t>Stage 2 (Spreads Blow Out): Market participants retreat as pricing uncertainty spikes. </a:t>
            </a:r>
          </a:p>
          <a:p>
            <a:pPr marL="171450" indent="-171450">
              <a:buFont typeface="Arial" panose="020B0604020202020204" pitchFamily="34" charset="0"/>
              <a:buChar char="•"/>
            </a:pPr>
            <a:r>
              <a:rPr lang="en-US" altLang="zh-HK" dirty="0"/>
              <a:t>Stage 3 (Hedgers Forced to React): Institutions must urgently manage tail risk and rebalance portfolios. </a:t>
            </a:r>
          </a:p>
          <a:p>
            <a:pPr marL="171450" indent="-171450">
              <a:buFont typeface="Arial" panose="020B0604020202020204" pitchFamily="34" charset="0"/>
              <a:buChar char="•"/>
            </a:pPr>
            <a:r>
              <a:rPr lang="en-US" altLang="zh-HK" dirty="0"/>
              <a:t>Stage 4 (Speculators Drawn In): Wider spreads and high variance attract opportunistic trading capital. </a:t>
            </a:r>
          </a:p>
          <a:p>
            <a:pPr marL="171450" indent="-171450">
              <a:buFont typeface="Arial" panose="020B0604020202020204" pitchFamily="34" charset="0"/>
              <a:buChar char="•"/>
            </a:pPr>
            <a:r>
              <a:rPr lang="en-US" altLang="zh-HK" dirty="0"/>
              <a:t>Stage 5 (Volume Explodes): The exchange prints record revenue on the friction of the panic. </a:t>
            </a:r>
          </a:p>
          <a:p>
            <a:r>
              <a:rPr lang="en-US" altLang="zh-HK" dirty="0"/>
              <a:t>The Left-Tail Advantage: The worst days in macroeconomic history are systematically the best days in exchange financial history.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86961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Nominal Throughput and the Uncertainty Premium in Inflationary Regimes</a:t>
            </a:r>
          </a:p>
          <a:p>
            <a:endParaRPr lang="en-US" altLang="zh-HK" dirty="0"/>
          </a:p>
          <a:p>
            <a:r>
              <a:rPr lang="en-US" altLang="zh-HK" dirty="0"/>
              <a:t>In an inflationary environment where traditional businesses struggle with margin compression and rising labor costs, exchanges experience </a:t>
            </a:r>
            <a:r>
              <a:rPr lang="en-US" altLang="zh-HK" b="1" dirty="0"/>
              <a:t>The Inflation Paradox</a:t>
            </a:r>
            <a:r>
              <a:rPr lang="en-US" altLang="zh-HK" dirty="0"/>
              <a:t>:</a:t>
            </a:r>
          </a:p>
          <a:p>
            <a:pPr marL="171450" indent="-171450">
              <a:buFont typeface="Arial" panose="020B0604020202020204" pitchFamily="34" charset="0"/>
              <a:buChar char="•"/>
            </a:pPr>
            <a:r>
              <a:rPr lang="en-US" altLang="zh-HK" dirty="0"/>
              <a:t>The Nominal Throughput: Inflation translates 1-to-1 into nominal transaction values and exchange revenue. Because the exchange's cost base is fixed, inflated transactional volume drops cleanly to operating cash flow. </a:t>
            </a:r>
          </a:p>
          <a:p>
            <a:pPr marL="171450" indent="-171450">
              <a:buFont typeface="Arial" panose="020B0604020202020204" pitchFamily="34" charset="0"/>
              <a:buChar char="•"/>
            </a:pPr>
            <a:r>
              <a:rPr lang="en-US" altLang="zh-HK" dirty="0"/>
              <a:t>The Uncertainty Premium: Inflation introduces extreme uncertainty regarding interest rates, duration risk, and currency stability. Uncertainty mandates hedging, and hedging directly generates massive derivative volume. </a:t>
            </a:r>
          </a:p>
          <a:p>
            <a:r>
              <a:rPr lang="en-US" altLang="zh-HK" dirty="0"/>
              <a:t>Takeaway: Inflation does not break the croupier; it feeds it.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716612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Miami International Exchange (MIAX), Low-Margin Wedges, and Scaling to 17% Market Share</a:t>
            </a:r>
          </a:p>
          <a:p>
            <a:endParaRPr lang="en-US" altLang="zh-HK" dirty="0"/>
          </a:p>
          <a:p>
            <a:r>
              <a:rPr lang="en-US" altLang="zh-HK" dirty="0"/>
              <a:t>Can incumbent exchanges ever be disrupted? Let's examine The MIAX Case Study (Miami International Exchange): </a:t>
            </a:r>
          </a:p>
          <a:p>
            <a:pPr marL="171450" indent="-171450">
              <a:buFont typeface="Arial" panose="020B0604020202020204" pitchFamily="34" charset="0"/>
              <a:buChar char="•"/>
            </a:pPr>
            <a:r>
              <a:rPr lang="en-US" altLang="zh-HK" dirty="0"/>
              <a:t>The Opportunity: Major players like CBOE, NASDAQ, and ICE ignored the multi-listed options market to protect their high-margin proprietary franchises. </a:t>
            </a:r>
          </a:p>
          <a:p>
            <a:pPr marL="171450" indent="-171450">
              <a:buFont typeface="Arial" panose="020B0604020202020204" pitchFamily="34" charset="0"/>
              <a:buChar char="•"/>
            </a:pPr>
            <a:r>
              <a:rPr lang="en-US" altLang="zh-HK" dirty="0"/>
              <a:t>The Wedge: MIAX targeted this neglected, low-margin space by subsidizing early trading participation to build initial liquidity. </a:t>
            </a:r>
          </a:p>
          <a:p>
            <a:pPr marL="171450" indent="-171450">
              <a:buFont typeface="Arial" panose="020B0604020202020204" pitchFamily="34" charset="0"/>
              <a:buChar char="•"/>
            </a:pPr>
            <a:r>
              <a:rPr lang="en-US" altLang="zh-HK" dirty="0"/>
              <a:t>The Result: MIAX successfully scaled from 0% to nearly 17% market share, converting a subsidized liquidity pool into a highly profitable, sticky ecosystem. This proves that strategic wedges can succeed where execution precision matches architectural discipline.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757699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Microsecond Latency, Stress Degradation, and Extreme Event Survival</a:t>
            </a:r>
          </a:p>
          <a:p>
            <a:endParaRPr lang="en-US" altLang="zh-HK" dirty="0"/>
          </a:p>
          <a:p>
            <a:r>
              <a:rPr lang="en-US" altLang="zh-HK" dirty="0"/>
              <a:t>In exchange architecture, technology performance is measured at the extremes. Look at The 99.9th Percentile Tech Stack on this slide: </a:t>
            </a:r>
          </a:p>
          <a:p>
            <a:pPr marL="171450" indent="-171450">
              <a:buFont typeface="Arial" panose="020B0604020202020204" pitchFamily="34" charset="0"/>
              <a:buChar char="•"/>
            </a:pPr>
            <a:r>
              <a:rPr lang="en-US" altLang="zh-HK" dirty="0"/>
              <a:t>Average Round Trip: MIAX operates at 18 microseconds—half the 36-microsecond latency of legacy competitors. </a:t>
            </a:r>
          </a:p>
          <a:p>
            <a:pPr marL="171450" indent="-171450">
              <a:buFont typeface="Arial" panose="020B0604020202020204" pitchFamily="34" charset="0"/>
              <a:buChar char="•"/>
            </a:pPr>
            <a:r>
              <a:rPr lang="en-US" altLang="zh-HK" dirty="0"/>
              <a:t>Stress Degradation: During peak market volatility (when traffic floods the system), MIAX's infrastructure degrades by only 2x, while legacy competitors degrade 20x to 50x. </a:t>
            </a:r>
          </a:p>
          <a:p>
            <a:pPr marL="0" indent="0">
              <a:buFont typeface="Arial" panose="020B0604020202020204" pitchFamily="34" charset="0"/>
              <a:buNone/>
            </a:pPr>
            <a:r>
              <a:rPr lang="en-US" altLang="zh-HK" dirty="0"/>
              <a:t>The Ferrari in the Garage: For 99% of trading days, extreme latency doesn't matter. But during a 99.9th percentile black swan event, superior tech stack engineering dictates institutional survival.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56108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Proprietary Feeds, the Sub-Penny Arms Race, and Co-location Premiums</a:t>
            </a:r>
          </a:p>
          <a:p>
            <a:endParaRPr lang="en-US" altLang="zh-HK" dirty="0"/>
          </a:p>
          <a:p>
            <a:r>
              <a:rPr lang="en-US" altLang="zh-HK" dirty="0"/>
              <a:t>Transaction fees are only part of the story. Modern exchanges have mastered Monetizing the Exhaust: Data &amp; Connectivity: </a:t>
            </a:r>
          </a:p>
          <a:p>
            <a:pPr marL="228600" indent="-228600">
              <a:buFont typeface="+mj-lt"/>
              <a:buAutoNum type="arabicPeriod"/>
            </a:pPr>
            <a:r>
              <a:rPr lang="en-US" altLang="zh-HK" dirty="0"/>
              <a:t>The Proprietary Feed: An exchange's internal trading data (bid/ask spreads and order flow) is a proprietary, non-fungible asset. </a:t>
            </a:r>
          </a:p>
          <a:p>
            <a:pPr marL="228600" indent="-228600">
              <a:buFont typeface="+mj-lt"/>
              <a:buAutoNum type="arabicPeriod"/>
            </a:pPr>
            <a:r>
              <a:rPr lang="en-US" altLang="zh-HK" dirty="0"/>
              <a:t>The Sub-Penny Arms Race: Quantitative trading firms rely on ultra-low latency data feeds to exploit fractional market inefficiencies. </a:t>
            </a:r>
          </a:p>
          <a:p>
            <a:pPr marL="228600" indent="-228600">
              <a:buFont typeface="+mj-lt"/>
              <a:buAutoNum type="arabicPeriod"/>
            </a:pPr>
            <a:r>
              <a:rPr lang="en-US" altLang="zh-HK" dirty="0"/>
              <a:t>Co-location Premium: High-frequency trading firms pay premium fees to physically locate their server racks adjacent to the exchange's matching engine. </a:t>
            </a:r>
          </a:p>
          <a:p>
            <a:r>
              <a:rPr lang="en-US" altLang="zh-HK" dirty="0"/>
              <a:t>Data and connectivity sales are now approaching 50% of run-rate revenues for modern exchanges, transforming them into high-margin data analytics enterprises.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01547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Crypto Perpetual Futures vs. Regulated Institutional Futures (CME/MIAX)</a:t>
            </a:r>
          </a:p>
          <a:p>
            <a:endParaRPr lang="en-US" altLang="zh-HK" dirty="0"/>
          </a:p>
          <a:p>
            <a:r>
              <a:rPr lang="en-US" altLang="zh-HK" dirty="0"/>
              <a:t>A common bear case against traditional exchanges is the rise of decentralized or crypto-native perpetual futures. Let's do a reality check on The Perpetual Futures Mirage: </a:t>
            </a:r>
          </a:p>
          <a:p>
            <a:pPr marL="171450" indent="-171450">
              <a:buFont typeface="Arial" panose="020B0604020202020204" pitchFamily="34" charset="0"/>
              <a:buChar char="•"/>
            </a:pPr>
            <a:r>
              <a:rPr lang="en-US" altLang="zh-HK" dirty="0"/>
              <a:t>Perpetual Futures (Crypto/Prediction): Never settle, require synthetic incentives to track spot prices, and fundamentally function as leveraged gambling tickets. </a:t>
            </a:r>
          </a:p>
          <a:p>
            <a:pPr marL="171450" indent="-171450">
              <a:buFont typeface="Arial" panose="020B0604020202020204" pitchFamily="34" charset="0"/>
              <a:buChar char="•"/>
            </a:pPr>
            <a:r>
              <a:rPr lang="en-US" altLang="zh-HK" dirty="0"/>
              <a:t>Institutional Futures (CME/MIAX): Defined maturities, guaranteed settlement, and robust collateral backing. They serve an essential, structural risk-management function for the global economy. </a:t>
            </a:r>
          </a:p>
          <a:p>
            <a:pPr marL="0" indent="0">
              <a:buFont typeface="Arial" panose="020B0604020202020204" pitchFamily="34" charset="0"/>
              <a:buNone/>
            </a:pPr>
            <a:r>
              <a:rPr lang="en-US" altLang="zh-HK" dirty="0"/>
              <a:t>Institutional hedgers cannot safely lay off billions of dollars in duration risk on unregulated platforms without defined settlements. The perpetual threat to incumbent exchanges is vastly overstated.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7662850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Proprietary Index Products, the Bloomberg 500 Bet, and Downside Protection</a:t>
            </a:r>
          </a:p>
          <a:p>
            <a:endParaRPr lang="en-US" altLang="zh-HK" dirty="0"/>
          </a:p>
          <a:p>
            <a:r>
              <a:rPr lang="en-US" altLang="zh-HK" dirty="0"/>
              <a:t>Beyond core trading, successful exchanges continually plant seeds for exponential upside. Look at The Asymmetric Call Option on this slide: </a:t>
            </a:r>
          </a:p>
          <a:p>
            <a:pPr marL="171450" indent="-171450">
              <a:buFont typeface="Arial" panose="020B0604020202020204" pitchFamily="34" charset="0"/>
              <a:buChar char="•"/>
            </a:pPr>
            <a:r>
              <a:rPr lang="en-US" altLang="zh-HK" dirty="0"/>
              <a:t>The Holy Grail: Proprietary future products generate roughly 10x the revenue per contract compared to standard multi-listed options. </a:t>
            </a:r>
          </a:p>
          <a:p>
            <a:pPr marL="171450" indent="-171450">
              <a:buFont typeface="Arial" panose="020B0604020202020204" pitchFamily="34" charset="0"/>
              <a:buChar char="•"/>
            </a:pPr>
            <a:r>
              <a:rPr lang="en-US" altLang="zh-HK" dirty="0"/>
              <a:t>The Bloomberg 500 Bet: MIAX is leveraging its existing, sunk-cost tech stack to launch cheaper, highly differentiated proprietary index futures. </a:t>
            </a:r>
          </a:p>
          <a:p>
            <a:pPr marL="171450" indent="-171450">
              <a:buFont typeface="Arial" panose="020B0604020202020204" pitchFamily="34" charset="0"/>
              <a:buChar char="•"/>
            </a:pPr>
            <a:r>
              <a:rPr lang="en-US" altLang="zh-HK" dirty="0"/>
              <a:t>The Asymmetry: If the new futures bet fails, the highly profitable core options business easily absorbs the R&amp;D burn. If it succeeds, terminal enterprise value expands exponentially.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065716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Isolating Core Cash Flows, Multiplier Inputs, and the Quality Premium</a:t>
            </a:r>
          </a:p>
          <a:p>
            <a:endParaRPr lang="en-US" altLang="zh-HK" dirty="0"/>
          </a:p>
          <a:p>
            <a:r>
              <a:rPr lang="en-US" altLang="zh-HK" dirty="0"/>
              <a:t>How should investors value these exchange assets? Let's examine Valuation Mechanics through the Horizon Kinetics lens: </a:t>
            </a:r>
          </a:p>
          <a:p>
            <a:pPr marL="171450" indent="-171450">
              <a:buFont typeface="Arial" panose="020B0604020202020204" pitchFamily="34" charset="0"/>
              <a:buChar char="•"/>
            </a:pPr>
            <a:r>
              <a:rPr lang="en-US" altLang="zh-HK" dirty="0"/>
              <a:t>Core Cash Flow: Isolate the multi-listed options business pre-tax cash flow, stripping out exploratory futures R&amp;D burn rates. </a:t>
            </a:r>
          </a:p>
          <a:p>
            <a:pPr marL="171450" indent="-171450">
              <a:buFont typeface="Arial" panose="020B0604020202020204" pitchFamily="34" charset="0"/>
              <a:buChar char="•"/>
            </a:pPr>
            <a:r>
              <a:rPr lang="en-US" altLang="zh-HK" dirty="0"/>
              <a:t>Multiplier Inputs: Evaluate total addressable market (TAM) growth, sustained market share, and realized revenue per contract. </a:t>
            </a:r>
          </a:p>
          <a:p>
            <a:pPr marL="171450" indent="-171450">
              <a:buFont typeface="Arial" panose="020B0604020202020204" pitchFamily="34" charset="0"/>
              <a:buChar char="•"/>
            </a:pPr>
            <a:r>
              <a:rPr lang="en-US" altLang="zh-HK" dirty="0"/>
              <a:t>The Quality Premium: Historically, high-quality exchanges justify a 2x to 6x valuation premium over the broader market due to superior return on invested capital (ROIC), operating margins, and inflation resilience. </a:t>
            </a:r>
          </a:p>
          <a:p>
            <a:r>
              <a:rPr lang="en-US" altLang="zh-HK" dirty="0"/>
              <a:t>When you strip out R&amp;D spend, the underlying cash flow of the core asset often trades at a severe discount to its historical quality premium.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428846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Murray Stahl's Legacy, Multidisciplinary Thinking, and Long Time Horizons</a:t>
            </a:r>
          </a:p>
          <a:p>
            <a:endParaRPr lang="en-US" altLang="zh-HK" dirty="0"/>
          </a:p>
          <a:p>
            <a:r>
              <a:rPr lang="en-US" altLang="zh-HK" dirty="0"/>
              <a:t>To synthesize our entire framework, we look to The Legacy of Murray Stahl and Horizon Kinetics: </a:t>
            </a:r>
          </a:p>
          <a:p>
            <a:r>
              <a:rPr lang="en-US" altLang="zh-HK" dirty="0"/>
              <a:t>Built on rigorous, multidisciplinary self-education, extending time horizons, and prioritizing original, independent thought over institutional asset accumulation. </a:t>
            </a:r>
          </a:p>
          <a:p>
            <a:r>
              <a:rPr lang="en-US" altLang="zh-HK" dirty="0"/>
              <a:t>The Final Synthesis: True alpha generation requires seeing the croupier where the market only sees short-term operational chaos. While algorithmic traders optimize for the next millisecond, compounding long-term wealth requires understanding the deep structural architecture of the next decade.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4210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a:t>Core </a:t>
            </a:r>
            <a:r>
              <a:rPr lang="en-US" altLang="zh-HK" dirty="0"/>
              <a:t>Topic: Comprehensive Recap of the Exchange Business Model Moats</a:t>
            </a:r>
          </a:p>
          <a:p>
            <a:endParaRPr lang="en-US" altLang="zh-HK" dirty="0"/>
          </a:p>
          <a:p>
            <a:r>
              <a:rPr lang="en-US" altLang="zh-HK" dirty="0"/>
              <a:t>To wrap up, this final summary slide captures the essence of our journey: zero proprietary risk, massive operating leverage, captive clearinghouse liquidity, and inflation resilience. </a:t>
            </a:r>
          </a:p>
          <a:p>
            <a:r>
              <a:rPr lang="en-US" altLang="zh-HK" dirty="0"/>
              <a:t>Financial exchanges are not just trading venues; they are irreplaceable toll booths at the center of global capitalism. Thank you for your time today. </a:t>
            </a:r>
            <a:endParaRPr lang="zh-HK" altLang="en-US" dirty="0"/>
          </a:p>
        </p:txBody>
      </p:sp>
      <p:sp>
        <p:nvSpPr>
          <p:cNvPr id="4" name="投影片編號版面配置區 3"/>
          <p:cNvSpPr>
            <a:spLocks noGrp="1"/>
          </p:cNvSpPr>
          <p:nvPr>
            <p:ph type="sldNum" idx="36"/>
          </p:nvPr>
        </p:nvSpPr>
        <p:spPr/>
        <p:txBody>
          <a:bodyPr/>
          <a:lstStyle/>
          <a:p>
            <a:pPr indent="0" algn="r">
              <a:buNone/>
            </a:pPr>
            <a:fld id="{4A01E18C-9A3B-4CB4-8B30-509954764580}"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008411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006471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11160" y="3996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2092</Words>
  <Application>Microsoft Office PowerPoint</Application>
  <PresentationFormat>自訂</PresentationFormat>
  <Paragraphs>119</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Arial</vt:lpstr>
      <vt:lpstr>Calibri</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5</cp:revision>
  <dcterms:created xsi:type="dcterms:W3CDTF">2006-08-16T00:00:00Z</dcterms:created>
  <dcterms:modified xsi:type="dcterms:W3CDTF">2026-10-20T14:43:51Z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