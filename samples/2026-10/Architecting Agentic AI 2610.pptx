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56C71"/>
    <a:srgbClr val="464F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242" autoAdjust="0"/>
  </p:normalViewPr>
  <p:slideViewPr>
    <p:cSldViewPr snapToGrid="0">
      <p:cViewPr varScale="1">
        <p:scale>
          <a:sx n="110" d="100"/>
          <a:sy n="110" d="100"/>
        </p:scale>
        <p:origin x="63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HK"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8CC3C5-40C5-41E7-BA88-3E37DE9ABC6B}" type="datetimeFigureOut">
              <a:rPr lang="zh-HK" altLang="en-US" smtClean="0"/>
              <a:t>8/10/2026</a:t>
            </a:fld>
            <a:endParaRPr lang="zh-HK"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HK"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HK"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HK"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DF7C12-8C88-4C6F-969A-3728A1EF1F58}" type="slidenum">
              <a:rPr lang="zh-HK" altLang="en-US" smtClean="0"/>
              <a:t>‹#›</a:t>
            </a:fld>
            <a:endParaRPr lang="zh-HK" altLang="en-US"/>
          </a:p>
        </p:txBody>
      </p:sp>
    </p:spTree>
    <p:extLst>
      <p:ext uri="{BB962C8B-B14F-4D97-AF65-F5344CB8AC3E}">
        <p14:creationId xmlns:p14="http://schemas.microsoft.com/office/powerpoint/2010/main" val="939570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Good morning, everyone. Welcome to our masterclass session on Architecting Agentic AI: The Blueprint for Autonomous Systems. Over the next few hours, we are going to embark on a comprehensive technical journey. </a:t>
            </a:r>
          </a:p>
          <a:p>
            <a:r>
              <a:rPr lang="en-US" altLang="zh-HK" dirty="0"/>
              <a:t>If you look at the landscape of Software Architecture today, we are witnessing a fundamental paradigm shift. We are moving away from deterministic, hardcoded programmatic flows toward non-deterministic, goal-driven, and truly autonomous agentic systems. </a:t>
            </a:r>
          </a:p>
          <a:p>
            <a:r>
              <a:rPr lang="en-US" altLang="zh-HK" dirty="0"/>
              <a:t>This deck serves as your visual syllabus and architectural reference. Whether you are a lead engineer, technical architect, or engineering executive, our objective is to bridge the gap between abstract LLM research and production-grade software delivery. </a:t>
            </a:r>
          </a:p>
          <a:p>
            <a:r>
              <a:rPr lang="en-US" altLang="zh-HK" dirty="0"/>
              <a:t>We will systematically break down the journey: starting from the raw mechanics of Large Language Models, extending them into single-agent loops with tools and memory, expanding into stateful execution graphs, evaluating code-agent paradigm shifts, and finally assembling multi-agent orchestrations that power the modern autonomous enterprise. </a:t>
            </a:r>
          </a:p>
          <a:p>
            <a:r>
              <a:rPr lang="en-US" altLang="zh-HK" dirty="0"/>
              <a:t>Let's begin by defining what actually separates a standard Large Language Model from a true AI Agent. </a:t>
            </a:r>
          </a:p>
          <a:p>
            <a:endParaRPr lang="en-US" altLang="zh-HK" dirty="0"/>
          </a:p>
          <a:p>
            <a:endParaRPr lang="en-US" altLang="zh-HK" dirty="0"/>
          </a:p>
          <a:p>
            <a:endParaRPr lang="en-US" altLang="zh-HK" dirty="0"/>
          </a:p>
          <a:p>
            <a:endParaRPr lang="en-US" altLang="zh-HK" dirty="0"/>
          </a:p>
          <a:p>
            <a:r>
              <a:rPr lang="en-US" altLang="zh-HK" dirty="0"/>
              <a:t>Agentic AI Full Course | Build Real World AI Agents with </a:t>
            </a:r>
            <a:r>
              <a:rPr lang="en-US" altLang="zh-HK" dirty="0" err="1"/>
              <a:t>LangChain</a:t>
            </a:r>
            <a:r>
              <a:rPr lang="en-US" altLang="zh-HK" dirty="0"/>
              <a:t>, </a:t>
            </a:r>
            <a:r>
              <a:rPr lang="en-US" altLang="zh-HK" dirty="0" err="1"/>
              <a:t>LangGraph</a:t>
            </a:r>
            <a:r>
              <a:rPr lang="en-US" altLang="zh-HK" dirty="0"/>
              <a:t>, </a:t>
            </a:r>
            <a:r>
              <a:rPr lang="en-US" altLang="zh-HK" dirty="0" err="1"/>
              <a:t>LlamaIndex</a:t>
            </a:r>
            <a:r>
              <a:rPr lang="en-US" altLang="zh-HK" dirty="0"/>
              <a:t> &amp; </a:t>
            </a:r>
            <a:r>
              <a:rPr lang="en-US" altLang="zh-HK" dirty="0" err="1"/>
              <a:t>CrewAI</a:t>
            </a:r>
            <a:endParaRPr lang="en-US" altLang="zh-HK" dirty="0"/>
          </a:p>
          <a:p>
            <a:r>
              <a:rPr lang="en-US" altLang="zh-HK" dirty="0"/>
              <a:t>https://www.youtube.com/watch?v=MSsqjZ0_GpU</a:t>
            </a:r>
          </a:p>
          <a:p>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1</a:t>
            </a:fld>
            <a:endParaRPr lang="zh-HK" altLang="en-US"/>
          </a:p>
        </p:txBody>
      </p:sp>
    </p:spTree>
    <p:extLst>
      <p:ext uri="{BB962C8B-B14F-4D97-AF65-F5344CB8AC3E}">
        <p14:creationId xmlns:p14="http://schemas.microsoft.com/office/powerpoint/2010/main" val="1155201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To build production-grade agentic systems, we must first establish a strict conceptual boundary between the Brain and the System. </a:t>
            </a:r>
          </a:p>
          <a:p>
            <a:r>
              <a:rPr lang="en-US" altLang="zh-HK" dirty="0"/>
              <a:t>On the left, we have the Large Language Model. At its core, an LLM is a probabilistic, next-token prediction engine. It excels at parsing syntax, understanding semantic context, and reasoning over textual representations. However, it operates in complete isolation from the real world. It cannot query a live SQL database, it cannot execute Python code, and it cannot inspect real-time state without external intervention. </a:t>
            </a:r>
          </a:p>
          <a:p>
            <a:r>
              <a:rPr lang="en-US" altLang="zh-HK" dirty="0"/>
              <a:t>On the right side of the slide, we see the Autonomous Agent. An agent is NOT just a prompt sent to an LLM; it is an entire dynamic software system wrapped around the model. </a:t>
            </a:r>
          </a:p>
          <a:p>
            <a:r>
              <a:rPr lang="en-US" altLang="zh-HK" dirty="0"/>
              <a:t>The agent leverages the LLM as its reasoning core, but surrounds it with three critical architectural components: Tools (acting as hands to manipulate environment state), Memory (acting as state retention across execution cycles), and Human-in-the-Loop triggers (for governance and steering). </a:t>
            </a:r>
          </a:p>
          <a:p>
            <a:r>
              <a:rPr lang="en-US" altLang="zh-HK" dirty="0"/>
              <a:t>While an LLM simply generates static text responses, an Autonomous Agent navigates dynamically from an ambiguous starting condition toward a complex, multi-step goal. </a:t>
            </a:r>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2</a:t>
            </a:fld>
            <a:endParaRPr lang="zh-HK" altLang="en-US"/>
          </a:p>
        </p:txBody>
      </p:sp>
    </p:spTree>
    <p:extLst>
      <p:ext uri="{BB962C8B-B14F-4D97-AF65-F5344CB8AC3E}">
        <p14:creationId xmlns:p14="http://schemas.microsoft.com/office/powerpoint/2010/main" val="25153016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When we inspect the inner mechanics of any modern agent system, we consistently find three foundational pillars. Think of this as the anatomy of an agent. </a:t>
            </a:r>
          </a:p>
          <a:p>
            <a:r>
              <a:rPr lang="en-US" altLang="zh-HK" dirty="0"/>
              <a:t>Pillar 1: The Brain (LLM). This component handles high-level cognitive tasks—intent understanding, task breakdown, step-by-step planning, and semantic evaluation. Powered by Transformer architectures, it processes environmental context and decides what to do next. </a:t>
            </a:r>
          </a:p>
          <a:p>
            <a:r>
              <a:rPr lang="en-US" altLang="zh-HK" dirty="0"/>
              <a:t>Pillar 2: The Body (Tools). Tools are the operational 'weapons' or interfaces through which the agent interacts with external systems. This includes REST APIs, web search engines, Python sandboxes, and database query engines. Without tools, the agent is trapped in a pure thought loop. </a:t>
            </a:r>
          </a:p>
          <a:p>
            <a:r>
              <a:rPr lang="en-US" altLang="zh-HK" dirty="0"/>
              <a:t>Pillar 3: Memory &amp; State Retention. To prevent agents from repeating mistakes or falling into infinite logic loops, they require persistent state. This pillar manages short-term contextual memory, long-term semantic stores, and state restoration mechanisms. </a:t>
            </a:r>
          </a:p>
          <a:p>
            <a:r>
              <a:rPr lang="en-US" altLang="zh-HK" dirty="0"/>
              <a:t>When these three pillars operate in unison inside a feedback loop, true autonomous behavior emerges. </a:t>
            </a:r>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3</a:t>
            </a:fld>
            <a:endParaRPr lang="zh-HK" altLang="en-US"/>
          </a:p>
        </p:txBody>
      </p:sp>
    </p:spTree>
    <p:extLst>
      <p:ext uri="{BB962C8B-B14F-4D97-AF65-F5344CB8AC3E}">
        <p14:creationId xmlns:p14="http://schemas.microsoft.com/office/powerpoint/2010/main" val="1445846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Not all AI software is created equal. As enterprise architects, we need a standard framework to evaluate the maturity and autonomy level of our AI implementations. Here, we break down agency into 5 discrete levels. </a:t>
            </a:r>
          </a:p>
          <a:p>
            <a:r>
              <a:rPr lang="en-US" altLang="zh-HK" dirty="0"/>
              <a:t>Level 1: Simple Processor. Minimal to zero agency. Think of basic grammar checkers or stateless classification calls where input directly produces an output without tools or state. </a:t>
            </a:r>
          </a:p>
          <a:p>
            <a:r>
              <a:rPr lang="en-US" altLang="zh-HK" dirty="0"/>
              <a:t>Level 2: Router. The LLM determines basic control flows, directing user input down predefined deterministic branches (e.g., standard triage chatbots). </a:t>
            </a:r>
          </a:p>
          <a:p>
            <a:r>
              <a:rPr lang="en-US" altLang="zh-HK" dirty="0"/>
              <a:t>Level 3: Tool Caller. The agent dynamically decides which function to call and what arguments to pass based on context (e.g., a calendar bot calling Google Calendar API). </a:t>
            </a:r>
          </a:p>
          <a:p>
            <a:r>
              <a:rPr lang="en-US" altLang="zh-HK" dirty="0"/>
              <a:t>Level 4: Multi-Step Agent. The agent creates an internal plan and iteratively executes actions over sequential cycles until a complex goal is fulfilled. </a:t>
            </a:r>
          </a:p>
          <a:p>
            <a:r>
              <a:rPr lang="en-US" altLang="zh-HK" dirty="0"/>
              <a:t>Level 5: Multi-Agent System. Heterogeneous teams of specialized agents collaborate, delegate sub-tasks, and manage shared memory to solve end-to-end enterprise workflows. </a:t>
            </a:r>
          </a:p>
          <a:p>
            <a:r>
              <a:rPr lang="en-US" altLang="zh-HK" dirty="0"/>
              <a:t>As you move up from Level 1 to Level 5, development complexity increases, but the business value creation and labor leverage scale exponentially. </a:t>
            </a:r>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4</a:t>
            </a:fld>
            <a:endParaRPr lang="zh-HK" altLang="en-US"/>
          </a:p>
        </p:txBody>
      </p:sp>
    </p:spTree>
    <p:extLst>
      <p:ext uri="{BB962C8B-B14F-4D97-AF65-F5344CB8AC3E}">
        <p14:creationId xmlns:p14="http://schemas.microsoft.com/office/powerpoint/2010/main" val="4077628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At the core of single-agent dynamic decision-making is the </a:t>
            </a:r>
            <a:r>
              <a:rPr lang="en-US" altLang="zh-HK" dirty="0" err="1"/>
              <a:t>ReAct</a:t>
            </a:r>
            <a:r>
              <a:rPr lang="en-US" altLang="zh-HK" dirty="0"/>
              <a:t> Framework—which stands for Reasoning and Acting. </a:t>
            </a:r>
          </a:p>
          <a:p>
            <a:r>
              <a:rPr lang="en-US" altLang="zh-HK" dirty="0"/>
              <a:t>Instead of forcing an LLM to answer a prompt in a single shot, the </a:t>
            </a:r>
            <a:r>
              <a:rPr lang="en-US" altLang="zh-HK" dirty="0" err="1"/>
              <a:t>ReAct</a:t>
            </a:r>
            <a:r>
              <a:rPr lang="en-US" altLang="zh-HK" dirty="0"/>
              <a:t> Engine operates an iterative loop driven by three distinct phases: </a:t>
            </a:r>
          </a:p>
          <a:p>
            <a:r>
              <a:rPr lang="en-US" altLang="zh-HK" dirty="0"/>
              <a:t>1. Thought: The agent analyzes the current objective and historical environment state, then verbalizes its next step. </a:t>
            </a:r>
          </a:p>
          <a:p>
            <a:r>
              <a:rPr lang="en-US" altLang="zh-HK" dirty="0"/>
              <a:t>2. Action: The agent outputs a structured decision to invoke a specific tool with generated parameters. </a:t>
            </a:r>
          </a:p>
          <a:p>
            <a:r>
              <a:rPr lang="en-US" altLang="zh-HK" dirty="0"/>
              <a:t>3. Observation: The underlying framework executes the tool call, captures the returned data/error from the environment, and appends it back into the LLM's context window. </a:t>
            </a:r>
          </a:p>
          <a:p>
            <a:r>
              <a:rPr lang="en-US" altLang="zh-HK" dirty="0"/>
              <a:t>This Thought $\</a:t>
            </a:r>
            <a:r>
              <a:rPr lang="en-US" altLang="zh-HK" dirty="0" err="1"/>
              <a:t>rightarrow</a:t>
            </a:r>
            <a:r>
              <a:rPr lang="en-US" altLang="zh-HK" dirty="0"/>
              <a:t>$ Action $\</a:t>
            </a:r>
            <a:r>
              <a:rPr lang="en-US" altLang="zh-HK" dirty="0" err="1"/>
              <a:t>rightarrow</a:t>
            </a:r>
            <a:r>
              <a:rPr lang="en-US" altLang="zh-HK" dirty="0"/>
              <a:t>$ Observation loop repeats $N$ times until the agent assesses that the objective is met, issuing its Final Answer. </a:t>
            </a:r>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5</a:t>
            </a:fld>
            <a:endParaRPr lang="zh-HK" altLang="en-US"/>
          </a:p>
        </p:txBody>
      </p:sp>
    </p:spTree>
    <p:extLst>
      <p:ext uri="{BB962C8B-B14F-4D97-AF65-F5344CB8AC3E}">
        <p14:creationId xmlns:p14="http://schemas.microsoft.com/office/powerpoint/2010/main" val="40206020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Let's demystify how tools actually work under the hood. There is a common misconception that LLMs possess magical direct connections to external databases or APIs. </a:t>
            </a:r>
          </a:p>
          <a:p>
            <a:r>
              <a:rPr lang="en-US" altLang="zh-HK" dirty="0"/>
              <a:t>Critical Insight: Tool integration into an LLM is powered entirely through Prompt Engineering and string parsing. </a:t>
            </a:r>
          </a:p>
          <a:p>
            <a:r>
              <a:rPr lang="en-US" altLang="zh-HK" dirty="0"/>
              <a:t>In phase 1 (The Prompt), we inject a system prompt listing available function schemas and instructing the LLM to output text following a specific format (e.g., JSON or Markdown blocks). </a:t>
            </a:r>
          </a:p>
          <a:p>
            <a:r>
              <a:rPr lang="en-US" altLang="zh-HK" dirty="0"/>
              <a:t>In phase 2 (The LLM Output), the model predicts tokens that output text structured as an action request (e.g., Action: LLM Math, Input: 100 - 2 + 3). </a:t>
            </a:r>
          </a:p>
          <a:p>
            <a:r>
              <a:rPr lang="en-US" altLang="zh-HK" dirty="0"/>
              <a:t>In phase 3 (The Execution), the surrounding Python/TypeScript wrapper framework intercepts this string, matches it to a real Python function, executes the code in the local runtime, and feeds the numerical result (e.g., 101) back into the prompt as an Observation. </a:t>
            </a:r>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6</a:t>
            </a:fld>
            <a:endParaRPr lang="zh-HK" altLang="en-US"/>
          </a:p>
        </p:txBody>
      </p:sp>
    </p:spTree>
    <p:extLst>
      <p:ext uri="{BB962C8B-B14F-4D97-AF65-F5344CB8AC3E}">
        <p14:creationId xmlns:p14="http://schemas.microsoft.com/office/powerpoint/2010/main" val="12933989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Retrieval Augmented Generation (RAG) is standard for enterprise search, but traditional RAG suffers from rigid design limitations. </a:t>
            </a:r>
          </a:p>
          <a:p>
            <a:r>
              <a:rPr lang="en-US" altLang="zh-HK" dirty="0"/>
              <a:t>Standard RAG (Linear): Follows a static, one-way pipeline: User Query $\</a:t>
            </a:r>
            <a:r>
              <a:rPr lang="en-US" altLang="zh-HK" dirty="0" err="1"/>
              <a:t>rightarrow</a:t>
            </a:r>
            <a:r>
              <a:rPr lang="en-US" altLang="zh-HK" dirty="0"/>
              <a:t>$ Vector Database Similarity Search $\</a:t>
            </a:r>
            <a:r>
              <a:rPr lang="en-US" altLang="zh-HK" dirty="0" err="1"/>
              <a:t>rightarrow</a:t>
            </a:r>
            <a:r>
              <a:rPr lang="en-US" altLang="zh-HK" dirty="0"/>
              <a:t>$ Context Injection $\</a:t>
            </a:r>
            <a:r>
              <a:rPr lang="en-US" altLang="zh-HK" dirty="0" err="1"/>
              <a:t>rightarrow</a:t>
            </a:r>
            <a:r>
              <a:rPr lang="en-US" altLang="zh-HK" dirty="0"/>
              <a:t>$ Single LLM Answer. If the retrieved chunks are irrelevant, incomplete, or noisy, the pipeline fails silently with hallucinations. </a:t>
            </a:r>
          </a:p>
          <a:p>
            <a:r>
              <a:rPr lang="en-US" altLang="zh-HK" dirty="0"/>
              <a:t>Agentic RAG (Cyclical): Instead of treating retrieval as a hardcoded static step, Agentic RAG treats the Query Engine as a Tool within a </a:t>
            </a:r>
            <a:r>
              <a:rPr lang="en-US" altLang="zh-HK" dirty="0" err="1"/>
              <a:t>ReAct</a:t>
            </a:r>
            <a:r>
              <a:rPr lang="en-US" altLang="zh-HK" dirty="0"/>
              <a:t> loop. </a:t>
            </a:r>
          </a:p>
          <a:p>
            <a:r>
              <a:rPr lang="en-US" altLang="zh-HK" dirty="0"/>
              <a:t>An Agentic RAG system evaluates incoming query intent via an intelligent router. It dynamically chooses between summary indices, vector searches, or SQL endpoints. Most importantly, if the retrieved data is inadequate, the agent analyzes the gap and dynamically re-queries with refined search parameters. </a:t>
            </a:r>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7</a:t>
            </a:fld>
            <a:endParaRPr lang="zh-HK" altLang="en-US"/>
          </a:p>
        </p:txBody>
      </p:sp>
    </p:spTree>
    <p:extLst>
      <p:ext uri="{BB962C8B-B14F-4D97-AF65-F5344CB8AC3E}">
        <p14:creationId xmlns:p14="http://schemas.microsoft.com/office/powerpoint/2010/main" val="2013591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As the AI landscape explodes, selecting the right architectural stack can be overwhelming. We can categorize the modern agent ecosystem into three operational paradigms: </a:t>
            </a:r>
          </a:p>
          <a:p>
            <a:r>
              <a:rPr lang="en-US" altLang="zh-HK" dirty="0"/>
              <a:t>1. Code-Based Frameworks (High Control / Production Engineering): Designed for software engineers who require fine-grained state control, deterministic routing, and custom debugging. Examples include </a:t>
            </a:r>
            <a:r>
              <a:rPr lang="en-US" altLang="zh-HK" dirty="0" err="1"/>
              <a:t>LangChain</a:t>
            </a:r>
            <a:r>
              <a:rPr lang="en-US" altLang="zh-HK" dirty="0"/>
              <a:t>, </a:t>
            </a:r>
            <a:r>
              <a:rPr lang="en-US" altLang="zh-HK" dirty="0" err="1"/>
              <a:t>LangGraph</a:t>
            </a:r>
            <a:r>
              <a:rPr lang="en-US" altLang="zh-HK" dirty="0"/>
              <a:t>, </a:t>
            </a:r>
            <a:r>
              <a:rPr lang="en-US" altLang="zh-HK" dirty="0" err="1"/>
              <a:t>LlamaIndex</a:t>
            </a:r>
            <a:r>
              <a:rPr lang="en-US" altLang="zh-HK" dirty="0"/>
              <a:t>, </a:t>
            </a:r>
            <a:r>
              <a:rPr lang="en-US" altLang="zh-HK" dirty="0" err="1"/>
              <a:t>smolagents</a:t>
            </a:r>
            <a:r>
              <a:rPr lang="en-US" altLang="zh-HK" dirty="0"/>
              <a:t>, and </a:t>
            </a:r>
            <a:r>
              <a:rPr lang="en-US" altLang="zh-HK" dirty="0" err="1"/>
              <a:t>AutoGen</a:t>
            </a:r>
            <a:r>
              <a:rPr lang="en-US" altLang="zh-HK" dirty="0"/>
              <a:t>. </a:t>
            </a:r>
          </a:p>
          <a:p>
            <a:r>
              <a:rPr lang="en-US" altLang="zh-HK" dirty="0"/>
              <a:t>2. Low-Code Platforms (Visual Orchestration &amp; Prototyping): Enables rapid workflow design using visual interfaces. Examples include </a:t>
            </a:r>
            <a:r>
              <a:rPr lang="en-US" altLang="zh-HK" dirty="0" err="1"/>
              <a:t>CrewAI</a:t>
            </a:r>
            <a:r>
              <a:rPr lang="en-US" altLang="zh-HK" dirty="0"/>
              <a:t>, </a:t>
            </a:r>
            <a:r>
              <a:rPr lang="en-US" altLang="zh-HK" dirty="0" err="1"/>
              <a:t>LangFlow</a:t>
            </a:r>
            <a:r>
              <a:rPr lang="en-US" altLang="zh-HK" dirty="0"/>
              <a:t>, n8n, and Agno. </a:t>
            </a:r>
          </a:p>
          <a:p>
            <a:r>
              <a:rPr lang="en-US" altLang="zh-HK" dirty="0"/>
              <a:t>3. No-Code Solutions (Max Accessibility &amp; Business Integration): Targeted at non-developers and enterprise end-users. Examples include Microsoft Copilot Studio, </a:t>
            </a:r>
            <a:r>
              <a:rPr lang="en-US" altLang="zh-HK" dirty="0" err="1"/>
              <a:t>OpenAI</a:t>
            </a:r>
            <a:r>
              <a:rPr lang="en-US" altLang="zh-HK" dirty="0"/>
              <a:t> Custom GPTs, and Manus. </a:t>
            </a:r>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8</a:t>
            </a:fld>
            <a:endParaRPr lang="zh-HK" altLang="en-US"/>
          </a:p>
        </p:txBody>
      </p:sp>
    </p:spTree>
    <p:extLst>
      <p:ext uri="{BB962C8B-B14F-4D97-AF65-F5344CB8AC3E}">
        <p14:creationId xmlns:p14="http://schemas.microsoft.com/office/powerpoint/2010/main" val="1892896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To build production systems, understanding the architectural shift from </a:t>
            </a:r>
            <a:r>
              <a:rPr lang="en-US" altLang="zh-HK" dirty="0" err="1"/>
              <a:t>LangChain</a:t>
            </a:r>
            <a:r>
              <a:rPr lang="en-US" altLang="zh-HK" dirty="0"/>
              <a:t> to </a:t>
            </a:r>
            <a:r>
              <a:rPr lang="en-US" altLang="zh-HK" dirty="0" err="1"/>
              <a:t>LangGraph</a:t>
            </a:r>
            <a:r>
              <a:rPr lang="en-US" altLang="zh-HK" dirty="0"/>
              <a:t> is essential. </a:t>
            </a:r>
          </a:p>
          <a:p>
            <a:r>
              <a:rPr lang="en-US" altLang="zh-HK" dirty="0"/>
              <a:t>Before: </a:t>
            </a:r>
            <a:r>
              <a:rPr lang="en-US" altLang="zh-HK" dirty="0" err="1"/>
              <a:t>LangChain</a:t>
            </a:r>
            <a:r>
              <a:rPr lang="en-US" altLang="zh-HK" dirty="0"/>
              <a:t> (DAG - Directed Acyclic Graph). Early agentic pipelines relied on DAGs. Data flowed strictly in one direction from input to output. While great for linear chains, DAGs struggle with unpredictable, looping real-world agent behavior. </a:t>
            </a:r>
          </a:p>
          <a:p>
            <a:r>
              <a:rPr lang="en-US" altLang="zh-HK" dirty="0"/>
              <a:t>After: </a:t>
            </a:r>
            <a:r>
              <a:rPr lang="en-US" altLang="zh-HK" dirty="0" err="1"/>
              <a:t>LangGraph</a:t>
            </a:r>
            <a:r>
              <a:rPr lang="en-US" altLang="zh-HK" dirty="0"/>
              <a:t> (Stateful Cyclic Graphs). </a:t>
            </a:r>
            <a:r>
              <a:rPr lang="en-US" altLang="zh-HK" dirty="0" err="1"/>
              <a:t>LangGraph</a:t>
            </a:r>
            <a:r>
              <a:rPr lang="en-US" altLang="zh-HK" dirty="0"/>
              <a:t> introduces stateful cyclic graphs to handle agent orchestration. It models workflows using three primary components: </a:t>
            </a:r>
          </a:p>
          <a:p>
            <a:br>
              <a:rPr lang="en-US" altLang="zh-HK" dirty="0"/>
            </a:br>
            <a:endParaRPr lang="en-US" altLang="zh-HK" dirty="0"/>
          </a:p>
          <a:p>
            <a:r>
              <a:rPr lang="en-US" altLang="zh-HK" dirty="0"/>
              <a:t>State ($S$): A centralized, shared data structure updated across execution cycles. </a:t>
            </a:r>
          </a:p>
          <a:p>
            <a:r>
              <a:rPr lang="en-US" altLang="zh-HK" dirty="0"/>
              <a:t>Nodes ($N$): Pure Python functions that receive the current state, perform work/tool execution, and emit state updates. </a:t>
            </a:r>
          </a:p>
          <a:p>
            <a:r>
              <a:rPr lang="en-US" altLang="zh-HK" dirty="0"/>
              <a:t>Edges ($E$): Conditional logic routines that dynamically determine the next node based on current state attributes. </a:t>
            </a:r>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9</a:t>
            </a:fld>
            <a:endParaRPr lang="zh-HK" altLang="en-US"/>
          </a:p>
        </p:txBody>
      </p:sp>
    </p:spTree>
    <p:extLst>
      <p:ext uri="{BB962C8B-B14F-4D97-AF65-F5344CB8AC3E}">
        <p14:creationId xmlns:p14="http://schemas.microsoft.com/office/powerpoint/2010/main" val="1028618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While frameworks like </a:t>
            </a:r>
            <a:r>
              <a:rPr lang="en-US" altLang="zh-HK" dirty="0" err="1"/>
              <a:t>LangGraph</a:t>
            </a:r>
            <a:r>
              <a:rPr lang="en-US" altLang="zh-HK" dirty="0"/>
              <a:t> focus on orchestration, </a:t>
            </a:r>
            <a:r>
              <a:rPr lang="en-US" altLang="zh-HK" dirty="0" err="1"/>
              <a:t>LlamaIndex</a:t>
            </a:r>
            <a:r>
              <a:rPr lang="en-US" altLang="zh-HK" dirty="0"/>
              <a:t> focuses on structural data integration for complex enterprise data. </a:t>
            </a:r>
          </a:p>
          <a:p>
            <a:r>
              <a:rPr lang="en-US" altLang="zh-HK" dirty="0"/>
              <a:t>Unstructured enterprise data (PDFs, internal documentation, Confluence pages) cannot be directly processed by LLMs without ingestion. </a:t>
            </a:r>
          </a:p>
          <a:p>
            <a:pPr marL="0" indent="0">
              <a:buFont typeface="+mj-lt"/>
              <a:buNone/>
            </a:pPr>
            <a:r>
              <a:rPr lang="en-US" altLang="zh-HK" dirty="0" err="1"/>
              <a:t>LlamaIndex</a:t>
            </a:r>
            <a:r>
              <a:rPr lang="en-US" altLang="zh-HK" dirty="0"/>
              <a:t> handles this through a structured 4-step ingestion machine: </a:t>
            </a:r>
          </a:p>
          <a:p>
            <a:pPr marL="228600" indent="-228600">
              <a:buFont typeface="+mj-lt"/>
              <a:buAutoNum type="arabicPeriod"/>
            </a:pPr>
            <a:r>
              <a:rPr lang="en-US" altLang="zh-HK" dirty="0"/>
              <a:t>Document Loading: Native ingestion via connectors like </a:t>
            </a:r>
            <a:r>
              <a:rPr lang="en-US" altLang="zh-HK" dirty="0" err="1"/>
              <a:t>DirectoryReader</a:t>
            </a:r>
            <a:r>
              <a:rPr lang="en-US" altLang="zh-HK" dirty="0"/>
              <a:t>. </a:t>
            </a:r>
          </a:p>
          <a:p>
            <a:pPr marL="228600" indent="-228600">
              <a:buFont typeface="+mj-lt"/>
              <a:buAutoNum type="arabicPeriod"/>
            </a:pPr>
            <a:r>
              <a:rPr lang="en-US" altLang="zh-HK" dirty="0"/>
              <a:t>Chunking: Chunking text using smart splitters like </a:t>
            </a:r>
            <a:r>
              <a:rPr lang="en-US" altLang="zh-HK" dirty="0" err="1"/>
              <a:t>SentenceSplitter</a:t>
            </a:r>
            <a:r>
              <a:rPr lang="en-US" altLang="zh-HK" dirty="0"/>
              <a:t>. </a:t>
            </a:r>
          </a:p>
          <a:p>
            <a:pPr marL="228600" indent="-228600">
              <a:buFont typeface="+mj-lt"/>
              <a:buAutoNum type="arabicPeriod"/>
            </a:pPr>
            <a:r>
              <a:rPr lang="en-US" altLang="zh-HK" dirty="0"/>
              <a:t>Vector Indexing: Converting text chunks into high-dimensional vector embeddings (e.g., 1536 dimensions) stored in a vector index. </a:t>
            </a:r>
          </a:p>
          <a:p>
            <a:pPr marL="228600" indent="-228600">
              <a:buFont typeface="+mj-lt"/>
              <a:buAutoNum type="arabicPeriod"/>
            </a:pPr>
            <a:r>
              <a:rPr lang="en-US" altLang="zh-HK" dirty="0"/>
              <a:t>Agentic Integration: Wrapping indices into query tools (like </a:t>
            </a:r>
            <a:r>
              <a:rPr lang="en-US" altLang="zh-HK" dirty="0" err="1"/>
              <a:t>QueryEngineTool</a:t>
            </a:r>
            <a:r>
              <a:rPr lang="en-US" altLang="zh-HK" dirty="0"/>
              <a:t>) so agents can search internal enterprise knowledge during execution. </a:t>
            </a:r>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10</a:t>
            </a:fld>
            <a:endParaRPr lang="zh-HK" altLang="en-US"/>
          </a:p>
        </p:txBody>
      </p:sp>
    </p:spTree>
    <p:extLst>
      <p:ext uri="{BB962C8B-B14F-4D97-AF65-F5344CB8AC3E}">
        <p14:creationId xmlns:p14="http://schemas.microsoft.com/office/powerpoint/2010/main" val="1394993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When tasks become too complex for a single agent, we transition to multi-agent team abstractions. </a:t>
            </a:r>
            <a:r>
              <a:rPr lang="en-US" altLang="zh-HK" dirty="0" err="1"/>
              <a:t>CrewAI</a:t>
            </a:r>
            <a:r>
              <a:rPr lang="en-US" altLang="zh-HK" dirty="0"/>
              <a:t> pioneered a human-like organizational paradigm. </a:t>
            </a:r>
          </a:p>
          <a:p>
            <a:r>
              <a:rPr lang="en-US" altLang="zh-HK" dirty="0"/>
              <a:t>Instead of managing raw prompt strings, </a:t>
            </a:r>
            <a:r>
              <a:rPr lang="en-US" altLang="zh-HK" dirty="0" err="1"/>
              <a:t>CrewAI</a:t>
            </a:r>
            <a:r>
              <a:rPr lang="en-US" altLang="zh-HK" dirty="0"/>
              <a:t> allows developers to define specialized agents using English organizational structures: </a:t>
            </a:r>
          </a:p>
          <a:p>
            <a:pPr marL="171450" indent="-171450">
              <a:buFont typeface="Arial" panose="020B0604020202020204" pitchFamily="34" charset="0"/>
              <a:buChar char="•"/>
            </a:pPr>
            <a:r>
              <a:rPr lang="en-US" altLang="zh-HK" dirty="0"/>
              <a:t>Role: The title and identity (e.g., Content Strategist, Opinion Journalist, Managing Editor). </a:t>
            </a:r>
          </a:p>
          <a:p>
            <a:pPr marL="171450" indent="-171450">
              <a:buFont typeface="Arial" panose="020B0604020202020204" pitchFamily="34" charset="0"/>
              <a:buChar char="•"/>
            </a:pPr>
            <a:r>
              <a:rPr lang="en-US" altLang="zh-HK" dirty="0"/>
              <a:t>Goal: The specific outcome the agent is driven to achieve. </a:t>
            </a:r>
          </a:p>
          <a:p>
            <a:pPr marL="171450" indent="-171450">
              <a:buFont typeface="Arial" panose="020B0604020202020204" pitchFamily="34" charset="0"/>
              <a:buChar char="•"/>
            </a:pPr>
            <a:r>
              <a:rPr lang="en-US" altLang="zh-HK" dirty="0"/>
              <a:t>Backstory: System-prompt context providing perspective, style, and guardrails. </a:t>
            </a:r>
          </a:p>
          <a:p>
            <a:r>
              <a:rPr lang="en-US" altLang="zh-HK" dirty="0"/>
              <a:t>By assigning distinct roles and backstories, agents operate with specialized context, passing structured outputs cleanly to peer agents. </a:t>
            </a:r>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11</a:t>
            </a:fld>
            <a:endParaRPr lang="zh-HK" altLang="en-US"/>
          </a:p>
        </p:txBody>
      </p:sp>
    </p:spTree>
    <p:extLst>
      <p:ext uri="{BB962C8B-B14F-4D97-AF65-F5344CB8AC3E}">
        <p14:creationId xmlns:p14="http://schemas.microsoft.com/office/powerpoint/2010/main" val="35615139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A major architectural shift is happening in tool execution: moving from JSON Tool-Calling to Native Code Execution (exemplified by Hugging Face's </a:t>
            </a:r>
            <a:r>
              <a:rPr lang="en-US" altLang="zh-HK" dirty="0" err="1"/>
              <a:t>smolagents</a:t>
            </a:r>
            <a:r>
              <a:rPr lang="en-US" altLang="zh-HK" dirty="0"/>
              <a:t>). </a:t>
            </a:r>
          </a:p>
          <a:p>
            <a:r>
              <a:rPr lang="en-US" altLang="zh-HK" dirty="0"/>
              <a:t>Tool-Calling Agents (JSON): Standard agents express actions via JSON format. To look up data for 50 countries, the agent must undergo 50 separate Thought-Action-Observation loops. This causes extreme token overhead, high costs, and latency bottlenecks. </a:t>
            </a:r>
          </a:p>
          <a:p>
            <a:r>
              <a:rPr lang="en-US" altLang="zh-HK" dirty="0"/>
              <a:t>Code Agents (Python): Instead of outputting JSON, the LLM outputs native Python scripts containing executable loops (e.g., for country in </a:t>
            </a:r>
            <a:r>
              <a:rPr lang="en-US" altLang="zh-HK" dirty="0" err="1"/>
              <a:t>countries_list</a:t>
            </a:r>
            <a:r>
              <a:rPr lang="en-US" altLang="zh-HK" dirty="0"/>
              <a:t>: </a:t>
            </a:r>
            <a:r>
              <a:rPr lang="en-US" altLang="zh-HK" dirty="0" err="1"/>
              <a:t>lookup_rates</a:t>
            </a:r>
            <a:r>
              <a:rPr lang="en-US" altLang="zh-HK" dirty="0"/>
              <a:t>(country)). </a:t>
            </a:r>
          </a:p>
          <a:p>
            <a:r>
              <a:rPr lang="en-US" altLang="zh-HK" dirty="0"/>
              <a:t>This reduces 50 API round-trips to a single execution step, drastically lowering latency, token consumption, and failure rates. </a:t>
            </a:r>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12</a:t>
            </a:fld>
            <a:endParaRPr lang="zh-HK" altLang="en-US"/>
          </a:p>
        </p:txBody>
      </p:sp>
    </p:spTree>
    <p:extLst>
      <p:ext uri="{BB962C8B-B14F-4D97-AF65-F5344CB8AC3E}">
        <p14:creationId xmlns:p14="http://schemas.microsoft.com/office/powerpoint/2010/main" val="278139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When designing multi-agent networks, choosing the right structural topology is critical. We typically utilize five core patterns: </a:t>
            </a:r>
          </a:p>
          <a:p>
            <a:pPr marL="228600" indent="-228600">
              <a:buFont typeface="+mj-lt"/>
              <a:buAutoNum type="arabicPeriod"/>
            </a:pPr>
            <a:r>
              <a:rPr lang="en-US" altLang="zh-HK" dirty="0"/>
              <a:t>Sequential: Linear pipelines where output from Agent A flows directly into Agent B. </a:t>
            </a:r>
          </a:p>
          <a:p>
            <a:pPr marL="228600" indent="-228600">
              <a:buFont typeface="+mj-lt"/>
              <a:buAutoNum type="arabicPeriod"/>
            </a:pPr>
            <a:r>
              <a:rPr lang="en-US" altLang="zh-HK" dirty="0"/>
              <a:t>Hierarchical: A top-level Manager Node orchestrates delegation, assigning sub-tasks to Worker Nodes and aggregating results. </a:t>
            </a:r>
          </a:p>
          <a:p>
            <a:pPr marL="228600" indent="-228600">
              <a:buFont typeface="+mj-lt"/>
              <a:buAutoNum type="arabicPeriod"/>
            </a:pPr>
            <a:r>
              <a:rPr lang="en-US" altLang="zh-HK" dirty="0"/>
              <a:t>Parallel: Independent Worker Nodes execute tasks simultaneously to minimize total latency. </a:t>
            </a:r>
          </a:p>
          <a:p>
            <a:pPr marL="228600" indent="-228600">
              <a:buFont typeface="+mj-lt"/>
              <a:buAutoNum type="arabicPeriod"/>
            </a:pPr>
            <a:r>
              <a:rPr lang="en-US" altLang="zh-HK" dirty="0"/>
              <a:t>Hybrid: Combines hierarchical orchestration with dedicated Reviewer/QA nodes to validate outputs before finalizing. </a:t>
            </a:r>
          </a:p>
          <a:p>
            <a:pPr marL="228600" indent="-228600">
              <a:buFont typeface="+mj-lt"/>
              <a:buAutoNum type="arabicPeriod"/>
            </a:pPr>
            <a:r>
              <a:rPr lang="en-US" altLang="zh-HK" dirty="0"/>
              <a:t>Asynchronous (Async): Fully decoupled nodes operating independently across continuous, event-driven state streams. </a:t>
            </a:r>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13</a:t>
            </a:fld>
            <a:endParaRPr lang="zh-HK" altLang="en-US"/>
          </a:p>
        </p:txBody>
      </p:sp>
    </p:spTree>
    <p:extLst>
      <p:ext uri="{BB962C8B-B14F-4D97-AF65-F5344CB8AC3E}">
        <p14:creationId xmlns:p14="http://schemas.microsoft.com/office/powerpoint/2010/main" val="24587338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ltLang="zh-HK" dirty="0"/>
          </a:p>
          <a:p>
            <a:br>
              <a:rPr lang="en-US" altLang="zh-HK" dirty="0"/>
            </a:br>
            <a:endParaRPr lang="en-US" altLang="zh-HK" dirty="0"/>
          </a:p>
          <a:p>
            <a:r>
              <a:rPr lang="en-US" altLang="zh-HK" dirty="0"/>
              <a:t>Deploying autonomous systems into production without telemetry is a recipe for catastrophic failure. </a:t>
            </a:r>
          </a:p>
          <a:p>
            <a:r>
              <a:rPr lang="en-US" altLang="zh-HK" dirty="0"/>
              <a:t>Tools like </a:t>
            </a:r>
            <a:r>
              <a:rPr lang="en-US" altLang="zh-HK" dirty="0" err="1"/>
              <a:t>Langfuse</a:t>
            </a:r>
            <a:r>
              <a:rPr lang="en-US" altLang="zh-HK" dirty="0"/>
              <a:t> provide comprehensive observability across nested agent loops. Key operational metrics tracked include: </a:t>
            </a:r>
          </a:p>
          <a:p>
            <a:pPr marL="171450" indent="-171450">
              <a:buFont typeface="Arial" panose="020B0604020202020204" pitchFamily="34" charset="0"/>
              <a:buChar char="•"/>
            </a:pPr>
            <a:r>
              <a:rPr lang="en-US" altLang="zh-HK" dirty="0"/>
              <a:t>Exact token consumption per node and sub-task. </a:t>
            </a:r>
          </a:p>
          <a:p>
            <a:pPr marL="171450" indent="-171450">
              <a:buFont typeface="Arial" panose="020B0604020202020204" pitchFamily="34" charset="0"/>
              <a:buChar char="•"/>
            </a:pPr>
            <a:r>
              <a:rPr lang="en-US" altLang="zh-HK" dirty="0"/>
              <a:t>Latency bottlenecks across external tool calls. </a:t>
            </a:r>
          </a:p>
          <a:p>
            <a:pPr marL="171450" indent="-171450">
              <a:buFont typeface="Arial" panose="020B0604020202020204" pitchFamily="34" charset="0"/>
              <a:buChar char="•"/>
            </a:pPr>
            <a:r>
              <a:rPr lang="en-US" altLang="zh-HK" dirty="0"/>
              <a:t>Failures inside nested </a:t>
            </a:r>
            <a:r>
              <a:rPr lang="en-US" altLang="zh-HK" dirty="0" err="1"/>
              <a:t>ReAct</a:t>
            </a:r>
            <a:r>
              <a:rPr lang="en-US" altLang="zh-HK" dirty="0"/>
              <a:t> loops. </a:t>
            </a:r>
          </a:p>
          <a:p>
            <a:pPr marL="0" indent="0">
              <a:buFont typeface="Arial" panose="020B0604020202020204" pitchFamily="34" charset="0"/>
              <a:buNone/>
            </a:pPr>
            <a:r>
              <a:rPr lang="en-US" altLang="zh-HK" dirty="0"/>
              <a:t>Crucially, observability enables Human-in-the-Loop (HITL) controls. Mid-execution hooks can pause workflow execution, allowing a human reviewer to inspect or override decisions before state updates persist. </a:t>
            </a:r>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14</a:t>
            </a:fld>
            <a:endParaRPr lang="zh-HK" altLang="en-US"/>
          </a:p>
        </p:txBody>
      </p:sp>
    </p:spTree>
    <p:extLst>
      <p:ext uri="{BB962C8B-B14F-4D97-AF65-F5344CB8AC3E}">
        <p14:creationId xmlns:p14="http://schemas.microsoft.com/office/powerpoint/2010/main" val="712772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Here we bring all these concepts together into a unified Enterprise Architecture. </a:t>
            </a:r>
          </a:p>
          <a:p>
            <a:r>
              <a:rPr lang="en-US" altLang="zh-HK" dirty="0"/>
              <a:t>In a production autonomous enterprise: </a:t>
            </a:r>
          </a:p>
          <a:p>
            <a:pPr marL="171450" indent="-171450">
              <a:buFont typeface="Arial" panose="020B0604020202020204" pitchFamily="34" charset="0"/>
              <a:buChar char="•"/>
            </a:pPr>
            <a:r>
              <a:rPr lang="en-US" altLang="zh-HK" dirty="0" err="1"/>
              <a:t>LangGraph</a:t>
            </a:r>
            <a:r>
              <a:rPr lang="en-US" altLang="zh-HK" dirty="0"/>
              <a:t> acts as the core central engine, managing orchestration and global state routing. </a:t>
            </a:r>
          </a:p>
          <a:p>
            <a:pPr marL="171450" indent="-171450">
              <a:buFont typeface="Arial" panose="020B0604020202020204" pitchFamily="34" charset="0"/>
              <a:buChar char="•"/>
            </a:pPr>
            <a:r>
              <a:rPr lang="en-US" altLang="zh-HK" dirty="0"/>
              <a:t>Specialized agents handle dedicated domains: </a:t>
            </a:r>
            <a:r>
              <a:rPr lang="en-US" altLang="zh-HK" dirty="0" err="1"/>
              <a:t>LlamaIndex</a:t>
            </a:r>
            <a:r>
              <a:rPr lang="en-US" altLang="zh-HK" dirty="0"/>
              <a:t> powers internal knowledge retrieval, </a:t>
            </a:r>
            <a:r>
              <a:rPr lang="en-US" altLang="zh-HK" dirty="0" err="1"/>
              <a:t>CrewAI</a:t>
            </a:r>
            <a:r>
              <a:rPr lang="en-US" altLang="zh-HK" dirty="0"/>
              <a:t> manages persona-driven content generation, and </a:t>
            </a:r>
            <a:r>
              <a:rPr lang="en-US" altLang="zh-HK" dirty="0" err="1"/>
              <a:t>smolagents</a:t>
            </a:r>
            <a:r>
              <a:rPr lang="en-US" altLang="zh-HK" dirty="0"/>
              <a:t> executes high-speed Python loops. </a:t>
            </a:r>
          </a:p>
          <a:p>
            <a:pPr marL="171450" indent="-171450">
              <a:buFont typeface="Arial" panose="020B0604020202020204" pitchFamily="34" charset="0"/>
              <a:buChar char="•"/>
            </a:pPr>
            <a:r>
              <a:rPr lang="en-US" altLang="zh-HK" dirty="0" err="1"/>
              <a:t>Langfuse</a:t>
            </a:r>
            <a:r>
              <a:rPr lang="en-US" altLang="zh-HK" dirty="0"/>
              <a:t> serves as the surrounding telemetry layer, continuously monitoring cost, performance, and safety. </a:t>
            </a:r>
          </a:p>
          <a:p>
            <a:r>
              <a:rPr lang="en-US" altLang="zh-HK" dirty="0"/>
              <a:t>The future of enterprise software is not just generating text—it is orchestrating specialized autonomous teams to take us seamlessly from intent to execution. </a:t>
            </a:r>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15</a:t>
            </a:fld>
            <a:endParaRPr lang="zh-HK" altLang="en-US"/>
          </a:p>
        </p:txBody>
      </p:sp>
    </p:spTree>
    <p:extLst>
      <p:ext uri="{BB962C8B-B14F-4D97-AF65-F5344CB8AC3E}">
        <p14:creationId xmlns:p14="http://schemas.microsoft.com/office/powerpoint/2010/main" val="4981278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HK" dirty="0"/>
              <a:t>To wrap up our architecture review, let's look at the complete spectrum of tools and frameworks. </a:t>
            </a:r>
          </a:p>
          <a:p>
            <a:r>
              <a:rPr lang="en-US" altLang="zh-HK" dirty="0"/>
              <a:t>At the top, remember the core anatomy: the LLM Brain handles reasoning; Memory &amp; HITL preserve long-term context and human alignment; and the Body executes actions via web search, code interpreters, and API integrations. </a:t>
            </a:r>
          </a:p>
          <a:p>
            <a:r>
              <a:rPr lang="en-US" altLang="zh-HK" dirty="0"/>
              <a:t>When choosing your framework stack, evaluate your team's needs across the Agentic Framework Spectrum: </a:t>
            </a:r>
          </a:p>
          <a:p>
            <a:pPr marL="171450" indent="-171450">
              <a:buFont typeface="Arial" panose="020B0604020202020204" pitchFamily="34" charset="0"/>
              <a:buChar char="•"/>
            </a:pPr>
            <a:r>
              <a:rPr lang="en-US" altLang="zh-HK" dirty="0"/>
              <a:t>Code-First Frameworks (</a:t>
            </a:r>
            <a:r>
              <a:rPr lang="en-US" altLang="zh-HK" dirty="0" err="1"/>
              <a:t>LangChain</a:t>
            </a:r>
            <a:r>
              <a:rPr lang="en-US" altLang="zh-HK" dirty="0"/>
              <a:t>, </a:t>
            </a:r>
            <a:r>
              <a:rPr lang="en-US" altLang="zh-HK" dirty="0" err="1"/>
              <a:t>LangGraph</a:t>
            </a:r>
            <a:r>
              <a:rPr lang="en-US" altLang="zh-HK" dirty="0"/>
              <a:t>, </a:t>
            </a:r>
            <a:r>
              <a:rPr lang="en-US" altLang="zh-HK" dirty="0" err="1"/>
              <a:t>LlamaIndex</a:t>
            </a:r>
            <a:r>
              <a:rPr lang="en-US" altLang="zh-HK" dirty="0"/>
              <a:t>): Best for maximum control, complex state management, and deep custom logic. </a:t>
            </a:r>
          </a:p>
          <a:p>
            <a:pPr marL="171450" indent="-171450">
              <a:buFont typeface="Arial" panose="020B0604020202020204" pitchFamily="34" charset="0"/>
              <a:buChar char="•"/>
            </a:pPr>
            <a:r>
              <a:rPr lang="en-US" altLang="zh-HK" dirty="0"/>
              <a:t>Low-Code Platforms (</a:t>
            </a:r>
            <a:r>
              <a:rPr lang="en-US" altLang="zh-HK" dirty="0" err="1"/>
              <a:t>CrewAI</a:t>
            </a:r>
            <a:r>
              <a:rPr lang="en-US" altLang="zh-HK" dirty="0"/>
              <a:t>, </a:t>
            </a:r>
            <a:r>
              <a:rPr lang="en-US" altLang="zh-HK" dirty="0" err="1"/>
              <a:t>LangFlow</a:t>
            </a:r>
            <a:r>
              <a:rPr lang="en-US" altLang="zh-HK" dirty="0"/>
              <a:t>, n8n): Best for rapid prototyping, visual drag-and-drop orchestration, and multi-agent role collaboration. </a:t>
            </a:r>
          </a:p>
          <a:p>
            <a:r>
              <a:rPr lang="en-US" altLang="zh-HK" dirty="0"/>
              <a:t>Thank you for your attention. Let's now open the floor to questions and discuss your specific architectural implementation strategies! </a:t>
            </a:r>
          </a:p>
          <a:p>
            <a:endParaRPr lang="en-US" altLang="zh-HK" dirty="0"/>
          </a:p>
          <a:p>
            <a:endParaRPr lang="en-US" altLang="zh-HK" dirty="0"/>
          </a:p>
          <a:p>
            <a:endParaRPr lang="en-US" altLang="zh-HK" dirty="0"/>
          </a:p>
          <a:p>
            <a:r>
              <a:rPr lang="en-US" altLang="zh-HK" dirty="0"/>
              <a:t>Agentic AI Full Course | Build Real World AI Agents with </a:t>
            </a:r>
            <a:r>
              <a:rPr lang="en-US" altLang="zh-HK" dirty="0" err="1"/>
              <a:t>LangChain</a:t>
            </a:r>
            <a:r>
              <a:rPr lang="en-US" altLang="zh-HK" dirty="0"/>
              <a:t>, </a:t>
            </a:r>
            <a:r>
              <a:rPr lang="en-US" altLang="zh-HK" dirty="0" err="1"/>
              <a:t>LangGraph</a:t>
            </a:r>
            <a:r>
              <a:rPr lang="en-US" altLang="zh-HK" dirty="0"/>
              <a:t>, </a:t>
            </a:r>
            <a:r>
              <a:rPr lang="en-US" altLang="zh-HK" dirty="0" err="1"/>
              <a:t>LlamaIndex</a:t>
            </a:r>
            <a:r>
              <a:rPr lang="en-US" altLang="zh-HK" dirty="0"/>
              <a:t> &amp; </a:t>
            </a:r>
            <a:r>
              <a:rPr lang="en-US" altLang="zh-HK" dirty="0" err="1"/>
              <a:t>CrewAI</a:t>
            </a:r>
            <a:endParaRPr lang="en-US" altLang="zh-HK" dirty="0"/>
          </a:p>
          <a:p>
            <a:r>
              <a:rPr lang="en-US" altLang="zh-HK"/>
              <a:t>https://www.youtube.com/watch?v=MSsqjZ0_GpU</a:t>
            </a:r>
          </a:p>
          <a:p>
            <a:endParaRPr lang="zh-HK" altLang="en-US" dirty="0"/>
          </a:p>
        </p:txBody>
      </p:sp>
      <p:sp>
        <p:nvSpPr>
          <p:cNvPr id="4" name="投影片編號版面配置區 3"/>
          <p:cNvSpPr>
            <a:spLocks noGrp="1"/>
          </p:cNvSpPr>
          <p:nvPr>
            <p:ph type="sldNum" sz="quarter" idx="5"/>
          </p:nvPr>
        </p:nvSpPr>
        <p:spPr/>
        <p:txBody>
          <a:bodyPr/>
          <a:lstStyle/>
          <a:p>
            <a:fld id="{5BDF7C12-8C88-4C6F-969A-3728A1EF1F58}" type="slidenum">
              <a:rPr lang="zh-HK" altLang="en-US" smtClean="0"/>
              <a:t>16</a:t>
            </a:fld>
            <a:endParaRPr lang="zh-HK" altLang="en-US"/>
          </a:p>
        </p:txBody>
      </p:sp>
    </p:spTree>
    <p:extLst>
      <p:ext uri="{BB962C8B-B14F-4D97-AF65-F5344CB8AC3E}">
        <p14:creationId xmlns:p14="http://schemas.microsoft.com/office/powerpoint/2010/main" val="1991718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568327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23F1CA2-0C07-88FB-B55E-A5BCD9B8B2A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endParaRPr lang="zh-HK" altLang="en-US"/>
          </a:p>
        </p:txBody>
      </p:sp>
      <p:sp>
        <p:nvSpPr>
          <p:cNvPr id="3" name="文字版面配置區 2">
            <a:extLst>
              <a:ext uri="{FF2B5EF4-FFF2-40B4-BE49-F238E27FC236}">
                <a16:creationId xmlns:a16="http://schemas.microsoft.com/office/drawing/2014/main" id="{B6BAB908-824F-B882-A359-EA3E2F5A78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HK" altLang="en-US"/>
          </a:p>
        </p:txBody>
      </p:sp>
      <p:sp>
        <p:nvSpPr>
          <p:cNvPr id="4" name="日期版面配置區 3">
            <a:extLst>
              <a:ext uri="{FF2B5EF4-FFF2-40B4-BE49-F238E27FC236}">
                <a16:creationId xmlns:a16="http://schemas.microsoft.com/office/drawing/2014/main" id="{0F5B3196-C421-4D7C-CD94-6DF0A421A6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8145FC-AC0F-4A2F-A353-456633534033}" type="datetimeFigureOut">
              <a:rPr lang="zh-HK" altLang="en-US" smtClean="0"/>
              <a:t>8/10/2026</a:t>
            </a:fld>
            <a:endParaRPr lang="zh-HK" altLang="en-US"/>
          </a:p>
        </p:txBody>
      </p:sp>
      <p:sp>
        <p:nvSpPr>
          <p:cNvPr id="5" name="頁尾版面配置區 4">
            <a:extLst>
              <a:ext uri="{FF2B5EF4-FFF2-40B4-BE49-F238E27FC236}">
                <a16:creationId xmlns:a16="http://schemas.microsoft.com/office/drawing/2014/main" id="{A5D126B9-95FD-E97B-7E48-E2C382DF3B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p>
        </p:txBody>
      </p:sp>
      <p:sp>
        <p:nvSpPr>
          <p:cNvPr id="6" name="投影片編號版面配置區 5">
            <a:extLst>
              <a:ext uri="{FF2B5EF4-FFF2-40B4-BE49-F238E27FC236}">
                <a16:creationId xmlns:a16="http://schemas.microsoft.com/office/drawing/2014/main" id="{C5901017-9A24-B53A-9E02-01F9B283F1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9FBD34-8B67-44A4-9381-8D5C97DCFAEB}" type="slidenum">
              <a:rPr lang="zh-HK" altLang="en-US" smtClean="0"/>
              <a:t>‹#›</a:t>
            </a:fld>
            <a:endParaRPr lang="zh-HK" altLang="en-US"/>
          </a:p>
        </p:txBody>
      </p:sp>
    </p:spTree>
    <p:extLst>
      <p:ext uri="{BB962C8B-B14F-4D97-AF65-F5344CB8AC3E}">
        <p14:creationId xmlns:p14="http://schemas.microsoft.com/office/powerpoint/2010/main" val="81697183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BC23FBB4-93A1-1859-3244-C654BF9CF514}"/>
              </a:ext>
            </a:extLst>
          </p:cNvPr>
          <p:cNvPicPr>
            <a:picLocks noChangeAspect="1"/>
          </p:cNvPicPr>
          <p:nvPr/>
        </p:nvPicPr>
        <p:blipFill>
          <a:blip r:embed="rId3"/>
          <a:stretch>
            <a:fillRect/>
          </a:stretch>
        </p:blipFill>
        <p:spPr>
          <a:xfrm>
            <a:off x="0" y="30480"/>
            <a:ext cx="12192000" cy="6797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1681C7AA-FEB6-85ED-8324-08B761C44ED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3E3FF4F2-6972-91A0-2BA7-5751B8280A1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66C39D1E-BCF6-D3A3-0419-4358097C578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E8D711A9-A0CC-A669-0DE4-284FFC80C14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EEFC045B-E013-65D1-61AF-7B1D235F24F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A4C4DA5D-8A38-4B08-B6CB-35A230546E2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F2215B51-9466-4153-E58E-0D74103911F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82381083-6FFA-5379-BBEC-56E65442CAD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CA2AF6AA-0204-5E9D-0253-7F4CAFD56E7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A77A7BF1-DD93-BFEA-34A7-88019192F65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EE8C5D9C-CA05-3A1C-E50D-69E03E916A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5DB08032-9FD7-74A8-7070-35A03E40D33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8189CC09-970F-EDCA-B4D8-25C98D42221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169E979C-332B-C56C-3D25-B5CB8AEBE08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3E481CF6-1086-4401-3578-D2DA501BC85C}"/>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222183323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TotalTime>
  <Words>2405</Words>
  <Application>Microsoft Office PowerPoint</Application>
  <PresentationFormat>寬螢幕</PresentationFormat>
  <Paragraphs>118</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Arial</vt:lpstr>
      <vt:lpstr>Calibri</vt:lpstr>
      <vt:lpstr>Calibri Light</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Wilson Lai</dc:creator>
  <cp:lastModifiedBy>Wilson Lai</cp:lastModifiedBy>
  <cp:revision>9</cp:revision>
  <dcterms:created xsi:type="dcterms:W3CDTF">2026-10-07T15:13:18Z</dcterms:created>
  <dcterms:modified xsi:type="dcterms:W3CDTF">2026-10-08T11:48:10Z</dcterms:modified>
</cp:coreProperties>
</file>