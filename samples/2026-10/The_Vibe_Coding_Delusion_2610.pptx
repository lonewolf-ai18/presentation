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dia/image1-1e88d0e9-5ec7-485c-bd88-487564f75caf.copy.jpg" ContentType="image/jpeg"/>
  <Override PartName="/ppt/media/image2-f394b48d-6958-4fd7-ace0-905da2010843.copy.jpg" ContentType="image/jpeg"/>
  <Override PartName="/ppt/media/image3-0294c996-0026-4d56-be9d-6bb6355f9a03.copy.jpg" ContentType="image/jpeg"/>
  <Override PartName="/ppt/media/image5-bb88894a-9391-4221-bdc7-c8c1b8c173b4.copy.jpg" ContentType="image/jpeg"/>
  <Override PartName="/ppt/media/image4-342a1e65-0e25-4499-ae19-d1422ace6280.copy.jpg" ContentType="image/jpeg"/>
  <Override PartName="/ppt/media/image6-ac4fc4b3-b114-4532-b481-4e31c4f91e23.copy.jpg" ContentType="image/jpeg"/>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578" autoAdjust="0"/>
  </p:normalViewPr>
  <p:slideViewPr>
    <p:cSldViewPr snapToGrid="0">
      <p:cViewPr varScale="1">
        <p:scale>
          <a:sx n="56" d="100"/>
          <a:sy n="56" d="100"/>
        </p:scale>
        <p:origin x="102" y="5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A0D4BACE-A044-4C18-BD08-43C0F8E9EE91}"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217488" y="812800"/>
            <a:ext cx="7124700" cy="4008438"/>
          </a:xfrm>
          <a:prstGeom prst="rect">
            <a:avLst/>
          </a:prstGeom>
          <a:ln w="0">
            <a:noFill/>
          </a:ln>
        </p:spPr>
      </p:sp>
      <p:sp>
        <p:nvSpPr>
          <p:cNvPr id="84"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Good day, everyone. Welcome to today’s session.</a:t>
            </a:r>
          </a:p>
          <a:p>
            <a:pPr indent="0" algn="l">
              <a:buNone/>
            </a:pPr>
            <a:r>
              <a:rPr lang="en-US" sz="2000" b="0" u="none" strike="noStrike" dirty="0">
                <a:solidFill>
                  <a:srgbClr val="000000"/>
                </a:solidFill>
                <a:effectLst/>
                <a:uFillTx/>
                <a:latin typeface="Arial"/>
              </a:rPr>
              <a:t>The title of our presentation is "</a:t>
            </a:r>
            <a:r>
              <a:rPr lang="en-US" sz="2000" b="1" u="none" strike="noStrike" dirty="0">
                <a:solidFill>
                  <a:srgbClr val="000000"/>
                </a:solidFill>
                <a:effectLst/>
                <a:uFillTx/>
                <a:latin typeface="Arial"/>
              </a:rPr>
              <a:t>Illuminating the Black Box: The Technical and Economic Realities Behind the 'Vibe Coding' Delusion.</a:t>
            </a:r>
            <a:r>
              <a:rPr lang="en-US" sz="2000" b="0" u="none" strike="noStrike" dirty="0">
                <a:solidFill>
                  <a:srgbClr val="000000"/>
                </a:solidFill>
                <a:effectLst/>
                <a:uFillTx/>
                <a:latin typeface="Arial"/>
              </a:rPr>
              <a:t>"</a:t>
            </a:r>
          </a:p>
          <a:p>
            <a:pPr indent="0" algn="l">
              <a:buNone/>
            </a:pPr>
            <a:r>
              <a:rPr lang="en-US" sz="2000" b="0" u="none" strike="noStrike" dirty="0">
                <a:solidFill>
                  <a:srgbClr val="000000"/>
                </a:solidFill>
                <a:effectLst/>
                <a:uFillTx/>
                <a:latin typeface="Arial"/>
              </a:rPr>
              <a:t>Over the past year, the tech ecosystem has been captivated by a seductive narrative: that generative AI has democratized programming to such a degree that anyone can become a software engineer simply by chatting with an LLM. We are told that "vibe coding"—trusting the vibes, prompting an agent, and shipping whatever code comes out without reading it—spells the end of traditional software development and traditional SaaS.</a:t>
            </a:r>
          </a:p>
          <a:p>
            <a:pPr indent="0" algn="l">
              <a:buNone/>
            </a:pPr>
            <a:r>
              <a:rPr lang="en-US" sz="2000" b="0" u="none" strike="noStrike" dirty="0">
                <a:solidFill>
                  <a:srgbClr val="000000"/>
                </a:solidFill>
                <a:effectLst/>
                <a:uFillTx/>
                <a:latin typeface="Arial"/>
              </a:rPr>
              <a:t>But as seasoned engineers and systems architects know, reality is far more nuanced, and the hype often masks deep economic and structural incentives.</a:t>
            </a:r>
          </a:p>
          <a:p>
            <a:pPr indent="0" algn="l">
              <a:buNone/>
            </a:pPr>
            <a:r>
              <a:rPr lang="en-US" sz="2000" b="0" u="none" strike="noStrike" dirty="0">
                <a:solidFill>
                  <a:srgbClr val="000000"/>
                </a:solidFill>
                <a:effectLst/>
                <a:uFillTx/>
                <a:latin typeface="Arial"/>
              </a:rPr>
              <a:t>Today, we are going to pull back the curtain on this delusion. We’ll examine:</a:t>
            </a:r>
          </a:p>
          <a:p>
            <a:pPr marL="457200" indent="-457200" algn="l">
              <a:buFont typeface="+mj-lt"/>
              <a:buAutoNum type="arabicPeriod"/>
            </a:pPr>
            <a:r>
              <a:rPr lang="en-US" sz="2000" b="0" u="none" strike="noStrike" dirty="0">
                <a:solidFill>
                  <a:srgbClr val="000000"/>
                </a:solidFill>
                <a:effectLst/>
                <a:uFillTx/>
                <a:latin typeface="Arial"/>
              </a:rPr>
              <a:t>The engineering reality of AI-generated code, including the infamous 80/20 trap and the "Whack-a-Mole" debugging nightmare.</a:t>
            </a:r>
          </a:p>
          <a:p>
            <a:pPr marL="457200" indent="-457200" algn="l">
              <a:buFont typeface="+mj-lt"/>
              <a:buAutoNum type="arabicPeriod"/>
            </a:pPr>
            <a:r>
              <a:rPr lang="en-US" sz="2000" b="0" u="none" strike="noStrike" dirty="0">
                <a:solidFill>
                  <a:srgbClr val="000000"/>
                </a:solidFill>
                <a:effectLst/>
                <a:uFillTx/>
                <a:latin typeface="Arial"/>
              </a:rPr>
              <a:t>The legal and economic dynamics of reverse engineering versus decompiling.</a:t>
            </a:r>
          </a:p>
          <a:p>
            <a:pPr marL="457200" indent="-457200" algn="l">
              <a:buFont typeface="+mj-lt"/>
              <a:buAutoNum type="arabicPeriod"/>
            </a:pPr>
            <a:r>
              <a:rPr lang="en-US" sz="2000" b="0" u="none" strike="noStrike" dirty="0">
                <a:solidFill>
                  <a:srgbClr val="000000"/>
                </a:solidFill>
                <a:effectLst/>
                <a:uFillTx/>
                <a:latin typeface="Arial"/>
              </a:rPr>
              <a:t>The incumbent value stack that keeps enterprise software sticky despite cloud friction.</a:t>
            </a:r>
          </a:p>
          <a:p>
            <a:pPr marL="0" indent="0" algn="l">
              <a:buFont typeface="+mj-lt"/>
              <a:buNone/>
            </a:pPr>
            <a:r>
              <a:rPr lang="en-US" sz="2000" b="0" u="none" strike="noStrike" dirty="0">
                <a:solidFill>
                  <a:srgbClr val="000000"/>
                </a:solidFill>
                <a:effectLst/>
                <a:uFillTx/>
                <a:latin typeface="Arial"/>
              </a:rPr>
              <a:t>Let's dive straight into the gap between surface narrative and underlying engine.</a:t>
            </a: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r>
              <a:rPr lang="en-US" altLang="zh-HK" sz="2000" b="0" u="none" strike="noStrike" dirty="0">
                <a:solidFill>
                  <a:srgbClr val="000000"/>
                </a:solidFill>
                <a:effectLst/>
                <a:uFillTx/>
                <a:latin typeface="Arial"/>
              </a:rPr>
              <a:t>Don’t Believe the Hype: AI is Not a Magic Solution for Software | Carl Brown (Internet of Bugs)</a:t>
            </a:r>
          </a:p>
          <a:p>
            <a:pPr indent="0" algn="l">
              <a:buNone/>
            </a:pPr>
            <a:r>
              <a:rPr lang="en-US" altLang="zh-HK" sz="2000" b="0" u="none" strike="noStrike" dirty="0">
                <a:solidFill>
                  <a:srgbClr val="000000"/>
                </a:solidFill>
                <a:effectLst/>
                <a:uFillTx/>
                <a:latin typeface="Arial"/>
              </a:rPr>
              <a:t>https://www.youtube.com/watch?v=OIW392R0j_Y</a:t>
            </a:r>
          </a:p>
          <a:p>
            <a:pPr indent="0" algn="l">
              <a:buNone/>
            </a:pPr>
            <a:endParaRPr lang="en-US" sz="2000" b="0" u="none" strike="noStrike" dirty="0">
              <a:solidFill>
                <a:srgbClr val="000000"/>
              </a:solidFill>
              <a:effectLst/>
              <a:uFillTx/>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To understand why the vibe coding phenomenon is so misunderstood, we have to look at two entirely different parallel tracks: what the public is being told, and what is actually driving those claims.</a:t>
            </a:r>
          </a:p>
          <a:p>
            <a:r>
              <a:rPr lang="en-US" altLang="zh-HK" dirty="0"/>
              <a:t>On the left, we see The Surface Narrative:</a:t>
            </a:r>
          </a:p>
          <a:p>
            <a:pPr marL="171450" indent="-171450">
              <a:buFont typeface="Arial" panose="020B0604020202020204" pitchFamily="34" charset="0"/>
              <a:buChar char="•"/>
            </a:pPr>
            <a:r>
              <a:rPr lang="en-US" altLang="zh-HK" dirty="0"/>
              <a:t>"AI will replace software engineers within a year."</a:t>
            </a:r>
          </a:p>
          <a:p>
            <a:pPr marL="171450" indent="-171450">
              <a:buFont typeface="Arial" panose="020B0604020202020204" pitchFamily="34" charset="0"/>
              <a:buChar char="•"/>
            </a:pPr>
            <a:r>
              <a:rPr lang="en-US" altLang="zh-HK" dirty="0"/>
              <a:t>"A single developer decompiled Adobe in a week using Claude."</a:t>
            </a:r>
          </a:p>
          <a:p>
            <a:pPr marL="171450" indent="-171450">
              <a:buFont typeface="Arial" panose="020B0604020202020204" pitchFamily="34" charset="0"/>
              <a:buChar char="•"/>
            </a:pPr>
            <a:r>
              <a:rPr lang="en-US" altLang="zh-HK" dirty="0"/>
              <a:t>"The era of SaaS is over; everyone will generate their own custom apps on demand."</a:t>
            </a:r>
          </a:p>
          <a:p>
            <a:r>
              <a:rPr lang="en-US" altLang="zh-HK" dirty="0"/>
              <a:t>This narrative makes for incredible headlines, viral social media posts, and endless dopamine loops for tech influencers.</a:t>
            </a:r>
          </a:p>
          <a:p>
            <a:r>
              <a:rPr lang="en-US" altLang="zh-HK" dirty="0"/>
              <a:t>But on the right lies The Underlying Engine:</a:t>
            </a:r>
          </a:p>
          <a:p>
            <a:pPr marL="171450" indent="-171450">
              <a:buFont typeface="Arial" panose="020B0604020202020204" pitchFamily="34" charset="0"/>
              <a:buChar char="•"/>
            </a:pPr>
            <a:r>
              <a:rPr lang="en-US" altLang="zh-HK" dirty="0"/>
              <a:t>IPO Valuations: Maximizing multi-billion-dollar valuations for frontier model labs and ecosystem startups.</a:t>
            </a:r>
          </a:p>
          <a:p>
            <a:pPr marL="171450" indent="-171450">
              <a:buFont typeface="Arial" panose="020B0604020202020204" pitchFamily="34" charset="0"/>
              <a:buChar char="•"/>
            </a:pPr>
            <a:r>
              <a:rPr lang="en-US" altLang="zh-HK" dirty="0"/>
              <a:t>Clickbait Economics: Media outlets and influencers thrive on sensationalism, where nuance generates zero clicks.</a:t>
            </a:r>
          </a:p>
          <a:p>
            <a:pPr marL="171450" indent="-171450">
              <a:buFont typeface="Arial" panose="020B0604020202020204" pitchFamily="34" charset="0"/>
              <a:buChar char="•"/>
            </a:pPr>
            <a:r>
              <a:rPr lang="en-US" altLang="zh-HK" dirty="0"/>
              <a:t>The 'Jim Cramer Syndrome': Promoters pushing extreme, un-nuanced forecasts because there is zero accountability when the hype cycle inevitably craters and reality sets in.</a:t>
            </a:r>
          </a:p>
          <a:p>
            <a:r>
              <a:rPr lang="en-US" altLang="zh-HK" dirty="0"/>
              <a:t>When you strip away the marketing gloss, you find that the loudest proponents of vibe coding are rarely systems architects maintaining enterprise production systems. They are sellers of compute. Let's look at what happens when these narratives try to build a real product.</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6465133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Let’s examine a recent viral claim: an influencer uses an AI agent to build a professional video editor—an "Adobe Premiere Killer"—in just a couple of weeks. When you look under the hood, the reality of these AI-generated clones like "</a:t>
            </a:r>
            <a:r>
              <a:rPr lang="en-US" altLang="zh-HK" dirty="0" err="1"/>
              <a:t>Filmcraft</a:t>
            </a:r>
            <a:r>
              <a:rPr lang="en-US" altLang="zh-HK" dirty="0"/>
              <a:t>" or "</a:t>
            </a:r>
            <a:r>
              <a:rPr lang="en-US" altLang="zh-HK" dirty="0" err="1"/>
              <a:t>Artcraft</a:t>
            </a:r>
            <a:r>
              <a:rPr lang="en-US" altLang="zh-HK" dirty="0"/>
              <a:t>" reveals three distinct layers:</a:t>
            </a:r>
          </a:p>
          <a:p>
            <a:pPr marL="171450" indent="-171450">
              <a:buFont typeface="Arial" panose="020B0604020202020204" pitchFamily="34" charset="0"/>
              <a:buChar char="•"/>
            </a:pPr>
            <a:r>
              <a:rPr lang="en-US" altLang="zh-HK" dirty="0"/>
              <a:t>Point 1: Pre-Alpha Status. The app looks undeniably impressive for two weeks of work. It spins up a slick user interface with dark-mode styling, timelines, and clip containers. But it is barely functional.</a:t>
            </a:r>
          </a:p>
          <a:p>
            <a:pPr marL="171450" indent="-171450">
              <a:buFont typeface="Arial" panose="020B0604020202020204" pitchFamily="34" charset="0"/>
              <a:buChar char="•"/>
            </a:pPr>
            <a:r>
              <a:rPr lang="en-US" altLang="zh-HK" dirty="0"/>
              <a:t>Point 2: Missing Pro Workflows. Try using basic professional shortcuts, right-click context menus, multi-cam synchronization, or precise audio scrubbing. They are entirely absent because the model didn't understand the systemic workflow; it just hallucinated UI components that looked right.</a:t>
            </a:r>
          </a:p>
          <a:p>
            <a:pPr marL="171450" indent="-171450">
              <a:buFont typeface="Arial" panose="020B0604020202020204" pitchFamily="34" charset="0"/>
              <a:buChar char="•"/>
            </a:pPr>
            <a:r>
              <a:rPr lang="en-US" altLang="zh-HK" dirty="0"/>
              <a:t>Point 3: The 80% Illusion. AI instantly generates the aesthetic shell—the pixels you see on screen. But the complex, underlying deterministic logic connecting the timeline rendering engine to the file system remains completely unwritten.</a:t>
            </a:r>
          </a:p>
          <a:p>
            <a:r>
              <a:rPr lang="en-US" altLang="zh-HK" dirty="0"/>
              <a:t>It’s a hollow movie set. It looks like a functioning town from the front, but step behind the facade, and there is nothing there.</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5800903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This brings us to the core engineering bottleneck: The 80/20 "Whack-a-Mole" Curve.</a:t>
            </a:r>
          </a:p>
          <a:p>
            <a:r>
              <a:rPr lang="en-US" altLang="zh-HK" dirty="0"/>
              <a:t>Look at the chart on this slide. The yellow jagged line represents AI generation velocity; the blue linear line represents traditional human developer progress.</a:t>
            </a:r>
          </a:p>
          <a:p>
            <a:pPr marL="171450" indent="-171450">
              <a:buFont typeface="Arial" panose="020B0604020202020204" pitchFamily="34" charset="0"/>
              <a:buChar char="•"/>
            </a:pPr>
            <a:r>
              <a:rPr lang="en-US" altLang="zh-HK" dirty="0"/>
              <a:t>The Fast 80%: AI is miraculous at the start. Initial boilerplate, folder structures, basic CRUD endpoints, and standard UI components are generated at unprecedented speeds. You feel like a 10x engineer on day one.</a:t>
            </a:r>
          </a:p>
          <a:p>
            <a:pPr marL="171450" indent="-171450">
              <a:buFont typeface="Arial" panose="020B0604020202020204" pitchFamily="34" charset="0"/>
              <a:buChar char="•"/>
            </a:pPr>
            <a:r>
              <a:rPr lang="en-US" altLang="zh-HK" dirty="0"/>
              <a:t>The Slogging 10%: As the codebase grows past a few thousand lines, architecture begins to break down under specific, non-standard user requirements. The AI loses context of the global system state.</a:t>
            </a:r>
          </a:p>
          <a:p>
            <a:pPr marL="171450" indent="-171450">
              <a:buFont typeface="Arial" panose="020B0604020202020204" pitchFamily="34" charset="0"/>
              <a:buChar char="•"/>
            </a:pPr>
            <a:r>
              <a:rPr lang="en-US" altLang="zh-HK" dirty="0"/>
              <a:t>The Missing 10% (The Whack-a-Mole Phase): This is where projects go to die. Fixing one hallucinated bug in a core module instantly introduces an unpredicted failure elsewhere in the dependency tree.</a:t>
            </a:r>
          </a:p>
          <a:p>
            <a:r>
              <a:rPr lang="en-US" altLang="zh-HK" dirty="0"/>
              <a:t>Because the human didn't write the architecture and doesn't understand the alien logic generated by the model, debugging turns into an endless game of whack-a-mole. The software never actually ships to production.</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1711853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Defenders of vibe coding often say: "Human code is messy anyway! Look at legacy enterprise code—it’s full of bugs!"</a:t>
            </a:r>
          </a:p>
          <a:p>
            <a:r>
              <a:rPr lang="en-US" altLang="zh-HK" dirty="0"/>
              <a:t>But there is a fundamental difference between human messy code and AI hallucinated code, captured well by Carl Brown’s observations:</a:t>
            </a:r>
          </a:p>
          <a:p>
            <a:pPr marL="171450" indent="-171450">
              <a:buFont typeface="Arial" panose="020B0604020202020204" pitchFamily="34" charset="0"/>
              <a:buChar char="•"/>
            </a:pPr>
            <a:r>
              <a:rPr lang="en-US" altLang="zh-HK" dirty="0"/>
              <a:t>Human Legacy Code is like a text message with an obvious typo ("Hey, are </a:t>
            </a:r>
            <a:r>
              <a:rPr lang="en-US" altLang="zh-HK" dirty="0" err="1"/>
              <a:t>yuo</a:t>
            </a:r>
            <a:r>
              <a:rPr lang="en-US" altLang="zh-HK" dirty="0"/>
              <a:t> coming?"). The flaws are predictable. Even when written by a junior developer, you can trace the human logic, understand their intent, and reason about why they built it that way. The architecture makes intuitive sense.</a:t>
            </a:r>
          </a:p>
          <a:p>
            <a:pPr marL="171450" indent="-171450">
              <a:buFont typeface="Arial" panose="020B0604020202020204" pitchFamily="34" charset="0"/>
              <a:buChar char="•"/>
            </a:pPr>
            <a:r>
              <a:rPr lang="en-US" altLang="zh-HK" dirty="0"/>
              <a:t>AI Hallucinated Code is like autocorrect changing your text to something completely nonsensical yet correctly spelled ("How are you dinghy?"). It exhibits alien logic. The model grabs disparate, off-the-shelf libraries, injects weird asynchronous wrappers, and couples modules in ways no human programmer would ever conceive.</a:t>
            </a:r>
          </a:p>
          <a:p>
            <a:r>
              <a:rPr lang="en-US" altLang="zh-HK" dirty="0"/>
              <a:t>To quote Carl Brown directly: "There is no world in which the fact that it's doing this makes any sense at all. I cannot imagine a human programmer that would have built it this way." When that code breaks at 2:00 AM, you are flying blind in an alien spaceship.</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3580765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Let's address another technical claim frequently thrown around by hype merchants: the idea that AI can instantly "decompile" and clone complex proprietary applications. We need to look at The Clarification Matrix.</a:t>
            </a:r>
          </a:p>
          <a:p>
            <a:pPr marL="171450" indent="-171450">
              <a:buFont typeface="Arial" panose="020B0604020202020204" pitchFamily="34" charset="0"/>
              <a:buChar char="•"/>
            </a:pPr>
            <a:r>
              <a:rPr lang="en-US" altLang="zh-HK" dirty="0"/>
              <a:t>Reverse Engineering is a "Clean Room" approach. You observe external APIs, study user interfaces, read documentation, and write brand-new code from scratch to mimic that behavior. This is technically and legally defensible—and it is the realistic path for independent software builders.</a:t>
            </a:r>
          </a:p>
          <a:p>
            <a:pPr marL="171450" indent="-171450">
              <a:buFont typeface="Arial" panose="020B0604020202020204" pitchFamily="34" charset="0"/>
              <a:buChar char="•"/>
            </a:pPr>
            <a:r>
              <a:rPr lang="en-US" altLang="zh-HK" dirty="0"/>
              <a:t>Decompiling, on the other hand, means taking raw compiled machine instructions (like an .exe or binary blob) and forcing an LLM to pattern-match and guess original source code formatting.</a:t>
            </a:r>
          </a:p>
          <a:p>
            <a:r>
              <a:rPr lang="en-US" altLang="zh-HK" dirty="0"/>
              <a:t>While AI can assist in analyzing binary structures, passing proprietary compiled binaries through an LLM to extract proprietary source logic crosses severe intellectual property boundaries. It is direct IP theft disguised as productivity, and it is a massive wave of corporate copyright lawsuits waiting to happen.</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68324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If vibe coding is so effortless, why haven't enterprises abandoned established SaaS vendors like Adobe, Salesforce, or Microsoft? Why do businesses tolerate high subscription prices?</a:t>
            </a:r>
          </a:p>
          <a:p>
            <a:r>
              <a:rPr lang="en-US" altLang="zh-HK" dirty="0"/>
              <a:t>The answer lies in The Incumbent Value Stack, broken into three tiers:</a:t>
            </a:r>
          </a:p>
          <a:p>
            <a:pPr marL="171450" indent="-171450">
              <a:buFont typeface="Arial" panose="020B0604020202020204" pitchFamily="34" charset="0"/>
              <a:buChar char="•"/>
            </a:pPr>
            <a:r>
              <a:rPr lang="en-US" altLang="zh-HK" dirty="0"/>
              <a:t>Tier 1: Reliability &amp; Focus. Enterprises pay vendors so they don't have to manage software uptime, security patches, compliance audits, and database migrations. Companies have a business to run; maintaining homegrown AI-generated toys is a massive liability.</a:t>
            </a:r>
          </a:p>
          <a:p>
            <a:pPr marL="171450" indent="-171450">
              <a:buFont typeface="Arial" panose="020B0604020202020204" pitchFamily="34" charset="0"/>
              <a:buChar char="•"/>
            </a:pPr>
            <a:r>
              <a:rPr lang="en-US" altLang="zh-HK" dirty="0"/>
              <a:t>Tier 2: Muscle Memory. Decades of entrenched hotkeys, standardized UI layouts, and refined workflows make professional practitioners extraordinarily productive. A professional video editor doesn't want a "unique AI-generated interface"; they want the exact </a:t>
            </a:r>
            <a:r>
              <a:rPr lang="en-US" altLang="zh-HK" dirty="0" err="1"/>
              <a:t>keybindings</a:t>
            </a:r>
            <a:r>
              <a:rPr lang="en-US" altLang="zh-HK" dirty="0"/>
              <a:t> they’ve mastered over 15 years.</a:t>
            </a:r>
          </a:p>
          <a:p>
            <a:pPr marL="171450" indent="-171450">
              <a:buFont typeface="Arial" panose="020B0604020202020204" pitchFamily="34" charset="0"/>
              <a:buChar char="•"/>
            </a:pPr>
            <a:r>
              <a:rPr lang="en-US" altLang="zh-HK" dirty="0"/>
              <a:t>Tier 3: Marketable Skills. This is the ultimate anchor. Knowing how to use Photoshop, Premiere, or Salesforce is a resume requirement taught in universities. Knowing how to prompt "Filmcraft-v3" that was generated yesterday and abandoned tomorrow has zero market value.</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660797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Of course, software incumbents aren't without fault. We are living through the era of cloud "</a:t>
            </a:r>
            <a:r>
              <a:rPr lang="en-US" altLang="zh-HK" dirty="0" err="1"/>
              <a:t>enshittification</a:t>
            </a:r>
            <a:r>
              <a:rPr lang="en-US" altLang="zh-HK" dirty="0"/>
              <a:t>"—where corporate giants push for online-only, mandatory cloud subscriptions to secure recurring revenue and block local piracy.</a:t>
            </a:r>
          </a:p>
          <a:p>
            <a:r>
              <a:rPr lang="en-US" altLang="zh-HK" dirty="0"/>
              <a:t>However, this corporate strategy is now colliding with a hard physical constraint: Network Latency Physics.</a:t>
            </a:r>
          </a:p>
          <a:p>
            <a:r>
              <a:rPr lang="en-US" altLang="zh-HK" dirty="0"/>
              <a:t>High-intensity professional workflows—such as real-time audio mixing, 4K video rendering, CAD modeling, and low-latency compilation—cannot survive the round-trip latency of a remote server. The "time of flight" lag between a physical mouse click and visual feedback destroys the professional experience.</a:t>
            </a:r>
          </a:p>
          <a:p>
            <a:r>
              <a:rPr lang="en-US" altLang="zh-HK" dirty="0"/>
              <a:t>When software is forced into the cloud purely to lock in subscription fees, users experience sluggishness, stuttering, and loss of offline capability. This physical friction is opening the door for local, optimized desktop software—not bloated cloud wrappers.</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309886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As software companies lock down licenses and eliminate permanent ownership, we are witnessing an unexpected historical backlash: The Piracy Renaissance.</a:t>
            </a:r>
          </a:p>
          <a:p>
            <a:r>
              <a:rPr lang="en-US" altLang="zh-HK" dirty="0"/>
              <a:t>This movement follows a clear trajectory:</a:t>
            </a:r>
          </a:p>
          <a:p>
            <a:pPr marL="171450" indent="-171450">
              <a:buFont typeface="Arial" panose="020B0604020202020204" pitchFamily="34" charset="0"/>
              <a:buChar char="•"/>
            </a:pPr>
            <a:r>
              <a:rPr lang="en-US" altLang="zh-HK" dirty="0"/>
              <a:t>Step 1: The Eradication of Ownership. Corporations declare physical media dead, moving entirely to cloud renting with revokable digital licenses.</a:t>
            </a:r>
          </a:p>
          <a:p>
            <a:pPr marL="171450" indent="-171450">
              <a:buFont typeface="Arial" panose="020B0604020202020204" pitchFamily="34" charset="0"/>
              <a:buChar char="•"/>
            </a:pPr>
            <a:r>
              <a:rPr lang="en-US" altLang="zh-HK" dirty="0"/>
              <a:t>Step 2: The Hacker Doctrine. The developer community adopts a new motto: "If buying isn't owning, then pirating isn't stealing."</a:t>
            </a:r>
          </a:p>
          <a:p>
            <a:pPr marL="171450" indent="-171450">
              <a:buFont typeface="Arial" panose="020B0604020202020204" pitchFamily="34" charset="0"/>
              <a:buChar char="•"/>
            </a:pPr>
            <a:r>
              <a:rPr lang="en-US" altLang="zh-HK" dirty="0"/>
              <a:t>Step 3: AI-Accelerated Breaches. Far from just writing web apps, hackers are using AI tools to accelerate reverse engineering, fuzz legacy codebases, and speed up complex console and software jailbreaking (such as bypassing modern DRM protections).</a:t>
            </a:r>
          </a:p>
          <a:p>
            <a:pPr marL="171450" indent="-171450">
              <a:buFont typeface="Arial" panose="020B0604020202020204" pitchFamily="34" charset="0"/>
              <a:buChar char="•"/>
            </a:pPr>
            <a:r>
              <a:rPr lang="en-US" altLang="zh-HK" dirty="0"/>
              <a:t>Step 4: The Defensive Failure. Internal corporate security teams, relying on traditional compliance checklists, are repeatedly outpaced by distributed, AI-empowered hacker collectives. Over-monetization is triggering an immune response.</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8263461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Let’s examine how generative AI has broken the corporate labor market, creating what we call The Hiring Black Hole.</a:t>
            </a:r>
          </a:p>
          <a:p>
            <a:r>
              <a:rPr lang="en-US" altLang="zh-HK" dirty="0"/>
              <a:t>Both sides of the recruitment pipeline are now automated in a closed-loop arms race:</a:t>
            </a:r>
          </a:p>
          <a:p>
            <a:pPr marL="228600" indent="-228600">
              <a:buFont typeface="+mj-lt"/>
              <a:buAutoNum type="arabicPeriod"/>
            </a:pPr>
            <a:r>
              <a:rPr lang="en-US" altLang="zh-HK" dirty="0"/>
              <a:t>Corporate Applicant Tracking Systems (ATS) use AI filters to ruthlessly reject resumes that don't match exact keyword strings.</a:t>
            </a:r>
          </a:p>
          <a:p>
            <a:pPr marL="228600" indent="-228600">
              <a:buFont typeface="+mj-lt"/>
              <a:buAutoNum type="arabicPeriod"/>
            </a:pPr>
            <a:r>
              <a:rPr lang="en-US" altLang="zh-HK" dirty="0"/>
              <a:t>In response, job applicants use AI bots to generate perfectly optimized, highly embellished, and often completely hallucinated resumes and cover letters just to pass the algorithmic gatekeeper.</a:t>
            </a:r>
          </a:p>
          <a:p>
            <a:pPr marL="228600" indent="-228600">
              <a:buFont typeface="+mj-lt"/>
              <a:buAutoNum type="arabicPeriod"/>
            </a:pPr>
            <a:r>
              <a:rPr lang="en-US" altLang="zh-HK" dirty="0"/>
              <a:t>The result? Candidates arrive at interviews having no idea what is actually written on their own resumes, while hiring managers receive hundreds of identical, AI-generated applications.</a:t>
            </a:r>
          </a:p>
          <a:p>
            <a:pPr marL="0" indent="0">
              <a:buFont typeface="+mj-lt"/>
              <a:buNone/>
            </a:pPr>
            <a:r>
              <a:rPr lang="en-US" altLang="zh-HK" dirty="0"/>
              <a:t>The social signal of the job market has been entirely eradicated. We have lost human signaling, effort estimation, and authentic cultural fit evaluation, replacing it with machine noise.</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173300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Security vendors love to market AI as the ultimate silver bullet for cyber defense. But when you examine the mechanics of operational security, the reality is a brutal asymmetry.</a:t>
            </a:r>
          </a:p>
          <a:p>
            <a:pPr marL="171450" indent="-171450">
              <a:buFont typeface="Arial" panose="020B0604020202020204" pitchFamily="34" charset="0"/>
              <a:buChar char="•"/>
            </a:pPr>
            <a:r>
              <a:rPr lang="en-US" altLang="zh-HK" dirty="0"/>
              <a:t>The Attacker’s Advantage (AI is highly effective): Malicious actors use AI to automatically generate infinite polymorphic variations of malware, scan networks continuously, and probe for zero-days. An attacker only needs to be right once to breach a corporate perimeter.</a:t>
            </a:r>
          </a:p>
          <a:p>
            <a:pPr marL="171450" indent="-171450">
              <a:buFont typeface="Arial" panose="020B0604020202020204" pitchFamily="34" charset="0"/>
              <a:buChar char="•"/>
            </a:pPr>
            <a:r>
              <a:rPr lang="en-US" altLang="zh-HK" dirty="0"/>
              <a:t>The Defender’s Dilemma (AI is hazardous): Security teams must review endless floods of automated alerts, false positives, and anomalies. They cannot afford to miss a single threat.</a:t>
            </a:r>
          </a:p>
          <a:p>
            <a:r>
              <a:rPr lang="en-US" altLang="zh-HK" dirty="0"/>
              <a:t>In this environment, deploying an AI model that "hallucinates" or guesses on defense is a catastrophic operational liability. A single hallucinated security patch or missed vulnerability brings down the entire enterprise.</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8785969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How do true tech monopolies get disrupted? History shows it doesn't happen because a solitary influencer prompts Claude for two weeks and replaces a global corporation.</a:t>
            </a:r>
          </a:p>
          <a:p>
            <a:r>
              <a:rPr lang="en-US" altLang="zh-HK" dirty="0"/>
              <a:t>Look at The Open Source Blueprint (Linux).</a:t>
            </a:r>
          </a:p>
          <a:p>
            <a:pPr marL="171450" indent="-171450">
              <a:buFont typeface="Arial" panose="020B0604020202020204" pitchFamily="34" charset="0"/>
              <a:buChar char="•"/>
            </a:pPr>
            <a:r>
              <a:rPr lang="en-US" altLang="zh-HK" dirty="0"/>
              <a:t>The Myth: A single developer builds an enterprise titan overnight in their bedroom.</a:t>
            </a:r>
          </a:p>
          <a:p>
            <a:pPr marL="171450" indent="-171450">
              <a:buFont typeface="Arial" panose="020B0604020202020204" pitchFamily="34" charset="0"/>
              <a:buChar char="•"/>
            </a:pPr>
            <a:r>
              <a:rPr lang="en-US" altLang="zh-HK" dirty="0"/>
              <a:t>The Blueprint: Linux took decades of coordinated, deliberate engineering, rigorous code reviews, and millions of hours of unpaid and paid developer expertise to become the dominant server operating system of the world.</a:t>
            </a:r>
          </a:p>
          <a:p>
            <a:pPr marL="171450" indent="-171450">
              <a:buFont typeface="Arial" panose="020B0604020202020204" pitchFamily="34" charset="0"/>
              <a:buChar char="•"/>
            </a:pPr>
            <a:r>
              <a:rPr lang="en-US" altLang="zh-HK" dirty="0"/>
              <a:t>The Reality: Open-source alternatives only succeed through rigorous debugging, robust maintenance, and the slow, agonizing acquisition of enterprise trust. Code generation is cheap; trust takes decades.</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184577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So, where do we land? Generative AI is an amplifier, not a replacer.</a:t>
            </a:r>
          </a:p>
          <a:p>
            <a:r>
              <a:rPr lang="en-US" altLang="zh-HK" dirty="0"/>
              <a:t>Think of AI as a high-powered microscope or lens. It does not replace the scientist; it magnifies the capability of the expert holding it.</a:t>
            </a:r>
          </a:p>
          <a:p>
            <a:pPr marL="171450" indent="-171450">
              <a:buFont typeface="Arial" panose="020B0604020202020204" pitchFamily="34" charset="0"/>
              <a:buChar char="•"/>
            </a:pPr>
            <a:r>
              <a:rPr lang="en-US" altLang="zh-HK" dirty="0"/>
              <a:t>For the Amateur: AI builds impressive, hollow shells that collapse the moment they hit real-world production requirements, concurrency limits, and security audits.</a:t>
            </a:r>
          </a:p>
          <a:p>
            <a:pPr marL="171450" indent="-171450">
              <a:buFont typeface="Arial" panose="020B0604020202020204" pitchFamily="34" charset="0"/>
              <a:buChar char="•"/>
            </a:pPr>
            <a:r>
              <a:rPr lang="en-US" altLang="zh-HK" dirty="0"/>
              <a:t>For the Expert: AI accelerates boilerplate, streamlines syntax, and speeds up early-stage scaffolding. But it leaves the hardest, most complex architectural logic and system design squarely in human hands.</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13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5414869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How do we parse information and make rational capital allocation decisions when the tech media refuses to self-correct? Follow three simple rules:</a:t>
            </a:r>
          </a:p>
          <a:p>
            <a:pPr marL="228600" indent="-228600">
              <a:buFont typeface="+mj-lt"/>
              <a:buAutoNum type="arabicPeriod"/>
            </a:pPr>
            <a:r>
              <a:rPr lang="en-US" altLang="zh-HK" dirty="0"/>
              <a:t>Demand the Nuance: If a claim asserts an AI tool is perfect across all contexts, it is false. Look for the admission of where the tool breaks down.</a:t>
            </a:r>
          </a:p>
          <a:p>
            <a:pPr marL="228600" indent="-228600">
              <a:buFont typeface="+mj-lt"/>
              <a:buAutoNum type="arabicPeriod"/>
            </a:pPr>
            <a:r>
              <a:rPr lang="en-US" altLang="zh-HK" dirty="0"/>
              <a:t>Question the Production Value: AI has destroyed the "polish signal." Slick video editing and high production value no longer equal credible journalism. Look for primary source code and reproducible benchmarks.</a:t>
            </a:r>
          </a:p>
          <a:p>
            <a:pPr marL="228600" indent="-228600">
              <a:buFont typeface="+mj-lt"/>
              <a:buAutoNum type="arabicPeriod"/>
            </a:pPr>
            <a:r>
              <a:rPr lang="en-US" altLang="zh-HK" dirty="0"/>
              <a:t>Follow the Financial Motive: Ask who benefits from the hype. Most "AI replaces X" narratives are timed perfectly to inflate private market valuations and fundraising rounds for model providers.</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14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7251671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To summarize our philosophy today, let's reflect on this closing thought from software expert Carl Brown:</a:t>
            </a:r>
          </a:p>
          <a:p>
            <a:r>
              <a:rPr lang="en-US" altLang="zh-HK" dirty="0"/>
              <a:t>"There is a big chunk of the public that doesn't want nuance. They want someone to give them the answers. But you can't buy the narrative that AI will replace humans, and you can't believe it's of no value either. To do a good job, you have to understand the environment you're operating in."</a:t>
            </a:r>
          </a:p>
          <a:p>
            <a:r>
              <a:rPr lang="en-US" altLang="zh-HK" dirty="0"/>
              <a:t>We must reject both blind techno-optimism and Luddite denialism. Engineering has always been about understanding trade-offs, managing complexity, and building robust systems that survive contact with reality.</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15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80582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As we conclude, let’s review our core comparative framework:</a:t>
            </a:r>
          </a:p>
          <a:p>
            <a:pPr marL="171450" indent="-171450">
              <a:buFont typeface="Arial" panose="020B0604020202020204" pitchFamily="34" charset="0"/>
              <a:buChar char="•"/>
            </a:pPr>
            <a:r>
              <a:rPr lang="en-US" altLang="zh-HK" dirty="0"/>
              <a:t>On the Hype Side: We see instant, disruptive, effortless promises; </a:t>
            </a:r>
            <a:r>
              <a:rPr lang="en-US" altLang="zh-HK" dirty="0" err="1"/>
              <a:t>unarchitected</a:t>
            </a:r>
            <a:r>
              <a:rPr lang="en-US" altLang="zh-HK" dirty="0"/>
              <a:t> codebases falling into the Whack-a-Mole debugging crisis; and influencers claiming code presence equals core business value.</a:t>
            </a:r>
          </a:p>
          <a:p>
            <a:pPr marL="171450" indent="-171450">
              <a:buFont typeface="Arial" panose="020B0604020202020204" pitchFamily="34" charset="0"/>
              <a:buChar char="•"/>
            </a:pPr>
            <a:r>
              <a:rPr lang="en-US" altLang="zh-HK" dirty="0"/>
              <a:t>On the Engineering Reality: We recognize the impassable 80/20 trap where finishing complex software requires meticulous human craftsmanship; we see that AI amplifies expertise rather than replacing engineers; and we know that companies pay for reliable workflows, liability protection, and operational support—not raw, unvetted source code.</a:t>
            </a:r>
          </a:p>
          <a:p>
            <a:pPr marL="0" indent="0">
              <a:buFont typeface="Arial" panose="020B0604020202020204" pitchFamily="34" charset="0"/>
              <a:buNone/>
            </a:pPr>
            <a:r>
              <a:rPr lang="en-US" altLang="zh-HK" dirty="0"/>
              <a:t>Thank you for your time today. Let's open the floor to questions and discussion.</a:t>
            </a:r>
          </a:p>
          <a:p>
            <a:r>
              <a:rPr lang="en-US" altLang="zh-HK" dirty="0"/>
              <a:t>For a deeper dive into the realities of software maintenance and AI limitations, you can listen to Media's and Influencers' Narrative about AI Vibe Coding is Nonsense.</a:t>
            </a:r>
            <a:endParaRPr lang="zh-HK" altLang="en-US" dirty="0"/>
          </a:p>
        </p:txBody>
      </p:sp>
      <p:sp>
        <p:nvSpPr>
          <p:cNvPr id="4" name="投影片編號版面配置區 3"/>
          <p:cNvSpPr>
            <a:spLocks noGrp="1"/>
          </p:cNvSpPr>
          <p:nvPr>
            <p:ph type="sldNum" idx="36"/>
          </p:nvPr>
        </p:nvSpPr>
        <p:spPr/>
        <p:txBody>
          <a:bodyPr/>
          <a:lstStyle/>
          <a:p>
            <a:pPr indent="0" algn="r">
              <a:buNone/>
            </a:pPr>
            <a:fld id="{A0D4BACE-A044-4C18-BD08-43C0F8E9EE91}" type="slidenum">
              <a:rPr lang="en-US" sz="1400" b="0" u="none" strike="noStrike" smtClean="0">
                <a:solidFill>
                  <a:srgbClr val="000000"/>
                </a:solidFill>
                <a:effectLst/>
                <a:uFillTx/>
                <a:latin typeface="Times New Roman"/>
              </a:rPr>
              <a:t>16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170270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527215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Relationships xmlns="http://schemas.openxmlformats.org/package/2006/relationships"><Relationship Id="rId3" Type="http://schemas.openxmlformats.org/officeDocument/2006/relationships/image" Target="../media/image1-1e88d0e9-5ec7-485c-bd88-487564f75caf.copy.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Relationships xmlns="http://schemas.openxmlformats.org/package/2006/relationships"><Relationship Id="rId3" Type="http://schemas.openxmlformats.org/officeDocument/2006/relationships/image" Target="../media/image2-f394b48d-6958-4fd7-ace0-905da2010843.copy.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Relationships xmlns="http://schemas.openxmlformats.org/package/2006/relationships"><Relationship Id="rId3" Type="http://schemas.openxmlformats.org/officeDocument/2006/relationships/image" Target="../media/image3-0294c996-0026-4d56-be9d-6bb6355f9a03.copy.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Relationships xmlns="http://schemas.openxmlformats.org/package/2006/relationships"><Relationship Id="rId3" Type="http://schemas.openxmlformats.org/officeDocument/2006/relationships/image" Target="../media/image4-342a1e65-0e25-4499-ae19-d1422ace6280.copy.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Relationships xmlns="http://schemas.openxmlformats.org/package/2006/relationships"><Relationship Id="rId3" Type="http://schemas.openxmlformats.org/officeDocument/2006/relationships/image" Target="../media/image5-bb88894a-9391-4221-bdc7-c8c1b8c173b4.copy.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Relationships xmlns="http://schemas.openxmlformats.org/package/2006/relationships"><Relationship Id="rId3" Type="http://schemas.openxmlformats.org/officeDocument/2006/relationships/image" Target="../media/image6-ac4fc4b3-b114-4532-b481-4e31c4f91e23.copy.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AE1F2D18-7540-6025-91D6-3278FDB2FB09}"/>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5A62EB1-C8A6-63FA-FA69-970A5D769B21}"/>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6EE42A0-A3A7-BB57-4061-EBCE584F14E4}"/>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ED8DA1E-009E-B3A1-3460-C670604A4ACE}"/>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A46212C-1E5D-D721-FC6F-8C52F077BD9C}"/>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3F31957-06FC-8D7C-2AD9-C3C80FEFFB5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5"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7"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8"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9"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0"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2" name="圖片 81"/>
          <p:cNvPicPr/>
          <p:nvPr/>
        </p:nvPicPr>
        <p:blipFill>
          <a:blip r:embed="rId3"/>
          <a:stretch/>
        </p:blipFill>
        <p:spPr>
          <a:xfrm>
            <a:off x="-11160" y="39960"/>
            <a:ext cx="16255800" cy="9072720"/>
          </a:xfrm>
          <a:prstGeom prst="rect">
            <a:avLst/>
          </a:prstGeom>
          <a:noFill/>
          <a:ln w="0">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31</TotalTime>
  <Words>2677</Words>
  <Application>Microsoft Office PowerPoint</Application>
  <PresentationFormat>自訂</PresentationFormat>
  <Paragraphs>107</Paragraphs>
  <Slides>16</Slides>
  <Notes>16</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16</vt:i4>
      </vt:variant>
    </vt:vector>
  </HeadingPairs>
  <TitlesOfParts>
    <vt:vector size="20" baseType="lpstr">
      <vt:lpstr>Arial</vt:lpstr>
      <vt:lpstr>Calibri</vt:lpstr>
      <vt:lpstr>Times New Roman</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8</cp:revision>
  <dcterms:created xsi:type="dcterms:W3CDTF">2006-08-16T00:00:00Z</dcterms:created>
  <dcterms:modified xsi:type="dcterms:W3CDTF">2026-10-28T13:09:05Z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