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media/image1-4a4875b0-dbcc-4c72-9a4a-f7ef513f5300.copy.jpg" ContentType="image/jpeg"/>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1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16256000" cy="9144000"/>
  <p:notesSz cx="7559675" cy="10691813"/>
  <p:defaultText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42" d="100"/>
          <a:sy n="42" d="100"/>
        </p:scale>
        <p:origin x="78" y="79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notesMaster" Target="notesMasters/notesMaster1.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1" name="PlaceHolder 1"/>
          <p:cNvSpPr>
            <a:spLocks noGrp="1" noRot="1" noChangeAspect="1"/>
          </p:cNvSpPr>
          <p:nvPr>
            <p:ph type="sldImg"/>
          </p:nvPr>
        </p:nvSpPr>
        <p:spPr>
          <a:xfrm>
            <a:off x="0" y="812520"/>
            <a:ext cx="0" cy="0"/>
          </a:xfrm>
          <a:prstGeom prst="rect">
            <a:avLst/>
          </a:prstGeom>
          <a:noFill/>
          <a:ln w="0">
            <a:noFill/>
          </a:ln>
        </p:spPr>
        <p:txBody>
          <a:bodyPr lIns="0" tIns="0" rIns="0" bIns="0" anchor="ctr">
            <a:noAutofit/>
          </a:bodyPr>
          <a:lstStyle/>
          <a:p>
            <a:pPr algn="ctr" defTabSz="914400"/>
            <a:r>
              <a:rPr lang="en-US" sz="4400" b="0" u="none" strike="noStrike">
                <a:solidFill>
                  <a:schemeClr val="dk1"/>
                </a:solidFill>
                <a:effectLst/>
                <a:uFillTx/>
                <a:latin typeface="Calibri"/>
              </a:rPr>
              <a:t>Click to move the slide</a:t>
            </a:r>
          </a:p>
        </p:txBody>
      </p:sp>
      <p:sp>
        <p:nvSpPr>
          <p:cNvPr id="62"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3"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64" name="PlaceHolder 4"/>
          <p:cNvSpPr>
            <a:spLocks noGrp="1"/>
          </p:cNvSpPr>
          <p:nvPr>
            <p:ph type="dt" idx="34"/>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65" name="PlaceHolder 5"/>
          <p:cNvSpPr>
            <a:spLocks noGrp="1"/>
          </p:cNvSpPr>
          <p:nvPr>
            <p:ph type="ftr" idx="35"/>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1C85F895-05D5-45B6-95FD-447357ADE4E2}"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PlaceHolder 1"/>
          <p:cNvSpPr>
            <a:spLocks noGrp="1" noRot="1" noChangeAspect="1"/>
          </p:cNvSpPr>
          <p:nvPr>
            <p:ph type="sldImg"/>
          </p:nvPr>
        </p:nvSpPr>
        <p:spPr>
          <a:xfrm>
            <a:off x="217488" y="812800"/>
            <a:ext cx="7124700" cy="4008438"/>
          </a:xfrm>
          <a:prstGeom prst="rect">
            <a:avLst/>
          </a:prstGeom>
          <a:ln w="0">
            <a:noFill/>
          </a:ln>
        </p:spPr>
      </p:sp>
      <p:sp>
        <p:nvSpPr>
          <p:cNvPr id="84"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Welcome everyone, and thank you for joining. Today, we are exploring a massive tectonic shift in technology—one that redefines our foundational mantra: moving from </a:t>
            </a:r>
            <a:r>
              <a:rPr lang="en-US" altLang="zh-HK" sz="1200" i="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"Make Something People Want"</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to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"Make Something Agents Want."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For decades, software engineering was defined by human limitations, human interfaces, and manual coding. Today, we are witnessing a paradigm shift from human software engineers to AI builders, and the corresponding architecture of the personal database.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Drawing insights from the hyper-growth of Supabase and the broader Y Combinator ecosystem, we will examine how autonomous agents have become primary infrastructure consumers, why non-technical domain experts are suddenly building software, and what it takes to architect systems that scale to billions of machine-driven applications. Let's dive in.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p>
          <a:p>
            <a:pPr marL="914400"/>
            <a:endPar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endParaRPr>
          </a:p>
          <a:p>
            <a:pPr marL="914400"/>
            <a:endPar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endParaRPr>
          </a:p>
          <a:p>
            <a:pPr marL="914400"/>
            <a:endPar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What Happens When Everyone Can Build Software</a:t>
            </a: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https://www.youtube.com/watch?v=vl7HiMdGfjo</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Let's look at the numbers. We have officially crossed a major threshold: the primary consumer of software infrastructure is no longer the human software engineer.</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Look at Supabase's trajectory: total user signups have rocketed to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13 million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up from 3 million in just 12 months. Even more staggering, over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1 million new databases</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are spun up </a:t>
            </a:r>
            <a:r>
              <a:rPr lang="en-US" altLang="zh-HK" sz="1200" i="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every single week</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Most importantly,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70% of new activity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on the platform is driven entirely by AI agents. Human developers are no longer the sole architects of database creation. Autonomous loops, coding assistants, and background agents are provisioning infrastructure autonomously. If your infrastructure isn't optimized for machine consumption, you are missing the largest growth wave in tech history.</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62122574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Historically, software creation suffered from a severe bottleneck: domain experts possessed the ideas, but engineers held the keys to execution. If you understood taxi logistics, finance, or medicine, you still had to beg an engineer to build your product.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AI has severed this dependency, allowing raw domain knowledge to bypass the technical co-founder. Consider two real-world examples highlighted in recent ecosystem discussions: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b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b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1143000" lvl="2" indent="-228600">
              <a:buSzPts val="1000"/>
              <a:buFont typeface="Wingdings" panose="05000000000000000000" pitchFamily="2" charset="2"/>
              <a:buChar char=""/>
              <a:tabLst>
                <a:tab pos="13716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The Taxi Driver:</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 50-year-old taxi driver in Brazil successfully deployed a complete, localized Uber-competitor directly from his smartphone.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13716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1143000" lvl="2" indent="-228600">
              <a:buSzPts val="1000"/>
              <a:buFont typeface="Wingdings" panose="05000000000000000000" pitchFamily="2" charset="2"/>
              <a:buChar char=""/>
              <a:tabLst>
                <a:tab pos="13716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The Fintech Founder:</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 non-technical domain expert single-handedly coded sophisticated personal finance software, writing complex balance sheets and bank integrations from scratch.</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13716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This is the democratization of creation. People who previously lacked coding syntax can now bring their operational intuition directly to life.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6799974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Because of this evolution, modern infrastructure can no longer cater solely to traditional software engineers. It must satisfy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three distinct creator profiles simultaneously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First, The Engineer:</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Their primary goal is elegant architecture; their modality of choice is dashboards and IDEs; their bottleneck is time and context; and their infrastructure need is deep configuration.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Second, The Domain Builder:</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Their goal is solving a niche problem; their modality is natural language chat; their bottleneck is syntax and setup; and they need out-of-the-box magic.</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Third, The AI Agent:</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Their goal is fulfilling a prompt; their modality is raw code and CLI; their bottleneck is token limits and API errors; and their infrastructure requirement is inspectable open source.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Balancing these three requirements is the defining engineering challenge of our current era.</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46981074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This multi-profile reality has driven a profound modality reversal: moving away from visual dashboards and straight into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raw code sandboxes</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Look back at the eras: The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Dashboard Era</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existed because even human software engineers struggled with raw Postgres configuration. Then came the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API Era</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built for external platforms needing to programmatically launch and manage databases.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Today, we are in the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Code-First Era</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built exclusively for AI. Agents do not click buttons. They demand raw infrastructure-as-code and native CLI sandboxes. If a capability only exists in a graphical UI, it is invisible to an agent. Everything must exist in code.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55472997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In the human era, error messages were cryptic. A </a:t>
            </a:r>
            <a:r>
              <a:rPr lang="en-US" altLang="zh-HK" sz="115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Status 500</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historically told humans what broke, assuming the human would Google the solution, check StackOverflow, and debug it manually.</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In the Agent Era, error messages must function as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dynamic prompts</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When an autonomous loop hits an obstacle, it cannot spend hours browsing documentation.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Modern error handling means the error message tells the agent </a:t>
            </a:r>
            <a:r>
              <a:rPr lang="en-US" altLang="zh-HK" sz="1200" i="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exactly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how to fix the issue or provides the precise documentation needed to unblock itself. Winning the AI market is a two-step funnel: First, be chosen by the LLM. Second, ensure the LLM never gets stuck and abandons the context window.</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959437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Autonomous loops hate black boxes. When an agent hits an error, it faces a brick wall unless it can inspect the underlying source code to self-correct.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This is why open source is no longer just an ideological preference—it is a technical necessity for machines. Furthermore, as AI writes a larger percentage of production code, enterprises require open-source inspectability to trust vendor security and auditability.</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Closed-source, opaque infrastructure is a dead end for machine creators. Supporting open ecosystems creates natural distribution across millions of AI-generated projects.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7</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6175136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For the past two decades, the digital economy relied on a small number of massive databases run by giant corporations, holding everyone's collective data in massive, siloed monopolies.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We are now witnessing a radical shift toward the individual. In the new model, every individual possesses their own distinct database—a permanent, owned index of their personal life, health, finances, and relationships.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What changed? Previously, a personal database was useless because individuals could not write code to query it. Today, personal AI agents act as the frictionless interface to your raw personal data, unlocking hyper-personalized software.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8</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30754597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Let's look inside the architecture of a personal Control Tower. At the center engine sits the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Personal Database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—the ultimate store of record.</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Radiating out from this core are isolated data streams: wearables tracking health and weight, bank APIs monitoring personal finance, calendar and inbox syncs acting as a personal CRM, and unstructured file stores.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The magic here is not storage;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it is correlation</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As Paul Coppstone noted from building his own control tower, your personal AI knows your weight went up recently </a:t>
            </a:r>
            <a:r>
              <a:rPr lang="en-US" altLang="zh-HK" sz="1200" i="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not</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just from a scale, but because it cross-referenced your calendar showing you were traveling. Personal agents processing million-token contexts build dynamic schemas on the fly, drawing insights across previously isolated data streams.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9</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479253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To understand where database infrastructure must go, let's look at the math.</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Take ChatGPT's scale: approximately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1.2 billion weekly active users</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If each user launches just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1 app idea per month</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aided by AI, that equals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1.2 billion new databases required monthly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The database industry has never faced scale of this magnitude. It requires fundamentally new architectures that can provision instances instantly without exhausting global compute resources.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10</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324319755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To handle this volume, infrastructure must seamlessly bridge the gap from prototype to petabytes.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On the left, we have lightweight prototyping engines like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Supabase Spark (SQLite / Turso)</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—built for edge compute and the millions of micro-databases spun up by agents daily with near-zero overhead.</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On the right, we have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Multi-Gres Postgres</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—built for massive production scale, complex vector searches, and infinite generational growth.</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The winning strategy is capturing the user on Day 1 with zero friction, ensuring they never have to execute a painful database migration as they build a generational business.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11</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84741147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Software development is no longer static; it is wrapping itself in recursive frameworks for autonomous self-improvement.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Look at the four-step loop: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Step 1:</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Trace production instances to build an evaluation dataset.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Step 2:</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Assign Captain Agents to run continuous auto-research on new index structures.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Step 3:</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Agents test new database architectures against internal evaluation benchmarks.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Step 4:</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If latency and cost scores improve, the agent automatically merges code into master. If it fails, it writes a markdown post-mortem for the repository.</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This is recursive self-improvement in action, shifting engineering from writing code to building test suites and evaluation loops.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12</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413087491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The macro economics of software creation have completely inverted. In the old reality, you needed to raise a $100M Series A, hire massive engineering teams, struggle with burn rates, and require $30M in ARR just to survive.</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In the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Vertical AI Reality</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micro-teams of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10 to 15 people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leverage AI output heavily and comfortably reach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$15M to $50M in ARR</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The outcome is generating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$2M+ ARR per head with 50% profit margins</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Minimal funding is no longer a limitation; it is the ultimate architectural flex.</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13</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227999435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Let's review the complete anatomy of the modern agentic tech stack from bottom to top.</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Layer 1 (The Base):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Postgres and S3. Durable, open-source, limitless data storage serving as the permanent anchor.</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Layer 2 (The Interface):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Code-First CLI. Built specifically for machine readability, dynamic error handling, and sandbox execution.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Layer 3 (The Intelligence):</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Personal Agents. Processing massive context windows to build dynamic, on-the-fly schemas and correlate siloed information.</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Layer 4 (The Apex):</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The Domain Expert. Providing niche vision and solving real-world problems completely unburdened by syntax.</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14</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63665247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As Paul Coppstone famously highlighted: </a:t>
            </a:r>
            <a:r>
              <a:rPr lang="en-US" altLang="zh-HK" sz="1200" i="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"Databases have been around for 50 years. At the end of the AI revolution, no matter what happens, I'm pretty certain there will still be databases."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Interfaces will change. Code generation will become entirely invisible. But the ownership, retrieval, and structural integrity of data will remain the most durable assets in the modern world.</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Choosing durable categories and building infrastructure that adapts faster than the market is how you build a generational company in the AI era.</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15</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5289676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a:xfrm>
            <a:off x="0" y="812800"/>
            <a:ext cx="0" cy="0"/>
          </a:xfrm>
        </p:spPr>
      </p:sp>
      <p:sp>
        <p:nvSpPr>
          <p:cNvPr id="3" name="備忘稿版面配置區 2"/>
          <p:cNvSpPr>
            <a:spLocks noGrp="1"/>
          </p:cNvSpPr>
          <p:nvPr>
            <p:ph type="body" idx="1"/>
          </p:nvPr>
        </p:nvSpPr>
        <p:spPr/>
        <p:txBody>
          <a:bodyPr/>
          <a:lstStyle/>
          <a:p>
            <a:pPr marL="4572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To wrap up our journey today, let's review how software creation has transformed.</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We have moved past manual developer dashboards into code-first, agent-native infrastructure where </a:t>
            </a:r>
            <a:r>
              <a:rPr lang="en-US" altLang="zh-HK" sz="1200" b="1"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70% of database creation is driven by AI agents</a:t>
            </a: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Non-engineers are utilizing AI models to build specialized software without hiring traditional engineering teams.</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pPr marL="914400"/>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a:p>
            <a:pPr marL="742950" lvl="1" indent="-285750">
              <a:buSzPts val="1000"/>
              <a:buFont typeface="Courier New" panose="02070309020205020404" pitchFamily="49" charset="0"/>
              <a:buChar char="o"/>
              <a:tabLst>
                <a:tab pos="914400" algn="l"/>
              </a:tabLst>
            </a:pPr>
            <a:r>
              <a:rPr lang="en-US" altLang="zh-HK" sz="1200" kern="0">
                <a:solidFill>
                  <a:srgbClr val="1F1F1F"/>
                </a:solidFill>
                <a:effectLst/>
                <a:latin typeface="Arial" panose="020B0604020202020204" pitchFamily="34" charset="0"/>
                <a:ea typeface="Times New Roman" panose="02020603050405020304" pitchFamily="18" charset="0"/>
                <a:cs typeface="Times New Roman" panose="02020603050405020304" pitchFamily="18" charset="0"/>
              </a:rPr>
              <a:t>The future belongs to those who build tools that agents love: code-first interfaces, self-remediating error systems, inspectable open-source codebases, and infinite scalability from prototype to petabytes. Thank you for your time, and let's go make something agents want.</a:t>
            </a:r>
            <a:endParaRPr lang="zh-TW" altLang="zh-HK" sz="1200" kern="100">
              <a:solidFill>
                <a:srgbClr val="1F1F1F"/>
              </a:solidFill>
              <a:effectLst/>
              <a:latin typeface="Calibri" panose="020F0502020204030204" pitchFamily="34" charset="0"/>
              <a:ea typeface="新細明體" panose="02020500000000000000" pitchFamily="18" charset="-120"/>
              <a:cs typeface="Times New Roman" panose="02020603050405020304" pitchFamily="18" charset="0"/>
            </a:endParaRPr>
          </a:p>
          <a:p>
            <a:r>
              <a:rPr lang="en-US" altLang="zh-HK" sz="1200" kern="100">
                <a:effectLst/>
                <a:latin typeface="Calibri" panose="020F0502020204030204" pitchFamily="34" charset="0"/>
                <a:ea typeface="新細明體" panose="02020500000000000000" pitchFamily="18" charset="-120"/>
                <a:cs typeface="Times New Roman" panose="02020603050405020304" pitchFamily="18" charset="0"/>
              </a:rPr>
              <a:t> </a:t>
            </a:r>
            <a:endParaRPr lang="zh-TW" altLang="zh-HK" sz="1200" kern="100">
              <a:effectLst/>
              <a:latin typeface="Calibri" panose="020F0502020204030204" pitchFamily="34" charset="0"/>
              <a:ea typeface="新細明體" panose="02020500000000000000" pitchFamily="18" charset="-120"/>
              <a:cs typeface="Times New Roman" panose="02020603050405020304" pitchFamily="18" charset="0"/>
            </a:endParaRPr>
          </a:p>
        </p:txBody>
      </p:sp>
      <p:sp>
        <p:nvSpPr>
          <p:cNvPr id="4" name="投影片編號版面配置區 3"/>
          <p:cNvSpPr>
            <a:spLocks noGrp="1"/>
          </p:cNvSpPr>
          <p:nvPr>
            <p:ph type="sldNum" idx="36"/>
          </p:nvPr>
        </p:nvSpPr>
        <p:spPr/>
        <p:txBody>
          <a:bodyPr/>
          <a:lstStyle/>
          <a:p>
            <a:pPr indent="0" algn="r">
              <a:buNone/>
            </a:pPr>
            <a:fld id="{1C85F895-05D5-45B6-95FD-447357ADE4E2}" type="slidenum">
              <a:rPr lang="en-US" sz="1400" b="0" u="none" strike="noStrike" smtClean="0">
                <a:solidFill>
                  <a:srgbClr val="000000"/>
                </a:solidFill>
                <a:effectLst/>
                <a:uFillTx/>
                <a:latin typeface="Times New Roman"/>
              </a:rPr>
              <a:t>16</a:t>
            </a:fld>
            <a:endParaRPr lang="en-US" sz="1400" b="0" u="none" strike="noStrike">
              <a:solidFill>
                <a:srgbClr val="000000"/>
              </a:solidFill>
              <a:effectLst/>
              <a:uFillTx/>
              <a:latin typeface="Times New Roman"/>
            </a:endParaRPr>
          </a:p>
        </p:txBody>
      </p:sp>
    </p:spTree>
    <p:extLst>
      <p:ext uri="{BB962C8B-B14F-4D97-AF65-F5344CB8AC3E}">
        <p14:creationId xmlns:p14="http://schemas.microsoft.com/office/powerpoint/2010/main" val="14975951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自訂版面配置">
    <p:spTree>
      <p:nvGrpSpPr>
        <p:cNvPr id="1" name=""/>
        <p:cNvGrpSpPr/>
        <p:nvPr/>
      </p:nvGrpSpPr>
      <p:grpSpPr>
        <a:xfrm>
          <a:off x="0" y="0"/>
          <a:ext cx="0" cy="0"/>
          <a:chOff x="0" y="0"/>
          <a:chExt cx="0" cy="0"/>
        </a:xfrm>
      </p:grpSpPr>
    </p:spTree>
    <p:extLst>
      <p:ext uri="{BB962C8B-B14F-4D97-AF65-F5344CB8AC3E}">
        <p14:creationId xmlns:p14="http://schemas.microsoft.com/office/powerpoint/2010/main" val="2336717378"/>
      </p:ext>
    </p:extLst>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8"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H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Relationships xmlns="http://schemas.openxmlformats.org/package/2006/relationships"><Relationship Id="rId3" Type="http://schemas.openxmlformats.org/officeDocument/2006/relationships/image" Target="../media/image1-4a4875b0-dbcc-4c72-9a4a-f7ef513f5300.copy.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E9738CC1-EF2D-1390-EE77-B22B4B51B7D3}"/>
              </a:ext>
            </a:extLst>
          </p:cNvPr>
          <p:cNvPicPr>
            <a:picLocks noChangeAspect="1"/>
          </p:cNvPicPr>
          <p:nvPr/>
        </p:nvPicPr>
        <p:blipFill>
          <a:blip r:embed="rId3"/>
          <a:stretch>
            <a:fillRect/>
          </a:stretch>
        </p:blipFill>
        <p:spPr>
          <a:xfrm>
            <a:off x="0" y="38985"/>
            <a:ext cx="16256000" cy="906602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8"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9"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0"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1"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2"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3"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4"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5"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6"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7"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8"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9"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0"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1" name="Picture 2"/>
          <p:cNvPicPr/>
          <p:nvPr/>
        </p:nvPicPr>
        <p:blipFill>
          <a:blip r:embed="rId3"/>
          <a:stretch/>
        </p:blipFill>
        <p:spPr>
          <a:xfrm>
            <a:off x="0" y="38160"/>
            <a:ext cx="16255800" cy="9067320"/>
          </a:xfrm>
          <a:prstGeom prst="rect">
            <a:avLst/>
          </a:prstGeom>
          <a:noFill/>
          <a:ln w="0">
            <a:noFill/>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2" name="圖片 81"/>
          <p:cNvPicPr/>
          <p:nvPr/>
        </p:nvPicPr>
        <p:blipFill>
          <a:blip r:embed="rId3"/>
          <a:stretch/>
        </p:blipFill>
        <p:spPr>
          <a:xfrm>
            <a:off x="33840" y="57960"/>
            <a:ext cx="16255800" cy="9072720"/>
          </a:xfrm>
          <a:prstGeom prst="rect">
            <a:avLst/>
          </a:prstGeom>
          <a:noFill/>
          <a:ln w="0">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majorFont>
      <a:minorFont>
        <a:latin typeface="Calibri"/>
        <a:ea typeface=""/>
        <a:cs typeface=""/>
      </a:minorFont>
    </a:fontScheme>
    <a:fmtScheme>
      <a:fillStyleLst>
        <a:solidFill>
          <a:schemeClr val="phClr"/>
        </a:solidFill>
        <a:gradFill>
          <a:gsLst>
            <a:gs pos="0">
              <a:schemeClr val="phClr">
                <a:tint val="50000"/>
              </a:schemeClr>
            </a:gs>
            <a:gs pos="35000">
              <a:schemeClr val="phClr">
                <a:tint val="37000"/>
              </a:schemeClr>
            </a:gs>
            <a:gs pos="100000">
              <a:schemeClr val="phClr">
                <a:tint val="15000"/>
              </a:schemeClr>
            </a:gs>
          </a:gsLst>
          <a:lin ang="16200000" scaled="1"/>
          <a:tileRect/>
        </a:gradFill>
        <a:gradFill>
          <a:gsLst>
            <a:gs pos="0">
              <a:schemeClr val="phClr">
                <a:shade val="51000"/>
              </a:schemeClr>
            </a:gs>
            <a:gs pos="80000">
              <a:schemeClr val="phClr">
                <a:shade val="93000"/>
              </a:schemeClr>
            </a:gs>
            <a:gs pos="100000">
              <a:schemeClr val="phClr">
                <a:shade val="94000"/>
              </a:schemeClr>
            </a:gs>
          </a:gsLst>
          <a:lin ang="16200000" scaled="0"/>
          <a:tileRect/>
        </a:gradFill>
      </a:fillStyleLst>
      <a:lnStyleLst>
        <a:ln w="9525" cap="flat" cmpd="sng" algn="ctr">
          <a:prstDash val="solid"/>
        </a:ln>
        <a:ln w="25400" cap="flat" cmpd="sng" algn="ctr">
          <a:prstDash val="solid"/>
        </a:ln>
        <a:ln w="38100" cap="flat" cmpd="sng" algn="ctr">
          <a:prstDash val="solid"/>
        </a:ln>
      </a:lnStyleLst>
      <a:effectStyleLst>
        <a:effectStyle>
          <a:effectLst/>
        </a:effectStyle>
        <a:effectStyle>
          <a:effectLst/>
        </a:effectStyle>
        <a:effectStyle>
          <a:effectLst/>
        </a:effectStyle>
      </a:effectStyleLst>
      <a:bgFillStyleLst>
        <a:solidFill>
          <a:schemeClr val="phClr"/>
        </a:solidFill>
        <a:gradFill>
          <a:gsLst>
            <a:gs pos="0">
              <a:schemeClr val="phClr">
                <a:tint val="40000"/>
              </a:schemeClr>
            </a:gs>
            <a:gs pos="40000">
              <a:schemeClr val="phClr">
                <a:tint val="45000"/>
                <a:shade val="99000"/>
              </a:schemeClr>
            </a:gs>
            <a:gs pos="100000">
              <a:schemeClr val="phClr">
                <a:shade val="20000"/>
              </a:schemeClr>
            </a:gs>
          </a:gsLst>
          <a:path path="circle">
            <a:fillToRect l="50000" t="-80000" r="50000" b="180000"/>
          </a:path>
          <a:tileRect/>
        </a:gradFill>
        <a:gradFill>
          <a:gsLst>
            <a:gs pos="0">
              <a:schemeClr val="phClr">
                <a:tint val="80000"/>
              </a:schemeClr>
            </a:gs>
            <a:gs pos="100000">
              <a:schemeClr val="phClr">
                <a:shade val="30000"/>
              </a:schemeClr>
            </a:gs>
          </a:gsLst>
          <a:path path="circle">
            <a:fillToRect l="50000" t="50000" r="50000" b="50000"/>
          </a:path>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1943</Words>
  <Application>Microsoft Office PowerPoint</Application>
  <PresentationFormat>自訂</PresentationFormat>
  <Paragraphs>146</Paragraphs>
  <Slides>16</Slides>
  <Notes>16</Notes>
  <HiddenSlides>0</HiddenSlides>
  <MMClips>0</MMClips>
  <ScaleCrop>false</ScaleCrop>
  <HeadingPairs>
    <vt:vector size="6" baseType="variant">
      <vt:variant>
        <vt:lpstr>使用字型</vt:lpstr>
      </vt:variant>
      <vt:variant>
        <vt:i4>5</vt:i4>
      </vt:variant>
      <vt:variant>
        <vt:lpstr>佈景主題</vt:lpstr>
      </vt:variant>
      <vt:variant>
        <vt:i4>1</vt:i4>
      </vt:variant>
      <vt:variant>
        <vt:lpstr>投影片標題</vt:lpstr>
      </vt:variant>
      <vt:variant>
        <vt:i4>16</vt:i4>
      </vt:variant>
    </vt:vector>
  </HeadingPairs>
  <TitlesOfParts>
    <vt:vector size="22" baseType="lpstr">
      <vt:lpstr>Arial</vt:lpstr>
      <vt:lpstr>Calibri</vt:lpstr>
      <vt:lpstr>Courier New</vt:lpstr>
      <vt:lpstr>Times New Roman</vt:lpstr>
      <vt:lpstr>Wingdings</vt:lpstr>
      <vt:lpstr>Office Theme</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簡報</dc:title>
  <dc:subject/>
  <dc:creator/>
  <dc:description/>
  <cp:lastModifiedBy>Wilson Lai</cp:lastModifiedBy>
  <cp:revision>4</cp:revision>
  <dcterms:created xsi:type="dcterms:W3CDTF">2006-08-16T00:00:00Z</dcterms:created>
  <dcterms:modified xsi:type="dcterms:W3CDTF">2026-10-31T02:11:01Z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