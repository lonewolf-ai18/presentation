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media/image10-51a092f7-9915-4d62-967b-b727cdb6feab.copy.jpg" ContentType="image/jpeg"/>
  <Override PartName="/ppt/media/image1-7c9f7fbf-dcf8-4c28-8a0f-f09838af6a30.copy.jpg" ContentType="image/jpeg"/>
  <Override PartName="/ppt/media/image11-fed362f4-2c01-4045-9775-8da225dc22cd.copy.jpg" ContentType="image/jpeg"/>
  <Override PartName="/ppt/media/image12-10ddd503-0f96-47ec-b9f4-d60a96cf80f9.copy.jpg" ContentType="image/jpeg"/>
  <Override PartName="/ppt/media/image13-8f9a4a49-2eee-4937-abe9-2fc54d605486.copy.jpg" ContentType="image/jpeg"/>
  <Override PartName="/ppt/media/image14-d7d16a01-bc14-4f10-9a21-b7dd629cf825.copy.jpg" ContentType="image/jpeg"/>
  <Override PartName="/ppt/media/image15-10faa5ba-1aa7-4307-b379-73016d57adcc.copy.jpg" ContentType="image/jpeg"/>
  <Override PartName="/ppt/media/image16-898850ba-263c-428f-b617-0caa50c38328.copy.jpg" ContentType="image/jpeg"/>
  <Override PartName="/ppt/media/image2-26b9d5c2-515f-4a14-99f7-fd16430367b8.copy.jpg" ContentType="image/jpeg"/>
  <Override PartName="/ppt/media/image3-022a1168-760d-413e-8100-d81d2b9c3bb9.copy.jpg" ContentType="image/jpeg"/>
  <Override PartName="/ppt/media/image5-9e64d1a9-25bb-408e-a38f-90d2adb0709f.copy.jpg" ContentType="image/jpeg"/>
  <Override PartName="/ppt/media/image4-bbe3c350-c0eb-473c-a427-cc94e7b597ac.copy.jpg" ContentType="image/jpeg"/>
  <Override PartName="/ppt/media/image6-b8817c98-d0c6-4a88-9fb8-3f27cc26c6be.copy.jpg" ContentType="image/jpeg"/>
  <Override PartName="/ppt/media/image7-b60618f2-0e4b-4852-982c-5b173f8fd1e2.copy.jpg" ContentType="image/jpeg"/>
  <Override PartName="/ppt/media/image8-407a9a88-9c85-4e20-b7c8-ad426f2e269c.copy.jpg" ContentType="image/jpeg"/>
  <Override PartName="/ppt/media/image9-b0545f8f-465a-4670-aebe-a037708857a4.copy.jpg" ContentType="image/jpeg"/>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sldSz cx="16256000" cy="9144000"/>
  <p:notesSz cx="7559675" cy="10691813"/>
  <p:defaultTextStyle>
    <a:defPPr>
      <a:defRPr lang="zh-H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47076" autoAdjust="0"/>
  </p:normalViewPr>
  <p:slideViewPr>
    <p:cSldViewPr snapToGrid="0">
      <p:cViewPr varScale="1">
        <p:scale>
          <a:sx n="33" d="100"/>
          <a:sy n="33" d="100"/>
        </p:scale>
        <p:origin x="1278" y="6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61" name="PlaceHolder 1"/>
          <p:cNvSpPr>
            <a:spLocks noGrp="1" noRot="1" noChangeAspect="1"/>
          </p:cNvSpPr>
          <p:nvPr>
            <p:ph type="sldImg"/>
          </p:nvPr>
        </p:nvSpPr>
        <p:spPr>
          <a:xfrm>
            <a:off x="0" y="812520"/>
            <a:ext cx="0" cy="0"/>
          </a:xfrm>
          <a:prstGeom prst="rect">
            <a:avLst/>
          </a:prstGeom>
          <a:noFill/>
          <a:ln w="0">
            <a:noFill/>
          </a:ln>
        </p:spPr>
        <p:txBody>
          <a:bodyPr lIns="0" tIns="0" rIns="0" bIns="0" anchor="ctr">
            <a:noAutofit/>
          </a:bodyPr>
          <a:lstStyle/>
          <a:p>
            <a:pPr algn="ctr" defTabSz="914400"/>
            <a:r>
              <a:rPr lang="en-US" sz="4400" b="0" u="none" strike="noStrike">
                <a:solidFill>
                  <a:schemeClr val="dk1"/>
                </a:solidFill>
                <a:effectLst/>
                <a:uFillTx/>
                <a:latin typeface="Calibri"/>
              </a:rPr>
              <a:t>Click to move the slide</a:t>
            </a:r>
          </a:p>
        </p:txBody>
      </p:sp>
      <p:sp>
        <p:nvSpPr>
          <p:cNvPr id="62" name="PlaceHolder 2"/>
          <p:cNvSpPr>
            <a:spLocks noGrp="1"/>
          </p:cNvSpPr>
          <p:nvPr>
            <p:ph type="body"/>
          </p:nvPr>
        </p:nvSpPr>
        <p:spPr>
          <a:xfrm>
            <a:off x="756000" y="5078520"/>
            <a:ext cx="6047640" cy="4811040"/>
          </a:xfrm>
          <a:prstGeom prst="rect">
            <a:avLst/>
          </a:prstGeom>
          <a:noFill/>
          <a:ln w="0">
            <a:noFill/>
          </a:ln>
        </p:spPr>
        <p:txBody>
          <a:bodyPr lIns="0" tIns="0" rIns="0" bIns="0" anchor="t">
            <a:noAutofit/>
          </a:bodyPr>
          <a:lstStyle/>
          <a:p>
            <a:pPr indent="0" algn="l">
              <a:buNone/>
            </a:pPr>
            <a:r>
              <a:rPr lang="en-US" sz="2000" b="0" u="none" strike="noStrike">
                <a:solidFill>
                  <a:srgbClr val="000000"/>
                </a:solidFill>
                <a:effectLst/>
                <a:uFillTx/>
                <a:latin typeface="Arial"/>
              </a:rPr>
              <a:t>Click to edit the notes format</a:t>
            </a:r>
          </a:p>
        </p:txBody>
      </p:sp>
      <p:sp>
        <p:nvSpPr>
          <p:cNvPr id="63" name="PlaceHolder 3"/>
          <p:cNvSpPr>
            <a:spLocks noGrp="1"/>
          </p:cNvSpPr>
          <p:nvPr>
            <p:ph type="hdr"/>
          </p:nvPr>
        </p:nvSpPr>
        <p:spPr>
          <a:xfrm>
            <a:off x="0" y="0"/>
            <a:ext cx="3280680" cy="534240"/>
          </a:xfrm>
          <a:prstGeom prst="rect">
            <a:avLst/>
          </a:prstGeom>
          <a:noFill/>
          <a:ln w="0">
            <a:noFill/>
          </a:ln>
        </p:spPr>
        <p:txBody>
          <a:bodyPr lIns="0" tIns="0" rIns="0" bIns="0" anchor="t">
            <a:noAutofit/>
          </a:bodyPr>
          <a:lstStyle/>
          <a:p>
            <a:pPr indent="0" algn="l">
              <a:buNone/>
            </a:pPr>
            <a:r>
              <a:rPr lang="en-US" sz="1400" b="0" u="none" strike="noStrike">
                <a:solidFill>
                  <a:srgbClr val="000000"/>
                </a:solidFill>
                <a:effectLst/>
                <a:uFillTx/>
                <a:latin typeface="Times New Roman"/>
              </a:rPr>
              <a:t>&lt;header&gt;</a:t>
            </a:r>
          </a:p>
        </p:txBody>
      </p:sp>
      <p:sp>
        <p:nvSpPr>
          <p:cNvPr id="64" name="PlaceHolder 4"/>
          <p:cNvSpPr>
            <a:spLocks noGrp="1"/>
          </p:cNvSpPr>
          <p:nvPr>
            <p:ph type="dt" idx="34"/>
          </p:nvPr>
        </p:nvSpPr>
        <p:spPr>
          <a:xfrm>
            <a:off x="4278960" y="0"/>
            <a:ext cx="3280680" cy="534240"/>
          </a:xfrm>
          <a:prstGeom prst="rect">
            <a:avLst/>
          </a:prstGeom>
          <a:noFill/>
          <a:ln w="0">
            <a:noFill/>
          </a:ln>
        </p:spPr>
        <p:txBody>
          <a:bodyPr lIns="0" tIns="0" rIns="0" bIns="0" anchor="t">
            <a:noAutofit/>
          </a:bodyPr>
          <a:lstStyle>
            <a:lvl1pPr indent="0" algn="r">
              <a:buNone/>
              <a:defRPr lang="en-US" sz="1400" b="0" u="none" strike="noStrike">
                <a:solidFill>
                  <a:srgbClr val="000000"/>
                </a:solidFill>
                <a:effectLst/>
                <a:uFillTx/>
                <a:latin typeface="Times New Roman"/>
              </a:defRPr>
            </a:lvl1pPr>
          </a:lstStyle>
          <a:p>
            <a:pPr indent="0" algn="r">
              <a:buNone/>
            </a:pPr>
            <a:r>
              <a:rPr lang="en-US" sz="1400" b="0" u="none" strike="noStrike">
                <a:solidFill>
                  <a:srgbClr val="000000"/>
                </a:solidFill>
                <a:effectLst/>
                <a:uFillTx/>
                <a:latin typeface="Times New Roman"/>
              </a:rPr>
              <a:t>&lt;date/time&gt;</a:t>
            </a:r>
          </a:p>
        </p:txBody>
      </p:sp>
      <p:sp>
        <p:nvSpPr>
          <p:cNvPr id="65" name="PlaceHolder 5"/>
          <p:cNvSpPr>
            <a:spLocks noGrp="1"/>
          </p:cNvSpPr>
          <p:nvPr>
            <p:ph type="ftr" idx="35"/>
          </p:nvPr>
        </p:nvSpPr>
        <p:spPr>
          <a:xfrm>
            <a:off x="0" y="10157400"/>
            <a:ext cx="3280680" cy="534240"/>
          </a:xfrm>
          <a:prstGeom prst="rect">
            <a:avLst/>
          </a:prstGeom>
          <a:noFill/>
          <a:ln w="0">
            <a:noFill/>
          </a:ln>
        </p:spPr>
        <p:txBody>
          <a:bodyPr lIns="0" tIns="0" rIns="0" bIns="0" anchor="b">
            <a:noAutofit/>
          </a:bodyPr>
          <a:lstStyle>
            <a:lvl1pPr indent="0" algn="l">
              <a:buNone/>
              <a:defRPr lang="en-US" sz="1400" b="0" u="none" strike="noStrike">
                <a:solidFill>
                  <a:srgbClr val="000000"/>
                </a:solidFill>
                <a:effectLst/>
                <a:uFillTx/>
                <a:latin typeface="Times New Roman"/>
              </a:defRPr>
            </a:lvl1pPr>
          </a:lstStyle>
          <a:p>
            <a:pPr indent="0" algn="l">
              <a:buNone/>
            </a:pPr>
            <a:r>
              <a:rPr lang="en-US" sz="1400" b="0" u="none" strike="noStrike">
                <a:solidFill>
                  <a:srgbClr val="000000"/>
                </a:solidFill>
                <a:effectLst/>
                <a:uFillTx/>
                <a:latin typeface="Times New Roman"/>
              </a:rPr>
              <a:t>&lt;footer&gt;</a:t>
            </a:r>
          </a:p>
        </p:txBody>
      </p:sp>
      <p:sp>
        <p:nvSpPr>
          <p:cNvPr id="66" name="PlaceHolder 6"/>
          <p:cNvSpPr>
            <a:spLocks noGrp="1"/>
          </p:cNvSpPr>
          <p:nvPr>
            <p:ph type="sldNum" idx="36"/>
          </p:nvPr>
        </p:nvSpPr>
        <p:spPr>
          <a:xfrm>
            <a:off x="4278960" y="10157400"/>
            <a:ext cx="3280680" cy="534240"/>
          </a:xfrm>
          <a:prstGeom prst="rect">
            <a:avLst/>
          </a:prstGeom>
          <a:noFill/>
          <a:ln w="0">
            <a:noFill/>
          </a:ln>
        </p:spPr>
        <p:txBody>
          <a:bodyPr lIns="0" tIns="0" rIns="0" bIns="0" anchor="b">
            <a:noAutofit/>
          </a:bodyPr>
          <a:lstStyle>
            <a:lvl1pPr indent="0" algn="r">
              <a:buNone/>
              <a:defRPr lang="en-US" sz="1400" b="0" u="none" strike="noStrike">
                <a:solidFill>
                  <a:srgbClr val="000000"/>
                </a:solidFill>
                <a:effectLst/>
                <a:uFillTx/>
                <a:latin typeface="Times New Roman"/>
              </a:defRPr>
            </a:lvl1pPr>
          </a:lstStyle>
          <a:p>
            <a:pPr indent="0" algn="r">
              <a:buNone/>
            </a:pPr>
            <a:fld id="{ED6F9329-4F65-40DE-B865-E077CDDE8C44}" type="slidenum">
              <a:rPr lang="en-US" sz="1400" b="0" u="none" strike="noStrike">
                <a:solidFill>
                  <a:srgbClr val="000000"/>
                </a:solidFill>
                <a:effectLst/>
                <a:uFillTx/>
                <a:latin typeface="Times New Roman"/>
              </a:rPr>
              <a:t>‹#›</a:t>
            </a:fld>
            <a:endParaRPr lang="en-US" sz="1400" b="0" u="none" strike="noStrike">
              <a:solidFill>
                <a:srgbClr val="000000"/>
              </a:solidFill>
              <a:effectLst/>
              <a:uFillTx/>
              <a:latin typeface="Times New Roman"/>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3" name="PlaceHolder 1"/>
          <p:cNvSpPr>
            <a:spLocks noGrp="1" noRot="1" noChangeAspect="1"/>
          </p:cNvSpPr>
          <p:nvPr>
            <p:ph type="sldImg"/>
          </p:nvPr>
        </p:nvSpPr>
        <p:spPr>
          <a:xfrm>
            <a:off x="217488" y="812800"/>
            <a:ext cx="7124700" cy="4008438"/>
          </a:xfrm>
          <a:prstGeom prst="rect">
            <a:avLst/>
          </a:prstGeom>
          <a:ln w="0">
            <a:noFill/>
          </a:ln>
        </p:spPr>
      </p:sp>
      <p:sp>
        <p:nvSpPr>
          <p:cNvPr id="84" name="PlaceHolder 2"/>
          <p:cNvSpPr>
            <a:spLocks noGrp="1"/>
          </p:cNvSpPr>
          <p:nvPr>
            <p:ph type="body"/>
          </p:nvPr>
        </p:nvSpPr>
        <p:spPr>
          <a:xfrm>
            <a:off x="756000" y="5078520"/>
            <a:ext cx="6047640" cy="4811040"/>
          </a:xfrm>
          <a:prstGeom prst="rect">
            <a:avLst/>
          </a:prstGeom>
          <a:noFill/>
          <a:ln w="0">
            <a:noFill/>
          </a:ln>
        </p:spPr>
        <p:txBody>
          <a:bodyPr lIns="0" tIns="0" rIns="0" bIns="0" anchor="t">
            <a:noAutofit/>
          </a:bodyPr>
          <a:lstStyle/>
          <a:p>
            <a:pPr indent="0" algn="l">
              <a:buNone/>
            </a:pPr>
            <a:r>
              <a:rPr lang="en-US" sz="2000" b="0" u="none" strike="noStrike" dirty="0">
                <a:solidFill>
                  <a:srgbClr val="000000"/>
                </a:solidFill>
                <a:effectLst/>
                <a:uFillTx/>
                <a:latin typeface="Arial"/>
              </a:rPr>
              <a:t>Good morning, everyone. Welcome to today’s presentation.</a:t>
            </a:r>
          </a:p>
          <a:p>
            <a:pPr indent="0" algn="l">
              <a:buNone/>
            </a:pPr>
            <a:r>
              <a:rPr lang="en-US" sz="2000" b="0" u="none" strike="noStrike" dirty="0">
                <a:solidFill>
                  <a:srgbClr val="000000"/>
                </a:solidFill>
                <a:effectLst/>
                <a:uFillTx/>
                <a:latin typeface="Arial"/>
              </a:rPr>
              <a:t>The title of today’s talk is </a:t>
            </a:r>
            <a:r>
              <a:rPr lang="en-US" sz="2000" b="1" u="none" strike="noStrike" dirty="0">
                <a:solidFill>
                  <a:srgbClr val="000000"/>
                </a:solidFill>
                <a:effectLst/>
                <a:uFillTx/>
                <a:latin typeface="Arial"/>
              </a:rPr>
              <a:t>"What's Still Valuable When Intelligence Is Free?"</a:t>
            </a:r>
            <a:r>
              <a:rPr lang="en-US" sz="2000" b="0" u="none" strike="noStrike" dirty="0">
                <a:solidFill>
                  <a:srgbClr val="000000"/>
                </a:solidFill>
                <a:effectLst/>
                <a:uFillTx/>
                <a:latin typeface="Arial"/>
              </a:rPr>
              <a:t> As artificial intelligence models scale at a breakneck pace, the central question for investors, executives, and strategists isn’t just "What can AI do?" but </a:t>
            </a:r>
            <a:r>
              <a:rPr lang="en-US" sz="2000" b="1" u="none" strike="noStrike" dirty="0">
                <a:solidFill>
                  <a:srgbClr val="000000"/>
                </a:solidFill>
                <a:effectLst/>
                <a:uFillTx/>
                <a:latin typeface="Arial"/>
              </a:rPr>
              <a:t>rather "What retains value when intelligence itself becomes cheap, ubiquitous, and essentially a commodity?" </a:t>
            </a:r>
          </a:p>
          <a:p>
            <a:pPr indent="0" algn="l">
              <a:buNone/>
            </a:pPr>
            <a:r>
              <a:rPr lang="en-US" sz="2000" b="0" u="none" strike="noStrike" dirty="0">
                <a:solidFill>
                  <a:srgbClr val="000000"/>
                </a:solidFill>
                <a:effectLst/>
                <a:uFillTx/>
                <a:latin typeface="Arial"/>
              </a:rPr>
              <a:t>In this deck, we are going to explore three key pillars:</a:t>
            </a:r>
          </a:p>
          <a:p>
            <a:pPr marL="457200" indent="-457200" algn="l">
              <a:buFont typeface="+mj-lt"/>
              <a:buAutoNum type="arabicPeriod"/>
            </a:pPr>
            <a:r>
              <a:rPr lang="en-US" sz="2000" b="1" u="none" strike="noStrike" dirty="0">
                <a:solidFill>
                  <a:srgbClr val="000000"/>
                </a:solidFill>
                <a:effectLst/>
                <a:uFillTx/>
                <a:latin typeface="Arial"/>
              </a:rPr>
              <a:t>The physical limits of AI</a:t>
            </a:r>
            <a:r>
              <a:rPr lang="en-US" sz="2000" b="0" u="none" strike="noStrike" dirty="0">
                <a:solidFill>
                  <a:srgbClr val="000000"/>
                </a:solidFill>
                <a:effectLst/>
                <a:uFillTx/>
                <a:latin typeface="Arial"/>
              </a:rPr>
              <a:t>: Why cognitive brute force hits a hard wall when faced with real-world dynamic systems. </a:t>
            </a:r>
          </a:p>
          <a:p>
            <a:pPr marL="457200" indent="-457200" algn="l">
              <a:buFont typeface="+mj-lt"/>
              <a:buAutoNum type="arabicPeriod"/>
            </a:pPr>
            <a:r>
              <a:rPr lang="en-US" sz="2000" b="1" u="none" strike="noStrike" dirty="0">
                <a:solidFill>
                  <a:srgbClr val="000000"/>
                </a:solidFill>
                <a:effectLst/>
                <a:uFillTx/>
                <a:latin typeface="Arial"/>
              </a:rPr>
              <a:t>The capital cycle and commoditization</a:t>
            </a:r>
            <a:r>
              <a:rPr lang="en-US" sz="2000" b="0" u="none" strike="noStrike" dirty="0">
                <a:solidFill>
                  <a:srgbClr val="000000"/>
                </a:solidFill>
                <a:effectLst/>
                <a:uFillTx/>
                <a:latin typeface="Arial"/>
              </a:rPr>
              <a:t>: Why betting purely on compute or general AI capabilities carries immense structural risk. </a:t>
            </a:r>
          </a:p>
          <a:p>
            <a:pPr marL="457200" indent="-457200" algn="l">
              <a:buFont typeface="+mj-lt"/>
              <a:buAutoNum type="arabicPeriod"/>
            </a:pPr>
            <a:r>
              <a:rPr lang="en-US" sz="2000" b="1" u="none" strike="noStrike" dirty="0">
                <a:solidFill>
                  <a:srgbClr val="000000"/>
                </a:solidFill>
                <a:effectLst/>
                <a:uFillTx/>
                <a:latin typeface="Arial"/>
              </a:rPr>
              <a:t>The new economic moats</a:t>
            </a:r>
            <a:r>
              <a:rPr lang="en-US" sz="2000" b="0" u="none" strike="noStrike" dirty="0">
                <a:solidFill>
                  <a:srgbClr val="000000"/>
                </a:solidFill>
                <a:effectLst/>
                <a:uFillTx/>
                <a:latin typeface="Arial"/>
              </a:rPr>
              <a:t>: Where true economic rent and competitive advantages accrue when intelligence is no longer scarce. </a:t>
            </a:r>
          </a:p>
          <a:p>
            <a:pPr marL="0" indent="0" algn="l">
              <a:buFont typeface="+mj-lt"/>
              <a:buNone/>
            </a:pPr>
            <a:r>
              <a:rPr lang="en-US" sz="2000" b="0" u="none" strike="noStrike" dirty="0">
                <a:solidFill>
                  <a:srgbClr val="000000"/>
                </a:solidFill>
                <a:effectLst/>
                <a:uFillTx/>
                <a:latin typeface="Arial"/>
              </a:rPr>
              <a:t>Most conversations today are dominated by short-term excitement—how many tokens we are consuming, which frontier model scored higher on a benchmark, or who is buying the latest GPU clusters. But as long-term thinkers, we must look past the immediate hype cycle. </a:t>
            </a:r>
          </a:p>
          <a:p>
            <a:pPr marL="0" indent="0" algn="l">
              <a:buFont typeface="+mj-lt"/>
              <a:buNone/>
            </a:pPr>
            <a:r>
              <a:rPr lang="en-US" sz="2000" b="0" u="none" strike="noStrike" dirty="0">
                <a:solidFill>
                  <a:srgbClr val="000000"/>
                </a:solidFill>
                <a:effectLst/>
                <a:uFillTx/>
                <a:latin typeface="Arial"/>
              </a:rPr>
              <a:t>If we assume a near-future world where high-grade cognitive reasoning costs pennies—or effectively approaches zero—the entire balance of market power shifts. When an essential input transitions from a scarce premium to an abundant utility, the economic value does not stay with the input; it flows entirely to its </a:t>
            </a:r>
            <a:r>
              <a:rPr lang="en-US" sz="2000" b="1" u="none" strike="noStrike" dirty="0">
                <a:solidFill>
                  <a:srgbClr val="000000"/>
                </a:solidFill>
                <a:effectLst/>
                <a:uFillTx/>
                <a:latin typeface="Arial"/>
              </a:rPr>
              <a:t>complements</a:t>
            </a:r>
            <a:r>
              <a:rPr lang="en-US" sz="2000" b="0" u="none" strike="noStrike" dirty="0">
                <a:solidFill>
                  <a:srgbClr val="000000"/>
                </a:solidFill>
                <a:effectLst/>
                <a:uFillTx/>
                <a:latin typeface="Arial"/>
              </a:rPr>
              <a:t>. </a:t>
            </a:r>
          </a:p>
          <a:p>
            <a:pPr indent="0" algn="l">
              <a:buNone/>
            </a:pPr>
            <a:r>
              <a:rPr lang="en-US" sz="2000" b="0" u="none" strike="noStrike" dirty="0">
                <a:solidFill>
                  <a:srgbClr val="000000"/>
                </a:solidFill>
                <a:effectLst/>
                <a:uFillTx/>
                <a:latin typeface="Arial"/>
              </a:rPr>
              <a:t>Over the next 45 to 60 minutes, we will walk through the mathematical, physical, and market realities that govern this transition. Let’s dive in. </a:t>
            </a:r>
          </a:p>
          <a:p>
            <a:pPr indent="0" algn="l">
              <a:buNone/>
            </a:pPr>
            <a:endParaRPr lang="en-US" sz="2000" b="0" u="none" strike="noStrike" dirty="0">
              <a:solidFill>
                <a:srgbClr val="000000"/>
              </a:solidFill>
              <a:effectLst/>
              <a:uFillTx/>
              <a:latin typeface="Arial"/>
            </a:endParaRPr>
          </a:p>
          <a:p>
            <a:pPr indent="0" algn="l">
              <a:buNone/>
            </a:pPr>
            <a:endParaRPr lang="en-US" sz="2000" b="0" u="none" strike="noStrike" dirty="0">
              <a:solidFill>
                <a:srgbClr val="000000"/>
              </a:solidFill>
              <a:effectLst/>
              <a:uFillTx/>
              <a:latin typeface="Arial"/>
            </a:endParaRPr>
          </a:p>
          <a:p>
            <a:pPr indent="0" algn="l">
              <a:buNone/>
            </a:pPr>
            <a:r>
              <a:rPr lang="en-US" altLang="zh-HK" sz="2000" b="0" u="none" strike="noStrike" dirty="0">
                <a:solidFill>
                  <a:srgbClr val="000000"/>
                </a:solidFill>
                <a:effectLst/>
                <a:uFillTx/>
                <a:latin typeface="Arial"/>
              </a:rPr>
              <a:t>What's Still Valuable When Intelligence Is Free</a:t>
            </a:r>
          </a:p>
          <a:p>
            <a:pPr indent="0" algn="l">
              <a:buNone/>
            </a:pPr>
            <a:r>
              <a:rPr lang="en-US" altLang="zh-HK" sz="2000" b="0" u="none" strike="noStrike" dirty="0">
                <a:solidFill>
                  <a:srgbClr val="000000"/>
                </a:solidFill>
                <a:effectLst/>
                <a:uFillTx/>
                <a:latin typeface="Arial"/>
              </a:rPr>
              <a:t>https://www.youtube.com/watch?v=EH6DsNT455M</a:t>
            </a:r>
          </a:p>
          <a:p>
            <a:pPr indent="0" algn="l">
              <a:buNone/>
            </a:pPr>
            <a:endParaRPr lang="en-US" sz="2000" b="0" u="none" strike="noStrike" dirty="0">
              <a:solidFill>
                <a:srgbClr val="000000"/>
              </a:solidFill>
              <a:effectLst/>
              <a:uFillTx/>
              <a:latin typeface="Arial"/>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a:xfrm>
            <a:off x="0" y="812800"/>
            <a:ext cx="0" cy="0"/>
          </a:xfrm>
        </p:spPr>
      </p:sp>
      <p:sp>
        <p:nvSpPr>
          <p:cNvPr id="3" name="備忘稿版面配置區 2"/>
          <p:cNvSpPr>
            <a:spLocks noGrp="1"/>
          </p:cNvSpPr>
          <p:nvPr>
            <p:ph type="body" idx="1"/>
          </p:nvPr>
        </p:nvSpPr>
        <p:spPr/>
        <p:txBody>
          <a:bodyPr/>
          <a:lstStyle/>
          <a:p>
            <a:r>
              <a:rPr lang="en-US" altLang="zh-HK" dirty="0"/>
              <a:t>To understand where market value will land, we first have to acknowledge the intellectual tension currently dividing investors and business leaders. We are trapped between two equally compelling, yet seemingly contradictory, narratives. </a:t>
            </a:r>
          </a:p>
          <a:p>
            <a:r>
              <a:rPr lang="en-US" altLang="zh-HK" dirty="0"/>
              <a:t>On the left side, you have "</a:t>
            </a:r>
            <a:r>
              <a:rPr lang="en-US" altLang="zh-HK" b="1" dirty="0"/>
              <a:t>The Infinite Buildout</a:t>
            </a:r>
            <a:r>
              <a:rPr lang="en-US" altLang="zh-HK" dirty="0"/>
              <a:t>." The bull case here is irresistible: Token demand appears limitless. Every developer, company, and consumer is finding new ways to deploy tokens—from drafting emails to generating 3D renders and running autonomous agents. The market consensus suggests we are at the dawn of a multi-decade infrastructure super-cycle. Under this logic, the companies supplying the GPUs, data centers, energy, and networking fiber are positioned to extract historic fortunes. </a:t>
            </a:r>
          </a:p>
          <a:p>
            <a:r>
              <a:rPr lang="en-US" altLang="zh-HK" dirty="0"/>
              <a:t>But on the right side, you have </a:t>
            </a:r>
            <a:r>
              <a:rPr lang="en-US" altLang="zh-HK" b="1" dirty="0"/>
              <a:t>"The Cost Collapse</a:t>
            </a:r>
            <a:r>
              <a:rPr lang="en-US" altLang="zh-HK" dirty="0"/>
              <a:t>." Here is the counter-narrative: The marginal cost to produce a token of intelligence is violently plummeting. Open-source models, architectural efficiencies, synthetic data distillation, and hardware optimization are driving token costs down by 100x every couple of years. We are witnessing rapid commoditization. If token generation costs drop toward zero faster than volume grows, we may be massively overbuilding compute capacity today. </a:t>
            </a:r>
          </a:p>
          <a:p>
            <a:r>
              <a:rPr lang="en-US" altLang="zh-HK" dirty="0"/>
              <a:t>Both of these stories are backed by strong logic. You can make a totally convincing argument that compute infrastructure will print cash forever, and an equally convincing argument that it is a giant capital-destroying bubble. </a:t>
            </a:r>
          </a:p>
          <a:p>
            <a:r>
              <a:rPr lang="en-US" altLang="zh-HK" dirty="0"/>
              <a:t>How do we resolve this paradox? We cannot resolve it by debating short-term GPU supply or quarterly revenue guidance. To predict the ultimate winners, we must abandon the hype and fundamentally redefine what intelligence actually is in an economic and physical context. </a:t>
            </a:r>
            <a:endParaRPr lang="zh-HK" altLang="en-US" dirty="0"/>
          </a:p>
        </p:txBody>
      </p:sp>
      <p:sp>
        <p:nvSpPr>
          <p:cNvPr id="4" name="投影片編號版面配置區 3"/>
          <p:cNvSpPr>
            <a:spLocks noGrp="1"/>
          </p:cNvSpPr>
          <p:nvPr>
            <p:ph type="sldNum" idx="36"/>
          </p:nvPr>
        </p:nvSpPr>
        <p:spPr/>
        <p:txBody>
          <a:bodyPr/>
          <a:lstStyle/>
          <a:p>
            <a:pPr indent="0" algn="r">
              <a:buNone/>
            </a:pPr>
            <a:fld id="{ED6F9329-4F65-40DE-B865-E077CDDE8C44}" type="slidenum">
              <a:rPr lang="en-US" sz="1400" b="0" u="none" strike="noStrike" smtClean="0">
                <a:solidFill>
                  <a:srgbClr val="000000"/>
                </a:solidFill>
                <a:effectLst/>
                <a:uFillTx/>
                <a:latin typeface="Times New Roman"/>
              </a:rPr>
              <a:t>2</a:t>
            </a:fld>
            <a:endParaRPr lang="en-US" sz="1400" b="0" u="none" strike="noStrike">
              <a:solidFill>
                <a:srgbClr val="000000"/>
              </a:solidFill>
              <a:effectLst/>
              <a:uFillTx/>
              <a:latin typeface="Times New Roman"/>
            </a:endParaRPr>
          </a:p>
        </p:txBody>
      </p:sp>
    </p:spTree>
    <p:extLst>
      <p:ext uri="{BB962C8B-B14F-4D97-AF65-F5344CB8AC3E}">
        <p14:creationId xmlns:p14="http://schemas.microsoft.com/office/powerpoint/2010/main" val="90034056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a:xfrm>
            <a:off x="0" y="812800"/>
            <a:ext cx="0" cy="0"/>
          </a:xfrm>
        </p:spPr>
      </p:sp>
      <p:sp>
        <p:nvSpPr>
          <p:cNvPr id="3" name="備忘稿版面配置區 2"/>
          <p:cNvSpPr>
            <a:spLocks noGrp="1"/>
          </p:cNvSpPr>
          <p:nvPr>
            <p:ph type="body" idx="1"/>
          </p:nvPr>
        </p:nvSpPr>
        <p:spPr/>
        <p:txBody>
          <a:bodyPr/>
          <a:lstStyle/>
          <a:p>
            <a:r>
              <a:rPr lang="en-US" altLang="zh-HK" dirty="0"/>
              <a:t>Let's step back and address the popular mental model of intelligence. </a:t>
            </a:r>
          </a:p>
          <a:p>
            <a:r>
              <a:rPr lang="en-US" altLang="zh-HK" dirty="0"/>
              <a:t>The dominant public narrative—what we call "The Flawed Model" on the left—treats intelligence as a vertical line moving infinitely upward. It imagines a linear ladder starting at an amoeba, going to a monkey, then a human, then Einstein, and eventually zooming up into a digital "God-like" entity with infinite IQ. Silicon Valley often assumes that if you just scale parameters and compute enough, this vertical vector will solve all human problems automatically. </a:t>
            </a:r>
          </a:p>
          <a:p>
            <a:r>
              <a:rPr lang="en-US" altLang="zh-HK" dirty="0"/>
              <a:t>But that model is fundamentally flawed. </a:t>
            </a:r>
          </a:p>
          <a:p>
            <a:r>
              <a:rPr lang="en-US" altLang="zh-HK" dirty="0"/>
              <a:t>A far more accurate mental model—shown on the right—is to view intelligence as a gadget or a ratio for prediction. Think of it like the roundness of a sphere. We live in a universe where we only have a thin scattering of known facts. Intelligence is simply the interpolation mechanism used to fill in the blank spaces between those scattered data points to make predictions. </a:t>
            </a:r>
          </a:p>
          <a:p>
            <a:r>
              <a:rPr lang="en-US" altLang="zh-HK" dirty="0"/>
              <a:t>In closed, formal domains—like mathematics, chess, or synthetic coding environments—intelligence works brilliantly. You can achieve near-perfect prediction because the rules are complete and static. </a:t>
            </a:r>
          </a:p>
          <a:p>
            <a:r>
              <a:rPr lang="en-US" altLang="zh-HK" dirty="0"/>
              <a:t>However, the real world is made of complex, non-linear dynamic systems—weather, biology, human psychology, macroeconomics. In these domains, pure cognitive brute force inevitably hits a hard mathematical wall. Scaling raw IQ doesn't grant you omniscient predictive power over a dynamic universe. </a:t>
            </a:r>
            <a:endParaRPr lang="zh-HK" altLang="en-US" dirty="0"/>
          </a:p>
        </p:txBody>
      </p:sp>
      <p:sp>
        <p:nvSpPr>
          <p:cNvPr id="4" name="投影片編號版面配置區 3"/>
          <p:cNvSpPr>
            <a:spLocks noGrp="1"/>
          </p:cNvSpPr>
          <p:nvPr>
            <p:ph type="sldNum" idx="36"/>
          </p:nvPr>
        </p:nvSpPr>
        <p:spPr/>
        <p:txBody>
          <a:bodyPr/>
          <a:lstStyle/>
          <a:p>
            <a:pPr indent="0" algn="r">
              <a:buNone/>
            </a:pPr>
            <a:fld id="{ED6F9329-4F65-40DE-B865-E077CDDE8C44}" type="slidenum">
              <a:rPr lang="en-US" sz="1400" b="0" u="none" strike="noStrike" smtClean="0">
                <a:solidFill>
                  <a:srgbClr val="000000"/>
                </a:solidFill>
                <a:effectLst/>
                <a:uFillTx/>
                <a:latin typeface="Times New Roman"/>
              </a:rPr>
              <a:t>3</a:t>
            </a:fld>
            <a:endParaRPr lang="en-US" sz="1400" b="0" u="none" strike="noStrike">
              <a:solidFill>
                <a:srgbClr val="000000"/>
              </a:solidFill>
              <a:effectLst/>
              <a:uFillTx/>
              <a:latin typeface="Times New Roman"/>
            </a:endParaRPr>
          </a:p>
        </p:txBody>
      </p:sp>
    </p:spTree>
    <p:extLst>
      <p:ext uri="{BB962C8B-B14F-4D97-AF65-F5344CB8AC3E}">
        <p14:creationId xmlns:p14="http://schemas.microsoft.com/office/powerpoint/2010/main" val="339709316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a:xfrm>
            <a:off x="0" y="812800"/>
            <a:ext cx="0" cy="0"/>
          </a:xfrm>
        </p:spPr>
      </p:sp>
      <p:sp>
        <p:nvSpPr>
          <p:cNvPr id="3" name="備忘稿版面配置區 2"/>
          <p:cNvSpPr>
            <a:spLocks noGrp="1"/>
          </p:cNvSpPr>
          <p:nvPr>
            <p:ph type="body" idx="1"/>
          </p:nvPr>
        </p:nvSpPr>
        <p:spPr/>
        <p:txBody>
          <a:bodyPr/>
          <a:lstStyle/>
          <a:p>
            <a:r>
              <a:rPr lang="en-US" altLang="zh-HK" dirty="0"/>
              <a:t>Why does pure intelligence hit a wall in the real world? The mathematical explanation lies in Chaos Theory and non-linear dynamics. </a:t>
            </a:r>
          </a:p>
          <a:p>
            <a:r>
              <a:rPr lang="en-US" altLang="zh-HK" dirty="0"/>
              <a:t>Consider the famous origin story of chaos theory. In the early days of computerized weather modeling, meteorologist Edward Lorenz was running atmospheric simulations. He decided to re-run a forecast, but to save space, a technician rounded off a single initial variable—a pressure or temperature value—by just a fraction of a decimal point. </a:t>
            </a:r>
          </a:p>
          <a:p>
            <a:r>
              <a:rPr lang="en-US" altLang="zh-HK" dirty="0"/>
              <a:t>You might assume that a tiny rounding error in the initial input would yield a tiny, negligible error in the final output. But in a complex dynamic system, miscalculations compound exponentially at every step. By day four or five of the simulation, the two forecasts diverged completely. One model predicted 70 degrees and sunny; the other—differing by a minute fraction of a decimal point—predicted 20 degrees and pouring rain. This became known as the Butterfly Effect. </a:t>
            </a:r>
          </a:p>
          <a:p>
            <a:r>
              <a:rPr lang="en-US" altLang="zh-HK" dirty="0"/>
              <a:t>The Takeaway for AI is profound: For complex real-world systems—whether that's weather, oncology, corporate behavior, or consumer markets—you cannot simply guess your way to a closed-form answer using higher IQ. To perfectly simulate a dynamic system, your simulation must include every atom and state in the universe. Short of that, error compounds, and simulation breaks down. </a:t>
            </a:r>
          </a:p>
          <a:p>
            <a:r>
              <a:rPr lang="en-US" altLang="zh-HK" dirty="0"/>
              <a:t>The universe possesses a fundamental unknowability that pure in-silico intelligence cannot solve. </a:t>
            </a:r>
            <a:endParaRPr lang="zh-HK" altLang="en-US" dirty="0"/>
          </a:p>
        </p:txBody>
      </p:sp>
      <p:sp>
        <p:nvSpPr>
          <p:cNvPr id="4" name="投影片編號版面配置區 3"/>
          <p:cNvSpPr>
            <a:spLocks noGrp="1"/>
          </p:cNvSpPr>
          <p:nvPr>
            <p:ph type="sldNum" idx="36"/>
          </p:nvPr>
        </p:nvSpPr>
        <p:spPr/>
        <p:txBody>
          <a:bodyPr/>
          <a:lstStyle/>
          <a:p>
            <a:pPr indent="0" algn="r">
              <a:buNone/>
            </a:pPr>
            <a:fld id="{ED6F9329-4F65-40DE-B865-E077CDDE8C44}" type="slidenum">
              <a:rPr lang="en-US" sz="1400" b="0" u="none" strike="noStrike" smtClean="0">
                <a:solidFill>
                  <a:srgbClr val="000000"/>
                </a:solidFill>
                <a:effectLst/>
                <a:uFillTx/>
                <a:latin typeface="Times New Roman"/>
              </a:rPr>
              <a:t>4</a:t>
            </a:fld>
            <a:endParaRPr lang="en-US" sz="1400" b="0" u="none" strike="noStrike">
              <a:solidFill>
                <a:srgbClr val="000000"/>
              </a:solidFill>
              <a:effectLst/>
              <a:uFillTx/>
              <a:latin typeface="Times New Roman"/>
            </a:endParaRPr>
          </a:p>
        </p:txBody>
      </p:sp>
    </p:spTree>
    <p:extLst>
      <p:ext uri="{BB962C8B-B14F-4D97-AF65-F5344CB8AC3E}">
        <p14:creationId xmlns:p14="http://schemas.microsoft.com/office/powerpoint/2010/main" val="281433575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a:xfrm>
            <a:off x="0" y="812800"/>
            <a:ext cx="0" cy="0"/>
          </a:xfrm>
        </p:spPr>
      </p:sp>
      <p:sp>
        <p:nvSpPr>
          <p:cNvPr id="3" name="備忘稿版面配置區 2"/>
          <p:cNvSpPr>
            <a:spLocks noGrp="1"/>
          </p:cNvSpPr>
          <p:nvPr>
            <p:ph type="body" idx="1"/>
          </p:nvPr>
        </p:nvSpPr>
        <p:spPr/>
        <p:txBody>
          <a:bodyPr/>
          <a:lstStyle/>
          <a:p>
            <a:r>
              <a:rPr lang="en-US" altLang="zh-HK" dirty="0"/>
              <a:t>Because pure simulation hits the Chaos Barrier, digital intelligence eventually runs out of room to operate in isolation. To generate new, true knowledge, intelligence must touch physical reality. </a:t>
            </a:r>
          </a:p>
          <a:p>
            <a:r>
              <a:rPr lang="en-US" altLang="zh-HK" dirty="0"/>
              <a:t>Look at the workflow on this slide. </a:t>
            </a:r>
          </a:p>
          <a:p>
            <a:pPr marL="171450" indent="-171450">
              <a:buFont typeface="Arial" panose="020B0604020202020204" pitchFamily="34" charset="0"/>
              <a:buChar char="•"/>
            </a:pPr>
            <a:r>
              <a:rPr lang="en-US" altLang="zh-HK" dirty="0"/>
              <a:t>Phase 1 is Digital Intelligence in the data center. People ask: "Can a 300-IQ AI cure cancer purely through cognitive brute force?" The answer is no. It can read every oncology paper ever published and synthesize existing findings. But once it reaches the limits of existing human data, it enters an information void. </a:t>
            </a:r>
          </a:p>
          <a:p>
            <a:pPr marL="171450" indent="-171450">
              <a:buFont typeface="Arial" panose="020B0604020202020204" pitchFamily="34" charset="0"/>
              <a:buChar char="•"/>
            </a:pPr>
            <a:r>
              <a:rPr lang="en-US" altLang="zh-HK" dirty="0"/>
              <a:t>Phase 2 requires generating hypotheses. The AI can generate brilliant, novel molecular hypotheses in milliseconds. </a:t>
            </a:r>
          </a:p>
          <a:p>
            <a:pPr marL="171450" indent="-171450">
              <a:buFont typeface="Arial" panose="020B0604020202020204" pitchFamily="34" charset="0"/>
              <a:buChar char="•"/>
            </a:pPr>
            <a:r>
              <a:rPr lang="en-US" altLang="zh-HK" dirty="0"/>
              <a:t>Phase 3 is where it hits The Physical Speed Limit. To prove whether a drug candidate works, you must synthesize the compound, run wet-lab trials, and test it in biological organisms. </a:t>
            </a:r>
          </a:p>
          <a:p>
            <a:r>
              <a:rPr lang="en-US" altLang="zh-HK" dirty="0"/>
              <a:t>You can design a perfect experiment in milliseconds, but breeding lab mice to observe tumor growth still takes a year. The speed of light, biological incubation periods, chemical reaction times, and physical logistics do not accelerate just because your computer gets 100 times smarter. Infinite digital intelligence is permanently bottlenecked by the analog timescales of physics and biology. </a:t>
            </a:r>
            <a:endParaRPr lang="zh-HK" altLang="en-US" dirty="0"/>
          </a:p>
        </p:txBody>
      </p:sp>
      <p:sp>
        <p:nvSpPr>
          <p:cNvPr id="4" name="投影片編號版面配置區 3"/>
          <p:cNvSpPr>
            <a:spLocks noGrp="1"/>
          </p:cNvSpPr>
          <p:nvPr>
            <p:ph type="sldNum" idx="36"/>
          </p:nvPr>
        </p:nvSpPr>
        <p:spPr/>
        <p:txBody>
          <a:bodyPr/>
          <a:lstStyle/>
          <a:p>
            <a:pPr indent="0" algn="r">
              <a:buNone/>
            </a:pPr>
            <a:fld id="{ED6F9329-4F65-40DE-B865-E077CDDE8C44}" type="slidenum">
              <a:rPr lang="en-US" sz="1400" b="0" u="none" strike="noStrike" smtClean="0">
                <a:solidFill>
                  <a:srgbClr val="000000"/>
                </a:solidFill>
                <a:effectLst/>
                <a:uFillTx/>
                <a:latin typeface="Times New Roman"/>
              </a:rPr>
              <a:t>5</a:t>
            </a:fld>
            <a:endParaRPr lang="en-US" sz="1400" b="0" u="none" strike="noStrike">
              <a:solidFill>
                <a:srgbClr val="000000"/>
              </a:solidFill>
              <a:effectLst/>
              <a:uFillTx/>
              <a:latin typeface="Times New Roman"/>
            </a:endParaRPr>
          </a:p>
        </p:txBody>
      </p:sp>
    </p:spTree>
    <p:extLst>
      <p:ext uri="{BB962C8B-B14F-4D97-AF65-F5344CB8AC3E}">
        <p14:creationId xmlns:p14="http://schemas.microsoft.com/office/powerpoint/2010/main" val="268297900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a:xfrm>
            <a:off x="0" y="812800"/>
            <a:ext cx="0" cy="0"/>
          </a:xfrm>
        </p:spPr>
      </p:sp>
      <p:sp>
        <p:nvSpPr>
          <p:cNvPr id="3" name="備忘稿版面配置區 2"/>
          <p:cNvSpPr>
            <a:spLocks noGrp="1"/>
          </p:cNvSpPr>
          <p:nvPr>
            <p:ph type="body" idx="1"/>
          </p:nvPr>
        </p:nvSpPr>
        <p:spPr/>
        <p:txBody>
          <a:bodyPr/>
          <a:lstStyle/>
          <a:p>
            <a:r>
              <a:rPr lang="en-US" altLang="zh-HK" dirty="0"/>
              <a:t>Now let's connect these physical limits to economic demand. How much will markets actually pay for varying levels of intelligence? </a:t>
            </a:r>
          </a:p>
          <a:p>
            <a:r>
              <a:rPr lang="en-US" altLang="zh-HK" dirty="0"/>
              <a:t>The current market narrative assumes an inverse pyramid—that there is infinite commercial demand for ultra-elite, God-like 300-IQ models. But real economic demand is actually diamond-shaped. </a:t>
            </a:r>
          </a:p>
          <a:p>
            <a:pPr marL="171450" indent="-171450">
              <a:buFont typeface="Arial" panose="020B0604020202020204" pitchFamily="34" charset="0"/>
              <a:buChar char="•"/>
            </a:pPr>
            <a:r>
              <a:rPr lang="en-US" altLang="zh-HK" dirty="0"/>
              <a:t>At the top peak ("Elite Intelligence"): Demand is surprisingly narrow. How often does a business actually require a 300-IQ frontier reasoning model? Outside of advanced theoretical physics, frontier drug discovery, or complex legal structuring, true ultra-elite reasoning use cases are rare and highly specialized. </a:t>
            </a:r>
          </a:p>
          <a:p>
            <a:pPr marL="171450" indent="-171450">
              <a:buFont typeface="Arial" panose="020B0604020202020204" pitchFamily="34" charset="0"/>
              <a:buChar char="•"/>
            </a:pPr>
            <a:r>
              <a:rPr lang="en-US" altLang="zh-HK" dirty="0"/>
              <a:t>In the massive middle layer ("Good Enough Intelligence"): This is where near-infinite demand lives. Standard coding, automated customer support, drafting routine contracts, translating documents, and organizing workflows don't require an Einstein-level genius model. They require "very good," highly reliable, fast intelligence. </a:t>
            </a:r>
          </a:p>
          <a:p>
            <a:r>
              <a:rPr lang="en-US" altLang="zh-HK" dirty="0"/>
              <a:t>The Market Reality: Because open-source and mid-tier models are rapidly saturating this massive middle layer, "Good Enough" intelligence is experiencing rampant price deflation. You would be foolish to route a simple customer service query to a $20-per-million-token frontier model when a 10-cent model handles it perfectly. As "good enough" intelligence approaches a cost of zero, the economic profit margins for general AI infrastructure providers are violently squeezed. </a:t>
            </a:r>
            <a:endParaRPr lang="zh-HK" altLang="en-US" dirty="0"/>
          </a:p>
        </p:txBody>
      </p:sp>
      <p:sp>
        <p:nvSpPr>
          <p:cNvPr id="4" name="投影片編號版面配置區 3"/>
          <p:cNvSpPr>
            <a:spLocks noGrp="1"/>
          </p:cNvSpPr>
          <p:nvPr>
            <p:ph type="sldNum" idx="36"/>
          </p:nvPr>
        </p:nvSpPr>
        <p:spPr/>
        <p:txBody>
          <a:bodyPr/>
          <a:lstStyle/>
          <a:p>
            <a:pPr indent="0" algn="r">
              <a:buNone/>
            </a:pPr>
            <a:fld id="{ED6F9329-4F65-40DE-B865-E077CDDE8C44}" type="slidenum">
              <a:rPr lang="en-US" sz="1400" b="0" u="none" strike="noStrike" smtClean="0">
                <a:solidFill>
                  <a:srgbClr val="000000"/>
                </a:solidFill>
                <a:effectLst/>
                <a:uFillTx/>
                <a:latin typeface="Times New Roman"/>
              </a:rPr>
              <a:t>6</a:t>
            </a:fld>
            <a:endParaRPr lang="en-US" sz="1400" b="0" u="none" strike="noStrike">
              <a:solidFill>
                <a:srgbClr val="000000"/>
              </a:solidFill>
              <a:effectLst/>
              <a:uFillTx/>
              <a:latin typeface="Times New Roman"/>
            </a:endParaRPr>
          </a:p>
        </p:txBody>
      </p:sp>
    </p:spTree>
    <p:extLst>
      <p:ext uri="{BB962C8B-B14F-4D97-AF65-F5344CB8AC3E}">
        <p14:creationId xmlns:p14="http://schemas.microsoft.com/office/powerpoint/2010/main" val="161185001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a:xfrm>
            <a:off x="0" y="812800"/>
            <a:ext cx="0" cy="0"/>
          </a:xfrm>
        </p:spPr>
      </p:sp>
      <p:sp>
        <p:nvSpPr>
          <p:cNvPr id="3" name="備忘稿版面配置區 2"/>
          <p:cNvSpPr>
            <a:spLocks noGrp="1"/>
          </p:cNvSpPr>
          <p:nvPr>
            <p:ph type="body" idx="1"/>
          </p:nvPr>
        </p:nvSpPr>
        <p:spPr/>
        <p:txBody>
          <a:bodyPr/>
          <a:lstStyle/>
          <a:p>
            <a:r>
              <a:rPr lang="en-US" altLang="zh-HK" dirty="0"/>
              <a:t>Bullish investors often cite Jevons Paradox to counter commoditization arguments. Jevons Paradox states that when technological progress increases the efficiency with which a resource is used, total consumption of that resource increases rather than decreases. They argue: "As tokens get cheaper, we will just use trillion-token prompts, so total AI spend will grow indefinitely." </a:t>
            </a:r>
          </a:p>
          <a:p>
            <a:r>
              <a:rPr lang="en-US" altLang="zh-HK" dirty="0"/>
              <a:t>But history teaches us that Jevons Paradox is only a statement about a specific section of an elasticity curve—it is not a guarantee of total market revenue growth. </a:t>
            </a:r>
          </a:p>
          <a:p>
            <a:r>
              <a:rPr lang="en-US" altLang="zh-HK" dirty="0"/>
              <a:t>Look at The Telecom Precedent from the 1990s. In the 1990s, fiber-optic technology drastically reduced the cost of transmitting a bit of data. Volume exploded exponentially, exactly as predicted. People sent millions of times more data over the internet. </a:t>
            </a:r>
          </a:p>
          <a:p>
            <a:r>
              <a:rPr lang="en-US" altLang="zh-HK" dirty="0"/>
              <a:t>However, unit costs fell faster than volume grew. The aggregate market size for bandwidth wholesale shrank dramatically. Consider Cogent Communications today: they route 30% to 40% of all global IP traffic, yet the entire company has a market capitalization of only a few billion dollars. Being the essential backbone of a massive technological shift did not translate into massive equity value. </a:t>
            </a:r>
          </a:p>
          <a:p>
            <a:r>
              <a:rPr lang="en-US" altLang="zh-HK" dirty="0"/>
              <a:t>The Insight: Betting blindly on the AI compute infrastructure layer is dangerous. We are committing trillions in capital today to construct what may become a hyper-commodified utility that generates minimal economic rent. </a:t>
            </a:r>
            <a:endParaRPr lang="zh-HK" altLang="en-US" dirty="0"/>
          </a:p>
        </p:txBody>
      </p:sp>
      <p:sp>
        <p:nvSpPr>
          <p:cNvPr id="4" name="投影片編號版面配置區 3"/>
          <p:cNvSpPr>
            <a:spLocks noGrp="1"/>
          </p:cNvSpPr>
          <p:nvPr>
            <p:ph type="sldNum" idx="36"/>
          </p:nvPr>
        </p:nvSpPr>
        <p:spPr/>
        <p:txBody>
          <a:bodyPr/>
          <a:lstStyle/>
          <a:p>
            <a:pPr indent="0" algn="r">
              <a:buNone/>
            </a:pPr>
            <a:fld id="{ED6F9329-4F65-40DE-B865-E077CDDE8C44}" type="slidenum">
              <a:rPr lang="en-US" sz="1400" b="0" u="none" strike="noStrike" smtClean="0">
                <a:solidFill>
                  <a:srgbClr val="000000"/>
                </a:solidFill>
                <a:effectLst/>
                <a:uFillTx/>
                <a:latin typeface="Times New Roman"/>
              </a:rPr>
              <a:t>7</a:t>
            </a:fld>
            <a:endParaRPr lang="en-US" sz="1400" b="0" u="none" strike="noStrike">
              <a:solidFill>
                <a:srgbClr val="000000"/>
              </a:solidFill>
              <a:effectLst/>
              <a:uFillTx/>
              <a:latin typeface="Times New Roman"/>
            </a:endParaRPr>
          </a:p>
        </p:txBody>
      </p:sp>
    </p:spTree>
    <p:extLst>
      <p:ext uri="{BB962C8B-B14F-4D97-AF65-F5344CB8AC3E}">
        <p14:creationId xmlns:p14="http://schemas.microsoft.com/office/powerpoint/2010/main" val="38827186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a:xfrm>
            <a:off x="0" y="812800"/>
            <a:ext cx="0" cy="0"/>
          </a:xfrm>
        </p:spPr>
      </p:sp>
      <p:sp>
        <p:nvSpPr>
          <p:cNvPr id="3" name="備忘稿版面配置區 2"/>
          <p:cNvSpPr>
            <a:spLocks noGrp="1"/>
          </p:cNvSpPr>
          <p:nvPr>
            <p:ph type="body" idx="1"/>
          </p:nvPr>
        </p:nvSpPr>
        <p:spPr/>
        <p:txBody>
          <a:bodyPr/>
          <a:lstStyle/>
          <a:p>
            <a:r>
              <a:rPr lang="en-US" altLang="zh-HK" dirty="0"/>
              <a:t>This brings us to the strategic cornerstone of our analysis. </a:t>
            </a:r>
          </a:p>
          <a:p>
            <a:pPr marL="0" indent="0">
              <a:buFont typeface="Arial" panose="020B0604020202020204" pitchFamily="34" charset="0"/>
              <a:buNone/>
            </a:pPr>
            <a:r>
              <a:rPr lang="en-US" altLang="zh-HK" dirty="0"/>
              <a:t>In microeconomics, when the price of a primary input drops toward zero, economic value doesn't disappear—it shifts entirely to its complements. Think of computer hardware and software: when microprocessors became cheap commodities, all the economic profit migrated to software operating systems like Microsoft. </a:t>
            </a:r>
          </a:p>
          <a:p>
            <a:r>
              <a:rPr lang="en-US" altLang="zh-HK" dirty="0"/>
              <a:t>If digital intelligence becomes ubiquitous, cheap, and accessible to everyone on earth, what are the true complements to intelligence? </a:t>
            </a:r>
          </a:p>
          <a:p>
            <a:r>
              <a:rPr lang="en-US" altLang="zh-HK" dirty="0"/>
              <a:t>We identify four major economic moats:</a:t>
            </a:r>
          </a:p>
          <a:p>
            <a:pPr marL="228600" indent="-228600">
              <a:buFont typeface="+mj-lt"/>
              <a:buAutoNum type="arabicPeriod"/>
            </a:pPr>
            <a:r>
              <a:rPr lang="en-US" altLang="zh-HK" dirty="0"/>
              <a:t>Proprietary Data &amp; Attention: Finite human engagement and proprietary datasets that cannot be scraped or simulated. </a:t>
            </a:r>
          </a:p>
          <a:p>
            <a:pPr marL="228600" indent="-228600">
              <a:buFont typeface="+mj-lt"/>
              <a:buAutoNum type="arabicPeriod"/>
            </a:pPr>
            <a:r>
              <a:rPr lang="en-US" altLang="zh-HK" dirty="0"/>
              <a:t>Physical Proximity &amp; Density: Real-world assets, localized routes, and geographic economies of scale immune to digital copy-pasting. </a:t>
            </a:r>
          </a:p>
          <a:p>
            <a:pPr marL="228600" indent="-228600">
              <a:buFont typeface="+mj-lt"/>
              <a:buAutoNum type="arabicPeriod"/>
            </a:pPr>
            <a:r>
              <a:rPr lang="en-US" altLang="zh-HK" dirty="0"/>
              <a:t>Operational Scale &amp; Execution: The physical capacity to act on intelligence in the real world. </a:t>
            </a:r>
          </a:p>
          <a:p>
            <a:pPr marL="228600" indent="-228600">
              <a:buFont typeface="+mj-lt"/>
              <a:buAutoNum type="arabicPeriod"/>
            </a:pPr>
            <a:r>
              <a:rPr lang="en-US" altLang="zh-HK" dirty="0"/>
              <a:t>Regulatory Capture &amp; Trust: Structural, legal, and institutional locks that govern real-world operations. </a:t>
            </a:r>
          </a:p>
          <a:p>
            <a:pPr marL="0" indent="0">
              <a:buFont typeface="+mj-lt"/>
              <a:buNone/>
            </a:pPr>
            <a:r>
              <a:rPr lang="en-US" altLang="zh-HK" dirty="0"/>
              <a:t>Core Thesis: If a lack of cognitive resources was historically your primary barrier to serving customers, AI turns you into an ultimate winner. But if your business model relied on customer lethargy, information asymmetry, or selling "crystallized intelligence" like basic software, AI poses an existential threat. </a:t>
            </a:r>
          </a:p>
          <a:p>
            <a:r>
              <a:rPr lang="en-US" altLang="zh-HK" dirty="0"/>
              <a:t>Let's examine these moats through concrete case studies. </a:t>
            </a:r>
            <a:endParaRPr lang="zh-HK" altLang="en-US" dirty="0"/>
          </a:p>
        </p:txBody>
      </p:sp>
      <p:sp>
        <p:nvSpPr>
          <p:cNvPr id="4" name="投影片編號版面配置區 3"/>
          <p:cNvSpPr>
            <a:spLocks noGrp="1"/>
          </p:cNvSpPr>
          <p:nvPr>
            <p:ph type="sldNum" idx="36"/>
          </p:nvPr>
        </p:nvSpPr>
        <p:spPr/>
        <p:txBody>
          <a:bodyPr/>
          <a:lstStyle/>
          <a:p>
            <a:pPr indent="0" algn="r">
              <a:buNone/>
            </a:pPr>
            <a:fld id="{ED6F9329-4F65-40DE-B865-E077CDDE8C44}" type="slidenum">
              <a:rPr lang="en-US" sz="1400" b="0" u="none" strike="noStrike" smtClean="0">
                <a:solidFill>
                  <a:srgbClr val="000000"/>
                </a:solidFill>
                <a:effectLst/>
                <a:uFillTx/>
                <a:latin typeface="Times New Roman"/>
              </a:rPr>
              <a:t>8</a:t>
            </a:fld>
            <a:endParaRPr lang="en-US" sz="1400" b="0" u="none" strike="noStrike">
              <a:solidFill>
                <a:srgbClr val="000000"/>
              </a:solidFill>
              <a:effectLst/>
              <a:uFillTx/>
              <a:latin typeface="Times New Roman"/>
            </a:endParaRPr>
          </a:p>
        </p:txBody>
      </p:sp>
    </p:spTree>
    <p:extLst>
      <p:ext uri="{BB962C8B-B14F-4D97-AF65-F5344CB8AC3E}">
        <p14:creationId xmlns:p14="http://schemas.microsoft.com/office/powerpoint/2010/main" val="195630221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a:xfrm>
            <a:off x="0" y="812800"/>
            <a:ext cx="0" cy="0"/>
          </a:xfrm>
        </p:spPr>
      </p:sp>
      <p:sp>
        <p:nvSpPr>
          <p:cNvPr id="3" name="備忘稿版面配置區 2"/>
          <p:cNvSpPr>
            <a:spLocks noGrp="1"/>
          </p:cNvSpPr>
          <p:nvPr>
            <p:ph type="body" idx="1"/>
          </p:nvPr>
        </p:nvSpPr>
        <p:spPr/>
        <p:txBody>
          <a:bodyPr/>
          <a:lstStyle/>
          <a:p>
            <a:r>
              <a:rPr lang="en-US" altLang="zh-HK" dirty="0"/>
              <a:t>Target Delivery Time: ~4–5 minutes</a:t>
            </a:r>
          </a:p>
          <a:p>
            <a:endParaRPr lang="en-US" altLang="zh-HK" dirty="0"/>
          </a:p>
          <a:p>
            <a:r>
              <a:rPr lang="en-US" altLang="zh-HK" dirty="0"/>
              <a:t>Our first case study is Meta, which represents the quintessential owner of human attention and proprietary user data. </a:t>
            </a:r>
          </a:p>
          <a:p>
            <a:r>
              <a:rPr lang="en-US" altLang="zh-HK" dirty="0"/>
              <a:t>Look at Meta's business from space. They generate roughly $250 billion in revenue, and they spend $250 billion on total operational costs and capital expenditure combined. What are they actually spending that money on? </a:t>
            </a:r>
          </a:p>
          <a:p>
            <a:r>
              <a:rPr lang="en-US" altLang="zh-HK" dirty="0"/>
              <a:t>In a reductionist sense, </a:t>
            </a:r>
            <a:r>
              <a:rPr lang="en-US" altLang="zh-HK" b="1" dirty="0"/>
              <a:t>Meta spends almost all its capital buying "intelligence." </a:t>
            </a:r>
            <a:r>
              <a:rPr lang="en-US" altLang="zh-HK" dirty="0"/>
              <a:t>They buy data centers, inference compute, top-tier AI engineers, and software algorithms to curate feeds and target ads. </a:t>
            </a:r>
          </a:p>
          <a:p>
            <a:r>
              <a:rPr lang="en-US" altLang="zh-HK" dirty="0"/>
              <a:t>What happens to Meta when the cost of intelligence collapses by 100x? </a:t>
            </a:r>
          </a:p>
          <a:p>
            <a:pPr marL="171450" indent="-171450">
              <a:buFont typeface="Arial" panose="020B0604020202020204" pitchFamily="34" charset="0"/>
              <a:buChar char="•"/>
            </a:pPr>
            <a:r>
              <a:rPr lang="en-US" altLang="zh-HK" b="1" dirty="0"/>
              <a:t>Input Cost Collapse</a:t>
            </a:r>
            <a:r>
              <a:rPr lang="en-US" altLang="zh-HK" dirty="0"/>
              <a:t>: Their primary production cost shrinks radically. </a:t>
            </a:r>
          </a:p>
          <a:p>
            <a:pPr marL="171450" indent="-171450">
              <a:buFont typeface="Arial" panose="020B0604020202020204" pitchFamily="34" charset="0"/>
              <a:buChar char="•"/>
            </a:pPr>
            <a:r>
              <a:rPr lang="en-US" altLang="zh-HK" b="1" dirty="0"/>
              <a:t>Output Explosion</a:t>
            </a:r>
            <a:r>
              <a:rPr lang="en-US" altLang="zh-HK" dirty="0"/>
              <a:t>: Content creators on their platform get supercharged with generative tools, producing 10,000x more engaging content. Advertisers can generate hyper-personalized ad creative for pennies, dramatically increasing ad conversion rates. </a:t>
            </a:r>
          </a:p>
          <a:p>
            <a:r>
              <a:rPr lang="en-US" altLang="zh-HK" dirty="0"/>
              <a:t>The Enduring Moat: Ubiquitous AI does not destroy Meta's core asset—it supercharges it. Meta owns 3 billion humans' daily attention and an unmatched, real-time proprietary graph of user behavior. Cheap AI simply allows them to serve better "personalized TV," capture more consumer time, and extract higher ad yields. They seamlessly absorb the surplus created by free intelligence. </a:t>
            </a:r>
            <a:endParaRPr lang="zh-HK" altLang="en-US" dirty="0"/>
          </a:p>
        </p:txBody>
      </p:sp>
      <p:sp>
        <p:nvSpPr>
          <p:cNvPr id="4" name="投影片編號版面配置區 3"/>
          <p:cNvSpPr>
            <a:spLocks noGrp="1"/>
          </p:cNvSpPr>
          <p:nvPr>
            <p:ph type="sldNum" idx="36"/>
          </p:nvPr>
        </p:nvSpPr>
        <p:spPr/>
        <p:txBody>
          <a:bodyPr/>
          <a:lstStyle/>
          <a:p>
            <a:pPr indent="0" algn="r">
              <a:buNone/>
            </a:pPr>
            <a:fld id="{ED6F9329-4F65-40DE-B865-E077CDDE8C44}" type="slidenum">
              <a:rPr lang="en-US" sz="1400" b="0" u="none" strike="noStrike" smtClean="0">
                <a:solidFill>
                  <a:srgbClr val="000000"/>
                </a:solidFill>
                <a:effectLst/>
                <a:uFillTx/>
                <a:latin typeface="Times New Roman"/>
              </a:rPr>
              <a:t>9</a:t>
            </a:fld>
            <a:endParaRPr lang="en-US" sz="1400" b="0" u="none" strike="noStrike">
              <a:solidFill>
                <a:srgbClr val="000000"/>
              </a:solidFill>
              <a:effectLst/>
              <a:uFillTx/>
              <a:latin typeface="Times New Roman"/>
            </a:endParaRPr>
          </a:p>
        </p:txBody>
      </p:sp>
    </p:spTree>
    <p:extLst>
      <p:ext uri="{BB962C8B-B14F-4D97-AF65-F5344CB8AC3E}">
        <p14:creationId xmlns:p14="http://schemas.microsoft.com/office/powerpoint/2010/main" val="313044333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a:xfrm>
            <a:off x="0" y="812800"/>
            <a:ext cx="0" cy="0"/>
          </a:xfrm>
        </p:spPr>
      </p:sp>
      <p:sp>
        <p:nvSpPr>
          <p:cNvPr id="3" name="備忘稿版面配置區 2"/>
          <p:cNvSpPr>
            <a:spLocks noGrp="1"/>
          </p:cNvSpPr>
          <p:nvPr>
            <p:ph type="body" idx="1"/>
          </p:nvPr>
        </p:nvSpPr>
        <p:spPr/>
        <p:txBody>
          <a:bodyPr/>
          <a:lstStyle/>
          <a:p>
            <a:r>
              <a:rPr lang="en-US" altLang="zh-HK" dirty="0"/>
              <a:t>For our second case study, let's look at unsexy, physical-world businesses that possess localized density constraints—such as waste collection, local logistics, or auto reconditioning. </a:t>
            </a:r>
          </a:p>
          <a:p>
            <a:r>
              <a:rPr lang="en-US" altLang="zh-HK" dirty="0"/>
              <a:t>In the legacy economy, inefficient physical operators often survived because of consumer friction and lethargy. Most homeowners have no idea if they are overpaying by $5 a month for trash pickup because researching local competitors takes too much effort. </a:t>
            </a:r>
          </a:p>
          <a:p>
            <a:r>
              <a:rPr lang="en-US" altLang="zh-HK" dirty="0"/>
              <a:t>Enter the Agentic Shift. Soon, every consumer will have an AI agent continuously monitoring household expenses. If a local garbage collector can route a truck down your specific street for 50 cents less due to higher route density, your AI agent will instantly renegotiate or switch your contract in milliseconds. </a:t>
            </a:r>
          </a:p>
          <a:p>
            <a:r>
              <a:rPr lang="en-US" altLang="zh-HK" dirty="0"/>
              <a:t>The Enduring Moat: AI completely eliminates customer laziness. When friction disappears, 100% of market volume instantly flows to the provider with the lowest physical cost structure—which is dictated by physical proximity, route density, and real-world scale. </a:t>
            </a:r>
          </a:p>
          <a:p>
            <a:r>
              <a:rPr lang="en-US" altLang="zh-HK" dirty="0"/>
              <a:t>Cheap intelligence doesn't commoditize the garbage truck or the physical warehouse; it aggregates all commercial demand directly into the hands of the most hyper-dense, scale-efficient physical operator. </a:t>
            </a:r>
            <a:endParaRPr lang="zh-HK" altLang="en-US" dirty="0"/>
          </a:p>
        </p:txBody>
      </p:sp>
      <p:sp>
        <p:nvSpPr>
          <p:cNvPr id="4" name="投影片編號版面配置區 3"/>
          <p:cNvSpPr>
            <a:spLocks noGrp="1"/>
          </p:cNvSpPr>
          <p:nvPr>
            <p:ph type="sldNum" idx="36"/>
          </p:nvPr>
        </p:nvSpPr>
        <p:spPr/>
        <p:txBody>
          <a:bodyPr/>
          <a:lstStyle/>
          <a:p>
            <a:pPr indent="0" algn="r">
              <a:buNone/>
            </a:pPr>
            <a:fld id="{ED6F9329-4F65-40DE-B865-E077CDDE8C44}" type="slidenum">
              <a:rPr lang="en-US" sz="1400" b="0" u="none" strike="noStrike" smtClean="0">
                <a:solidFill>
                  <a:srgbClr val="000000"/>
                </a:solidFill>
                <a:effectLst/>
                <a:uFillTx/>
                <a:latin typeface="Times New Roman"/>
              </a:rPr>
              <a:t>10</a:t>
            </a:fld>
            <a:endParaRPr lang="en-US" sz="1400" b="0" u="none" strike="noStrike">
              <a:solidFill>
                <a:srgbClr val="000000"/>
              </a:solidFill>
              <a:effectLst/>
              <a:uFillTx/>
              <a:latin typeface="Times New Roman"/>
            </a:endParaRPr>
          </a:p>
        </p:txBody>
      </p:sp>
    </p:spTree>
    <p:extLst>
      <p:ext uri="{BB962C8B-B14F-4D97-AF65-F5344CB8AC3E}">
        <p14:creationId xmlns:p14="http://schemas.microsoft.com/office/powerpoint/2010/main" val="51547832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a:xfrm>
            <a:off x="0" y="812800"/>
            <a:ext cx="0" cy="0"/>
          </a:xfrm>
        </p:spPr>
      </p:sp>
      <p:sp>
        <p:nvSpPr>
          <p:cNvPr id="3" name="備忘稿版面配置區 2"/>
          <p:cNvSpPr>
            <a:spLocks noGrp="1"/>
          </p:cNvSpPr>
          <p:nvPr>
            <p:ph type="body" idx="1"/>
          </p:nvPr>
        </p:nvSpPr>
        <p:spPr/>
        <p:txBody>
          <a:bodyPr/>
          <a:lstStyle/>
          <a:p>
            <a:r>
              <a:rPr lang="en-US" altLang="zh-HK" dirty="0"/>
              <a:t>Our third case study focuses on companies bridging digital intelligence with physical execution through Automated Reality Loops—such as robotic wet-labs in biotechnology or automated materials testing facilities. </a:t>
            </a:r>
          </a:p>
          <a:p>
            <a:r>
              <a:rPr lang="en-US" altLang="zh-HK" dirty="0"/>
              <a:t>These companies pair cheap, infinite hypothesis generation (AI) with automated physical execution (robotics). By closing the loop between digital simulation and physical experiment, they dramatically accelerate the feedback loop of discovery. </a:t>
            </a:r>
          </a:p>
          <a:p>
            <a:r>
              <a:rPr lang="en-US" altLang="zh-HK" dirty="0"/>
              <a:t>However, we must understand the critical Caveat: Even with fully automated robotics, overall Return on Investment is fundamentally governed by the Physical Speed Limit. </a:t>
            </a:r>
          </a:p>
          <a:p>
            <a:r>
              <a:rPr lang="en-US" altLang="zh-HK" dirty="0"/>
              <a:t>An AI-driven lab can generate 5,000 brilliant new oncology hypotheses in minutes. But physical space, equipment constraints, biological incubation times, and physical safety protocols dictate that the lab can only physically execute 20 experiments at a time. </a:t>
            </a:r>
          </a:p>
          <a:p>
            <a:r>
              <a:rPr lang="en-US" altLang="zh-HK" dirty="0"/>
              <a:t>The competitive advantage in these industries will not belong to the company with the "smartest" LLM; it will belong to the company that builds the largest, most capital-efficient physical infrastructure to run physical experiments at scale. Real-world experimentation remains the ultimate bottleneck. </a:t>
            </a:r>
            <a:endParaRPr lang="zh-HK" altLang="en-US" dirty="0"/>
          </a:p>
        </p:txBody>
      </p:sp>
      <p:sp>
        <p:nvSpPr>
          <p:cNvPr id="4" name="投影片編號版面配置區 3"/>
          <p:cNvSpPr>
            <a:spLocks noGrp="1"/>
          </p:cNvSpPr>
          <p:nvPr>
            <p:ph type="sldNum" idx="36"/>
          </p:nvPr>
        </p:nvSpPr>
        <p:spPr/>
        <p:txBody>
          <a:bodyPr/>
          <a:lstStyle/>
          <a:p>
            <a:pPr indent="0" algn="r">
              <a:buNone/>
            </a:pPr>
            <a:fld id="{ED6F9329-4F65-40DE-B865-E077CDDE8C44}" type="slidenum">
              <a:rPr lang="en-US" sz="1400" b="0" u="none" strike="noStrike" smtClean="0">
                <a:solidFill>
                  <a:srgbClr val="000000"/>
                </a:solidFill>
                <a:effectLst/>
                <a:uFillTx/>
                <a:latin typeface="Times New Roman"/>
              </a:rPr>
              <a:t>11</a:t>
            </a:fld>
            <a:endParaRPr lang="en-US" sz="1400" b="0" u="none" strike="noStrike">
              <a:solidFill>
                <a:srgbClr val="000000"/>
              </a:solidFill>
              <a:effectLst/>
              <a:uFillTx/>
              <a:latin typeface="Times New Roman"/>
            </a:endParaRPr>
          </a:p>
        </p:txBody>
      </p:sp>
    </p:spTree>
    <p:extLst>
      <p:ext uri="{BB962C8B-B14F-4D97-AF65-F5344CB8AC3E}">
        <p14:creationId xmlns:p14="http://schemas.microsoft.com/office/powerpoint/2010/main" val="31877247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a:xfrm>
            <a:off x="0" y="812800"/>
            <a:ext cx="0" cy="0"/>
          </a:xfrm>
        </p:spPr>
      </p:sp>
      <p:sp>
        <p:nvSpPr>
          <p:cNvPr id="3" name="備忘稿版面配置區 2"/>
          <p:cNvSpPr>
            <a:spLocks noGrp="1"/>
          </p:cNvSpPr>
          <p:nvPr>
            <p:ph type="body" idx="1"/>
          </p:nvPr>
        </p:nvSpPr>
        <p:spPr/>
        <p:txBody>
          <a:bodyPr/>
          <a:lstStyle/>
          <a:p>
            <a:r>
              <a:rPr lang="en-US" altLang="zh-HK" dirty="0"/>
              <a:t>Let's look at how autonomous AI agents will alter macroeconomic dynamics—specifically corporate profit margins and price stickiness. </a:t>
            </a:r>
          </a:p>
          <a:p>
            <a:r>
              <a:rPr lang="en-US" altLang="zh-HK" dirty="0"/>
              <a:t>For decades, major corporate sectors—like retail banking, subscription SaaS, insurance, and telecom—relied heavily on "Traditional Sticky Pricing." Companies made huge profit margins simply because consumers were busy, experienced bounded rationality, or faced high switching friction. A bank pays 0.01% on savings accounts because consumers don't want the hassle of filling out paper forms to move their money. </a:t>
            </a:r>
          </a:p>
          <a:p>
            <a:r>
              <a:rPr lang="en-US" altLang="zh-HK" dirty="0"/>
              <a:t>In The Agentic Era, always-on, proactive AI agents operate continuously on behalf of consumers. An agent doesn't get tired, lazy, or emotional. It monitors bank rates, insurance policies, and subscription tiers in real time, shifting capital instantly between providers for mere pennies of arbitrage. </a:t>
            </a:r>
          </a:p>
          <a:p>
            <a:r>
              <a:rPr lang="en-US" altLang="zh-HK" dirty="0"/>
              <a:t>The Economic Result: "Sticky" pricing is systematically destroyed. Prices compress violently toward absolute true marginal cost. This causes a massive structural transfer of economic surplus away from corporate profit margins directly into the hands of end consumers. Corporate rent-seeking gets eliminated across the board. </a:t>
            </a:r>
            <a:endParaRPr lang="zh-HK" altLang="en-US" dirty="0"/>
          </a:p>
        </p:txBody>
      </p:sp>
      <p:sp>
        <p:nvSpPr>
          <p:cNvPr id="4" name="投影片編號版面配置區 3"/>
          <p:cNvSpPr>
            <a:spLocks noGrp="1"/>
          </p:cNvSpPr>
          <p:nvPr>
            <p:ph type="sldNum" idx="36"/>
          </p:nvPr>
        </p:nvSpPr>
        <p:spPr/>
        <p:txBody>
          <a:bodyPr/>
          <a:lstStyle/>
          <a:p>
            <a:pPr indent="0" algn="r">
              <a:buNone/>
            </a:pPr>
            <a:fld id="{ED6F9329-4F65-40DE-B865-E077CDDE8C44}" type="slidenum">
              <a:rPr lang="en-US" sz="1400" b="0" u="none" strike="noStrike" smtClean="0">
                <a:solidFill>
                  <a:srgbClr val="000000"/>
                </a:solidFill>
                <a:effectLst/>
                <a:uFillTx/>
                <a:latin typeface="Times New Roman"/>
              </a:rPr>
              <a:t>12</a:t>
            </a:fld>
            <a:endParaRPr lang="en-US" sz="1400" b="0" u="none" strike="noStrike">
              <a:solidFill>
                <a:srgbClr val="000000"/>
              </a:solidFill>
              <a:effectLst/>
              <a:uFillTx/>
              <a:latin typeface="Times New Roman"/>
            </a:endParaRPr>
          </a:p>
        </p:txBody>
      </p:sp>
    </p:spTree>
    <p:extLst>
      <p:ext uri="{BB962C8B-B14F-4D97-AF65-F5344CB8AC3E}">
        <p14:creationId xmlns:p14="http://schemas.microsoft.com/office/powerpoint/2010/main" val="220124865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a:xfrm>
            <a:off x="0" y="812800"/>
            <a:ext cx="0" cy="0"/>
          </a:xfrm>
        </p:spPr>
      </p:sp>
      <p:sp>
        <p:nvSpPr>
          <p:cNvPr id="3" name="備忘稿版面配置區 2"/>
          <p:cNvSpPr>
            <a:spLocks noGrp="1"/>
          </p:cNvSpPr>
          <p:nvPr>
            <p:ph type="body" idx="1"/>
          </p:nvPr>
        </p:nvSpPr>
        <p:spPr/>
        <p:txBody>
          <a:bodyPr/>
          <a:lstStyle/>
          <a:p>
            <a:r>
              <a:rPr lang="en-US" altLang="zh-HK" dirty="0"/>
              <a:t>As AI lowers coordination costs, we are going to see a fundamental reshaping of corporate architecture: The Re-Verticalization of Industry. </a:t>
            </a:r>
          </a:p>
          <a:p>
            <a:r>
              <a:rPr lang="en-US" altLang="zh-HK" dirty="0"/>
              <a:t>Historically, industries evolved horizontally. Take the pet care industry as an example. Pet food manufacturing, pet insurance, veterinary clinics, and pet grooming operated as completely separate horizontal layers. Why? Because managing a unified, full-stack vertical enterprise was far too complex for human cognitive and organizational limits. The principal-agent problem and supply chain coordination friction made full-stack integration inefficient. </a:t>
            </a:r>
          </a:p>
          <a:p>
            <a:r>
              <a:rPr lang="en-US" altLang="zh-HK" dirty="0"/>
              <a:t>With Ubiquitous Intelligence, AI act as the ultimate coordinator. Cheap AI agents can manage real-time scheduling, cross-entity logistics, underwriting, customer acquisition, and inventory optimization seamlessly across disparate operating units. </a:t>
            </a:r>
          </a:p>
          <a:p>
            <a:r>
              <a:rPr lang="en-US" altLang="zh-HK" dirty="0"/>
              <a:t>The Result: Companies will no longer be forced to stay in narrow horizontal lanes. We will witness the rise of massively complex, highly efficient, full-stack vertical monopolies that manage the entire customer lifecycle—from pet birth to medical care, insurance, and nutrition. By controlling the full vertical stack, these companies capture superior margins and build impenetrable user experiences. </a:t>
            </a:r>
            <a:endParaRPr lang="zh-HK" altLang="en-US" dirty="0"/>
          </a:p>
        </p:txBody>
      </p:sp>
      <p:sp>
        <p:nvSpPr>
          <p:cNvPr id="4" name="投影片編號版面配置區 3"/>
          <p:cNvSpPr>
            <a:spLocks noGrp="1"/>
          </p:cNvSpPr>
          <p:nvPr>
            <p:ph type="sldNum" idx="36"/>
          </p:nvPr>
        </p:nvSpPr>
        <p:spPr/>
        <p:txBody>
          <a:bodyPr/>
          <a:lstStyle/>
          <a:p>
            <a:pPr indent="0" algn="r">
              <a:buNone/>
            </a:pPr>
            <a:fld id="{ED6F9329-4F65-40DE-B865-E077CDDE8C44}" type="slidenum">
              <a:rPr lang="en-US" sz="1400" b="0" u="none" strike="noStrike" smtClean="0">
                <a:solidFill>
                  <a:srgbClr val="000000"/>
                </a:solidFill>
                <a:effectLst/>
                <a:uFillTx/>
                <a:latin typeface="Times New Roman"/>
              </a:rPr>
              <a:t>13</a:t>
            </a:fld>
            <a:endParaRPr lang="en-US" sz="1400" b="0" u="none" strike="noStrike">
              <a:solidFill>
                <a:srgbClr val="000000"/>
              </a:solidFill>
              <a:effectLst/>
              <a:uFillTx/>
              <a:latin typeface="Times New Roman"/>
            </a:endParaRPr>
          </a:p>
        </p:txBody>
      </p:sp>
    </p:spTree>
    <p:extLst>
      <p:ext uri="{BB962C8B-B14F-4D97-AF65-F5344CB8AC3E}">
        <p14:creationId xmlns:p14="http://schemas.microsoft.com/office/powerpoint/2010/main" val="279297848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a:xfrm>
            <a:off x="0" y="812800"/>
            <a:ext cx="0" cy="0"/>
          </a:xfrm>
        </p:spPr>
      </p:sp>
      <p:sp>
        <p:nvSpPr>
          <p:cNvPr id="3" name="備忘稿版面配置區 2"/>
          <p:cNvSpPr>
            <a:spLocks noGrp="1"/>
          </p:cNvSpPr>
          <p:nvPr>
            <p:ph type="body" idx="1"/>
          </p:nvPr>
        </p:nvSpPr>
        <p:spPr/>
        <p:txBody>
          <a:bodyPr/>
          <a:lstStyle/>
          <a:p>
            <a:r>
              <a:rPr lang="en-US" altLang="zh-HK" dirty="0"/>
              <a:t>Where does human labor and judgment fit into this landscape? The best metaphor comes from the world of chess: Freestyle Chess. </a:t>
            </a:r>
          </a:p>
          <a:p>
            <a:r>
              <a:rPr lang="en-US" altLang="zh-HK" dirty="0"/>
              <a:t>When IBM's Deep Blue defeated Garry Kasparov, people assumed human chess players were obsolete. But a fascinating phenomenon emerged in "Freestyle Chess" tournaments, where humans were allowed to work alongside computer engines. For a long period, a team of an average human player working with a computer consistently beat both pure grandmasters and pure supercomputers operating alone. The human provided qualitative direction and strategic framing, while the computer executed tactical calculation. </a:t>
            </a:r>
          </a:p>
          <a:p>
            <a:r>
              <a:rPr lang="en-US" altLang="zh-HK" dirty="0"/>
              <a:t>We see the exact same principle in Capital Markets and High-Stakes Decision Making. An AI model can perfectly calculate the Kelly criterion, optimize bet sizing, or parse financial statements in seconds. But not everything is on the internet. Humans retain a massive edge in lived experience, off-internet context, evaluating management character, and judging qualitative, real-world risks. </a:t>
            </a:r>
          </a:p>
          <a:p>
            <a:r>
              <a:rPr lang="en-US" altLang="zh-HK" dirty="0"/>
              <a:t>The Human Premium: Until physical feedback loops completely close, humans retain the ultimate economic premium in asking the right questions, defining what to optimize, and pricing qualitative tail-risk. </a:t>
            </a:r>
            <a:endParaRPr lang="zh-HK" altLang="en-US" dirty="0"/>
          </a:p>
        </p:txBody>
      </p:sp>
      <p:sp>
        <p:nvSpPr>
          <p:cNvPr id="4" name="投影片編號版面配置區 3"/>
          <p:cNvSpPr>
            <a:spLocks noGrp="1"/>
          </p:cNvSpPr>
          <p:nvPr>
            <p:ph type="sldNum" idx="36"/>
          </p:nvPr>
        </p:nvSpPr>
        <p:spPr/>
        <p:txBody>
          <a:bodyPr/>
          <a:lstStyle/>
          <a:p>
            <a:pPr indent="0" algn="r">
              <a:buNone/>
            </a:pPr>
            <a:fld id="{ED6F9329-4F65-40DE-B865-E077CDDE8C44}" type="slidenum">
              <a:rPr lang="en-US" sz="1400" b="0" u="none" strike="noStrike" smtClean="0">
                <a:solidFill>
                  <a:srgbClr val="000000"/>
                </a:solidFill>
                <a:effectLst/>
                <a:uFillTx/>
                <a:latin typeface="Times New Roman"/>
              </a:rPr>
              <a:t>14</a:t>
            </a:fld>
            <a:endParaRPr lang="en-US" sz="1400" b="0" u="none" strike="noStrike">
              <a:solidFill>
                <a:srgbClr val="000000"/>
              </a:solidFill>
              <a:effectLst/>
              <a:uFillTx/>
              <a:latin typeface="Times New Roman"/>
            </a:endParaRPr>
          </a:p>
        </p:txBody>
      </p:sp>
    </p:spTree>
    <p:extLst>
      <p:ext uri="{BB962C8B-B14F-4D97-AF65-F5344CB8AC3E}">
        <p14:creationId xmlns:p14="http://schemas.microsoft.com/office/powerpoint/2010/main" val="55590351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a:xfrm>
            <a:off x="0" y="812800"/>
            <a:ext cx="0" cy="0"/>
          </a:xfrm>
        </p:spPr>
      </p:sp>
      <p:sp>
        <p:nvSpPr>
          <p:cNvPr id="3" name="備忘稿版面配置區 2"/>
          <p:cNvSpPr>
            <a:spLocks noGrp="1"/>
          </p:cNvSpPr>
          <p:nvPr>
            <p:ph type="body" idx="1"/>
          </p:nvPr>
        </p:nvSpPr>
        <p:spPr/>
        <p:txBody>
          <a:bodyPr/>
          <a:lstStyle/>
          <a:p>
            <a:r>
              <a:rPr lang="en-US" altLang="zh-HK" dirty="0"/>
              <a:t>If human judgment remains vital, how must we adapt education and organizational training to prepare the next generation? The answer is Bimodal Learning. </a:t>
            </a:r>
          </a:p>
          <a:p>
            <a:r>
              <a:rPr lang="en-US" altLang="zh-HK" dirty="0"/>
              <a:t>Education today is making a severe mistake by treating AI either as a cheating tool to ban or as a total substitute for learning. Instead, we must structure capability building into two distinct phases: </a:t>
            </a:r>
          </a:p>
          <a:p>
            <a:pPr marL="171450" indent="-171450">
              <a:buFont typeface="Arial" panose="020B0604020202020204" pitchFamily="34" charset="0"/>
              <a:buChar char="•"/>
            </a:pPr>
            <a:r>
              <a:rPr lang="en-US" altLang="zh-HK" dirty="0"/>
              <a:t>Phase 1: Deep Isolation (Foundational Vocabulary): Students must learn core concepts—like manual calculus, matrix math, or basic writing—strictly without AI models. Not because they will calculate matrices by hand in their careers, but because you cannot effectively direct or prompt a model if you lack the structural vocabulary of the domain. You cannot bend a stochastic process to your will if you don't deeply understand what a stochastic process is. </a:t>
            </a:r>
          </a:p>
          <a:p>
            <a:pPr marL="171450" indent="-171450">
              <a:buFont typeface="Arial" panose="020B0604020202020204" pitchFamily="34" charset="0"/>
              <a:buChar char="•"/>
            </a:pPr>
            <a:r>
              <a:rPr lang="en-US" altLang="zh-HK" dirty="0"/>
              <a:t>Phase 2: Extreme Ambition (Pushing the Limits): Once foundations are set, we must remove all constraints. Educators shouldn't worry about students using AI to write 5-paragraph essays. Assign projects that are 100x harder—force them to build full-scale software apps, design complex scientific experiments, and push AI models to their absolute mathematical limits. </a:t>
            </a:r>
          </a:p>
          <a:p>
            <a:r>
              <a:rPr lang="en-US" altLang="zh-HK" dirty="0"/>
              <a:t>Closing Thought: Steve Jobs famously called computers a "bicycle for the mind." AI is a bicycle for the mind on steroids. The ultimate competitive advantage will always belong to human ambition, taste, and foundational knowledge. </a:t>
            </a:r>
            <a:endParaRPr lang="zh-HK" altLang="en-US" dirty="0"/>
          </a:p>
        </p:txBody>
      </p:sp>
      <p:sp>
        <p:nvSpPr>
          <p:cNvPr id="4" name="投影片編號版面配置區 3"/>
          <p:cNvSpPr>
            <a:spLocks noGrp="1"/>
          </p:cNvSpPr>
          <p:nvPr>
            <p:ph type="sldNum" idx="36"/>
          </p:nvPr>
        </p:nvSpPr>
        <p:spPr/>
        <p:txBody>
          <a:bodyPr/>
          <a:lstStyle/>
          <a:p>
            <a:pPr indent="0" algn="r">
              <a:buNone/>
            </a:pPr>
            <a:fld id="{ED6F9329-4F65-40DE-B865-E077CDDE8C44}" type="slidenum">
              <a:rPr lang="en-US" sz="1400" b="0" u="none" strike="noStrike" smtClean="0">
                <a:solidFill>
                  <a:srgbClr val="000000"/>
                </a:solidFill>
                <a:effectLst/>
                <a:uFillTx/>
                <a:latin typeface="Times New Roman"/>
              </a:rPr>
              <a:t>15</a:t>
            </a:fld>
            <a:endParaRPr lang="en-US" sz="1400" b="0" u="none" strike="noStrike">
              <a:solidFill>
                <a:srgbClr val="000000"/>
              </a:solidFill>
              <a:effectLst/>
              <a:uFillTx/>
              <a:latin typeface="Times New Roman"/>
            </a:endParaRPr>
          </a:p>
        </p:txBody>
      </p:sp>
    </p:spTree>
    <p:extLst>
      <p:ext uri="{BB962C8B-B14F-4D97-AF65-F5344CB8AC3E}">
        <p14:creationId xmlns:p14="http://schemas.microsoft.com/office/powerpoint/2010/main" val="120307970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a:xfrm>
            <a:off x="0" y="812800"/>
            <a:ext cx="0" cy="0"/>
          </a:xfrm>
        </p:spPr>
      </p:sp>
      <p:sp>
        <p:nvSpPr>
          <p:cNvPr id="3" name="備忘稿版面配置區 2"/>
          <p:cNvSpPr>
            <a:spLocks noGrp="1"/>
          </p:cNvSpPr>
          <p:nvPr>
            <p:ph type="body" idx="1"/>
          </p:nvPr>
        </p:nvSpPr>
        <p:spPr/>
        <p:txBody>
          <a:bodyPr/>
          <a:lstStyle/>
          <a:p>
            <a:endParaRPr lang="en-US" altLang="zh-HK" dirty="0"/>
          </a:p>
          <a:p>
            <a:endParaRPr lang="en-US" altLang="zh-HK" dirty="0"/>
          </a:p>
          <a:p>
            <a:r>
              <a:rPr lang="en-US" altLang="zh-HK" dirty="0"/>
              <a:t>To wrap up our presentation, let’s synthesize the strategic framework into a single decision matrix. </a:t>
            </a:r>
          </a:p>
          <a:p>
            <a:r>
              <a:rPr lang="en-US" altLang="zh-HK" dirty="0"/>
              <a:t>On the left-hand column, we have the Commoditizing Elements of AI:</a:t>
            </a:r>
          </a:p>
          <a:p>
            <a:pPr marL="228600" indent="-228600">
              <a:buFont typeface="+mj-lt"/>
              <a:buAutoNum type="arabicPeriod"/>
            </a:pPr>
            <a:r>
              <a:rPr lang="en-US" altLang="zh-HK" dirty="0"/>
              <a:t>Intelligence is a Ratio: AI interpolates existing facts, but cannot magically predict chaotic real-world systems without physical validation. </a:t>
            </a:r>
          </a:p>
          <a:p>
            <a:pPr marL="228600" indent="-228600">
              <a:buFont typeface="+mj-lt"/>
              <a:buAutoNum type="arabicPeriod"/>
            </a:pPr>
            <a:r>
              <a:rPr lang="en-US" altLang="zh-HK" dirty="0"/>
              <a:t>Complex Systems Limit Simulation: Chaos theory proves small initial errors compound, placing a hard limit on pure in-silico reasoning. </a:t>
            </a:r>
          </a:p>
          <a:p>
            <a:pPr marL="228600" indent="-228600">
              <a:buFont typeface="+mj-lt"/>
              <a:buAutoNum type="arabicPeriod"/>
            </a:pPr>
            <a:r>
              <a:rPr lang="en-US" altLang="zh-HK" dirty="0"/>
              <a:t>Rapid Token Deflation: Baseline general intelligence is rapidly commoditizing into a low-margin public utility. </a:t>
            </a:r>
          </a:p>
          <a:p>
            <a:pPr marL="0" indent="0">
              <a:buFont typeface="+mj-lt"/>
              <a:buNone/>
            </a:pPr>
            <a:r>
              <a:rPr lang="en-US" altLang="zh-HK" dirty="0"/>
              <a:t>On the right-hand column, we have the High-Value Economic Complements:</a:t>
            </a:r>
          </a:p>
          <a:p>
            <a:pPr marL="228600" indent="-228600">
              <a:buFont typeface="+mj-lt"/>
              <a:buAutoNum type="arabicPeriod"/>
            </a:pPr>
            <a:r>
              <a:rPr lang="en-US" altLang="zh-HK" dirty="0"/>
              <a:t>Human Attention &amp; Proprietary Data: Platforms capturing finite human time and non-public data hold irreducible economic moats. </a:t>
            </a:r>
          </a:p>
          <a:p>
            <a:pPr marL="228600" indent="-228600">
              <a:buFont typeface="+mj-lt"/>
              <a:buAutoNum type="arabicPeriod"/>
            </a:pPr>
            <a:r>
              <a:rPr lang="en-US" altLang="zh-HK" dirty="0"/>
              <a:t>Physical Proximity &amp; Scale: Real-world operations, localized route density, and physical infrastructure are completely immune to digital replication. </a:t>
            </a:r>
          </a:p>
          <a:p>
            <a:pPr marL="228600" indent="-228600">
              <a:buFont typeface="+mj-lt"/>
              <a:buAutoNum type="arabicPeriod"/>
            </a:pPr>
            <a:r>
              <a:rPr lang="en-US" altLang="zh-HK" dirty="0"/>
              <a:t>Real-World Experimentation Loops: Competitive advantage shifts to automated systems capable of touching reality, running physical experiments, and generating novel facts. </a:t>
            </a:r>
          </a:p>
          <a:p>
            <a:pPr marL="0" indent="0">
              <a:buFont typeface="+mj-lt"/>
              <a:buNone/>
            </a:pPr>
            <a:r>
              <a:rPr lang="en-US" altLang="zh-HK" dirty="0"/>
              <a:t>As you evaluate investments, career paths, and corporate strategy, stop asking how smart the model is. Start asking: "Does this enterprise own the physical, relational, or data complements that become infinitely more valuable when intelligence is free?" </a:t>
            </a:r>
          </a:p>
          <a:p>
            <a:r>
              <a:rPr lang="en-US" altLang="zh-HK" dirty="0"/>
              <a:t>Thank you very much. I welcome any questions from the audience. </a:t>
            </a:r>
            <a:endParaRPr lang="zh-HK" altLang="en-US" dirty="0"/>
          </a:p>
        </p:txBody>
      </p:sp>
      <p:sp>
        <p:nvSpPr>
          <p:cNvPr id="4" name="投影片編號版面配置區 3"/>
          <p:cNvSpPr>
            <a:spLocks noGrp="1"/>
          </p:cNvSpPr>
          <p:nvPr>
            <p:ph type="sldNum" idx="36"/>
          </p:nvPr>
        </p:nvSpPr>
        <p:spPr/>
        <p:txBody>
          <a:bodyPr/>
          <a:lstStyle/>
          <a:p>
            <a:pPr indent="0" algn="r">
              <a:buNone/>
            </a:pPr>
            <a:fld id="{ED6F9329-4F65-40DE-B865-E077CDDE8C44}" type="slidenum">
              <a:rPr lang="en-US" sz="1400" b="0" u="none" strike="noStrike" smtClean="0">
                <a:solidFill>
                  <a:srgbClr val="000000"/>
                </a:solidFill>
                <a:effectLst/>
                <a:uFillTx/>
                <a:latin typeface="Times New Roman"/>
              </a:rPr>
              <a:t>16</a:t>
            </a:fld>
            <a:endParaRPr lang="en-US" sz="1400" b="0" u="none" strike="noStrike">
              <a:solidFill>
                <a:srgbClr val="000000"/>
              </a:solidFill>
              <a:effectLst/>
              <a:uFillTx/>
              <a:latin typeface="Times New Roman"/>
            </a:endParaRPr>
          </a:p>
        </p:txBody>
      </p:sp>
    </p:spTree>
    <p:extLst>
      <p:ext uri="{BB962C8B-B14F-4D97-AF65-F5344CB8AC3E}">
        <p14:creationId xmlns:p14="http://schemas.microsoft.com/office/powerpoint/2010/main" val="76991612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自訂版面配置">
    <p:spTree>
      <p:nvGrpSpPr>
        <p:cNvPr id="1" name=""/>
        <p:cNvGrpSpPr/>
        <p:nvPr/>
      </p:nvGrpSpPr>
      <p:grpSpPr>
        <a:xfrm>
          <a:off x="0" y="0"/>
          <a:ext cx="0" cy="0"/>
          <a:chOff x="0" y="0"/>
          <a:chExt cx="0" cy="0"/>
        </a:xfrm>
      </p:grpSpPr>
    </p:spTree>
    <p:extLst>
      <p:ext uri="{BB962C8B-B14F-4D97-AF65-F5344CB8AC3E}">
        <p14:creationId xmlns:p14="http://schemas.microsoft.com/office/powerpoint/2010/main" val="909156244"/>
      </p:ext>
    </p:extLst>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58"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H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Relationships xmlns="http://schemas.openxmlformats.org/package/2006/relationships"><Relationship Id="rId3" Type="http://schemas.openxmlformats.org/officeDocument/2006/relationships/image" Target="../media/image1-7c9f7fbf-dcf8-4c28-8a0f-f09838af6a30.copy.jp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Relationships xmlns="http://schemas.openxmlformats.org/package/2006/relationships"><Relationship Id="rId3" Type="http://schemas.openxmlformats.org/officeDocument/2006/relationships/image" Target="../media/image2-26b9d5c2-515f-4a14-99f7-fd16430367b8.copy.jp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Relationships xmlns="http://schemas.openxmlformats.org/package/2006/relationships"><Relationship Id="rId3" Type="http://schemas.openxmlformats.org/officeDocument/2006/relationships/image" Target="../media/image3-022a1168-760d-413e-8100-d81d2b9c3bb9.copy.jp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Relationships xmlns="http://schemas.openxmlformats.org/package/2006/relationships"><Relationship Id="rId3" Type="http://schemas.openxmlformats.org/officeDocument/2006/relationships/image" Target="../media/image4-bbe3c350-c0eb-473c-a427-cc94e7b597ac.copy.jp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Relationships xmlns="http://schemas.openxmlformats.org/package/2006/relationships"><Relationship Id="rId3" Type="http://schemas.openxmlformats.org/officeDocument/2006/relationships/image" Target="../media/image5-9e64d1a9-25bb-408e-a38f-90d2adb0709f.copy.jp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Relationships xmlns="http://schemas.openxmlformats.org/package/2006/relationships"><Relationship Id="rId3" Type="http://schemas.openxmlformats.org/officeDocument/2006/relationships/image" Target="../media/image6-b8817c98-d0c6-4a88-9fb8-3f27cc26c6be.copy.jp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Relationships xmlns="http://schemas.openxmlformats.org/package/2006/relationships"><Relationship Id="rId3" Type="http://schemas.openxmlformats.org/officeDocument/2006/relationships/image" Target="../media/image7-b60618f2-0e4b-4852-982c-5b173f8fd1e2.copy.jp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Relationships xmlns="http://schemas.openxmlformats.org/package/2006/relationships"><Relationship Id="rId3" Type="http://schemas.openxmlformats.org/officeDocument/2006/relationships/image" Target="../media/image8-407a9a88-9c85-4e20-b7c8-ad426f2e269c.copy.jp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Relationships xmlns="http://schemas.openxmlformats.org/package/2006/relationships"><Relationship Id="rId3" Type="http://schemas.openxmlformats.org/officeDocument/2006/relationships/image" Target="../media/image9-b0545f8f-465a-4670-aebe-a037708857a4.copy.jp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Relationships xmlns="http://schemas.openxmlformats.org/package/2006/relationships"><Relationship Id="rId3" Type="http://schemas.openxmlformats.org/officeDocument/2006/relationships/image" Target="../media/image10-51a092f7-9915-4d62-967b-b727cdb6feab.copy.jp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Relationships xmlns="http://schemas.openxmlformats.org/package/2006/relationships"><Relationship Id="rId3" Type="http://schemas.openxmlformats.org/officeDocument/2006/relationships/image" Target="../media/image11-fed362f4-2c01-4045-9775-8da225dc22cd.copy.jp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Relationships xmlns="http://schemas.openxmlformats.org/package/2006/relationships"><Relationship Id="rId3" Type="http://schemas.openxmlformats.org/officeDocument/2006/relationships/image" Target="../media/image12-10ddd503-0f96-47ec-b9f4-d60a96cf80f9.copy.jp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Relationships xmlns="http://schemas.openxmlformats.org/package/2006/relationships"><Relationship Id="rId3" Type="http://schemas.openxmlformats.org/officeDocument/2006/relationships/image" Target="../media/image13-8f9a4a49-2eee-4937-abe9-2fc54d605486.copy.jp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Relationships xmlns="http://schemas.openxmlformats.org/package/2006/relationships"><Relationship Id="rId3" Type="http://schemas.openxmlformats.org/officeDocument/2006/relationships/image" Target="../media/image14-d7d16a01-bc14-4f10-9a21-b7dd629cf825.copy.jp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Relationships xmlns="http://schemas.openxmlformats.org/package/2006/relationships"><Relationship Id="rId3" Type="http://schemas.openxmlformats.org/officeDocument/2006/relationships/image" Target="../media/image15-10faa5ba-1aa7-4307-b379-73016d57adcc.copy.jp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Relationships xmlns="http://schemas.openxmlformats.org/package/2006/relationships"><Relationship Id="rId3" Type="http://schemas.openxmlformats.org/officeDocument/2006/relationships/image" Target="../media/image16-898850ba-263c-428f-b617-0caa50c38328.copy.jp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09FB1525-0E8E-41B2-F7D8-06BFD5C12D72}"/>
              </a:ext>
            </a:extLst>
          </p:cNvPr>
          <p:cNvPicPr>
            <a:picLocks noChangeAspect="1"/>
          </p:cNvPicPr>
          <p:nvPr/>
        </p:nvPicPr>
        <p:blipFill>
          <a:blip r:embed="rId3"/>
          <a:stretch>
            <a:fillRect/>
          </a:stretch>
        </p:blipFill>
        <p:spPr>
          <a:xfrm>
            <a:off x="0" y="38985"/>
            <a:ext cx="16256000" cy="9066029"/>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0913EBAB-1300-8D14-E545-FD6D59440634}"/>
              </a:ext>
            </a:extLst>
          </p:cNvPr>
          <p:cNvPicPr>
            <a:picLocks noChangeAspect="1"/>
          </p:cNvPicPr>
          <p:nvPr/>
        </p:nvPicPr>
        <p:blipFill>
          <a:blip r:embed="rId3"/>
          <a:stretch>
            <a:fillRect/>
          </a:stretch>
        </p:blipFill>
        <p:spPr>
          <a:xfrm>
            <a:off x="0" y="38985"/>
            <a:ext cx="16256000" cy="9066029"/>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3E2F6C31-1006-63E9-CBDB-877AD99E5228}"/>
              </a:ext>
            </a:extLst>
          </p:cNvPr>
          <p:cNvPicPr>
            <a:picLocks noChangeAspect="1"/>
          </p:cNvPicPr>
          <p:nvPr/>
        </p:nvPicPr>
        <p:blipFill>
          <a:blip r:embed="rId3"/>
          <a:stretch>
            <a:fillRect/>
          </a:stretch>
        </p:blipFill>
        <p:spPr>
          <a:xfrm>
            <a:off x="0" y="38985"/>
            <a:ext cx="16256000" cy="9066029"/>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EA7AC0C6-61CE-9D08-3147-4C861103E588}"/>
              </a:ext>
            </a:extLst>
          </p:cNvPr>
          <p:cNvPicPr>
            <a:picLocks noChangeAspect="1"/>
          </p:cNvPicPr>
          <p:nvPr/>
        </p:nvPicPr>
        <p:blipFill>
          <a:blip r:embed="rId3"/>
          <a:stretch>
            <a:fillRect/>
          </a:stretch>
        </p:blipFill>
        <p:spPr>
          <a:xfrm>
            <a:off x="0" y="38985"/>
            <a:ext cx="16256000" cy="9066029"/>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FD8B679F-6611-281F-271B-BCF4E99E99CA}"/>
              </a:ext>
            </a:extLst>
          </p:cNvPr>
          <p:cNvPicPr>
            <a:picLocks noChangeAspect="1"/>
          </p:cNvPicPr>
          <p:nvPr/>
        </p:nvPicPr>
        <p:blipFill>
          <a:blip r:embed="rId3"/>
          <a:stretch>
            <a:fillRect/>
          </a:stretch>
        </p:blipFill>
        <p:spPr>
          <a:xfrm>
            <a:off x="0" y="38985"/>
            <a:ext cx="16256000" cy="9066029"/>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26581231-05D4-C6BC-3D8D-310981D6D824}"/>
              </a:ext>
            </a:extLst>
          </p:cNvPr>
          <p:cNvPicPr>
            <a:picLocks noChangeAspect="1"/>
          </p:cNvPicPr>
          <p:nvPr/>
        </p:nvPicPr>
        <p:blipFill>
          <a:blip r:embed="rId3"/>
          <a:stretch>
            <a:fillRect/>
          </a:stretch>
        </p:blipFill>
        <p:spPr>
          <a:xfrm>
            <a:off x="0" y="38985"/>
            <a:ext cx="16256000" cy="9066029"/>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5DC37112-0D90-059F-408D-EA2BD731AD18}"/>
              </a:ext>
            </a:extLst>
          </p:cNvPr>
          <p:cNvPicPr>
            <a:picLocks noChangeAspect="1"/>
          </p:cNvPicPr>
          <p:nvPr/>
        </p:nvPicPr>
        <p:blipFill>
          <a:blip r:embed="rId3"/>
          <a:stretch>
            <a:fillRect/>
          </a:stretch>
        </p:blipFill>
        <p:spPr>
          <a:xfrm>
            <a:off x="0" y="38985"/>
            <a:ext cx="16256000" cy="9066029"/>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181DED7C-481C-DA4A-B66C-1BF1B53E1EF2}"/>
              </a:ext>
            </a:extLst>
          </p:cNvPr>
          <p:cNvPicPr>
            <a:picLocks noChangeAspect="1"/>
          </p:cNvPicPr>
          <p:nvPr/>
        </p:nvPicPr>
        <p:blipFill>
          <a:blip r:embed="rId3"/>
          <a:stretch>
            <a:fillRect/>
          </a:stretch>
        </p:blipFill>
        <p:spPr>
          <a:xfrm>
            <a:off x="0" y="38985"/>
            <a:ext cx="16256000" cy="9066029"/>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DB9C7F3C-06A2-B215-EDEE-C123EB6B0E2C}"/>
              </a:ext>
            </a:extLst>
          </p:cNvPr>
          <p:cNvPicPr>
            <a:picLocks noChangeAspect="1"/>
          </p:cNvPicPr>
          <p:nvPr/>
        </p:nvPicPr>
        <p:blipFill>
          <a:blip r:embed="rId3"/>
          <a:stretch>
            <a:fillRect/>
          </a:stretch>
        </p:blipFill>
        <p:spPr>
          <a:xfrm>
            <a:off x="0" y="38985"/>
            <a:ext cx="16256000" cy="9066029"/>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BE2CB863-F618-D800-6C38-B5C0B9DAF9D2}"/>
              </a:ext>
            </a:extLst>
          </p:cNvPr>
          <p:cNvPicPr>
            <a:picLocks noChangeAspect="1"/>
          </p:cNvPicPr>
          <p:nvPr/>
        </p:nvPicPr>
        <p:blipFill>
          <a:blip r:embed="rId3"/>
          <a:stretch>
            <a:fillRect/>
          </a:stretch>
        </p:blipFill>
        <p:spPr>
          <a:xfrm>
            <a:off x="0" y="38985"/>
            <a:ext cx="16256000" cy="9066029"/>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1077D728-DFE0-637C-3799-A3B361975155}"/>
              </a:ext>
            </a:extLst>
          </p:cNvPr>
          <p:cNvPicPr>
            <a:picLocks noChangeAspect="1"/>
          </p:cNvPicPr>
          <p:nvPr/>
        </p:nvPicPr>
        <p:blipFill>
          <a:blip r:embed="rId3"/>
          <a:stretch>
            <a:fillRect/>
          </a:stretch>
        </p:blipFill>
        <p:spPr>
          <a:xfrm>
            <a:off x="0" y="38985"/>
            <a:ext cx="16256000" cy="9066029"/>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3655289D-5CD9-2FD1-3C6C-DB00ED8DC081}"/>
              </a:ext>
            </a:extLst>
          </p:cNvPr>
          <p:cNvPicPr>
            <a:picLocks noChangeAspect="1"/>
          </p:cNvPicPr>
          <p:nvPr/>
        </p:nvPicPr>
        <p:blipFill>
          <a:blip r:embed="rId3"/>
          <a:stretch>
            <a:fillRect/>
          </a:stretch>
        </p:blipFill>
        <p:spPr>
          <a:xfrm>
            <a:off x="0" y="38985"/>
            <a:ext cx="16256000" cy="9066029"/>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B2C62A05-9B09-1894-9C2D-7BC223B88E08}"/>
              </a:ext>
            </a:extLst>
          </p:cNvPr>
          <p:cNvPicPr>
            <a:picLocks noChangeAspect="1"/>
          </p:cNvPicPr>
          <p:nvPr/>
        </p:nvPicPr>
        <p:blipFill>
          <a:blip r:embed="rId3"/>
          <a:stretch>
            <a:fillRect/>
          </a:stretch>
        </p:blipFill>
        <p:spPr>
          <a:xfrm>
            <a:off x="0" y="38985"/>
            <a:ext cx="16256000" cy="9066029"/>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B136BBE6-CE12-353B-71E4-97A57996783B}"/>
              </a:ext>
            </a:extLst>
          </p:cNvPr>
          <p:cNvPicPr>
            <a:picLocks noChangeAspect="1"/>
          </p:cNvPicPr>
          <p:nvPr/>
        </p:nvPicPr>
        <p:blipFill>
          <a:blip r:embed="rId3"/>
          <a:stretch>
            <a:fillRect/>
          </a:stretch>
        </p:blipFill>
        <p:spPr>
          <a:xfrm>
            <a:off x="0" y="38985"/>
            <a:ext cx="16256000" cy="9066029"/>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5F004DCE-0069-4D2A-13B6-E1CD2D8B8CB2}"/>
              </a:ext>
            </a:extLst>
          </p:cNvPr>
          <p:cNvPicPr>
            <a:picLocks noChangeAspect="1"/>
          </p:cNvPicPr>
          <p:nvPr/>
        </p:nvPicPr>
        <p:blipFill>
          <a:blip r:embed="rId3"/>
          <a:stretch>
            <a:fillRect/>
          </a:stretch>
        </p:blipFill>
        <p:spPr>
          <a:xfrm>
            <a:off x="0" y="38985"/>
            <a:ext cx="16256000" cy="9066029"/>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9B1430C9-B6F1-5341-810A-81588C33BBD4}"/>
              </a:ext>
            </a:extLst>
          </p:cNvPr>
          <p:cNvPicPr>
            <a:picLocks noChangeAspect="1"/>
          </p:cNvPicPr>
          <p:nvPr/>
        </p:nvPicPr>
        <p:blipFill>
          <a:blip r:embed="rId3"/>
          <a:stretch>
            <a:fillRect/>
          </a:stretch>
        </p:blipFill>
        <p:spPr>
          <a:xfrm>
            <a:off x="3175" y="33337"/>
            <a:ext cx="16249650" cy="9077325"/>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majorFont>
      <a:minorFont>
        <a:latin typeface="Calibri"/>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a:gradFill>
        <a:gradFill>
          <a:gsLst>
            <a:gs pos="0">
              <a:schemeClr val="phClr">
                <a:shade val="51000"/>
              </a:schemeClr>
            </a:gs>
            <a:gs pos="80000">
              <a:schemeClr val="phClr">
                <a:shade val="93000"/>
              </a:schemeClr>
            </a:gs>
            <a:gs pos="100000">
              <a:schemeClr val="phClr">
                <a:shade val="94000"/>
              </a:schemeClr>
            </a:gs>
          </a:gsLst>
          <a:lin ang="16200000" scaled="0"/>
          <a:tileRect/>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a:gradFill>
        <a:gradFill>
          <a:gsLst>
            <a:gs pos="0">
              <a:schemeClr val="phClr">
                <a:tint val="80000"/>
              </a:schemeClr>
            </a:gs>
            <a:gs pos="100000">
              <a:schemeClr val="phClr">
                <a:shade val="30000"/>
              </a:schemeClr>
            </a:gs>
          </a:gsLst>
          <a:path path="circle">
            <a:fillToRect l="50000" t="50000" r="50000" b="50000"/>
          </a:path>
          <a:tileRect/>
        </a:gradFill>
      </a:bgFillStyleLst>
    </a:fmtScheme>
  </a:themeElements>
  <a:objectDefaults/>
  <a:extraClrSchemeLst/>
</a:theme>
</file>

<file path=ppt/theme/theme2.xml><?xml version="1.0" encoding="utf-8"?>
<a:theme xmlns:a="http://schemas.openxmlformats.org/drawingml/2006/main"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a:ea typeface="DejaVu Sans"/>
        <a:cs typeface="DejaVu Sans"/>
      </a:majorFont>
      <a:minorFont>
        <a:latin typeface="Arial"/>
        <a:ea typeface="DejaVu Sans"/>
        <a:cs typeface="DejaVu Sans"/>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19</TotalTime>
  <Words>3755</Words>
  <Application>Microsoft Office PowerPoint</Application>
  <PresentationFormat>自訂</PresentationFormat>
  <Paragraphs>119</Paragraphs>
  <Slides>16</Slides>
  <Notes>16</Notes>
  <HiddenSlides>0</HiddenSlides>
  <MMClips>0</MMClips>
  <ScaleCrop>false</ScaleCrop>
  <HeadingPairs>
    <vt:vector size="6" baseType="variant">
      <vt:variant>
        <vt:lpstr>使用字型</vt:lpstr>
      </vt:variant>
      <vt:variant>
        <vt:i4>3</vt:i4>
      </vt:variant>
      <vt:variant>
        <vt:lpstr>佈景主題</vt:lpstr>
      </vt:variant>
      <vt:variant>
        <vt:i4>1</vt:i4>
      </vt:variant>
      <vt:variant>
        <vt:lpstr>投影片標題</vt:lpstr>
      </vt:variant>
      <vt:variant>
        <vt:i4>16</vt:i4>
      </vt:variant>
    </vt:vector>
  </HeadingPairs>
  <TitlesOfParts>
    <vt:vector size="20" baseType="lpstr">
      <vt:lpstr>Arial</vt:lpstr>
      <vt:lpstr>Calibri</vt:lpstr>
      <vt:lpstr>Times New Roman</vt:lpstr>
      <vt:lpstr>Office Theme</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簡報</dc:title>
  <dc:subject/>
  <dc:creator/>
  <dc:description/>
  <cp:lastModifiedBy>Wilson Lai</cp:lastModifiedBy>
  <cp:revision>6</cp:revision>
  <dcterms:created xsi:type="dcterms:W3CDTF">2006-08-16T00:00:00Z</dcterms:created>
  <dcterms:modified xsi:type="dcterms:W3CDTF">2026-10-28T11:02:18Z</dcterms:modified>
  <dc:language>en-US</dc:languag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PresentationFormat">
    <vt:lpwstr>On-screen Show (4:3)</vt:lpwstr>
  </property>
</Properties>
</file>