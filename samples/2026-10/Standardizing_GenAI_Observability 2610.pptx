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6256000" cy="9144000"/>
  <p:notesSz cx="7559675" cy="10691813"/>
  <p:defaultText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3884" autoAdjust="0"/>
  </p:normalViewPr>
  <p:slideViewPr>
    <p:cSldViewPr snapToGrid="0">
      <p:cViewPr varScale="1">
        <p:scale>
          <a:sx n="56" d="100"/>
          <a:sy n="56" d="100"/>
        </p:scale>
        <p:origin x="102" y="3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1"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defTabSz="914400"/>
            <a:r>
              <a:rPr lang="en-US" sz="4400" b="0" u="none" strike="noStrike">
                <a:solidFill>
                  <a:schemeClr val="dk1"/>
                </a:solidFill>
                <a:effectLst/>
                <a:uFillTx/>
                <a:latin typeface="Calibri"/>
              </a:rPr>
              <a:t>Click to move the slide</a:t>
            </a:r>
          </a:p>
        </p:txBody>
      </p:sp>
      <p:sp>
        <p:nvSpPr>
          <p:cNvPr id="6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63"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64"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65"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66"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03BF6639-CE35-421B-B729-02326B35E96D}"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PlaceHolder 1"/>
          <p:cNvSpPr>
            <a:spLocks noGrp="1" noRot="1" noChangeAspect="1"/>
          </p:cNvSpPr>
          <p:nvPr>
            <p:ph type="sldImg"/>
          </p:nvPr>
        </p:nvSpPr>
        <p:spPr>
          <a:xfrm>
            <a:off x="217488" y="812800"/>
            <a:ext cx="7124700" cy="4008438"/>
          </a:xfrm>
          <a:prstGeom prst="rect">
            <a:avLst/>
          </a:prstGeom>
          <a:ln w="0">
            <a:noFill/>
          </a:ln>
        </p:spPr>
      </p:sp>
      <p:sp>
        <p:nvSpPr>
          <p:cNvPr id="80"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dirty="0">
                <a:solidFill>
                  <a:srgbClr val="000000"/>
                </a:solidFill>
                <a:effectLst/>
                <a:uFillTx/>
                <a:latin typeface="Arial"/>
              </a:rPr>
              <a:t>Core Topic: Introduction to Open Inference and </a:t>
            </a:r>
            <a:r>
              <a:rPr lang="en-US" sz="2000" b="0" u="none" strike="noStrike" dirty="0" err="1">
                <a:solidFill>
                  <a:srgbClr val="000000"/>
                </a:solidFill>
                <a:effectLst/>
                <a:uFillTx/>
                <a:latin typeface="Arial"/>
              </a:rPr>
              <a:t>OpenTelemetry</a:t>
            </a:r>
            <a:r>
              <a:rPr lang="en-US" sz="2000" b="0" u="none" strike="noStrike" dirty="0">
                <a:solidFill>
                  <a:srgbClr val="000000"/>
                </a:solidFill>
                <a:effectLst/>
                <a:uFillTx/>
                <a:latin typeface="Arial"/>
              </a:rPr>
              <a:t> Standardization</a:t>
            </a:r>
          </a:p>
          <a:p>
            <a:pPr indent="0" algn="l">
              <a:buNone/>
            </a:pPr>
            <a:endParaRPr lang="en-US" sz="2000" b="0" u="none" strike="noStrike" dirty="0">
              <a:solidFill>
                <a:srgbClr val="000000"/>
              </a:solidFill>
              <a:effectLst/>
              <a:uFillTx/>
              <a:latin typeface="Arial"/>
            </a:endParaRPr>
          </a:p>
          <a:p>
            <a:pPr indent="0" algn="l">
              <a:buNone/>
            </a:pPr>
            <a:r>
              <a:rPr lang="en-US" sz="2000" b="0" u="none" strike="noStrike" dirty="0">
                <a:solidFill>
                  <a:srgbClr val="000000"/>
                </a:solidFill>
                <a:effectLst/>
                <a:uFillTx/>
                <a:latin typeface="Arial"/>
              </a:rPr>
              <a:t>Good morning, everyone, and welcome. Today, we are exploring a monumental shift in cloud-native engineering and observability: </a:t>
            </a:r>
            <a:r>
              <a:rPr lang="en-US" sz="2000" b="1" u="none" strike="noStrike" dirty="0">
                <a:solidFill>
                  <a:srgbClr val="000000"/>
                </a:solidFill>
                <a:effectLst/>
                <a:uFillTx/>
                <a:latin typeface="Arial"/>
              </a:rPr>
              <a:t>The Symbiosis of Speed and Standards</a:t>
            </a:r>
            <a:r>
              <a:rPr lang="en-US" sz="2000" b="0" u="none" strike="noStrike" dirty="0">
                <a:solidFill>
                  <a:srgbClr val="000000"/>
                </a:solidFill>
                <a:effectLst/>
                <a:uFillTx/>
                <a:latin typeface="Arial"/>
              </a:rPr>
              <a:t>. </a:t>
            </a:r>
          </a:p>
          <a:p>
            <a:pPr indent="0" algn="l">
              <a:buNone/>
            </a:pPr>
            <a:r>
              <a:rPr lang="en-US" sz="2000" b="0" u="none" strike="noStrike" dirty="0">
                <a:solidFill>
                  <a:srgbClr val="000000"/>
                </a:solidFill>
                <a:effectLst/>
                <a:uFillTx/>
                <a:latin typeface="Arial"/>
              </a:rPr>
              <a:t>If you look at the title subtitle on this slide, it highlights a critical intersection: How the Open Inference donation to </a:t>
            </a:r>
            <a:r>
              <a:rPr lang="en-US" sz="2000" b="0" u="none" strike="noStrike" dirty="0" err="1">
                <a:solidFill>
                  <a:srgbClr val="000000"/>
                </a:solidFill>
                <a:effectLst/>
                <a:uFillTx/>
                <a:latin typeface="Arial"/>
              </a:rPr>
              <a:t>OpenTelemetry</a:t>
            </a:r>
            <a:r>
              <a:rPr lang="en-US" sz="2000" b="0" u="none" strike="noStrike" dirty="0">
                <a:solidFill>
                  <a:srgbClr val="000000"/>
                </a:solidFill>
                <a:effectLst/>
                <a:uFillTx/>
                <a:latin typeface="Arial"/>
              </a:rPr>
              <a:t> is standardizing </a:t>
            </a:r>
            <a:r>
              <a:rPr lang="en-US" sz="2000" b="0" u="none" strike="noStrike" dirty="0" err="1">
                <a:solidFill>
                  <a:srgbClr val="000000"/>
                </a:solidFill>
                <a:effectLst/>
                <a:uFillTx/>
                <a:latin typeface="Arial"/>
              </a:rPr>
              <a:t>GenAI</a:t>
            </a:r>
            <a:r>
              <a:rPr lang="en-US" sz="2000" b="0" u="none" strike="noStrike" dirty="0">
                <a:solidFill>
                  <a:srgbClr val="000000"/>
                </a:solidFill>
                <a:effectLst/>
                <a:uFillTx/>
                <a:latin typeface="Arial"/>
              </a:rPr>
              <a:t> observability. For years, infrastructure and application monitoring relied on predictable HTTP requests and simple database queries. But as generative AI and autonomous agents exploded across the enterprise, our monitoring systems hit a brick wall. </a:t>
            </a:r>
          </a:p>
          <a:p>
            <a:pPr indent="0" algn="l">
              <a:buNone/>
            </a:pPr>
            <a:r>
              <a:rPr lang="en-US" sz="2000" b="0" u="none" strike="noStrike" dirty="0">
                <a:solidFill>
                  <a:srgbClr val="000000"/>
                </a:solidFill>
                <a:effectLst/>
                <a:uFillTx/>
                <a:latin typeface="Arial"/>
              </a:rPr>
              <a:t>In this session, we will break down how the wild-west speed of startup innovation—specifically </a:t>
            </a:r>
            <a:r>
              <a:rPr lang="en-US" sz="2000" b="0" u="none" strike="noStrike" dirty="0" err="1">
                <a:solidFill>
                  <a:srgbClr val="000000"/>
                </a:solidFill>
                <a:effectLst/>
                <a:uFillTx/>
                <a:latin typeface="Arial"/>
              </a:rPr>
              <a:t>Arize’s</a:t>
            </a:r>
            <a:r>
              <a:rPr lang="en-US" sz="2000" b="0" u="none" strike="noStrike" dirty="0">
                <a:solidFill>
                  <a:srgbClr val="000000"/>
                </a:solidFill>
                <a:effectLst/>
                <a:uFillTx/>
                <a:latin typeface="Arial"/>
              </a:rPr>
              <a:t> open-source Open Inference framework—collided with and successfully merged into the deliberate, consensus-driven standards of the </a:t>
            </a:r>
            <a:r>
              <a:rPr lang="en-US" sz="2000" b="0" u="none" strike="noStrike" dirty="0" err="1">
                <a:solidFill>
                  <a:srgbClr val="000000"/>
                </a:solidFill>
                <a:effectLst/>
                <a:uFillTx/>
                <a:latin typeface="Arial"/>
              </a:rPr>
              <a:t>OpenTelemetry</a:t>
            </a:r>
            <a:r>
              <a:rPr lang="en-US" sz="2000" b="0" u="none" strike="noStrike" dirty="0">
                <a:solidFill>
                  <a:srgbClr val="000000"/>
                </a:solidFill>
                <a:effectLst/>
                <a:uFillTx/>
                <a:latin typeface="Arial"/>
              </a:rPr>
              <a:t> community. Let's dive into how we got here and where observability is heading. </a:t>
            </a: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r>
              <a:rPr lang="en-US" altLang="zh-HK" sz="2000" b="0" u="none" strike="noStrike" dirty="0">
                <a:solidFill>
                  <a:srgbClr val="000000"/>
                </a:solidFill>
                <a:effectLst/>
                <a:uFillTx/>
                <a:latin typeface="Arial"/>
              </a:rPr>
              <a:t>Observation Deck | To </a:t>
            </a:r>
            <a:r>
              <a:rPr lang="en-US" altLang="zh-HK" sz="2000" b="0" u="none" strike="noStrike" dirty="0" err="1">
                <a:solidFill>
                  <a:srgbClr val="000000"/>
                </a:solidFill>
                <a:effectLst/>
                <a:uFillTx/>
                <a:latin typeface="Arial"/>
              </a:rPr>
              <a:t>OTel</a:t>
            </a:r>
            <a:r>
              <a:rPr lang="en-US" altLang="zh-HK" sz="2000" b="0" u="none" strike="noStrike" dirty="0">
                <a:solidFill>
                  <a:srgbClr val="000000"/>
                </a:solidFill>
                <a:effectLst/>
                <a:uFillTx/>
                <a:latin typeface="Arial"/>
              </a:rPr>
              <a:t> with Love </a:t>
            </a:r>
          </a:p>
          <a:p>
            <a:pPr indent="0" algn="l">
              <a:buNone/>
            </a:pPr>
            <a:r>
              <a:rPr lang="en-US" altLang="zh-HK" sz="2000" b="0" u="none" strike="noStrike" dirty="0">
                <a:solidFill>
                  <a:srgbClr val="000000"/>
                </a:solidFill>
                <a:effectLst/>
                <a:uFillTx/>
                <a:latin typeface="Arial"/>
              </a:rPr>
              <a:t>https://www.youtube.com/watch?v=FSrw6Fnmj1Q</a:t>
            </a:r>
          </a:p>
          <a:p>
            <a:pPr indent="0" algn="l">
              <a:buNone/>
            </a:pPr>
            <a:endParaRPr lang="en-US" sz="2000" b="0" u="none" strike="noStrike" dirty="0">
              <a:solidFill>
                <a:srgbClr val="000000"/>
              </a:solidFill>
              <a:effectLst/>
              <a:uFillTx/>
              <a:latin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Traditional Telemetry vs. Agentic Telemetry</a:t>
            </a:r>
          </a:p>
          <a:p>
            <a:endParaRPr lang="en-US" altLang="zh-HK" dirty="0"/>
          </a:p>
          <a:p>
            <a:r>
              <a:rPr lang="en-US" altLang="zh-HK" dirty="0"/>
              <a:t>To appreciate the current standardization effort, we must first examine the massive gulf between traditional monitoring and modern AI workloads. Look at the comparison on this slide: </a:t>
            </a:r>
          </a:p>
          <a:p>
            <a:pPr marL="171450" indent="-171450">
              <a:buFont typeface="Arial" panose="020B0604020202020204" pitchFamily="34" charset="0"/>
              <a:buChar char="•"/>
            </a:pPr>
            <a:r>
              <a:rPr lang="en-US" altLang="zh-HK" b="1" dirty="0"/>
              <a:t>Traditional Telemetry</a:t>
            </a:r>
            <a:r>
              <a:rPr lang="en-US" altLang="zh-HK" dirty="0"/>
              <a:t>: Built on deterministic code paths, standard HTTP/RPC protocols, and lightweight strings. The boundaries of your system were predictable, and failures were localized. </a:t>
            </a:r>
          </a:p>
          <a:p>
            <a:pPr marL="171450" indent="-171450">
              <a:buFont typeface="Arial" panose="020B0604020202020204" pitchFamily="34" charset="0"/>
              <a:buChar char="•"/>
            </a:pPr>
            <a:r>
              <a:rPr lang="en-US" altLang="zh-HK" b="1" dirty="0"/>
              <a:t>Agentic Telemetry</a:t>
            </a:r>
            <a:r>
              <a:rPr lang="en-US" altLang="zh-HK" dirty="0"/>
              <a:t>: Driven by non-deterministic reasoning loops. Payloads now consist of massive context windows, multimodal video and audio data, and complex token structures. The nature of execution is volatile, featuring multi-step retrieval loops and dynamic tool use. </a:t>
            </a:r>
          </a:p>
          <a:p>
            <a:pPr marL="0" indent="0">
              <a:buFont typeface="Arial" panose="020B0604020202020204" pitchFamily="34" charset="0"/>
              <a:buNone/>
            </a:pPr>
            <a:r>
              <a:rPr lang="en-US" altLang="zh-HK" b="1" dirty="0"/>
              <a:t>The Key Takeaway</a:t>
            </a:r>
            <a:r>
              <a:rPr lang="en-US" altLang="zh-HK" dirty="0"/>
              <a:t>: You cannot monitor a probabilistic, autonomous AI agent with tools designed for static web servers. The entire data structure of telemetry had to be reinvented. </a:t>
            </a:r>
            <a:endParaRPr lang="zh-HK" altLang="en-US" dirty="0"/>
          </a:p>
        </p:txBody>
      </p:sp>
      <p:sp>
        <p:nvSpPr>
          <p:cNvPr id="4" name="投影片編號版面配置區 3"/>
          <p:cNvSpPr>
            <a:spLocks noGrp="1"/>
          </p:cNvSpPr>
          <p:nvPr>
            <p:ph type="sldNum" idx="36"/>
          </p:nvPr>
        </p:nvSpPr>
        <p:spPr/>
        <p:txBody>
          <a:bodyPr/>
          <a:lstStyle/>
          <a:p>
            <a:pPr indent="0" algn="r">
              <a:buNone/>
            </a:pPr>
            <a:fld id="{03BF6639-CE35-421B-B729-02326B35E96D}" type="slidenum">
              <a:rPr lang="en-US" sz="1400" b="0" u="none" strike="noStrike" smtClean="0">
                <a:solidFill>
                  <a:srgbClr val="000000"/>
                </a:solidFill>
                <a:effectLst/>
                <a:uFillTx/>
                <a:latin typeface="Times New Roman"/>
              </a:rPr>
              <a:t>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9590192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Fragmented Telemetry and the 25+ Ways to Emit Tracing Data</a:t>
            </a:r>
          </a:p>
          <a:p>
            <a:endParaRPr lang="en-US" altLang="zh-HK" dirty="0"/>
          </a:p>
          <a:p>
            <a:r>
              <a:rPr lang="en-US" altLang="zh-HK" dirty="0"/>
              <a:t>When the GPT-3 moment hit in early 2022, the speed of AI innovation drastically outpaced industry standards. Startups and framework providers rushed to build custom telemetry to understand what their models were doing, resulting in over </a:t>
            </a:r>
            <a:r>
              <a:rPr lang="en-US" altLang="zh-HK" b="1" dirty="0"/>
              <a:t>25 fragmented ways </a:t>
            </a:r>
            <a:r>
              <a:rPr lang="en-US" altLang="zh-HK" dirty="0"/>
              <a:t>to emit tracing data. </a:t>
            </a:r>
          </a:p>
          <a:p>
            <a:r>
              <a:rPr lang="en-US" altLang="zh-HK" dirty="0"/>
              <a:t>Look at the quote on the right from </a:t>
            </a:r>
            <a:r>
              <a:rPr lang="en-US" altLang="zh-HK" dirty="0" err="1"/>
              <a:t>Liudmila</a:t>
            </a:r>
            <a:r>
              <a:rPr lang="en-US" altLang="zh-HK" dirty="0"/>
              <a:t> </a:t>
            </a:r>
            <a:r>
              <a:rPr lang="en-US" altLang="zh-HK" dirty="0" err="1"/>
              <a:t>Molkova</a:t>
            </a:r>
            <a:r>
              <a:rPr lang="en-US" altLang="zh-HK" dirty="0"/>
              <a:t> of the </a:t>
            </a:r>
            <a:r>
              <a:rPr lang="en-US" altLang="zh-HK" dirty="0" err="1"/>
              <a:t>OpenTelemetry</a:t>
            </a:r>
            <a:r>
              <a:rPr lang="en-US" altLang="zh-HK" dirty="0"/>
              <a:t> Technical Committee:</a:t>
            </a:r>
          </a:p>
          <a:p>
            <a:r>
              <a:rPr lang="en-US" altLang="zh-HK" i="1" dirty="0"/>
              <a:t>‘You cannot wait for consensus to form. If you work at a startup, you need to deliver a product to your users and converge after.’</a:t>
            </a:r>
          </a:p>
          <a:p>
            <a:r>
              <a:rPr lang="en-US" altLang="zh-HK" dirty="0"/>
              <a:t>That was the reality. Open Inference started precisely because startups couldn't wait around for committee approvals; they had to build raw instrumentation immediately. But fragmentation created chaos for enterprise engineering teams trying to unify their observability stacks. </a:t>
            </a:r>
            <a:endParaRPr lang="zh-HK" altLang="en-US" dirty="0"/>
          </a:p>
        </p:txBody>
      </p:sp>
      <p:sp>
        <p:nvSpPr>
          <p:cNvPr id="4" name="投影片編號版面配置區 3"/>
          <p:cNvSpPr>
            <a:spLocks noGrp="1"/>
          </p:cNvSpPr>
          <p:nvPr>
            <p:ph type="sldNum" idx="36"/>
          </p:nvPr>
        </p:nvSpPr>
        <p:spPr/>
        <p:txBody>
          <a:bodyPr/>
          <a:lstStyle/>
          <a:p>
            <a:pPr indent="0" algn="r">
              <a:buNone/>
            </a:pPr>
            <a:fld id="{03BF6639-CE35-421B-B729-02326B35E96D}" type="slidenum">
              <a:rPr lang="en-US" sz="1400" b="0" u="none" strike="noStrike" smtClean="0">
                <a:solidFill>
                  <a:srgbClr val="000000"/>
                </a:solidFill>
                <a:effectLst/>
                <a:uFillTx/>
                <a:latin typeface="Times New Roman"/>
              </a:rPr>
              <a:t>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2471263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Failure Surfaces Beyond the LLM Call</a:t>
            </a:r>
          </a:p>
          <a:p>
            <a:endParaRPr lang="en-US" altLang="zh-HK" dirty="0"/>
          </a:p>
          <a:p>
            <a:r>
              <a:rPr lang="en-US" altLang="zh-HK" dirty="0"/>
              <a:t>Agents do not run as isolated functions; they operate as distributed services across network boundaries and infrastructure. </a:t>
            </a:r>
          </a:p>
          <a:p>
            <a:r>
              <a:rPr lang="en-US" altLang="zh-HK" dirty="0"/>
              <a:t>Look at the </a:t>
            </a:r>
            <a:r>
              <a:rPr lang="en-US" altLang="zh-HK" b="1" dirty="0"/>
              <a:t>Agent Trajectory Blueprint </a:t>
            </a:r>
            <a:r>
              <a:rPr lang="en-US" altLang="zh-HK" dirty="0"/>
              <a:t>on this slide: </a:t>
            </a:r>
          </a:p>
          <a:p>
            <a:pPr marL="171450" indent="-171450">
              <a:buFont typeface="Arial" panose="020B0604020202020204" pitchFamily="34" charset="0"/>
              <a:buChar char="•"/>
            </a:pPr>
            <a:r>
              <a:rPr lang="en-US" altLang="zh-HK" dirty="0"/>
              <a:t>A user sends a </a:t>
            </a:r>
            <a:r>
              <a:rPr lang="en-US" altLang="zh-HK" b="1" dirty="0"/>
              <a:t>Prompt</a:t>
            </a:r>
            <a:r>
              <a:rPr lang="en-US" altLang="zh-HK" dirty="0"/>
              <a:t>. </a:t>
            </a:r>
          </a:p>
          <a:p>
            <a:pPr marL="171450" indent="-171450">
              <a:buFont typeface="Arial" panose="020B0604020202020204" pitchFamily="34" charset="0"/>
              <a:buChar char="•"/>
            </a:pPr>
            <a:r>
              <a:rPr lang="en-US" altLang="zh-HK" dirty="0"/>
              <a:t>The agent executes a </a:t>
            </a:r>
            <a:r>
              <a:rPr lang="en-US" altLang="zh-HK" b="1" dirty="0"/>
              <a:t>Retrieval (RAG)</a:t>
            </a:r>
            <a:r>
              <a:rPr lang="en-US" altLang="zh-HK" dirty="0"/>
              <a:t> step, pulling data from vector databases. </a:t>
            </a:r>
          </a:p>
          <a:p>
            <a:pPr marL="171450" indent="-171450">
              <a:buFont typeface="Arial" panose="020B0604020202020204" pitchFamily="34" charset="0"/>
              <a:buChar char="•"/>
            </a:pPr>
            <a:r>
              <a:rPr lang="en-US" altLang="zh-HK" dirty="0"/>
              <a:t>The system </a:t>
            </a:r>
            <a:r>
              <a:rPr lang="en-US" altLang="zh-HK" b="1" dirty="0"/>
              <a:t>Evaluates</a:t>
            </a:r>
            <a:r>
              <a:rPr lang="en-US" altLang="zh-HK" dirty="0"/>
              <a:t> the retrieved context. </a:t>
            </a:r>
          </a:p>
          <a:p>
            <a:pPr marL="171450" indent="-171450">
              <a:buFont typeface="Arial" panose="020B0604020202020204" pitchFamily="34" charset="0"/>
              <a:buChar char="•"/>
            </a:pPr>
            <a:r>
              <a:rPr lang="en-US" altLang="zh-HK" dirty="0"/>
              <a:t>The model invokes external </a:t>
            </a:r>
            <a:r>
              <a:rPr lang="en-US" altLang="zh-HK" b="1" dirty="0"/>
              <a:t>Tool Use </a:t>
            </a:r>
            <a:r>
              <a:rPr lang="en-US" altLang="zh-HK" dirty="0"/>
              <a:t>(APIs, code execution, web browsing). </a:t>
            </a:r>
          </a:p>
          <a:p>
            <a:pPr marL="171450" indent="-171450">
              <a:buFont typeface="Arial" panose="020B0604020202020204" pitchFamily="34" charset="0"/>
              <a:buChar char="•"/>
            </a:pPr>
            <a:r>
              <a:rPr lang="en-US" altLang="zh-HK" dirty="0"/>
              <a:t>Finally, it delivers the </a:t>
            </a:r>
            <a:r>
              <a:rPr lang="en-US" altLang="zh-HK" b="1" dirty="0"/>
              <a:t>Output</a:t>
            </a:r>
            <a:r>
              <a:rPr lang="en-US" altLang="zh-HK" dirty="0"/>
              <a:t>. </a:t>
            </a:r>
          </a:p>
          <a:p>
            <a:r>
              <a:rPr lang="en-US" altLang="zh-HK" dirty="0"/>
              <a:t>Notice the red warning icons across the pipeline. The LLM call itself is only a fraction of the failure surface. Telemetry must capture retrieval steps, reasoning blocks, and raw context windows across every single hop. </a:t>
            </a:r>
            <a:endParaRPr lang="zh-HK" altLang="en-US" dirty="0"/>
          </a:p>
        </p:txBody>
      </p:sp>
      <p:sp>
        <p:nvSpPr>
          <p:cNvPr id="4" name="投影片編號版面配置區 3"/>
          <p:cNvSpPr>
            <a:spLocks noGrp="1"/>
          </p:cNvSpPr>
          <p:nvPr>
            <p:ph type="sldNum" idx="36"/>
          </p:nvPr>
        </p:nvSpPr>
        <p:spPr/>
        <p:txBody>
          <a:bodyPr/>
          <a:lstStyle/>
          <a:p>
            <a:pPr indent="0" algn="r">
              <a:buNone/>
            </a:pPr>
            <a:fld id="{03BF6639-CE35-421B-B729-02326B35E96D}" type="slidenum">
              <a:rPr lang="en-US" sz="1400" b="0" u="none" strike="noStrike" smtClean="0">
                <a:solidFill>
                  <a:srgbClr val="000000"/>
                </a:solidFill>
                <a:effectLst/>
                <a:uFillTx/>
                <a:latin typeface="Times New Roman"/>
              </a:rPr>
              <a:t>4</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523696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Open Inference (Speed) vs. </a:t>
            </a:r>
            <a:r>
              <a:rPr lang="en-US" altLang="zh-HK" dirty="0" err="1"/>
              <a:t>OpenTelemetry</a:t>
            </a:r>
            <a:r>
              <a:rPr lang="en-US" altLang="zh-HK" dirty="0"/>
              <a:t> SIG (Foundation)</a:t>
            </a:r>
          </a:p>
          <a:p>
            <a:endParaRPr lang="en-US" altLang="zh-HK" dirty="0"/>
          </a:p>
          <a:p>
            <a:r>
              <a:rPr lang="en-US" altLang="zh-HK" dirty="0"/>
              <a:t>This initiative represents the collision of two completely different engineering cultures, as outlined on this slide: </a:t>
            </a:r>
          </a:p>
          <a:p>
            <a:pPr marL="171450" indent="-171450">
              <a:buFont typeface="Arial" panose="020B0604020202020204" pitchFamily="34" charset="0"/>
              <a:buChar char="•"/>
            </a:pPr>
            <a:r>
              <a:rPr lang="en-US" altLang="zh-HK" b="1" dirty="0"/>
              <a:t>Open Inference (</a:t>
            </a:r>
            <a:r>
              <a:rPr lang="en-US" altLang="zh-HK" b="1" dirty="0" err="1"/>
              <a:t>Arize</a:t>
            </a:r>
            <a:r>
              <a:rPr lang="en-US" altLang="zh-HK" b="1" dirty="0"/>
              <a:t>) – The Tip of the Spear</a:t>
            </a:r>
            <a:r>
              <a:rPr lang="en-US" altLang="zh-HK" dirty="0"/>
              <a:t>: Its primary goal was raw instrumentation for immediate use. It operated at high speed—acting as the canary in the coal mine. It delivered over 80+ active instrumentations across Go, Java, TypeScript, and Python. </a:t>
            </a:r>
          </a:p>
          <a:p>
            <a:pPr marL="171450" indent="-171450">
              <a:buFont typeface="Arial" panose="020B0604020202020204" pitchFamily="34" charset="0"/>
              <a:buChar char="•"/>
            </a:pPr>
            <a:r>
              <a:rPr lang="en-US" altLang="zh-HK" b="1" dirty="0" err="1"/>
              <a:t>OpenTelemetry</a:t>
            </a:r>
            <a:r>
              <a:rPr lang="en-US" altLang="zh-HK" b="1" dirty="0"/>
              <a:t> </a:t>
            </a:r>
            <a:r>
              <a:rPr lang="en-US" altLang="zh-HK" b="1" dirty="0" err="1"/>
              <a:t>GenAI</a:t>
            </a:r>
            <a:r>
              <a:rPr lang="en-US" altLang="zh-HK" b="1" dirty="0"/>
              <a:t> SIG – The Foundation</a:t>
            </a:r>
            <a:r>
              <a:rPr lang="en-US" altLang="zh-HK" dirty="0"/>
              <a:t>: Its goal was vendor-neutral semantic conventions. It operated with deliberate, consensus-driven methodology, producing formal, machine-readable YAML schemas. </a:t>
            </a:r>
          </a:p>
          <a:p>
            <a:r>
              <a:rPr lang="en-US" altLang="zh-HK" dirty="0"/>
              <a:t>Neither side could succeed alone. You needed the aggressive experimentation of Open Inference to discover what data mattered, and the rigorous governance of </a:t>
            </a:r>
            <a:r>
              <a:rPr lang="en-US" altLang="zh-HK" dirty="0" err="1"/>
              <a:t>OpenTelemetry</a:t>
            </a:r>
            <a:r>
              <a:rPr lang="en-US" altLang="zh-HK" dirty="0"/>
              <a:t> to make it a global standard. </a:t>
            </a:r>
            <a:endParaRPr lang="zh-HK" altLang="en-US" dirty="0"/>
          </a:p>
        </p:txBody>
      </p:sp>
      <p:sp>
        <p:nvSpPr>
          <p:cNvPr id="4" name="投影片編號版面配置區 3"/>
          <p:cNvSpPr>
            <a:spLocks noGrp="1"/>
          </p:cNvSpPr>
          <p:nvPr>
            <p:ph type="sldNum" idx="36"/>
          </p:nvPr>
        </p:nvSpPr>
        <p:spPr/>
        <p:txBody>
          <a:bodyPr/>
          <a:lstStyle/>
          <a:p>
            <a:pPr indent="0" algn="r">
              <a:buNone/>
            </a:pPr>
            <a:fld id="{03BF6639-CE35-421B-B729-02326B35E96D}" type="slidenum">
              <a:rPr lang="en-US" sz="1400" b="0" u="none" strike="noStrike" smtClean="0">
                <a:solidFill>
                  <a:srgbClr val="000000"/>
                </a:solidFill>
                <a:effectLst/>
                <a:uFillTx/>
                <a:latin typeface="Times New Roman"/>
              </a:rPr>
              <a:t>5</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767274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Overcoming Stalled Donations via Hardened Code and AI Tooling</a:t>
            </a:r>
          </a:p>
          <a:p>
            <a:endParaRPr lang="en-US" altLang="zh-HK" dirty="0"/>
          </a:p>
          <a:p>
            <a:r>
              <a:rPr lang="en-US" altLang="zh-HK" dirty="0"/>
              <a:t>Previous attempts to donate </a:t>
            </a:r>
            <a:r>
              <a:rPr lang="en-US" altLang="zh-HK" dirty="0" err="1"/>
              <a:t>GenAI</a:t>
            </a:r>
            <a:r>
              <a:rPr lang="en-US" altLang="zh-HK" dirty="0"/>
              <a:t> telemetry standards to the CNCF had stalled for years due to vendor-specific defaults, Python package hijacking, and complex licensing friction. </a:t>
            </a:r>
          </a:p>
          <a:p>
            <a:r>
              <a:rPr lang="en-US" altLang="zh-HK" dirty="0"/>
              <a:t>So, how did the Open Inference donation succeed where others failed? </a:t>
            </a:r>
          </a:p>
          <a:p>
            <a:pPr marL="171450" indent="-171450">
              <a:buFont typeface="Arial" panose="020B0604020202020204" pitchFamily="34" charset="0"/>
              <a:buChar char="•"/>
            </a:pPr>
            <a:r>
              <a:rPr lang="en-US" altLang="zh-HK" dirty="0"/>
              <a:t>The code was already hardened over three years of production use. </a:t>
            </a:r>
          </a:p>
          <a:p>
            <a:pPr marL="171450" indent="-171450">
              <a:buFont typeface="Arial" panose="020B0604020202020204" pitchFamily="34" charset="0"/>
              <a:buChar char="•"/>
            </a:pPr>
            <a:r>
              <a:rPr lang="en-US" altLang="zh-HK" dirty="0"/>
              <a:t>It was licensed cleanly under Apache 2.0. </a:t>
            </a:r>
          </a:p>
          <a:p>
            <a:pPr marL="171450" indent="-171450">
              <a:buFont typeface="Arial" panose="020B0604020202020204" pitchFamily="34" charset="0"/>
              <a:buChar char="•"/>
            </a:pPr>
            <a:r>
              <a:rPr lang="en-US" altLang="zh-HK" dirty="0"/>
              <a:t>Crucially, modern engineering teams leveraged AI coding agents to strip licensing headers and clean up PRs, expediting adoption in a matter of days rather than months. </a:t>
            </a:r>
          </a:p>
          <a:p>
            <a:r>
              <a:rPr lang="en-US" altLang="zh-HK" dirty="0"/>
              <a:t>Hardened code combined with modern automation broke through historical legal and bureaucratic bottlenecks. </a:t>
            </a:r>
            <a:endParaRPr lang="zh-HK" altLang="en-US" dirty="0"/>
          </a:p>
        </p:txBody>
      </p:sp>
      <p:sp>
        <p:nvSpPr>
          <p:cNvPr id="4" name="投影片編號版面配置區 3"/>
          <p:cNvSpPr>
            <a:spLocks noGrp="1"/>
          </p:cNvSpPr>
          <p:nvPr>
            <p:ph type="sldNum" idx="36"/>
          </p:nvPr>
        </p:nvSpPr>
        <p:spPr/>
        <p:txBody>
          <a:bodyPr/>
          <a:lstStyle/>
          <a:p>
            <a:pPr indent="0" algn="r">
              <a:buNone/>
            </a:pPr>
            <a:fld id="{03BF6639-CE35-421B-B729-02326B35E96D}" type="slidenum">
              <a:rPr lang="en-US" sz="1400" b="0" u="none" strike="noStrike" smtClean="0">
                <a:solidFill>
                  <a:srgbClr val="000000"/>
                </a:solidFill>
                <a:effectLst/>
                <a:uFillTx/>
                <a:latin typeface="Times New Roman"/>
              </a:rPr>
              <a:t>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6047581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Governance Committee vs. Technical Committee Roles</a:t>
            </a:r>
          </a:p>
          <a:p>
            <a:endParaRPr lang="en-US" altLang="zh-HK" dirty="0"/>
          </a:p>
          <a:p>
            <a:r>
              <a:rPr lang="en-US" altLang="zh-HK" dirty="0"/>
              <a:t>To understand how code donations are received and processed within the CNCF, we must look at the </a:t>
            </a:r>
            <a:r>
              <a:rPr lang="en-US" altLang="zh-HK" dirty="0" err="1"/>
              <a:t>OpenTelemetry</a:t>
            </a:r>
            <a:r>
              <a:rPr lang="en-US" altLang="zh-HK" dirty="0"/>
              <a:t> governance structure: </a:t>
            </a:r>
          </a:p>
          <a:p>
            <a:pPr marL="171450" indent="-171450">
              <a:buFont typeface="Arial" panose="020B0604020202020204" pitchFamily="34" charset="0"/>
              <a:buChar char="•"/>
            </a:pPr>
            <a:r>
              <a:rPr lang="en-US" altLang="zh-HK" b="1" dirty="0"/>
              <a:t>Governance Committee (GC) – The Administration</a:t>
            </a:r>
            <a:r>
              <a:rPr lang="en-US" altLang="zh-HK" dirty="0"/>
              <a:t>: Elected by the community. They handle administration, project strategy, and overarching roadmaps. </a:t>
            </a:r>
          </a:p>
          <a:p>
            <a:pPr marL="171450" indent="-171450">
              <a:buFont typeface="Arial" panose="020B0604020202020204" pitchFamily="34" charset="0"/>
              <a:buChar char="•"/>
            </a:pPr>
            <a:r>
              <a:rPr lang="en-US" altLang="zh-HK" b="1" dirty="0"/>
              <a:t>Technical Committee (TC) – The Supreme Court</a:t>
            </a:r>
            <a:r>
              <a:rPr lang="en-US" altLang="zh-HK" dirty="0"/>
              <a:t>: Appointed by peers. They provide technical oversight, security due diligence, and strict specification compliance. </a:t>
            </a:r>
          </a:p>
          <a:p>
            <a:r>
              <a:rPr lang="en-US" altLang="zh-HK" dirty="0"/>
              <a:t>When a major code contribution like Open Inference enters the ecosystem, it passes through this dual-engine filter—ensuring both strategic alignment and elite technical rigor. </a:t>
            </a:r>
            <a:endParaRPr lang="zh-HK" altLang="en-US" dirty="0"/>
          </a:p>
        </p:txBody>
      </p:sp>
      <p:sp>
        <p:nvSpPr>
          <p:cNvPr id="4" name="投影片編號版面配置區 3"/>
          <p:cNvSpPr>
            <a:spLocks noGrp="1"/>
          </p:cNvSpPr>
          <p:nvPr>
            <p:ph type="sldNum" idx="36"/>
          </p:nvPr>
        </p:nvSpPr>
        <p:spPr/>
        <p:txBody>
          <a:bodyPr/>
          <a:lstStyle/>
          <a:p>
            <a:pPr indent="0" algn="r">
              <a:buNone/>
            </a:pPr>
            <a:fld id="{03BF6639-CE35-421B-B729-02326B35E96D}" type="slidenum">
              <a:rPr lang="en-US" sz="1400" b="0" u="none" strike="noStrike" smtClean="0">
                <a:solidFill>
                  <a:srgbClr val="000000"/>
                </a:solidFill>
                <a:effectLst/>
                <a:uFillTx/>
                <a:latin typeface="Times New Roman"/>
              </a:rPr>
              <a:t>7</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7044325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The Divergence to Convergence Funnel</a:t>
            </a:r>
          </a:p>
          <a:p>
            <a:endParaRPr lang="en-US" altLang="zh-HK" dirty="0"/>
          </a:p>
          <a:p>
            <a:r>
              <a:rPr lang="en-US" altLang="zh-HK" dirty="0"/>
              <a:t>Look at the diagram on this slide representing the </a:t>
            </a:r>
            <a:r>
              <a:rPr lang="en-US" altLang="zh-HK" b="1" dirty="0"/>
              <a:t>Divergence to Convergence Funnel</a:t>
            </a:r>
            <a:r>
              <a:rPr lang="en-US" altLang="zh-HK" dirty="0"/>
              <a:t>. </a:t>
            </a:r>
          </a:p>
          <a:p>
            <a:r>
              <a:rPr lang="en-US" altLang="zh-HK" dirty="0"/>
              <a:t>In the early days of </a:t>
            </a:r>
            <a:r>
              <a:rPr lang="en-US" altLang="zh-HK" dirty="0" err="1"/>
              <a:t>GenAI</a:t>
            </a:r>
            <a:r>
              <a:rPr lang="en-US" altLang="zh-HK" dirty="0"/>
              <a:t>, telemetry diverged wildly in every direction. </a:t>
            </a:r>
            <a:r>
              <a:rPr lang="en-US" altLang="zh-HK" b="1" dirty="0"/>
              <a:t>Open Inference </a:t>
            </a:r>
            <a:r>
              <a:rPr lang="en-US" altLang="zh-HK" dirty="0"/>
              <a:t>acted as the reference implementation. By analyzing the gaps across 80+ active instrumentations, the </a:t>
            </a:r>
            <a:r>
              <a:rPr lang="en-US" altLang="zh-HK" dirty="0" err="1"/>
              <a:t>OpenTelemetry</a:t>
            </a:r>
            <a:r>
              <a:rPr lang="en-US" altLang="zh-HK" dirty="0"/>
              <a:t> community translated rapid edge experimentation into a single funnel. </a:t>
            </a:r>
          </a:p>
          <a:p>
            <a:r>
              <a:rPr lang="en-US" altLang="zh-HK" dirty="0" err="1"/>
              <a:t>OpenTelemetry</a:t>
            </a:r>
            <a:r>
              <a:rPr lang="en-US" altLang="zh-HK" dirty="0"/>
              <a:t> takes that messy, real-world instrumentation data and distills it into formal, machine-readable YAML specifications that the entire software industry can adopt natively. Convergence turns chaos into infrastructure. </a:t>
            </a:r>
            <a:endParaRPr lang="zh-HK" altLang="en-US" dirty="0"/>
          </a:p>
        </p:txBody>
      </p:sp>
      <p:sp>
        <p:nvSpPr>
          <p:cNvPr id="4" name="投影片編號版面配置區 3"/>
          <p:cNvSpPr>
            <a:spLocks noGrp="1"/>
          </p:cNvSpPr>
          <p:nvPr>
            <p:ph type="sldNum" idx="36"/>
          </p:nvPr>
        </p:nvSpPr>
        <p:spPr/>
        <p:txBody>
          <a:bodyPr/>
          <a:lstStyle/>
          <a:p>
            <a:pPr indent="0" algn="r">
              <a:buNone/>
            </a:pPr>
            <a:fld id="{03BF6639-CE35-421B-B729-02326B35E96D}" type="slidenum">
              <a:rPr lang="en-US" sz="1400" b="0" u="none" strike="noStrike" smtClean="0">
                <a:solidFill>
                  <a:srgbClr val="000000"/>
                </a:solidFill>
                <a:effectLst/>
                <a:uFillTx/>
                <a:latin typeface="Times New Roman"/>
              </a:rPr>
              <a:t>8</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9260337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The Four-Step Evolution from Experimentation to Native Adoption</a:t>
            </a:r>
          </a:p>
          <a:p>
            <a:endParaRPr lang="en-US" altLang="zh-HK" dirty="0"/>
          </a:p>
          <a:p>
            <a:r>
              <a:rPr lang="en-US" altLang="zh-HK" dirty="0"/>
              <a:t>The standardization of </a:t>
            </a:r>
            <a:r>
              <a:rPr lang="en-US" altLang="zh-HK" dirty="0" err="1"/>
              <a:t>GenAI</a:t>
            </a:r>
            <a:r>
              <a:rPr lang="en-US" altLang="zh-HK" dirty="0"/>
              <a:t> telemetry follows a precise four-step lifecycle: </a:t>
            </a:r>
          </a:p>
          <a:p>
            <a:pPr marL="228600" indent="-228600">
              <a:buFont typeface="+mj-lt"/>
              <a:buAutoNum type="arabicPeriod"/>
            </a:pPr>
            <a:r>
              <a:rPr lang="en-US" altLang="zh-HK" b="1" dirty="0"/>
              <a:t>Experimentation</a:t>
            </a:r>
            <a:r>
              <a:rPr lang="en-US" altLang="zh-HK" dirty="0"/>
              <a:t>: Open Inference tests new model APIs—such as computer-use or multi-step reasoning—on the bleeding edge. </a:t>
            </a:r>
          </a:p>
          <a:p>
            <a:pPr marL="228600" indent="-228600">
              <a:buFont typeface="+mj-lt"/>
              <a:buAutoNum type="arabicPeriod"/>
            </a:pPr>
            <a:r>
              <a:rPr lang="en-US" altLang="zh-HK" b="1" dirty="0"/>
              <a:t>Reference Code</a:t>
            </a:r>
            <a:r>
              <a:rPr lang="en-US" altLang="zh-HK" dirty="0"/>
              <a:t>: Over 80+ raw instrumentations map out the required observability surface across languages. </a:t>
            </a:r>
          </a:p>
          <a:p>
            <a:pPr marL="228600" indent="-228600">
              <a:buFont typeface="+mj-lt"/>
              <a:buAutoNum type="arabicPeriod"/>
            </a:pPr>
            <a:r>
              <a:rPr lang="en-US" altLang="zh-HK" b="1" dirty="0"/>
              <a:t>Semantic Convention</a:t>
            </a:r>
            <a:r>
              <a:rPr lang="en-US" altLang="zh-HK" dirty="0"/>
              <a:t>: </a:t>
            </a:r>
            <a:r>
              <a:rPr lang="en-US" altLang="zh-HK" dirty="0" err="1"/>
              <a:t>OpenTelemetry</a:t>
            </a:r>
            <a:r>
              <a:rPr lang="en-US" altLang="zh-HK" dirty="0"/>
              <a:t> formalizes these patterns into vendor-neutral YAML schemas. </a:t>
            </a:r>
          </a:p>
          <a:p>
            <a:pPr marL="228600" indent="-228600">
              <a:buFont typeface="+mj-lt"/>
              <a:buAutoNum type="arabicPeriod"/>
            </a:pPr>
            <a:r>
              <a:rPr lang="en-US" altLang="zh-HK" b="1" dirty="0"/>
              <a:t>Native Adoption</a:t>
            </a:r>
            <a:r>
              <a:rPr lang="en-US" altLang="zh-HK" dirty="0"/>
              <a:t>: Foundation model providers and framework builders begin emitting </a:t>
            </a:r>
            <a:r>
              <a:rPr lang="en-US" altLang="zh-HK" dirty="0" err="1"/>
              <a:t>OpenTelemetry</a:t>
            </a:r>
            <a:r>
              <a:rPr lang="en-US" altLang="zh-HK" dirty="0"/>
              <a:t> natively out of the box. </a:t>
            </a:r>
          </a:p>
          <a:p>
            <a:r>
              <a:rPr lang="en-US" altLang="zh-HK" dirty="0"/>
              <a:t>This loop ensures standards are born from real-world usage, not theoretical committee meetings. </a:t>
            </a:r>
            <a:endParaRPr lang="zh-HK" altLang="en-US" dirty="0"/>
          </a:p>
        </p:txBody>
      </p:sp>
      <p:sp>
        <p:nvSpPr>
          <p:cNvPr id="4" name="投影片編號版面配置區 3"/>
          <p:cNvSpPr>
            <a:spLocks noGrp="1"/>
          </p:cNvSpPr>
          <p:nvPr>
            <p:ph type="sldNum" idx="36"/>
          </p:nvPr>
        </p:nvSpPr>
        <p:spPr/>
        <p:txBody>
          <a:bodyPr/>
          <a:lstStyle/>
          <a:p>
            <a:pPr indent="0" algn="r">
              <a:buNone/>
            </a:pPr>
            <a:fld id="{03BF6639-CE35-421B-B729-02326B35E96D}" type="slidenum">
              <a:rPr lang="en-US" sz="1400" b="0" u="none" strike="noStrike" smtClean="0">
                <a:solidFill>
                  <a:srgbClr val="000000"/>
                </a:solidFill>
                <a:effectLst/>
                <a:uFillTx/>
                <a:latin typeface="Times New Roman"/>
              </a:rPr>
              <a:t>9</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0959263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Large Media Telemetry, Distilled Reasoning, and Agent Trajectories</a:t>
            </a:r>
          </a:p>
          <a:p>
            <a:endParaRPr lang="en-US" altLang="zh-HK" dirty="0"/>
          </a:p>
          <a:p>
            <a:r>
              <a:rPr lang="en-US" altLang="zh-HK" dirty="0"/>
              <a:t>As we look to the immediate future, observability standards must evolve to tackle three massive engineering frontiers: </a:t>
            </a:r>
          </a:p>
          <a:p>
            <a:pPr marL="228600" indent="-228600">
              <a:buFont typeface="+mj-lt"/>
              <a:buAutoNum type="arabicPeriod"/>
            </a:pPr>
            <a:r>
              <a:rPr lang="en-US" altLang="zh-HK" b="1" dirty="0"/>
              <a:t>Large Media Telemetry</a:t>
            </a:r>
            <a:r>
              <a:rPr lang="en-US" altLang="zh-HK" dirty="0"/>
              <a:t>: Tracing massive context windows featuring high-resolution video and audio payloads by utilizing blob-storage offloading rather than bloating trace backends. </a:t>
            </a:r>
          </a:p>
          <a:p>
            <a:pPr marL="228600" indent="-228600">
              <a:buFont typeface="+mj-lt"/>
              <a:buAutoNum type="arabicPeriod"/>
            </a:pPr>
            <a:r>
              <a:rPr lang="en-US" altLang="zh-HK" b="1" dirty="0"/>
              <a:t>Distilled Reasoning</a:t>
            </a:r>
            <a:r>
              <a:rPr lang="en-US" altLang="zh-HK" dirty="0"/>
              <a:t>: Extracting observability data from native foundation model reasoning blocks (the 'thinking' tokens) that are often hidden or redacted by API providers. </a:t>
            </a:r>
          </a:p>
          <a:p>
            <a:pPr marL="228600" indent="-228600">
              <a:buFont typeface="+mj-lt"/>
              <a:buAutoNum type="arabicPeriod"/>
            </a:pPr>
            <a:r>
              <a:rPr lang="en-US" altLang="zh-HK" b="1" dirty="0"/>
              <a:t>Agent Trajectories</a:t>
            </a:r>
            <a:r>
              <a:rPr lang="en-US" altLang="zh-HK" dirty="0"/>
              <a:t>: Federating agent memory, graph stores, and computer-use actions into distinct, agile </a:t>
            </a:r>
            <a:r>
              <a:rPr lang="en-US" altLang="zh-HK" dirty="0" err="1"/>
              <a:t>OpenTelemetry</a:t>
            </a:r>
            <a:r>
              <a:rPr lang="en-US" altLang="zh-HK" dirty="0"/>
              <a:t> working groups. </a:t>
            </a:r>
          </a:p>
          <a:p>
            <a:r>
              <a:rPr lang="en-US" altLang="zh-HK" dirty="0"/>
              <a:t>The telemetry of tomorrow must capture sight, sound, and autonomous thought. </a:t>
            </a:r>
            <a:endParaRPr lang="zh-HK" altLang="en-US" dirty="0"/>
          </a:p>
        </p:txBody>
      </p:sp>
      <p:sp>
        <p:nvSpPr>
          <p:cNvPr id="4" name="投影片編號版面配置區 3"/>
          <p:cNvSpPr>
            <a:spLocks noGrp="1"/>
          </p:cNvSpPr>
          <p:nvPr>
            <p:ph type="sldNum" idx="36"/>
          </p:nvPr>
        </p:nvSpPr>
        <p:spPr/>
        <p:txBody>
          <a:bodyPr/>
          <a:lstStyle/>
          <a:p>
            <a:pPr indent="0" algn="r">
              <a:buNone/>
            </a:pPr>
            <a:fld id="{03BF6639-CE35-421B-B729-02326B35E96D}" type="slidenum">
              <a:rPr lang="en-US" sz="1400" b="0" u="none" strike="noStrike" smtClean="0">
                <a:solidFill>
                  <a:srgbClr val="000000"/>
                </a:solidFill>
                <a:effectLst/>
                <a:uFillTx/>
                <a:latin typeface="Times New Roman"/>
              </a:rPr>
              <a:t>10</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9879052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Using AI to Create Standards for AI Instrumentation</a:t>
            </a:r>
          </a:p>
          <a:p>
            <a:endParaRPr lang="en-US" altLang="zh-HK" dirty="0"/>
          </a:p>
          <a:p>
            <a:r>
              <a:rPr lang="en-US" altLang="zh-HK" dirty="0"/>
              <a:t>Let's reflect on the ultimate irony and brilliance of this movement, captured by the quote on this slide from Mikio Kang at </a:t>
            </a:r>
            <a:r>
              <a:rPr lang="en-US" altLang="zh-HK" dirty="0" err="1"/>
              <a:t>Arize</a:t>
            </a:r>
            <a:r>
              <a:rPr lang="en-US" altLang="zh-HK" dirty="0"/>
              <a:t>: </a:t>
            </a:r>
          </a:p>
          <a:p>
            <a:r>
              <a:rPr lang="en-US" altLang="zh-HK" i="1" dirty="0"/>
              <a:t>‘Think about it. We are using AI to create standards for another AI to write instrumentation for itself.’</a:t>
            </a:r>
          </a:p>
          <a:p>
            <a:r>
              <a:rPr lang="en-US" altLang="zh-HK" b="1" dirty="0"/>
              <a:t>Synthesis</a:t>
            </a:r>
            <a:r>
              <a:rPr lang="en-US" altLang="zh-HK" dirty="0"/>
              <a:t>: The ultimate goal of standardizing </a:t>
            </a:r>
            <a:r>
              <a:rPr lang="en-US" altLang="zh-HK" dirty="0" err="1"/>
              <a:t>GenAI</a:t>
            </a:r>
            <a:r>
              <a:rPr lang="en-US" altLang="zh-HK" dirty="0"/>
              <a:t> telemetry is not just for human engineers. Because agentic paths are non-deterministic and write their own execution code, future autonomous agents will actually need standardized telemetry to read, audit, and understand their own logic. Observability has become recursive. </a:t>
            </a:r>
            <a:endParaRPr lang="zh-HK" altLang="en-US" dirty="0"/>
          </a:p>
        </p:txBody>
      </p:sp>
      <p:sp>
        <p:nvSpPr>
          <p:cNvPr id="4" name="投影片編號版面配置區 3"/>
          <p:cNvSpPr>
            <a:spLocks noGrp="1"/>
          </p:cNvSpPr>
          <p:nvPr>
            <p:ph type="sldNum" idx="36"/>
          </p:nvPr>
        </p:nvSpPr>
        <p:spPr/>
        <p:txBody>
          <a:bodyPr/>
          <a:lstStyle/>
          <a:p>
            <a:pPr indent="0" algn="r">
              <a:buNone/>
            </a:pPr>
            <a:fld id="{03BF6639-CE35-421B-B729-02326B35E96D}" type="slidenum">
              <a:rPr lang="en-US" sz="1400" b="0" u="none" strike="noStrike" smtClean="0">
                <a:solidFill>
                  <a:srgbClr val="000000"/>
                </a:solidFill>
                <a:effectLst/>
                <a:uFillTx/>
                <a:latin typeface="Times New Roman"/>
              </a:rPr>
              <a:t>11</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5578385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Comprehensive Summary of Strategic Alignment</a:t>
            </a:r>
          </a:p>
          <a:p>
            <a:endParaRPr lang="en-US" altLang="zh-HK" dirty="0"/>
          </a:p>
          <a:p>
            <a:r>
              <a:rPr lang="en-US" altLang="zh-HK" dirty="0"/>
              <a:t>This final summary slide maps out the entire journey of the </a:t>
            </a:r>
            <a:r>
              <a:rPr lang="en-US" altLang="zh-HK" dirty="0" err="1"/>
              <a:t>OpenInference</a:t>
            </a:r>
            <a:r>
              <a:rPr lang="en-US" altLang="zh-HK" dirty="0"/>
              <a:t> Donation: </a:t>
            </a:r>
          </a:p>
          <a:p>
            <a:pPr marL="171450" indent="-171450">
              <a:buFont typeface="Arial" panose="020B0604020202020204" pitchFamily="34" charset="0"/>
              <a:buChar char="•"/>
            </a:pPr>
            <a:r>
              <a:rPr lang="en-US" altLang="zh-HK" b="1" dirty="0"/>
              <a:t>Strategic Alignment</a:t>
            </a:r>
            <a:r>
              <a:rPr lang="en-US" altLang="zh-HK" dirty="0"/>
              <a:t>: </a:t>
            </a:r>
            <a:r>
              <a:rPr lang="en-US" altLang="zh-HK" dirty="0" err="1"/>
              <a:t>Arize</a:t>
            </a:r>
            <a:r>
              <a:rPr lang="en-US" altLang="zh-HK" dirty="0"/>
              <a:t> formally donated </a:t>
            </a:r>
            <a:r>
              <a:rPr lang="en-US" altLang="zh-HK" dirty="0" err="1"/>
              <a:t>OpenInference</a:t>
            </a:r>
            <a:r>
              <a:rPr lang="en-US" altLang="zh-HK" dirty="0"/>
              <a:t> to establish vendor-neutral AI observability standards. </a:t>
            </a:r>
          </a:p>
          <a:p>
            <a:pPr marL="171450" indent="-171450">
              <a:buFont typeface="Arial" panose="020B0604020202020204" pitchFamily="34" charset="0"/>
              <a:buChar char="•"/>
            </a:pPr>
            <a:r>
              <a:rPr lang="en-US" altLang="zh-HK" b="1" dirty="0"/>
              <a:t>Accelerating Agentic Observability</a:t>
            </a:r>
            <a:r>
              <a:rPr lang="en-US" altLang="zh-HK" dirty="0"/>
              <a:t>: Multi-step agents require standard tracing across infrastructure, massive context windows, and execution boundaries. </a:t>
            </a:r>
          </a:p>
          <a:p>
            <a:pPr marL="171450" indent="-171450">
              <a:buFont typeface="Arial" panose="020B0604020202020204" pitchFamily="34" charset="0"/>
              <a:buChar char="•"/>
            </a:pPr>
            <a:r>
              <a:rPr lang="en-US" altLang="zh-HK" b="1" dirty="0"/>
              <a:t>The Collaborative Future</a:t>
            </a:r>
            <a:r>
              <a:rPr lang="en-US" altLang="zh-HK" dirty="0"/>
              <a:t>: CNCF governance and technical committees cleared Apache 2.0 licensing, uniting the 'Tip of the Spear' (rapid edge experimentation) with the 'Foundational Standard' (stable telemetry specs). </a:t>
            </a:r>
          </a:p>
          <a:p>
            <a:r>
              <a:rPr lang="en-US" altLang="zh-HK" dirty="0"/>
              <a:t>By bridging rapid innovation with foundational governance, the cloud-native community has secured a unified observability future for the age of agents. </a:t>
            </a:r>
          </a:p>
          <a:p>
            <a:r>
              <a:rPr lang="en-US" altLang="zh-HK" dirty="0"/>
              <a:t>Thank you! Let's open the floor to questions. </a:t>
            </a:r>
            <a:endParaRPr lang="zh-HK" altLang="en-US" dirty="0"/>
          </a:p>
        </p:txBody>
      </p:sp>
      <p:sp>
        <p:nvSpPr>
          <p:cNvPr id="4" name="投影片編號版面配置區 3"/>
          <p:cNvSpPr>
            <a:spLocks noGrp="1"/>
          </p:cNvSpPr>
          <p:nvPr>
            <p:ph type="sldNum" idx="36"/>
          </p:nvPr>
        </p:nvSpPr>
        <p:spPr/>
        <p:txBody>
          <a:bodyPr/>
          <a:lstStyle/>
          <a:p>
            <a:pPr indent="0" algn="r">
              <a:buNone/>
            </a:pPr>
            <a:fld id="{03BF6639-CE35-421B-B729-02326B35E96D}" type="slidenum">
              <a:rPr lang="en-US" sz="1400" b="0" u="none" strike="noStrike" smtClean="0">
                <a:solidFill>
                  <a:srgbClr val="000000"/>
                </a:solidFill>
                <a:effectLst/>
                <a:uFillTx/>
                <a:latin typeface="Times New Roman"/>
              </a:rPr>
              <a:t>12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685815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自訂版面配置">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5512122"/>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19EBAC38-152C-2409-18F2-3127F69C1D5C}"/>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0C3E678-BED8-48D3-C0C4-B7B4A498796B}"/>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861A24D7-C89D-8F6E-90EE-28BB3B4A630E}"/>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C22B1FA-6F06-AA17-4BE3-A4A406C29D0D}"/>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EBC059A-265E-6360-3F96-8623994CAD21}"/>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2132977F-25DA-EC23-9833-E55C6B638E9E}"/>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E9415917-9DC0-D561-C33F-88EB4ABE34C3}"/>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4857B260-45DD-F271-89A0-666A5D9E6F1F}"/>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1AFA414-E8B8-31B3-FB80-89253606D07B}"/>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2E77E2CF-FD05-7CD3-32E0-AC1A1955C473}"/>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3D492363-8F1D-2EB9-16D3-68F090054554}"/>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AC9D9C71-A62C-EA63-6856-444F856F1454}"/>
              </a:ext>
            </a:extLst>
          </p:cNvPr>
          <p:cNvPicPr>
            <a:picLocks noChangeAspect="1"/>
          </p:cNvPicPr>
          <p:nvPr/>
        </p:nvPicPr>
        <p:blipFill>
          <a:blip r:embed="rId3"/>
          <a:stretch>
            <a:fillRect/>
          </a:stretch>
        </p:blipFill>
        <p:spPr>
          <a:xfrm>
            <a:off x="3175" y="33337"/>
            <a:ext cx="16249650" cy="907732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15</TotalTime>
  <Words>1545</Words>
  <Application>Microsoft Office PowerPoint</Application>
  <PresentationFormat>自訂</PresentationFormat>
  <Paragraphs>98</Paragraphs>
  <Slides>12</Slides>
  <Notes>12</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12</vt:i4>
      </vt:variant>
    </vt:vector>
  </HeadingPairs>
  <TitlesOfParts>
    <vt:vector size="16" baseType="lpstr">
      <vt:lpstr>Arial</vt:lpstr>
      <vt:lpstr>Calibri</vt:lpstr>
      <vt:lpstr>Times New Roman</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subject/>
  <dc:creator/>
  <dc:description/>
  <cp:lastModifiedBy>Wilson Lai</cp:lastModifiedBy>
  <cp:revision>6</cp:revision>
  <dcterms:created xsi:type="dcterms:W3CDTF">2006-08-16T00:00:00Z</dcterms:created>
  <dcterms:modified xsi:type="dcterms:W3CDTF">2026-10-17T01:06:45Z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