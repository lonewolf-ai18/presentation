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6256000" cy="9144000"/>
  <p:notesSz cx="7559675" cy="10691813"/>
  <p:defaultTex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876" autoAdjust="0"/>
  </p:normalViewPr>
  <p:slideViewPr>
    <p:cSldViewPr snapToGrid="0">
      <p:cViewPr varScale="1">
        <p:scale>
          <a:sx n="56" d="100"/>
          <a:sy n="56" d="100"/>
        </p:scale>
        <p:origin x="102" y="2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1"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defTabSz="914400"/>
            <a:r>
              <a:rPr lang="en-US" sz="4400" b="0" u="none" strike="noStrike">
                <a:solidFill>
                  <a:schemeClr val="dk1"/>
                </a:solidFill>
                <a:effectLst/>
                <a:uFillTx/>
                <a:latin typeface="Calibri"/>
              </a:rPr>
              <a:t>Click to move the slide</a:t>
            </a:r>
          </a:p>
        </p:txBody>
      </p:sp>
      <p:sp>
        <p:nvSpPr>
          <p:cNvPr id="6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63"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&lt;header&gt;</a:t>
            </a:r>
          </a:p>
        </p:txBody>
      </p:sp>
      <p:sp>
        <p:nvSpPr>
          <p:cNvPr id="64"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65"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p>
        </p:txBody>
      </p:sp>
      <p:sp>
        <p:nvSpPr>
          <p:cNvPr id="66"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4B24A35B-39E5-4CF7-97A8-7C1CF04ED6D0}"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PlaceHolder 1"/>
          <p:cNvSpPr>
            <a:spLocks noGrp="1" noRot="1" noChangeAspect="1"/>
          </p:cNvSpPr>
          <p:nvPr>
            <p:ph type="sldImg"/>
          </p:nvPr>
        </p:nvSpPr>
        <p:spPr>
          <a:xfrm>
            <a:off x="217488" y="812800"/>
            <a:ext cx="7124700" cy="4008438"/>
          </a:xfrm>
          <a:prstGeom prst="rect">
            <a:avLst/>
          </a:prstGeom>
          <a:ln w="0">
            <a:noFill/>
          </a:ln>
        </p:spPr>
      </p:sp>
      <p:sp>
        <p:nvSpPr>
          <p:cNvPr id="8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en-US" sz="2000" b="0" u="none" strike="noStrike" dirty="0">
                <a:solidFill>
                  <a:srgbClr val="000000"/>
                </a:solidFill>
                <a:effectLst/>
                <a:uFillTx/>
                <a:latin typeface="Arial"/>
              </a:rPr>
              <a:t>Core Topic: Introduction to the AI Runtime Frontier and Distributed Systems Reality</a:t>
            </a:r>
          </a:p>
          <a:p>
            <a:pPr indent="0" algn="l">
              <a:buNone/>
            </a:pPr>
            <a:endParaRPr lang="en-US" sz="2000" b="0" u="none" strike="noStrike" dirty="0">
              <a:solidFill>
                <a:srgbClr val="000000"/>
              </a:solidFill>
              <a:effectLst/>
              <a:uFillTx/>
              <a:latin typeface="Arial"/>
            </a:endParaRPr>
          </a:p>
          <a:p>
            <a:pPr indent="0" algn="l">
              <a:buNone/>
            </a:pPr>
            <a:r>
              <a:rPr lang="en-US" sz="2000" b="0" u="none" strike="noStrike" dirty="0">
                <a:solidFill>
                  <a:srgbClr val="000000"/>
                </a:solidFill>
                <a:effectLst/>
                <a:uFillTx/>
                <a:latin typeface="Arial"/>
              </a:rPr>
              <a:t>Good morning, everyone, and welcome. Today, we are tackling one of the most pressing architectural questions in modern software engineering: </a:t>
            </a:r>
            <a:r>
              <a:rPr lang="en-US" sz="2000" b="1" u="none" strike="noStrike" dirty="0">
                <a:solidFill>
                  <a:srgbClr val="000000"/>
                </a:solidFill>
                <a:effectLst/>
                <a:uFillTx/>
                <a:latin typeface="Arial"/>
              </a:rPr>
              <a:t>Why AI Can Write Code But Can’t Keep It Running</a:t>
            </a:r>
            <a:r>
              <a:rPr lang="en-US" sz="2000" b="0" u="none" strike="noStrike" dirty="0">
                <a:solidFill>
                  <a:srgbClr val="000000"/>
                </a:solidFill>
                <a:effectLst/>
                <a:uFillTx/>
                <a:latin typeface="Arial"/>
              </a:rPr>
              <a:t>. </a:t>
            </a:r>
          </a:p>
          <a:p>
            <a:pPr indent="0" algn="l">
              <a:buNone/>
            </a:pPr>
            <a:r>
              <a:rPr lang="en-US" sz="2000" b="0" u="none" strike="noStrike" dirty="0">
                <a:solidFill>
                  <a:srgbClr val="000000"/>
                </a:solidFill>
                <a:effectLst/>
                <a:uFillTx/>
                <a:latin typeface="Arial"/>
              </a:rPr>
              <a:t>If you look at the title subtitle on this slide, it establishes the core boundary: The fundamental boundary between digital syntax and the heavy-tailed reality of distributed systems. Over the last few years, we have watched artificial intelligence achieve miraculous breakthroughs in code generation. Give an LLM a prompt, and it will spit out pristine Python, TypeScript, or SQL in seconds. </a:t>
            </a:r>
          </a:p>
          <a:p>
            <a:pPr indent="0" algn="l">
              <a:buNone/>
            </a:pPr>
            <a:r>
              <a:rPr lang="en-US" sz="2000" b="0" u="none" strike="noStrike" dirty="0">
                <a:solidFill>
                  <a:srgbClr val="000000"/>
                </a:solidFill>
                <a:effectLst/>
                <a:uFillTx/>
                <a:latin typeface="Arial"/>
              </a:rPr>
              <a:t>But writing code in a sandbox is a completely different universe from keeping complex distributed systems running under live, chaotic production loads. In this slide deck—synthesized from deep technical discussions with systems engineering leaders like </a:t>
            </a:r>
            <a:r>
              <a:rPr lang="en-US" sz="2000" b="0" u="none" strike="noStrike" dirty="0" err="1">
                <a:solidFill>
                  <a:srgbClr val="000000"/>
                </a:solidFill>
                <a:effectLst/>
                <a:uFillTx/>
                <a:latin typeface="Arial"/>
              </a:rPr>
              <a:t>Jad</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Jebrane</a:t>
            </a:r>
            <a:r>
              <a:rPr lang="en-US" sz="2000" b="0" u="none" strike="noStrike" dirty="0">
                <a:solidFill>
                  <a:srgbClr val="000000"/>
                </a:solidFill>
                <a:effectLst/>
                <a:uFillTx/>
                <a:latin typeface="Arial"/>
              </a:rPr>
              <a:t>—we will examine why syntax is solved, why operations remain uncharted, and how engineering teams must adapt to the runtime frontier. Let's jump in. </a:t>
            </a:r>
          </a:p>
          <a:p>
            <a:pPr indent="0" algn="l">
              <a:buNone/>
            </a:pPr>
            <a:endParaRPr lang="en-US" sz="2000" b="0" u="none" strike="noStrike" dirty="0">
              <a:solidFill>
                <a:srgbClr val="000000"/>
              </a:solidFill>
              <a:effectLst/>
              <a:uFillTx/>
              <a:latin typeface="Arial"/>
            </a:endParaRPr>
          </a:p>
          <a:p>
            <a:pPr indent="0" algn="l">
              <a:buNone/>
            </a:pPr>
            <a:endParaRPr lang="en-US" sz="2000" b="0" u="none" strike="noStrike" dirty="0">
              <a:solidFill>
                <a:srgbClr val="000000"/>
              </a:solidFill>
              <a:effectLst/>
              <a:uFillTx/>
              <a:latin typeface="Arial"/>
            </a:endParaRPr>
          </a:p>
          <a:p>
            <a:pPr indent="0" algn="l">
              <a:buNone/>
            </a:pPr>
            <a:endParaRPr lang="en-US" sz="2000" b="0" u="none" strike="noStrike" dirty="0">
              <a:solidFill>
                <a:srgbClr val="000000"/>
              </a:solidFill>
              <a:effectLst/>
              <a:uFillTx/>
              <a:latin typeface="Arial"/>
            </a:endParaRPr>
          </a:p>
          <a:p>
            <a:pPr indent="0" algn="l">
              <a:buNone/>
            </a:pPr>
            <a:r>
              <a:rPr lang="en-US" altLang="zh-HK" sz="2000" b="0" u="none" strike="noStrike" dirty="0">
                <a:solidFill>
                  <a:srgbClr val="000000"/>
                </a:solidFill>
                <a:effectLst/>
                <a:uFillTx/>
                <a:latin typeface="Arial"/>
              </a:rPr>
              <a:t>Why AI Can Write Code But Can’t Keep It Running (Yet)</a:t>
            </a:r>
          </a:p>
          <a:p>
            <a:pPr indent="0" algn="l">
              <a:buNone/>
            </a:pPr>
            <a:r>
              <a:rPr lang="en-US" altLang="zh-HK" sz="2000" b="0" u="none" strike="noStrike" dirty="0">
                <a:solidFill>
                  <a:srgbClr val="000000"/>
                </a:solidFill>
                <a:effectLst/>
                <a:uFillTx/>
                <a:latin typeface="Arial"/>
              </a:rPr>
              <a:t>https://www.youtube.com/watch?v=blkIGLlZePg</a:t>
            </a:r>
          </a:p>
          <a:p>
            <a:pPr indent="0" algn="l">
              <a:buNone/>
            </a:pPr>
            <a:endParaRPr lang="en-US" sz="2000" b="0" u="none" strike="noStrike" dirty="0">
              <a:solidFill>
                <a:srgbClr val="000000"/>
              </a:solidFill>
              <a:effectLst/>
              <a:uFillTx/>
              <a:latin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Defining the Boundary Between Code Generation and Runtime Execution</a:t>
            </a:r>
          </a:p>
          <a:p>
            <a:endParaRPr lang="en-US" altLang="zh-HK" dirty="0"/>
          </a:p>
          <a:p>
            <a:r>
              <a:rPr lang="en-US" altLang="zh-HK" dirty="0"/>
              <a:t>To understand the current engineering bottleneck, we must separate two distinct concepts: Syntax and Semantics. Look at the side-by-side comparison on this slide: </a:t>
            </a:r>
          </a:p>
          <a:p>
            <a:pPr marL="171450" indent="-171450">
              <a:buFont typeface="Arial" panose="020B0604020202020204" pitchFamily="34" charset="0"/>
              <a:buChar char="•"/>
            </a:pPr>
            <a:r>
              <a:rPr lang="en-US" altLang="zh-HK" b="1" dirty="0"/>
              <a:t>Syntax (Writing Code)</a:t>
            </a:r>
            <a:r>
              <a:rPr lang="en-US" altLang="zh-HK" dirty="0"/>
              <a:t>: This is the characters typed—the digital, bounded instructions. The environment is perfectly constrained, and the distribution of the solution space neatly matches the training set of public codebases. AI Status: Solved. We are seeing wildfire adoption and exponential developer productivity gains. </a:t>
            </a:r>
          </a:p>
          <a:p>
            <a:pPr marL="171450" indent="-171450">
              <a:buFont typeface="Arial" panose="020B0604020202020204" pitchFamily="34" charset="0"/>
              <a:buChar char="•"/>
            </a:pPr>
            <a:r>
              <a:rPr lang="en-US" altLang="zh-HK" b="1" dirty="0"/>
              <a:t>Semantics (Running Code)</a:t>
            </a:r>
            <a:r>
              <a:rPr lang="en-US" altLang="zh-HK" dirty="0"/>
              <a:t>: This is what the machine actually does at runtime. The environment is heavy-tailed, physical, and subject to real-world anomalies like traffic spikes, network partitions, and hardware failures. AI Status: The Hard Frontier. Predicting failures in unbounded state spaces remains an open challenge. </a:t>
            </a:r>
          </a:p>
          <a:p>
            <a:r>
              <a:rPr lang="en-US" altLang="zh-HK" dirty="0"/>
              <a:t>Writing static instructions is easy for a probabilistic model; predicting dynamic system behavior under load is entirely different. </a:t>
            </a:r>
            <a:endParaRPr lang="zh-HK" altLang="en-US" dirty="0"/>
          </a:p>
        </p:txBody>
      </p:sp>
      <p:sp>
        <p:nvSpPr>
          <p:cNvPr id="4" name="投影片編號版面配置區 3"/>
          <p:cNvSpPr>
            <a:spLocks noGrp="1"/>
          </p:cNvSpPr>
          <p:nvPr>
            <p:ph type="sldNum" idx="36"/>
          </p:nvPr>
        </p:nvSpPr>
        <p:spPr/>
        <p:txBody>
          <a:bodyPr/>
          <a:lstStyle/>
          <a:p>
            <a:pPr indent="0" algn="r">
              <a:buNone/>
            </a:pPr>
            <a:fld id="{4B24A35B-39E5-4CF7-97A8-7C1CF04ED6D0}" type="slidenum">
              <a:rPr lang="en-US" sz="1400" b="0" u="none" strike="noStrike" smtClean="0">
                <a:solidFill>
                  <a:srgbClr val="000000"/>
                </a:solidFill>
                <a:effectLst/>
                <a:uFillTx/>
                <a:latin typeface="Times New Roman"/>
              </a:rPr>
              <a:t>2</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9985954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Evolution of the AI Engineer Stack and Persistent CLI Sub-Agents</a:t>
            </a:r>
          </a:p>
          <a:p>
            <a:endParaRPr lang="en-US" altLang="zh-HK" dirty="0"/>
          </a:p>
          <a:p>
            <a:r>
              <a:rPr lang="en-US" altLang="zh-HK" dirty="0"/>
              <a:t>How has the developer's actual workflow evolved over the last few years? Look at The </a:t>
            </a:r>
            <a:r>
              <a:rPr lang="en-US" altLang="zh-HK" b="1" dirty="0"/>
              <a:t>AI Engineer Stack </a:t>
            </a:r>
            <a:r>
              <a:rPr lang="en-US" altLang="zh-HK" dirty="0"/>
              <a:t>illustrated on this slide: </a:t>
            </a:r>
          </a:p>
          <a:p>
            <a:pPr marL="171450" indent="-171450">
              <a:buFont typeface="Arial" panose="020B0604020202020204" pitchFamily="34" charset="0"/>
              <a:buChar char="•"/>
            </a:pPr>
            <a:r>
              <a:rPr lang="en-US" altLang="zh-HK" dirty="0"/>
              <a:t>We start with the developer's environment (e.g., Windows running WSL with Linux tooling). </a:t>
            </a:r>
          </a:p>
          <a:p>
            <a:pPr marL="171450" indent="-171450">
              <a:buFont typeface="Arial" panose="020B0604020202020204" pitchFamily="34" charset="0"/>
              <a:buChar char="•"/>
            </a:pPr>
            <a:r>
              <a:rPr lang="en-US" altLang="zh-HK" dirty="0"/>
              <a:t>The Human Architect acts as the orchestrator, reviewing design documents and dividing labor. </a:t>
            </a:r>
          </a:p>
          <a:p>
            <a:pPr marL="171450" indent="-171450">
              <a:buFont typeface="Arial" panose="020B0604020202020204" pitchFamily="34" charset="0"/>
              <a:buChar char="•"/>
            </a:pPr>
            <a:r>
              <a:rPr lang="en-US" altLang="zh-HK" dirty="0"/>
              <a:t>The primary AI model (such as Claude Opus) drives the workflow, delegating tasks to </a:t>
            </a:r>
            <a:r>
              <a:rPr lang="en-US" altLang="zh-HK" b="1" dirty="0"/>
              <a:t>Persistent CLI Sub-Agents</a:t>
            </a:r>
            <a:r>
              <a:rPr lang="en-US" altLang="zh-HK" dirty="0"/>
              <a:t>. </a:t>
            </a:r>
          </a:p>
          <a:p>
            <a:r>
              <a:rPr lang="en-US" altLang="zh-HK" dirty="0"/>
              <a:t>Notice the operational trick: unlike basic chat windows, these sub-agents maintain persistent CLI sessions, iterate together, and execute complex workflows without UI bloat. </a:t>
            </a:r>
          </a:p>
          <a:p>
            <a:r>
              <a:rPr lang="en-US" altLang="zh-HK" b="1" dirty="0"/>
              <a:t>The Insight</a:t>
            </a:r>
            <a:r>
              <a:rPr lang="en-US" altLang="zh-HK" dirty="0"/>
              <a:t>: The AI starts training the engineer. Top engineers adapt to these harnesses, managing context limits and orchestrating autonomous sub-agents rather than just typing lines of code. </a:t>
            </a:r>
            <a:endParaRPr lang="zh-HK" altLang="en-US" dirty="0"/>
          </a:p>
        </p:txBody>
      </p:sp>
      <p:sp>
        <p:nvSpPr>
          <p:cNvPr id="4" name="投影片編號版面配置區 3"/>
          <p:cNvSpPr>
            <a:spLocks noGrp="1"/>
          </p:cNvSpPr>
          <p:nvPr>
            <p:ph type="sldNum" idx="36"/>
          </p:nvPr>
        </p:nvSpPr>
        <p:spPr/>
        <p:txBody>
          <a:bodyPr/>
          <a:lstStyle/>
          <a:p>
            <a:pPr indent="0" algn="r">
              <a:buNone/>
            </a:pPr>
            <a:fld id="{4B24A35B-39E5-4CF7-97A8-7C1CF04ED6D0}" type="slidenum">
              <a:rPr lang="en-US" sz="1400" b="0" u="none" strike="noStrike" smtClean="0">
                <a:solidFill>
                  <a:srgbClr val="000000"/>
                </a:solidFill>
                <a:effectLst/>
                <a:uFillTx/>
                <a:latin typeface="Times New Roman"/>
              </a:rPr>
              <a:t>3</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6420994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Case Study: Autonomous Data Lake Auto-Promotion (Shredding)</a:t>
            </a:r>
          </a:p>
          <a:p>
            <a:endParaRPr lang="en-US" altLang="zh-HK" dirty="0"/>
          </a:p>
          <a:p>
            <a:r>
              <a:rPr lang="en-US" altLang="zh-HK" dirty="0"/>
              <a:t>To see what this looks like in practice, let's look at a concrete infrastructure case study featured on this slide: </a:t>
            </a:r>
          </a:p>
          <a:p>
            <a:pPr marL="171450" indent="-171450">
              <a:buFont typeface="Arial" panose="020B0604020202020204" pitchFamily="34" charset="0"/>
              <a:buChar char="•"/>
            </a:pPr>
            <a:r>
              <a:rPr lang="en-US" altLang="zh-HK" b="1" dirty="0"/>
              <a:t>The Old Reality</a:t>
            </a:r>
            <a:r>
              <a:rPr lang="en-US" altLang="zh-HK" dirty="0"/>
              <a:t>: For a single senior engineer to manually coordinate metadata systems, commits, and concurrent writers to convert semi-structured logs into columnar parquet/iceberg files (data lake shredding) used to take roughly </a:t>
            </a:r>
            <a:r>
              <a:rPr lang="en-US" altLang="zh-HK" b="1" dirty="0"/>
              <a:t>6 months</a:t>
            </a:r>
            <a:r>
              <a:rPr lang="en-US" altLang="zh-HK" dirty="0"/>
              <a:t>. </a:t>
            </a:r>
          </a:p>
          <a:p>
            <a:pPr marL="171450" indent="-171450">
              <a:buFont typeface="Arial" panose="020B0604020202020204" pitchFamily="34" charset="0"/>
              <a:buChar char="•"/>
            </a:pPr>
            <a:r>
              <a:rPr lang="en-US" altLang="zh-HK" b="1" dirty="0"/>
              <a:t>The AI Reality</a:t>
            </a:r>
            <a:r>
              <a:rPr lang="en-US" altLang="zh-HK" dirty="0"/>
              <a:t>: Using agentic workflows, the same architecture was built and deployed in roughly </a:t>
            </a:r>
            <a:r>
              <a:rPr lang="en-US" altLang="zh-HK" b="1" dirty="0"/>
              <a:t>10 days</a:t>
            </a:r>
            <a:r>
              <a:rPr lang="en-US" altLang="zh-HK" dirty="0"/>
              <a:t>. </a:t>
            </a:r>
          </a:p>
          <a:p>
            <a:r>
              <a:rPr lang="en-US" altLang="zh-HK" dirty="0"/>
              <a:t>Over 20 massive Pull Requests were generated autonomously by AI. The human engineer acted solely as the final architecture reviewer. This represents a 10x to 20x velocity multiplier for new infrastructure development. </a:t>
            </a:r>
            <a:endParaRPr lang="zh-HK" altLang="en-US" dirty="0"/>
          </a:p>
        </p:txBody>
      </p:sp>
      <p:sp>
        <p:nvSpPr>
          <p:cNvPr id="4" name="投影片編號版面配置區 3"/>
          <p:cNvSpPr>
            <a:spLocks noGrp="1"/>
          </p:cNvSpPr>
          <p:nvPr>
            <p:ph type="sldNum" idx="36"/>
          </p:nvPr>
        </p:nvSpPr>
        <p:spPr/>
        <p:txBody>
          <a:bodyPr/>
          <a:lstStyle/>
          <a:p>
            <a:pPr indent="0" algn="r">
              <a:buNone/>
            </a:pPr>
            <a:fld id="{4B24A35B-39E5-4CF7-97A8-7C1CF04ED6D0}" type="slidenum">
              <a:rPr lang="en-US" sz="1400" b="0" u="none" strike="noStrike" smtClean="0">
                <a:solidFill>
                  <a:srgbClr val="000000"/>
                </a:solidFill>
                <a:effectLst/>
                <a:uFillTx/>
                <a:latin typeface="Times New Roman"/>
              </a:rPr>
              <a:t>4</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4348326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Why Generating Code Doesn't Guarantee Production Performance</a:t>
            </a:r>
          </a:p>
          <a:p>
            <a:endParaRPr lang="en-US" altLang="zh-HK" dirty="0"/>
          </a:p>
          <a:p>
            <a:r>
              <a:rPr lang="en-US" altLang="zh-HK" dirty="0"/>
              <a:t>Even though generating the syntax for a distributed data store is solved, how that code performs at runtime is an entirely different matter. </a:t>
            </a:r>
          </a:p>
          <a:p>
            <a:r>
              <a:rPr lang="en-US" altLang="zh-HK" dirty="0"/>
              <a:t>Look at the decision tree branching out from a simple </a:t>
            </a:r>
            <a:r>
              <a:rPr lang="en-US" altLang="zh-HK" b="1" dirty="0"/>
              <a:t>SQL Query syntax </a:t>
            </a:r>
            <a:r>
              <a:rPr lang="en-US" altLang="zh-HK" dirty="0"/>
              <a:t>on this slide: </a:t>
            </a:r>
          </a:p>
          <a:p>
            <a:pPr marL="171450" indent="-171450">
              <a:buFont typeface="Arial" panose="020B0604020202020204" pitchFamily="34" charset="0"/>
              <a:buChar char="•"/>
            </a:pPr>
            <a:r>
              <a:rPr lang="en-US" altLang="zh-HK" dirty="0"/>
              <a:t>A single query branches into latency, throughput, resource contention, database load, index usage, connection pooling, data </a:t>
            </a:r>
            <a:r>
              <a:rPr lang="en-US" altLang="zh-HK" dirty="0" err="1"/>
              <a:t>sharding</a:t>
            </a:r>
            <a:r>
              <a:rPr lang="en-US" altLang="zh-HK" dirty="0"/>
              <a:t>, and replication lag. </a:t>
            </a:r>
          </a:p>
          <a:p>
            <a:pPr marL="171450" indent="-171450">
              <a:buFont typeface="Arial" panose="020B0604020202020204" pitchFamily="34" charset="0"/>
              <a:buChar char="•"/>
            </a:pPr>
            <a:r>
              <a:rPr lang="en-US" altLang="zh-HK" dirty="0"/>
              <a:t>These branch further into access patterns (read vs. write heavy), caching trade-offs, and network traffic locking. </a:t>
            </a:r>
          </a:p>
          <a:p>
            <a:r>
              <a:rPr lang="en-US" altLang="zh-HK" b="1" dirty="0"/>
              <a:t>Takeaway</a:t>
            </a:r>
            <a:r>
              <a:rPr lang="en-US" altLang="zh-HK" dirty="0"/>
              <a:t>: AI can generate the application architecture and write the queries. But without grounding in live traffic data and production experimentation, it cannot reason about memory allocation or eventual consistency under load. Syntax cannot predict runtime reality. </a:t>
            </a:r>
            <a:endParaRPr lang="zh-HK" altLang="en-US" dirty="0"/>
          </a:p>
        </p:txBody>
      </p:sp>
      <p:sp>
        <p:nvSpPr>
          <p:cNvPr id="4" name="投影片編號版面配置區 3"/>
          <p:cNvSpPr>
            <a:spLocks noGrp="1"/>
          </p:cNvSpPr>
          <p:nvPr>
            <p:ph type="sldNum" idx="36"/>
          </p:nvPr>
        </p:nvSpPr>
        <p:spPr/>
        <p:txBody>
          <a:bodyPr/>
          <a:lstStyle/>
          <a:p>
            <a:pPr indent="0" algn="r">
              <a:buNone/>
            </a:pPr>
            <a:fld id="{4B24A35B-39E5-4CF7-97A8-7C1CF04ED6D0}" type="slidenum">
              <a:rPr lang="en-US" sz="1400" b="0" u="none" strike="noStrike" smtClean="0">
                <a:solidFill>
                  <a:srgbClr val="000000"/>
                </a:solidFill>
                <a:effectLst/>
                <a:uFillTx/>
                <a:latin typeface="Times New Roman"/>
              </a:rPr>
              <a:t>5</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5546937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Computational Irreducibility and the MP3 Illusion</a:t>
            </a:r>
          </a:p>
          <a:p>
            <a:endParaRPr lang="en-US" altLang="zh-HK" dirty="0"/>
          </a:p>
          <a:p>
            <a:r>
              <a:rPr lang="en-US" altLang="zh-HK" dirty="0"/>
              <a:t>Why is predictive system operations so mathematically difficult? Consider an analogy shared in systems engineering discussions: </a:t>
            </a:r>
            <a:r>
              <a:rPr lang="en-US" altLang="zh-HK" b="1" dirty="0"/>
              <a:t>The MP3 Illusion</a:t>
            </a:r>
            <a:r>
              <a:rPr lang="en-US" altLang="zh-HK" dirty="0"/>
              <a:t>. </a:t>
            </a:r>
          </a:p>
          <a:p>
            <a:r>
              <a:rPr lang="en-US" altLang="zh-HK" dirty="0"/>
              <a:t>A 4-byte or 4MB audio file is technically finite ($2^n$ bits). It is mathematically bounded, yet practically infinite in its musical variations. </a:t>
            </a:r>
          </a:p>
          <a:p>
            <a:r>
              <a:rPr lang="en-US" altLang="zh-HK" dirty="0"/>
              <a:t>Now look at The </a:t>
            </a:r>
            <a:r>
              <a:rPr lang="en-US" altLang="zh-HK" b="1" dirty="0"/>
              <a:t>Distributed Reality </a:t>
            </a:r>
            <a:r>
              <a:rPr lang="en-US" altLang="zh-HK" dirty="0"/>
              <a:t>on the right: Every time you add a single bit or configuration switch to a program, the operational state space multiplies exponentially. Distributed systems quickly generate more potential states than there are atoms in the universe. </a:t>
            </a:r>
          </a:p>
          <a:p>
            <a:r>
              <a:rPr lang="en-US" altLang="zh-HK" dirty="0"/>
              <a:t>The Verdict: Predictive product approaches for distributed systems fail because the universe of heavy-tailed, exceptional runtime states is computationally irreducible. </a:t>
            </a:r>
            <a:endParaRPr lang="zh-HK" altLang="en-US" dirty="0"/>
          </a:p>
        </p:txBody>
      </p:sp>
      <p:sp>
        <p:nvSpPr>
          <p:cNvPr id="4" name="投影片編號版面配置區 3"/>
          <p:cNvSpPr>
            <a:spLocks noGrp="1"/>
          </p:cNvSpPr>
          <p:nvPr>
            <p:ph type="sldNum" idx="36"/>
          </p:nvPr>
        </p:nvSpPr>
        <p:spPr/>
        <p:txBody>
          <a:bodyPr/>
          <a:lstStyle/>
          <a:p>
            <a:pPr indent="0" algn="r">
              <a:buNone/>
            </a:pPr>
            <a:fld id="{4B24A35B-39E5-4CF7-97A8-7C1CF04ED6D0}" type="slidenum">
              <a:rPr lang="en-US" sz="1400" b="0" u="none" strike="noStrike" smtClean="0">
                <a:solidFill>
                  <a:srgbClr val="000000"/>
                </a:solidFill>
                <a:effectLst/>
                <a:uFillTx/>
                <a:latin typeface="Times New Roman"/>
              </a:rPr>
              <a:t>6</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41028811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Overcoming Impossible Prediction via Hardware Overprovisioning</a:t>
            </a:r>
          </a:p>
          <a:p>
            <a:endParaRPr lang="en-US" altLang="zh-HK" dirty="0"/>
          </a:p>
          <a:p>
            <a:r>
              <a:rPr lang="en-US" altLang="zh-HK" dirty="0"/>
              <a:t>How has systems engineering historically survived this combinatorial explosion? We don't predict runtime behavior; </a:t>
            </a:r>
            <a:r>
              <a:rPr lang="en-US" altLang="zh-HK" b="1" dirty="0"/>
              <a:t>we overprovision</a:t>
            </a:r>
            <a:r>
              <a:rPr lang="en-US" altLang="zh-HK" dirty="0"/>
              <a:t>. </a:t>
            </a:r>
          </a:p>
          <a:p>
            <a:r>
              <a:rPr lang="en-US" altLang="zh-HK" dirty="0"/>
              <a:t>Look at the historical examples on this slide: </a:t>
            </a:r>
          </a:p>
          <a:p>
            <a:pPr marL="171450" indent="-171450">
              <a:buFont typeface="Arial" panose="020B0604020202020204" pitchFamily="34" charset="0"/>
              <a:buChar char="•"/>
            </a:pPr>
            <a:r>
              <a:rPr lang="en-US" altLang="zh-HK" b="1" dirty="0"/>
              <a:t>Virtual Memory</a:t>
            </a:r>
            <a:r>
              <a:rPr lang="en-US" altLang="zh-HK" dirty="0"/>
              <a:t>: Early smart swap-to-disk algorithms constantly killed computers under memory pressure. The ultimate engineering solution wasn't a smarter algorithm; it was simply to overprovision physical RAM. </a:t>
            </a:r>
          </a:p>
          <a:p>
            <a:pPr marL="171450" indent="-171450">
              <a:buFont typeface="Arial" panose="020B0604020202020204" pitchFamily="34" charset="0"/>
              <a:buChar char="•"/>
            </a:pPr>
            <a:r>
              <a:rPr lang="en-US" altLang="zh-HK" b="1" dirty="0"/>
              <a:t>Network Routing</a:t>
            </a:r>
            <a:r>
              <a:rPr lang="en-US" altLang="zh-HK" dirty="0"/>
              <a:t>: Complex adaptive routing algorithms historically caused endless network oscillations and packet storms. The practical solution was to overprovision network bandwidth. </a:t>
            </a:r>
          </a:p>
          <a:p>
            <a:r>
              <a:rPr lang="en-US" altLang="zh-HK" b="1" dirty="0"/>
              <a:t>The Takeaway</a:t>
            </a:r>
            <a:r>
              <a:rPr lang="en-US" altLang="zh-HK" dirty="0"/>
              <a:t>: If human engineers survived operations by intentionally avoiding predictive complexity through overprovisioning, training an AI to perfectly predict operational failure states from scratch is the wrong technical pursuit. </a:t>
            </a:r>
            <a:endParaRPr lang="zh-HK" altLang="en-US" dirty="0"/>
          </a:p>
        </p:txBody>
      </p:sp>
      <p:sp>
        <p:nvSpPr>
          <p:cNvPr id="4" name="投影片編號版面配置區 3"/>
          <p:cNvSpPr>
            <a:spLocks noGrp="1"/>
          </p:cNvSpPr>
          <p:nvPr>
            <p:ph type="sldNum" idx="36"/>
          </p:nvPr>
        </p:nvSpPr>
        <p:spPr/>
        <p:txBody>
          <a:bodyPr/>
          <a:lstStyle/>
          <a:p>
            <a:pPr indent="0" algn="r">
              <a:buNone/>
            </a:pPr>
            <a:fld id="{4B24A35B-39E5-4CF7-97A8-7C1CF04ED6D0}" type="slidenum">
              <a:rPr lang="en-US" sz="1400" b="0" u="none" strike="noStrike" smtClean="0">
                <a:solidFill>
                  <a:srgbClr val="000000"/>
                </a:solidFill>
                <a:effectLst/>
                <a:uFillTx/>
                <a:latin typeface="Times New Roman"/>
              </a:rPr>
              <a:t>7</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0426772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Diminishing Returns on Observability Data Volume and Cost</a:t>
            </a:r>
          </a:p>
          <a:p>
            <a:endParaRPr lang="en-US" altLang="zh-HK" dirty="0"/>
          </a:p>
          <a:p>
            <a:r>
              <a:rPr lang="en-US" altLang="zh-HK" dirty="0"/>
              <a:t>When companies try to gain visibility into these complex systems, they fall into </a:t>
            </a:r>
            <a:r>
              <a:rPr lang="en-US" altLang="zh-HK" b="1" dirty="0"/>
              <a:t>The Observability Trap</a:t>
            </a:r>
            <a:r>
              <a:rPr lang="en-US" altLang="zh-HK" dirty="0"/>
              <a:t>. Look at the cost vs. reliability chart on this slide: </a:t>
            </a:r>
          </a:p>
          <a:p>
            <a:pPr marL="171450" indent="-171450">
              <a:buFont typeface="Arial" panose="020B0604020202020204" pitchFamily="34" charset="0"/>
              <a:buChar char="•"/>
            </a:pPr>
            <a:r>
              <a:rPr lang="en-US" altLang="zh-HK" b="1" dirty="0"/>
              <a:t>The Cost Curve</a:t>
            </a:r>
            <a:r>
              <a:rPr lang="en-US" altLang="zh-HK" dirty="0"/>
              <a:t>: As architectures shifted to smaller, vertically integrated microservices, telemetry data volume exploded exponentially. Companies now spend </a:t>
            </a:r>
            <a:r>
              <a:rPr lang="en-US" altLang="zh-HK" b="1" dirty="0"/>
              <a:t>5% to 20% of their total infrastructure budget </a:t>
            </a:r>
            <a:r>
              <a:rPr lang="en-US" altLang="zh-HK" dirty="0"/>
              <a:t>on observability. </a:t>
            </a:r>
          </a:p>
          <a:p>
            <a:pPr marL="171450" indent="-171450">
              <a:buFont typeface="Arial" panose="020B0604020202020204" pitchFamily="34" charset="0"/>
              <a:buChar char="•"/>
            </a:pPr>
            <a:r>
              <a:rPr lang="en-US" altLang="zh-HK" b="1" dirty="0"/>
              <a:t>The Reliability Curve</a:t>
            </a:r>
            <a:r>
              <a:rPr lang="en-US" altLang="zh-HK" dirty="0"/>
              <a:t>: While log and metric collection started out helpful, the marginal return on reliability has completely flatlined. </a:t>
            </a:r>
          </a:p>
          <a:p>
            <a:r>
              <a:rPr lang="en-US" altLang="zh-HK" dirty="0"/>
              <a:t>The cost of observability is growing much faster than the units of computing function being outputted. Enterprises are paying massive bills for raw noise, not actual reliability. </a:t>
            </a:r>
            <a:endParaRPr lang="zh-HK" altLang="en-US" dirty="0"/>
          </a:p>
        </p:txBody>
      </p:sp>
      <p:sp>
        <p:nvSpPr>
          <p:cNvPr id="4" name="投影片編號版面配置區 3"/>
          <p:cNvSpPr>
            <a:spLocks noGrp="1"/>
          </p:cNvSpPr>
          <p:nvPr>
            <p:ph type="sldNum" idx="36"/>
          </p:nvPr>
        </p:nvSpPr>
        <p:spPr/>
        <p:txBody>
          <a:bodyPr/>
          <a:lstStyle/>
          <a:p>
            <a:pPr indent="0" algn="r">
              <a:buNone/>
            </a:pPr>
            <a:fld id="{4B24A35B-39E5-4CF7-97A8-7C1CF04ED6D0}" type="slidenum">
              <a:rPr lang="en-US" sz="1400" b="0" u="none" strike="noStrike" smtClean="0">
                <a:solidFill>
                  <a:srgbClr val="000000"/>
                </a:solidFill>
                <a:effectLst/>
                <a:uFillTx/>
                <a:latin typeface="Times New Roman"/>
              </a:rPr>
              <a:t>8</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8445304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Why Reactive Alerting and Backward Log-Backtracking Fail</a:t>
            </a:r>
          </a:p>
          <a:p>
            <a:endParaRPr lang="en-US" altLang="zh-HK" dirty="0"/>
          </a:p>
          <a:p>
            <a:r>
              <a:rPr lang="en-US" altLang="zh-HK" dirty="0"/>
              <a:t>When teams attempt to apply AI to Site Reliability (AISR), they often build flawed reactive systems. Look at the diagram illustrating </a:t>
            </a:r>
            <a:r>
              <a:rPr lang="en-US" altLang="zh-HK" b="1" dirty="0"/>
              <a:t>Legacy AISR</a:t>
            </a:r>
            <a:r>
              <a:rPr lang="en-US" altLang="zh-HK" dirty="0"/>
              <a:t>: </a:t>
            </a:r>
          </a:p>
          <a:p>
            <a:pPr marL="171450" indent="-171450">
              <a:buFont typeface="Arial" panose="020B0604020202020204" pitchFamily="34" charset="0"/>
              <a:buChar char="•"/>
            </a:pPr>
            <a:r>
              <a:rPr lang="en-US" altLang="zh-HK" dirty="0"/>
              <a:t>An outage alert fires—acting as a </a:t>
            </a:r>
            <a:r>
              <a:rPr lang="en-US" altLang="zh-HK" b="1" dirty="0"/>
              <a:t>lagging indicator</a:t>
            </a:r>
            <a:r>
              <a:rPr lang="en-US" altLang="zh-HK" dirty="0"/>
              <a:t>. </a:t>
            </a:r>
          </a:p>
          <a:p>
            <a:pPr marL="171450" indent="-171450">
              <a:buFont typeface="Arial" panose="020B0604020202020204" pitchFamily="34" charset="0"/>
              <a:buChar char="•"/>
            </a:pPr>
            <a:r>
              <a:rPr lang="en-US" altLang="zh-HK" dirty="0"/>
              <a:t>The AI node is then forced to backtrack backward through petabytes of infinite raw logs and noise to find the root cause. </a:t>
            </a:r>
          </a:p>
          <a:p>
            <a:pPr marL="0" indent="0">
              <a:buFont typeface="Arial" panose="020B0604020202020204" pitchFamily="34" charset="0"/>
              <a:buNone/>
            </a:pPr>
            <a:r>
              <a:rPr lang="en-US" altLang="zh-HK" b="1" dirty="0"/>
              <a:t>Why It Fails</a:t>
            </a:r>
            <a:r>
              <a:rPr lang="en-US" altLang="zh-HK" dirty="0"/>
              <a:t>: Backtracking through infinite potential causal chains without a bounded starting point is computationally impossible in heavy-tailed operational environments. Waiting for a metric spike and telling an AI to search through a haystack of logs is a broken paradigm. </a:t>
            </a:r>
            <a:endParaRPr lang="zh-HK" altLang="en-US" dirty="0"/>
          </a:p>
        </p:txBody>
      </p:sp>
      <p:sp>
        <p:nvSpPr>
          <p:cNvPr id="4" name="投影片編號版面配置區 3"/>
          <p:cNvSpPr>
            <a:spLocks noGrp="1"/>
          </p:cNvSpPr>
          <p:nvPr>
            <p:ph type="sldNum" idx="36"/>
          </p:nvPr>
        </p:nvSpPr>
        <p:spPr/>
        <p:txBody>
          <a:bodyPr/>
          <a:lstStyle/>
          <a:p>
            <a:pPr indent="0" algn="r">
              <a:buNone/>
            </a:pPr>
            <a:fld id="{4B24A35B-39E5-4CF7-97A8-7C1CF04ED6D0}" type="slidenum">
              <a:rPr lang="en-US" sz="1400" b="0" u="none" strike="noStrike" smtClean="0">
                <a:solidFill>
                  <a:srgbClr val="000000"/>
                </a:solidFill>
                <a:effectLst/>
                <a:uFillTx/>
                <a:latin typeface="Times New Roman"/>
              </a:rPr>
              <a:t>9</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2066941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Deterministic Triggers, Bounded Hypotheses, and Targeted Verification</a:t>
            </a:r>
          </a:p>
          <a:p>
            <a:endParaRPr lang="en-US" altLang="zh-HK" dirty="0"/>
          </a:p>
          <a:p>
            <a:r>
              <a:rPr lang="en-US" altLang="zh-HK" dirty="0"/>
              <a:t>If backward inference fails, how should AI be applied to operations? </a:t>
            </a:r>
            <a:r>
              <a:rPr lang="en-US" altLang="zh-HK" b="1" dirty="0"/>
              <a:t>Simulate the human, not the universe</a:t>
            </a:r>
            <a:r>
              <a:rPr lang="en-US" altLang="zh-HK" dirty="0"/>
              <a:t>.</a:t>
            </a:r>
          </a:p>
          <a:p>
            <a:r>
              <a:rPr lang="en-US" altLang="zh-HK" b="1" dirty="0"/>
              <a:t>Core Insight</a:t>
            </a:r>
            <a:r>
              <a:rPr lang="en-US" altLang="zh-HK" dirty="0"/>
              <a:t>: The number of bad things that can happen in a distributed system is infinite. However, the bounded set of steps a human expert takes to debug them is manageable and structured. </a:t>
            </a:r>
          </a:p>
          <a:p>
            <a:r>
              <a:rPr lang="en-US" altLang="zh-HK" dirty="0"/>
              <a:t>Look at the 3-step operational loop on this slide: </a:t>
            </a:r>
          </a:p>
          <a:p>
            <a:pPr marL="228600" indent="-228600">
              <a:buFont typeface="+mj-lt"/>
              <a:buAutoNum type="arabicPeriod"/>
            </a:pPr>
            <a:r>
              <a:rPr lang="en-US" altLang="zh-HK" b="1" dirty="0"/>
              <a:t>Deterministic Trigger</a:t>
            </a:r>
            <a:r>
              <a:rPr lang="en-US" altLang="zh-HK" dirty="0"/>
              <a:t>: Wait for a specific, out-of-norm signal (e.g., 'resource buffer empty') rather than chasing lagging alert spikes. </a:t>
            </a:r>
          </a:p>
          <a:p>
            <a:pPr marL="228600" indent="-228600">
              <a:buFont typeface="+mj-lt"/>
              <a:buAutoNum type="arabicPeriod"/>
            </a:pPr>
            <a:r>
              <a:rPr lang="en-US" altLang="zh-HK" b="1" dirty="0"/>
              <a:t>Hypothesis Generation</a:t>
            </a:r>
            <a:r>
              <a:rPr lang="en-US" altLang="zh-HK" dirty="0"/>
              <a:t>: The AI reviews the specific code generating the error and builds a bounded list of causal chains. </a:t>
            </a:r>
          </a:p>
          <a:p>
            <a:pPr marL="228600" indent="-228600">
              <a:buFont typeface="+mj-lt"/>
              <a:buAutoNum type="arabicPeriod"/>
            </a:pPr>
            <a:r>
              <a:rPr lang="en-US" altLang="zh-HK" b="1" dirty="0"/>
              <a:t>Verification</a:t>
            </a:r>
            <a:r>
              <a:rPr lang="en-US" altLang="zh-HK" dirty="0"/>
              <a:t>: The AI runs targeted experiments to verify which specific hypothesis fits the live data pattern. </a:t>
            </a:r>
            <a:endParaRPr lang="zh-HK" altLang="en-US" dirty="0"/>
          </a:p>
        </p:txBody>
      </p:sp>
      <p:sp>
        <p:nvSpPr>
          <p:cNvPr id="4" name="投影片編號版面配置區 3"/>
          <p:cNvSpPr>
            <a:spLocks noGrp="1"/>
          </p:cNvSpPr>
          <p:nvPr>
            <p:ph type="sldNum" idx="36"/>
          </p:nvPr>
        </p:nvSpPr>
        <p:spPr/>
        <p:txBody>
          <a:bodyPr/>
          <a:lstStyle/>
          <a:p>
            <a:pPr indent="0" algn="r">
              <a:buNone/>
            </a:pPr>
            <a:fld id="{4B24A35B-39E5-4CF7-97A8-7C1CF04ED6D0}" type="slidenum">
              <a:rPr lang="en-US" sz="1400" b="0" u="none" strike="noStrike" smtClean="0">
                <a:solidFill>
                  <a:srgbClr val="000000"/>
                </a:solidFill>
                <a:effectLst/>
                <a:uFillTx/>
                <a:latin typeface="Times New Roman"/>
              </a:rPr>
              <a:t>10</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1647100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Real-Time Upstream Filtering to Reduce Observability Costs by 90%</a:t>
            </a:r>
          </a:p>
          <a:p>
            <a:endParaRPr lang="en-US" altLang="zh-HK" dirty="0"/>
          </a:p>
          <a:p>
            <a:r>
              <a:rPr lang="en-US" altLang="zh-HK" dirty="0"/>
              <a:t>How do we make this architecture practical at petabyte scale? Through </a:t>
            </a:r>
            <a:r>
              <a:rPr lang="en-US" altLang="zh-HK" b="1" dirty="0"/>
              <a:t>Upstream Telemetry Filtering</a:t>
            </a:r>
            <a:r>
              <a:rPr lang="en-US" altLang="zh-HK" dirty="0"/>
              <a:t>. </a:t>
            </a:r>
          </a:p>
          <a:p>
            <a:r>
              <a:rPr lang="en-US" altLang="zh-HK" dirty="0"/>
              <a:t>Look at the architectural stack on this slide: </a:t>
            </a:r>
          </a:p>
          <a:p>
            <a:pPr marL="171450" indent="-171450">
              <a:buFont typeface="Arial" panose="020B0604020202020204" pitchFamily="34" charset="0"/>
              <a:buChar char="•"/>
            </a:pPr>
            <a:r>
              <a:rPr lang="en-US" altLang="zh-HK" dirty="0"/>
              <a:t>Instead of passing all raw log noise downstream to expensive monitoring platforms, logs are scanned in real-time at the source before leaving the node. </a:t>
            </a:r>
          </a:p>
          <a:p>
            <a:pPr marL="171450" indent="-171450">
              <a:buFont typeface="Arial" panose="020B0604020202020204" pitchFamily="34" charset="0"/>
              <a:buChar char="•"/>
            </a:pPr>
            <a:r>
              <a:rPr lang="en-US" altLang="zh-HK" dirty="0"/>
              <a:t>Only when a new pattern emerges—a true perturbation or anomaly in the environment—is that isolated signal lifted to the AI reasoning layer. </a:t>
            </a:r>
          </a:p>
          <a:p>
            <a:r>
              <a:rPr lang="en-US" altLang="zh-HK" b="1" dirty="0"/>
              <a:t>The Result</a:t>
            </a:r>
            <a:r>
              <a:rPr lang="en-US" altLang="zh-HK" dirty="0"/>
              <a:t>: This approach reduces observability costs by up to </a:t>
            </a:r>
            <a:r>
              <a:rPr lang="en-US" altLang="zh-HK" b="1" dirty="0"/>
              <a:t>90%</a:t>
            </a:r>
            <a:r>
              <a:rPr lang="en-US" altLang="zh-HK" dirty="0"/>
              <a:t> while providing the AI with the exact, deterministic starting point it needs to begin running debugging hypotheses. </a:t>
            </a:r>
            <a:endParaRPr lang="zh-HK" altLang="en-US" dirty="0"/>
          </a:p>
        </p:txBody>
      </p:sp>
      <p:sp>
        <p:nvSpPr>
          <p:cNvPr id="4" name="投影片編號版面配置區 3"/>
          <p:cNvSpPr>
            <a:spLocks noGrp="1"/>
          </p:cNvSpPr>
          <p:nvPr>
            <p:ph type="sldNum" idx="36"/>
          </p:nvPr>
        </p:nvSpPr>
        <p:spPr/>
        <p:txBody>
          <a:bodyPr/>
          <a:lstStyle/>
          <a:p>
            <a:pPr indent="0" algn="r">
              <a:buNone/>
            </a:pPr>
            <a:fld id="{4B24A35B-39E5-4CF7-97A8-7C1CF04ED6D0}" type="slidenum">
              <a:rPr lang="en-US" sz="1400" b="0" u="none" strike="noStrike" smtClean="0">
                <a:solidFill>
                  <a:srgbClr val="000000"/>
                </a:solidFill>
                <a:effectLst/>
                <a:uFillTx/>
                <a:latin typeface="Times New Roman"/>
              </a:rPr>
              <a:t>11</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8719446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Architectural Convergence and Constrained Environments</a:t>
            </a:r>
          </a:p>
          <a:p>
            <a:endParaRPr lang="en-US" altLang="zh-HK" dirty="0"/>
          </a:p>
          <a:p>
            <a:r>
              <a:rPr lang="en-US" altLang="zh-HK" dirty="0"/>
              <a:t>This brings us to the ultimate strategic realization of the AI era: </a:t>
            </a:r>
            <a:r>
              <a:rPr lang="en-US" altLang="zh-HK" b="1" dirty="0"/>
              <a:t>The Event Horizon</a:t>
            </a:r>
            <a:r>
              <a:rPr lang="en-US" altLang="zh-HK" dirty="0"/>
              <a:t>. </a:t>
            </a:r>
          </a:p>
          <a:p>
            <a:r>
              <a:rPr lang="en-US" altLang="zh-HK" dirty="0"/>
              <a:t>Think about the history of robotics: Just as physical robotics required us to build structured, standardized warehouses (like Amazon fulfillment centers) rather than giving robots general human mobility across chaotic streets, AI operations will force similar architectural changes. </a:t>
            </a:r>
          </a:p>
          <a:p>
            <a:r>
              <a:rPr lang="en-US" altLang="zh-HK" b="1" dirty="0"/>
              <a:t>Takeaway</a:t>
            </a:r>
            <a:r>
              <a:rPr lang="en-US" altLang="zh-HK" dirty="0"/>
              <a:t>: We may never solve the infinite state space of legacy, unconstrained distributed systems. Instead, we will intentionally design highly constrained, standardized, computationally reducible environments that AI can perfectly simulate and manage. </a:t>
            </a:r>
            <a:endParaRPr lang="zh-HK" altLang="en-US" dirty="0"/>
          </a:p>
        </p:txBody>
      </p:sp>
      <p:sp>
        <p:nvSpPr>
          <p:cNvPr id="4" name="投影片編號版面配置區 3"/>
          <p:cNvSpPr>
            <a:spLocks noGrp="1"/>
          </p:cNvSpPr>
          <p:nvPr>
            <p:ph type="sldNum" idx="36"/>
          </p:nvPr>
        </p:nvSpPr>
        <p:spPr/>
        <p:txBody>
          <a:bodyPr/>
          <a:lstStyle/>
          <a:p>
            <a:pPr indent="0" algn="r">
              <a:buNone/>
            </a:pPr>
            <a:fld id="{4B24A35B-39E5-4CF7-97A8-7C1CF04ED6D0}" type="slidenum">
              <a:rPr lang="en-US" sz="1400" b="0" u="none" strike="noStrike" smtClean="0">
                <a:solidFill>
                  <a:srgbClr val="000000"/>
                </a:solidFill>
                <a:effectLst/>
                <a:uFillTx/>
                <a:latin typeface="Times New Roman"/>
              </a:rPr>
              <a:t>12</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3230128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Comprehensive Comparison of Code Generation vs. Runtime Operations</a:t>
            </a:r>
          </a:p>
          <a:p>
            <a:endParaRPr lang="en-US" altLang="zh-HK" dirty="0"/>
          </a:p>
          <a:p>
            <a:r>
              <a:rPr lang="en-US" altLang="zh-HK" dirty="0"/>
              <a:t>Let's summarize the overarching theme of this presentation comparing development and operations: </a:t>
            </a:r>
          </a:p>
          <a:p>
            <a:pPr marL="171450" indent="-171450">
              <a:buFont typeface="Arial" panose="020B0604020202020204" pitchFamily="34" charset="0"/>
              <a:buChar char="•"/>
            </a:pPr>
            <a:r>
              <a:rPr lang="en-US" altLang="zh-HK" b="1" dirty="0"/>
              <a:t>AI in Code Generation (Syntax)</a:t>
            </a:r>
            <a:r>
              <a:rPr lang="en-US" altLang="zh-HK" dirty="0"/>
              <a:t>: Achieves 10x to 20x developer speedups because public codebases provide ideal digital training distributions within a constrained training space. </a:t>
            </a:r>
          </a:p>
          <a:p>
            <a:pPr marL="171450" indent="-171450">
              <a:buFont typeface="Arial" panose="020B0604020202020204" pitchFamily="34" charset="0"/>
              <a:buChar char="•"/>
            </a:pPr>
            <a:r>
              <a:rPr lang="en-US" altLang="zh-HK" b="1" dirty="0"/>
              <a:t>AI in System Operations (Semantics)</a:t>
            </a:r>
            <a:r>
              <a:rPr lang="en-US" altLang="zh-HK" dirty="0"/>
              <a:t>: Faces explosive runtime complexity because production environments introduce exponential state spaces and dynamic traffic patterns that static code cannot predict. </a:t>
            </a:r>
          </a:p>
          <a:p>
            <a:r>
              <a:rPr lang="en-US" altLang="zh-HK" dirty="0"/>
              <a:t>Writing code is an intellectual puzzle; keeping systems running is an ongoing battle against entropy. </a:t>
            </a:r>
            <a:endParaRPr lang="zh-HK" altLang="en-US" dirty="0"/>
          </a:p>
        </p:txBody>
      </p:sp>
      <p:sp>
        <p:nvSpPr>
          <p:cNvPr id="4" name="投影片編號版面配置區 3"/>
          <p:cNvSpPr>
            <a:spLocks noGrp="1"/>
          </p:cNvSpPr>
          <p:nvPr>
            <p:ph type="sldNum" idx="36"/>
          </p:nvPr>
        </p:nvSpPr>
        <p:spPr/>
        <p:txBody>
          <a:bodyPr/>
          <a:lstStyle/>
          <a:p>
            <a:pPr indent="0" algn="r">
              <a:buNone/>
            </a:pPr>
            <a:fld id="{4B24A35B-39E5-4CF7-97A8-7C1CF04ED6D0}" type="slidenum">
              <a:rPr lang="en-US" sz="1400" b="0" u="none" strike="noStrike" smtClean="0">
                <a:solidFill>
                  <a:srgbClr val="000000"/>
                </a:solidFill>
                <a:effectLst/>
                <a:uFillTx/>
                <a:latin typeface="Times New Roman"/>
              </a:rPr>
              <a:t>13</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7546290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訂版面配置">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887746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43E742D0-2A07-E0F1-913A-14AAAE388A6C}"/>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89461997-5A64-BE85-3B0B-06D83DBC6700}"/>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BD5188D0-C8F2-80AA-01E9-24F3EFDAAD06}"/>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312F395D-D3CC-3176-9953-D811FADF9A5D}"/>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1DD0C1F0-F42F-B78E-E9E9-98A801C8654B}"/>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05F466B6-5D60-402E-100B-373069CB50E6}"/>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77D52155-7A1B-8591-0D4F-727629799F27}"/>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71230AEC-B024-E018-D40C-8C6C64B11126}"/>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2DF07DDA-A3EC-2E4E-FBF3-BBCBD2BAB329}"/>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9107DD2E-7C07-92C2-FBD5-A3261CAD44B4}"/>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2CE814CE-4A5A-8099-2BEE-320FEF68471B}"/>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84CD2C7F-C4BD-24B3-5B23-D5143CCC98BB}"/>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933F6382-EC7F-3F3B-C359-0DFE6CFC0089}"/>
              </a:ext>
            </a:extLst>
          </p:cNvPr>
          <p:cNvPicPr>
            <a:picLocks noChangeAspect="1"/>
          </p:cNvPicPr>
          <p:nvPr/>
        </p:nvPicPr>
        <p:blipFill>
          <a:blip r:embed="rId3"/>
          <a:stretch>
            <a:fillRect/>
          </a:stretch>
        </p:blipFill>
        <p:spPr>
          <a:xfrm>
            <a:off x="3175" y="33337"/>
            <a:ext cx="16249650" cy="907732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TotalTime>
  <Words>1795</Words>
  <Application>Microsoft Office PowerPoint</Application>
  <PresentationFormat>自訂</PresentationFormat>
  <Paragraphs>100</Paragraphs>
  <Slides>13</Slides>
  <Notes>13</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13</vt:i4>
      </vt:variant>
    </vt:vector>
  </HeadingPairs>
  <TitlesOfParts>
    <vt:vector size="17" baseType="lpstr">
      <vt:lpstr>Arial</vt:lpstr>
      <vt:lpstr>Calibri</vt:lpstr>
      <vt:lpstr>Times New Roman</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subject/>
  <dc:creator/>
  <dc:description/>
  <cp:lastModifiedBy>Wilson Lai</cp:lastModifiedBy>
  <cp:revision>7</cp:revision>
  <dcterms:created xsi:type="dcterms:W3CDTF">2006-08-16T00:00:00Z</dcterms:created>
  <dcterms:modified xsi:type="dcterms:W3CDTF">2026-10-17T08:51:00Z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