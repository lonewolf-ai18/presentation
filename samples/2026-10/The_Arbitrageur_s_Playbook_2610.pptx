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8417E6E-ADDD-4889-97A5-F24728D5392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20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Arbitrageur’s Playbook: How to find non-obvious opportunities, master any industry in 18 months, and manufacture magic.</a:t>
            </a:r>
            <a:endParaRPr lang="zh-TW" altLang="zh-HK" sz="20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20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20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Minutes</a:t>
            </a:r>
            <a:endParaRPr lang="zh-TW" altLang="zh-HK" sz="20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20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24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20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20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Opening Hook:</a:t>
            </a:r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Welcome, everyone. Today, we are exploring a mindset that spans financial derivatives, world-class gastronomy, and immersive live-action platforms. This framework is built entirely on the mental models of Nick Kokonas.</a:t>
            </a:r>
            <a:endParaRPr lang="zh-TW" altLang="zh-HK" sz="20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20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20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Core Premise:</a:t>
            </a:r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Most people view business as a linear climb up a single hill. True arbitrageurs look for systemic mispricings, structural latencies, and hidden rules that others take for granted.</a:t>
            </a:r>
            <a:endParaRPr lang="zh-TW" altLang="zh-HK" sz="20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20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20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Overview of the Journey:</a:t>
            </a:r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Over the next 16 slides, we will deconstruct how to find non-obvious opportunities, master new industries rapidly, and engineer exceptional outcomes from first principles.</a:t>
            </a:r>
            <a:endParaRPr lang="zh-TW" altLang="zh-HK" sz="20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/>
            <a:endParaRPr lang="en-US" altLang="zh-HK" sz="2000" kern="0">
              <a:solidFill>
                <a:srgbClr val="1F1F1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/>
            <a:endParaRPr lang="en-US" altLang="zh-HK" sz="2000" kern="0">
              <a:solidFill>
                <a:srgbClr val="1F1F1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/>
            <a:endParaRPr lang="en-US" altLang="zh-HK" sz="2000" kern="0">
              <a:solidFill>
                <a:srgbClr val="1F1F1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Arbitrage Hunter: how to find non-obvious opportunities to make millions</a:t>
            </a:r>
          </a:p>
          <a:p>
            <a:pPr marL="457200"/>
            <a:r>
              <a:rPr lang="en-US" altLang="zh-HK" sz="20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https://www.youtube.com/watch?v=YdRLpWQARtA</a:t>
            </a:r>
          </a:p>
          <a:p>
            <a:pPr marL="457200"/>
            <a:endParaRPr lang="zh-TW" altLang="zh-HK" sz="20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Arbitrage Mindset: Rules of Unconventional Entrepreneurship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Core Framework: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This slide maps out the complete mental architecture of unconventional entrepreneurship. Let's break down the pillars: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  <a:tabLst>
                <a:tab pos="914400" algn="l"/>
              </a:tabLst>
            </a:pP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 the Tingle of Uncomfortableness: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you feel completely safe every day, you aren't taking enough risk.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 startAt="2"/>
              <a:tabLst>
                <a:tab pos="914400" algn="l"/>
              </a:tabLst>
            </a:pP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Down the Mountain to Reset: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Expertise can become a trap; true innovators willingly return to beginner status.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 startAt="3"/>
              <a:tabLst>
                <a:tab pos="914400" algn="l"/>
              </a:tabLst>
            </a:pP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Grind Out Volume: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World-class output requires producing and filtering through hundreds of bad iterations.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 startAt="4"/>
              <a:tabLst>
                <a:tab pos="914400" algn="l"/>
              </a:tabLst>
            </a:pP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 Arbitrage via Time Scale: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Spot where legacy systems introduce unnecessary delays.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 startAt="5"/>
              <a:tabLst>
                <a:tab pos="914400" algn="l"/>
              </a:tabLst>
            </a:pP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 the Rules to Find High Hoops: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Deeply studying regulations exposes hidden structural advantages.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7132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Expertise is a Trap: The Sisyphus Loop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Expertise Trap: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Once you reach the top of an industry and achieve expert level, you often become rigid, vulnerable to younger, hungrier talent with fresh eyes who are willing to break conventions.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Drop: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You must know when to quit or pivot before your current expertise gets stale and your advantages are commoditized.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New Mountain: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Embrace the nausea of incompetence by starting an entirely new career or venture every decade. As Albert Camus noted: </a:t>
            </a: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"We must imagine Sisyphus happy. The work itself is the win."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5194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Every arbitrage is just about time scale.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Universal Rule: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Everything in the world is dynamically priced—whether it's stocks, restaurant tables, or water.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Only Variable: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critical variable is how slow or fast a market is to update its pricing in response to reality.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Playbook: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capture margin, you must find structural latency, eliminate operational friction, and execute faster than the market can adjust.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4678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Industry Standard vs. The Arbitrage Window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Legacy Delay: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traditional floor trading, a phone call, a paper ticket, a low-wage runner, and manual broker processing created a 40-second delay, causing the market to move before execution.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Arbitrage Solution: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finding regulatory gaps and bypassing standard latency—such as running dedicated fiber-optic lines—traders captured instantaneous communication.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Lesson: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Speed and regulatory navigation can unlock massive multi-million-dollar spreads with zero market risk.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8004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Paper Runner of Dining &amp; The Tock Solution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Restaurant Blind Spot: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Traditional phone reservations create massive friction and treat a 9:00 PM Tuesday table identically to a 7:00 PM Saturday table.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Tock Fix: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Moving to dynamic, geo-fenced, time-slotted pricing replaces archaic phone bookings with a streamlined system that maximizes revenue and eliminates costly no-shows.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Industry Pushback: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Legacy operators fought this innovation because their menus were printed quarterly, whereas true dynamic pricing requires updating timescales to the hour.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0012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Intensity is the Strategy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Brute Force Rule: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Knowing what is great requires making 99% garbage and ruthlessly editing out the inferior choices.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Culinary Parallel: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Just like Chef Grant Achatz making 25 variations of a sauce in blue-taped pans at 6:00 AM, greatness is a function of high-volume iteration, not instant genius.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Creative Method: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Write bad jokes or test dozens of variations every morning so you can perform flawlessly on stage at night.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7972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Building in Public: The Alinea Launch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Open-sourcing an entire business plan—including names, spreadsheets, and detailed philosophy—on a foodie forum a year before opening.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Psychology: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People want to buy from people. Exposing the behind-the-scenes creation process builds deep, authentic parasocial engagement before launch day.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Result: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fully booked opening night with the New York Times head food critic at the door, achieved with zero traditional marketing spend.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4088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Borrowing from Adjacencies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Traditional Constraint: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Fancy restaurants are often bound by 19th-century aristocratic rules, heavy tablecloths, and excessive cutlery.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Theatrical Theft: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Borrowing concepts from immersive theater—starting with an empty stage, introducing mysterious elements early that pay off later, and building the world around the guest incrementally.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Takeaway: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True innovation often happens when you import working frameworks from completely unrelated industries.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8834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Architecture of Magic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 (Positioning):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Never stand across the table in an adversarial posture. Stand next to the customer to physically communicate that you are on the same team.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(The Read):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Observe environmental cues and aspirational dynamics without making assumptions.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 (The Pitch):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Protect the buyer's ego. Pivot smoothly to options that match their exact profile and price point without friction.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49277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Dead-End Journey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Tech Fallacy: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Software designers often want every button available on every page, creating infinite optionality and massive cognitive load.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Hospitality Truth: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World-class experiences require curated constraints. Constraint is a feature, not a bug.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Omakase Principle: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True hospitality removes the burden of choice so customers can experience a seamless, guided emotional journey.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3383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Next Mountain: Strange House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Scope: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Building a 90,000-square-foot immersive experience underneath Wall Street alongside illusionist Nate Stanworth and Elan Lee.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Mechanism: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Merging close-up magic with Disney-style Haunted House throughput to deliver timed, highly scalable intimacy.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Ultimate Goal: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Engineering childlike wonder and profound human connection among complete strangers in a shared room.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2580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Synthesis Matrix: 3 Decades of Arbitrage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 Overview: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Let's look across three distinct decades of execution: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1990s (Derivatives):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Overcoming physical paper runners by exploiting data speed and regulatory blind spots through dedicated fiber lines.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2010s (Fine Dining/Tock):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Replacing phone host stands with geo-fenced yield management and custom SaaS platforms.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2020s (Strange House):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Moving beyond static proscenium stages to engineer scalable, high-intimacy real estate experiences.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6412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Final Arbitrage: The Value of In-Person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Thesis: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AI is scaling infinite, frictionless digital interactions down to a cost of zero.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Consequence: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digital intelligence becomes a commoditized utility, the value of what cannot be digitized skyrockets.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Play: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Physical, analog, shared human experiences—breathing the same air and experiencing wonder with strangers—will be the most valuable arbitrage of the coming decade.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5231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Sisyphus Directive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Core Action Items: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torture you are comfortable with.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 startAt="2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 the boulder relentlessly.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 startAt="3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out the redundant or ineffective parts every single night.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Mantra: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work is the win.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Finding fulfillment in the continuous loop of iteration is what separates enduring builders from transient speculators.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7125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Title: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Open Discussion &amp; Q&amp;A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35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Speaker Talking Points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Closing Question: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we open the floor for questions, ask yourself: </a:t>
            </a: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unexamined constraint in your industry can you turn into your primary competitive advantage?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 to Action: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Stop competing on crowded turf. Find your structural latency, embrace calculated discomfort, and build your own playbook. Thank you!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10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8417E6E-ADDD-4889-97A5-F24728D5392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5482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88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B7CDA1E-489A-9BCF-EC84-AAB463FD5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EFF6127-7C4B-C261-AF63-D3A17C540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73D68F8-33B8-8348-D805-13153289D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2AF8604-A317-7D0C-A98F-D01FF4BC4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62D6C06-1CCF-F4BD-13CF-D0C56C050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D882423-43A7-4D78-CB55-EECF5CB51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4D6821E-0D12-A1ED-5353-B1045651D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C029D48-26E0-9507-02B2-8AE6FF7AA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F8D27FC-8B89-B7E4-0414-14BC69D54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80A5415-60D3-FF49-B4EB-BEE6DDAE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DAEC8BA-447C-535C-7312-68D4EEC59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E737D31-D4F5-EDF4-2382-E1E636CFE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1C33DDC-C013-7E8A-FB12-A5F1FCA63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8A31EA3-6A58-79F1-3ED5-5BE3974DB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EA14890-C2F3-A514-41DE-D0513C1BF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6C373FA-CBE6-9321-42D9-D14352F68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24"/>
            <a:ext cx="16256000" cy="9075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1643</Words>
  <Application>Microsoft Office PowerPoint</Application>
  <PresentationFormat>自訂</PresentationFormat>
  <Paragraphs>206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Symbol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5</cp:revision>
  <dcterms:created xsi:type="dcterms:W3CDTF">2006-08-16T00:00:00Z</dcterms:created>
  <dcterms:modified xsi:type="dcterms:W3CDTF">2026-10-30T13:23:19Z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