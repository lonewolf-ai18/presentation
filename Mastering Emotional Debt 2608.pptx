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65957-9DEF-486F-8FA9-2395A6FFAADC}" v="35" dt="2026-08-06T03:42:23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0456" autoAdjust="0"/>
  </p:normalViewPr>
  <p:slideViewPr>
    <p:cSldViewPr snapToGrid="0">
      <p:cViewPr varScale="1">
        <p:scale>
          <a:sx n="74" d="100"/>
          <a:sy n="74" d="100"/>
        </p:scale>
        <p:origin x="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">
      <pc:chgData name="Lai, Wilson" userId="2840974a-0d84-4886-90a9-9a3ed79f3a48" providerId="ADAL" clId="{9F23B798-9E84-4552-BA63-E776E805C424}" dt="2026-08-06T03:42:15.216" v="62" actId="12"/>
      <pc:docMkLst>
        <pc:docMk/>
      </pc:docMkLst>
      <pc:sldChg chg="addSp delSp modSp mod modAnim modNotesTx">
        <pc:chgData name="Lai, Wilson" userId="2840974a-0d84-4886-90a9-9a3ed79f3a48" providerId="ADAL" clId="{9F23B798-9E84-4552-BA63-E776E805C424}" dt="2026-08-06T03:39:15.536" v="50" actId="20577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8-05T14:50:05.844" v="15" actId="164"/>
          <ac:spMkLst>
            <pc:docMk/>
            <pc:sldMk cId="0" sldId="257"/>
            <ac:spMk id="5" creationId="{AF3E6725-9218-A384-6B4B-4FCAB8CAB0E4}"/>
          </ac:spMkLst>
        </pc:spChg>
        <pc:grpChg chg="add mod">
          <ac:chgData name="Lai, Wilson" userId="2840974a-0d84-4886-90a9-9a3ed79f3a48" providerId="ADAL" clId="{9F23B798-9E84-4552-BA63-E776E805C424}" dt="2026-08-05T14:50:05.844" v="15" actId="164"/>
          <ac:grpSpMkLst>
            <pc:docMk/>
            <pc:sldMk cId="0" sldId="257"/>
            <ac:grpSpMk id="6" creationId="{33BB05FE-20EB-5812-9AD8-3A17DA779726}"/>
          </ac:grpSpMkLst>
        </pc:grpChg>
        <pc:picChg chg="del mod">
          <ac:chgData name="Lai, Wilson" userId="2840974a-0d84-4886-90a9-9a3ed79f3a48" providerId="ADAL" clId="{9F23B798-9E84-4552-BA63-E776E805C424}" dt="2026-08-05T15:08:07.061" v="19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05T14:50:05.844" v="15" actId="164"/>
          <ac:picMkLst>
            <pc:docMk/>
            <pc:sldMk cId="0" sldId="257"/>
            <ac:picMk id="3" creationId="{FBE82F65-2938-1266-BD7A-14777DE7334E}"/>
          </ac:picMkLst>
        </pc:picChg>
        <pc:picChg chg="add ord">
          <ac:chgData name="Lai, Wilson" userId="2840974a-0d84-4886-90a9-9a3ed79f3a48" providerId="ADAL" clId="{9F23B798-9E84-4552-BA63-E776E805C424}" dt="2026-08-06T03:21:11.065" v="48" actId="166"/>
          <ac:picMkLst>
            <pc:docMk/>
            <pc:sldMk cId="0" sldId="257"/>
            <ac:picMk id="7" creationId="{797A49D2-DF99-70D8-61E6-D6B7BECC974E}"/>
          </ac:picMkLst>
        </pc:picChg>
      </pc:sldChg>
      <pc:sldChg chg="addSp delSp mod">
        <pc:chgData name="Lai, Wilson" userId="2840974a-0d84-4886-90a9-9a3ed79f3a48" providerId="ADAL" clId="{9F23B798-9E84-4552-BA63-E776E805C424}" dt="2026-08-05T15:08:18.270" v="21" actId="2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05T15:08:10.075" v="20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08:18.270" v="21" actId="22"/>
          <ac:picMkLst>
            <pc:docMk/>
            <pc:sldMk cId="0" sldId="258"/>
            <ac:picMk id="4" creationId="{B6B48168-0B5C-C9C0-343C-5AE7E44555A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39:44.455" v="51" actId="12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05T15:08:20.655" v="22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08:32.038" v="23" actId="22"/>
          <ac:picMkLst>
            <pc:docMk/>
            <pc:sldMk cId="0" sldId="259"/>
            <ac:picMk id="4" creationId="{283C2D96-E9DB-F42D-5BD4-A333CCD7AC11}"/>
          </ac:picMkLst>
        </pc:picChg>
      </pc:sldChg>
      <pc:sldChg chg="addSp delSp mod">
        <pc:chgData name="Lai, Wilson" userId="2840974a-0d84-4886-90a9-9a3ed79f3a48" providerId="ADAL" clId="{9F23B798-9E84-4552-BA63-E776E805C424}" dt="2026-08-05T15:08:42.641" v="25" actId="2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05T15:08:34.136" v="24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08:42.641" v="25" actId="22"/>
          <ac:picMkLst>
            <pc:docMk/>
            <pc:sldMk cId="0" sldId="260"/>
            <ac:picMk id="4" creationId="{D03BA890-F3EB-2100-42FA-E44D73DC789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40:08.822" v="52" actId="1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05T15:08:44.956" v="26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08:54.301" v="27" actId="22"/>
          <ac:picMkLst>
            <pc:docMk/>
            <pc:sldMk cId="0" sldId="261"/>
            <ac:picMk id="4" creationId="{49DFEFD1-0DA6-9DC8-4792-DFD7E8BA5F72}"/>
          </ac:picMkLst>
        </pc:picChg>
      </pc:sldChg>
      <pc:sldChg chg="addSp delSp modSp mod modNotesTx">
        <pc:chgData name="Lai, Wilson" userId="2840974a-0d84-4886-90a9-9a3ed79f3a48" providerId="ADAL" clId="{9F23B798-9E84-4552-BA63-E776E805C424}" dt="2026-08-06T03:40:22.564" v="56" actId="12"/>
        <pc:sldMkLst>
          <pc:docMk/>
          <pc:sldMk cId="0" sldId="262"/>
        </pc:sldMkLst>
        <pc:spChg chg="add del">
          <ac:chgData name="Lai, Wilson" userId="2840974a-0d84-4886-90a9-9a3ed79f3a48" providerId="ADAL" clId="{9F23B798-9E84-4552-BA63-E776E805C424}" dt="2026-08-06T03:40:19.135" v="55" actId="22"/>
          <ac:spMkLst>
            <pc:docMk/>
            <pc:sldMk cId="0" sldId="262"/>
            <ac:spMk id="3" creationId="{422F883F-3BCC-8D08-6097-1E68943DF6B2}"/>
          </ac:spMkLst>
        </pc:spChg>
        <pc:picChg chg="del">
          <ac:chgData name="Lai, Wilson" userId="2840974a-0d84-4886-90a9-9a3ed79f3a48" providerId="ADAL" clId="{9F23B798-9E84-4552-BA63-E776E805C424}" dt="2026-08-05T15:08:56.212" v="28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09:33.382" v="29" actId="22"/>
          <ac:picMkLst>
            <pc:docMk/>
            <pc:sldMk cId="0" sldId="262"/>
            <ac:picMk id="4" creationId="{857C5AF0-83A0-A712-F637-25C7FBE9D95A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40:34.910" v="57" actId="1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05T15:09:37.907" v="30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09:59.787" v="31" actId="22"/>
          <ac:picMkLst>
            <pc:docMk/>
            <pc:sldMk cId="0" sldId="263"/>
            <ac:picMk id="4" creationId="{B8FCF162-C16E-7335-9533-98E46C0AC073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40:48.872" v="58" actId="12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05T15:10:02.712" v="32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0:25.518" v="33" actId="22"/>
          <ac:picMkLst>
            <pc:docMk/>
            <pc:sldMk cId="0" sldId="264"/>
            <ac:picMk id="4" creationId="{B7DF060D-69DE-CF5F-754E-391E2F5EBC42}"/>
          </ac:picMkLst>
        </pc:picChg>
      </pc:sldChg>
      <pc:sldChg chg="addSp delSp mod">
        <pc:chgData name="Lai, Wilson" userId="2840974a-0d84-4886-90a9-9a3ed79f3a48" providerId="ADAL" clId="{9F23B798-9E84-4552-BA63-E776E805C424}" dt="2026-08-05T15:10:40.634" v="35" actId="2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05T15:10:28.359" v="34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0:40.634" v="35" actId="22"/>
          <ac:picMkLst>
            <pc:docMk/>
            <pc:sldMk cId="0" sldId="265"/>
            <ac:picMk id="4" creationId="{653069AC-702D-D64A-072A-648C7CDDEF4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41:07.824" v="59" actId="1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05T15:10:42.908" v="36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1:05.305" v="37" actId="22"/>
          <ac:picMkLst>
            <pc:docMk/>
            <pc:sldMk cId="0" sldId="266"/>
            <ac:picMk id="4" creationId="{B30CB286-4F2A-762A-D787-95649864664E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41:21.331" v="61" actId="1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05T15:11:10.728" v="38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1:30.484" v="39" actId="22"/>
          <ac:picMkLst>
            <pc:docMk/>
            <pc:sldMk cId="0" sldId="267"/>
            <ac:picMk id="4" creationId="{5A126AE3-6CC6-0BBA-FCAB-F3C436B044D8}"/>
          </ac:picMkLst>
        </pc:picChg>
      </pc:sldChg>
      <pc:sldChg chg="addSp delSp mod">
        <pc:chgData name="Lai, Wilson" userId="2840974a-0d84-4886-90a9-9a3ed79f3a48" providerId="ADAL" clId="{9F23B798-9E84-4552-BA63-E776E805C424}" dt="2026-08-05T15:11:56.458" v="41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05T15:11:32.999" v="40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1:56.458" v="41" actId="22"/>
          <ac:picMkLst>
            <pc:docMk/>
            <pc:sldMk cId="0" sldId="268"/>
            <ac:picMk id="4" creationId="{2CABEF85-B792-6DDF-0EAA-A0FDCF6B202F}"/>
          </ac:picMkLst>
        </pc:picChg>
      </pc:sldChg>
      <pc:sldChg chg="addSp delSp mod">
        <pc:chgData name="Lai, Wilson" userId="2840974a-0d84-4886-90a9-9a3ed79f3a48" providerId="ADAL" clId="{9F23B798-9E84-4552-BA63-E776E805C424}" dt="2026-08-05T15:12:07.770" v="43" actId="2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05T15:11:58.988" v="42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2:07.770" v="43" actId="22"/>
          <ac:picMkLst>
            <pc:docMk/>
            <pc:sldMk cId="0" sldId="269"/>
            <ac:picMk id="4" creationId="{BA11ADDD-A2EC-4BD5-8855-A36078049566}"/>
          </ac:picMkLst>
        </pc:picChg>
      </pc:sldChg>
      <pc:sldChg chg="addSp delSp mod">
        <pc:chgData name="Lai, Wilson" userId="2840974a-0d84-4886-90a9-9a3ed79f3a48" providerId="ADAL" clId="{9F23B798-9E84-4552-BA63-E776E805C424}" dt="2026-08-05T15:12:36.123" v="45" actId="2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05T15:12:09.987" v="44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2:36.123" v="45" actId="22"/>
          <ac:picMkLst>
            <pc:docMk/>
            <pc:sldMk cId="0" sldId="270"/>
            <ac:picMk id="4" creationId="{3E22C9CF-FB2C-2C23-B276-DF992F29CA8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6T03:42:15.216" v="62" actId="1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8-05T15:12:38.419" v="46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5T15:12:48.171" v="47" actId="22"/>
          <ac:picMkLst>
            <pc:docMk/>
            <pc:sldMk cId="0" sldId="271"/>
            <ac:picMk id="4" creationId="{3AC93B00-7942-B056-A746-ABC8306C5D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37718-3BA3-4C04-8057-DA77B8FDAAC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E1199-6F43-4CA7-BE56-F4CD3AAFC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 to today’s session on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Mastering Your Emotional Debt: The Yale-Backed R.U.L.E.R. Framework for Emotional Freedom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based on the research of Dr. Mark Brackett, Founding Director of the Yale Center for Emotional Intelligence.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of us grew up without an emotional education, believing emotions are things we just have to endure or overcome.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 are going to learn how emotional intelligence is not a fixed trait, but a set of learned skills that allow us to use emotions wisely to make better decisions, improve our relationships, and achieve our life goals.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https://www.youtube.com/watch?v=SWvHZkkrAjc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4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Dr. Brackett highlights, emotions don't simply disappear when we ignore them—they pile up like financial debt.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lack healthy avenues for emotional expression, we pay ongoing "interest" through defense mechanisms like denial, suppression, perfectionism, control, and shame.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Eventually, that debt comes due. When we reach our threshold, it manifests as an emotional tsunami or volcano—where we lose total control over our reactions and explode or leak onto others.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emotions matter so much? Research identifies five core areas they dictate daily: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&amp; Learning: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stress or trauma puts the brain in fight-or-flight survival mode, completely blocking absorption and cognitive learning.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Judgments: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Mood heavily influences our choices. Studies show teachers graded the exact same essay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to 2 full letter grades lower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in a bad mood compared to a good mood.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Emotion signals act as immediate, involuntary cues telling others to either "approach" or "avoid" us.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Unaddressed micro-emotions fester over time—sadness degrades into hopelessness, which deepens into despair.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EQ determines our capacity to handle critical feedback, disappointment, and imposter syndrome without shutting down.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3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in 3 adults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 having an adult in their childhood who gave them true "permission to feel".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break this cycle, we can become an "Emotion Ally" for others or even for ourselves.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Requirements (The Big 5):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ally offers general warmth, a non-judgmental stance, incredible listening, compassion, and a steady, reliable presence.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Errors: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Notice what is NOT on this list. You do not need to be a brilliant problem solver, a situation fixer, or an unsolicited advice giver. People don't want fixing; they want presence.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51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build emotional intelligence systematically, Dr. Brackett developed the evidence-based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R.U.L.E.R.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Recognize (social awareness and introspection)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Understand (decoding root causes)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Label (using granular vocabulary)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Express (contextual safety)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Regulate (goal-oriented management)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Remember: Emotional intelligence is not an innate talent; it is a trainable skill.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practicing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beware of the Projection Trap. Research shows that our belief in our ability to read someone else's emotions has almost zero correlation with our actual accuracy.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Error (Absorb):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project our own insecurities onto others—assuming someone is judging or rejecting us when they are actually just emotionally flooded or overwhelmed.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Fix (Observe):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Maintain dual awareness: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Observe facial expressions, body language, and tone of voice without jumping to assumptions.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 in with your own bodily sensations. 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Antidote: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Deactivate projection by simply naming the state you are experiencing.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00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means connecting feelings to universal drivers rather than debating whether an emotion is "justified".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outburst/aggression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stems from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is universally driven by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perceived injustice or unfairness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Withdrawal/silence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stems from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Disappointment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driven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unmet expectations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arguing over the surface signal. Decode the universal driver beneath it to bypass defensiveness and establish real empathy.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7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is key because a mislabeled emotion cannot be solved accurately.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Distinguish your vocabulary: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Anxiety: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Perceived uncertainty about the future.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 many demands with not enough resources.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High stakes dependent directly on your behavior.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Immediate, impending danger.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Overwhelm: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Saturated or flooded with emotion. 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 Study: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Students claiming to be "tired, bored, and stressed" were often actually experiencing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due to constant social comparison. You cannot fix envy with breathing exercises—it requires cognitive reframing like practicing gratitude.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66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Giving yourself "permission to feel" does not mean saying whatever you want, to whoever you want, whenever you want. Expression requires contextual awareness.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Trust Environments: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Keep responses guarded when workplace norms or lack of psychological safety dictate distance.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Trust Environments: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Practice open, authentic sharing with an Emotion Ally. 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 to try: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"I'm in a weird place right now—a mixture of frustration and overwhelm. I just wanted to let you know, and I'm curious how you're feeling about this situation."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41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not merely suppressing anger; it is the deliberate application of thoughts and actions to operate your emotional state.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 regulation covers four distinct objectives: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Getting ahead of unwanted emotions (e.g., thorough preparation before a difficult meeting).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De-escalating intense, unhelpful states in real-time.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Actively generating a helpful emotional state needed for a task.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Intentionally holding onto and amplifying positive emotions rather than rushing past them.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34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regulate properly, we must unlearn automatic, unhelpful reflex habits: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 1: Avoidance &amp; Suppression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Burying feelings or dodging difficult interactions.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 2: Numbing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Using food, alcohol, or consumption to distract from emotional drivers. 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 3: Negative Self-Talk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Critical internal scripts. 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Insight: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Negative self-talk does not originate internally; it was absorbed from exterior sources in early childhood. We must actively overwrite it with self-compassion.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1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dealing with reactive or triggered individuals, use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Picture Frame Technique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Absorbing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their emotional leakage into your own body, imagine putting a physical picture frame around them.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Shift: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 them into a character in a movie. Shift to curiosity: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"Isn't it interesting that a 70-year-old is acting like a toddler right now?"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Observe their behavior objectively without absorbing their chaos.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61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 the laws of physics, all emotional states are ephemeral and impermanent—they are temporary "rainy days."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triggered, force cognitive distance using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Distancing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Ask yourself,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will I feel about this in one month?"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you care or even remember an argument over a $7 carton of almond milk in a week or a month? If not, let it go and expand the buffer space between the stimulus and your reaction.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41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Emotions are not tidal waves to be feared—they are simply incoming data.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integrating R.U.L.E.R. with practical tools like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 vs. Absorb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1-Month Rule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shift from being passive victims of our subconscious moods to active operators of our emotional dashboard.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outcome: preserved attention, refined judgment, healthier relationships, and achieved personal goals.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51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review the summary matrix: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Emotions Matter: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They drive decisions (e.g., essay grading variations), impact learning by putting us in or out of survival mode, and serve as approach/avoid social signals.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RULER in Practice: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Recognize physical cues, Understand root drivers (like injustice), Label precisely (distinguishing stress from anxiety), Express safely, and Regulate intentionally.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Mindsets: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Observe rather than absorb, and embrace the impermanence of emotional states.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4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Dr. Brackett concludes, emotional intelligence is not a fixed trait. Today is the first day of the rest of your life to begin practicing.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yourself—and everyone you interact with—the permission to feel.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 and commitment to mastering your emotional intelligence.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E1199-6F43-4CA7-BE56-F4CD3AAFC1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41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0EFD7-7653-2D75-9819-4AFD3F67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014EA-386D-4CAC-933A-B21762A8A0F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37594-7015-FA7D-2D07-5BE48DB4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FC924-E3E0-02AC-563A-C9D7F750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66FF-0DAE-4F79-8EC8-8529CB4E1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E22B0-19D6-EB67-695B-27EC99CF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622F5-424B-AFEA-3C74-52E11F3D6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944EC-E6F8-6568-8130-780C7C3D1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B014EA-386D-4CAC-933A-B21762A8A0F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F988A-F51C-C73A-2A88-2DDB342FC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E48F7-E213-6956-F6BC-0B5AACA89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C66FF-0DAE-4F79-8EC8-8529CB4E1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7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7A49D2-DF99-70D8-61E6-D6B7BECC9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B48168-0B5C-C9C0-343C-5AE7E445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3C2D96-E9DB-F42D-5BD4-A333CCD7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3BA890-F3EB-2100-42FA-E44D73DC7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DFEFD1-0DA6-9DC8-4792-DFD7E8BA5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7C5AF0-83A0-A712-F637-25C7FBE9D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FCF162-C16E-7335-9533-98E46C0AC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DF060D-69DE-CF5F-754E-391E2F5E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3069AC-702D-D64A-072A-648C7CDDE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0CB286-4F2A-762A-D787-95649864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126AE3-6CC6-0BBA-FCAB-F3C436B04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ABEF85-B792-6DDF-0EAA-A0FDCF6B2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11ADDD-A2EC-4BD5-8855-A36078049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22C9CF-FB2C-2C23-B276-DF992F29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C93B00-7942-B056-A746-ABC8306C5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41F1A1-6A91-6BA3-768E-F69D743D1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0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1494</Words>
  <Application>Microsoft Office PowerPoint</Application>
  <PresentationFormat>寬螢幕</PresentationFormat>
  <Paragraphs>92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2026-08-05T10:47:37Z</dcterms:created>
  <dcterms:modified xsi:type="dcterms:W3CDTF">2026-10-19T15:37:16Z</dcterms:modified>
</cp:coreProperties>
</file>