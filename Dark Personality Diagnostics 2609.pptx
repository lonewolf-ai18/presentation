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B117F6-9AF0-4164-9228-3DCD538C0197}" v="21" dt="2026-09-16T15:18:11.1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593"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9-16T15:24:07.145" v="85" actId="166"/>
      <pc:docMkLst>
        <pc:docMk/>
      </pc:docMkLst>
      <pc:sldChg chg="addSp delSp modSp mod modAnim modNotesTx">
        <pc:chgData name="Lai, Wilson" userId="2840974a-0d84-4886-90a9-9a3ed79f3a48" providerId="ADAL" clId="{9F23B798-9E84-4552-BA63-E776E805C424}" dt="2026-09-16T15:24:07.145" v="85" actId="166"/>
        <pc:sldMkLst>
          <pc:docMk/>
          <pc:sldMk cId="0" sldId="257"/>
        </pc:sldMkLst>
        <pc:spChg chg="add mod">
          <ac:chgData name="Lai, Wilson" userId="2840974a-0d84-4886-90a9-9a3ed79f3a48" providerId="ADAL" clId="{9F23B798-9E84-4552-BA63-E776E805C424}" dt="2026-09-16T11:28:16.491" v="9" actId="164"/>
          <ac:spMkLst>
            <pc:docMk/>
            <pc:sldMk cId="0" sldId="257"/>
            <ac:spMk id="5" creationId="{BD55598D-593A-C180-0D44-B67B32E38651}"/>
          </ac:spMkLst>
        </pc:spChg>
        <pc:grpChg chg="add mod">
          <ac:chgData name="Lai, Wilson" userId="2840974a-0d84-4886-90a9-9a3ed79f3a48" providerId="ADAL" clId="{9F23B798-9E84-4552-BA63-E776E805C424}" dt="2026-09-16T11:28:16.491" v="9" actId="164"/>
          <ac:grpSpMkLst>
            <pc:docMk/>
            <pc:sldMk cId="0" sldId="257"/>
            <ac:grpSpMk id="6" creationId="{F059C5DA-6D3D-7565-BC9F-BF17DCAEF0E8}"/>
          </ac:grpSpMkLst>
        </pc:grpChg>
        <pc:picChg chg="del">
          <ac:chgData name="Lai, Wilson" userId="2840974a-0d84-4886-90a9-9a3ed79f3a48" providerId="ADAL" clId="{9F23B798-9E84-4552-BA63-E776E805C424}" dt="2026-09-16T11:36:48.366" v="10" actId="21"/>
          <ac:picMkLst>
            <pc:docMk/>
            <pc:sldMk cId="0" sldId="257"/>
            <ac:picMk id="2" creationId="{00000000-0000-0000-0000-000000000000}"/>
          </ac:picMkLst>
        </pc:picChg>
        <pc:picChg chg="add mod">
          <ac:chgData name="Lai, Wilson" userId="2840974a-0d84-4886-90a9-9a3ed79f3a48" providerId="ADAL" clId="{9F23B798-9E84-4552-BA63-E776E805C424}" dt="2026-09-16T11:28:16.491" v="9" actId="164"/>
          <ac:picMkLst>
            <pc:docMk/>
            <pc:sldMk cId="0" sldId="257"/>
            <ac:picMk id="3" creationId="{6B0C7BD7-27D1-723F-3230-6C8BC9D5AF95}"/>
          </ac:picMkLst>
        </pc:picChg>
        <pc:picChg chg="add mod ord">
          <ac:chgData name="Lai, Wilson" userId="2840974a-0d84-4886-90a9-9a3ed79f3a48" providerId="ADAL" clId="{9F23B798-9E84-4552-BA63-E776E805C424}" dt="2026-09-16T15:24:07.145" v="85" actId="166"/>
          <ac:picMkLst>
            <pc:docMk/>
            <pc:sldMk cId="0" sldId="257"/>
            <ac:picMk id="7" creationId="{C41A3844-6B31-B1D1-3449-8A54809CD837}"/>
          </ac:picMkLst>
        </pc:picChg>
      </pc:sldChg>
      <pc:sldChg chg="addSp delSp mod modNotesTx">
        <pc:chgData name="Lai, Wilson" userId="2840974a-0d84-4886-90a9-9a3ed79f3a48" providerId="ADAL" clId="{9F23B798-9E84-4552-BA63-E776E805C424}" dt="2026-09-16T15:15:04.402" v="51" actId="14"/>
        <pc:sldMkLst>
          <pc:docMk/>
          <pc:sldMk cId="0" sldId="258"/>
        </pc:sldMkLst>
        <pc:picChg chg="del">
          <ac:chgData name="Lai, Wilson" userId="2840974a-0d84-4886-90a9-9a3ed79f3a48" providerId="ADAL" clId="{9F23B798-9E84-4552-BA63-E776E805C424}" dt="2026-09-16T11:37:02.772" v="12" actId="21"/>
          <ac:picMkLst>
            <pc:docMk/>
            <pc:sldMk cId="0" sldId="258"/>
            <ac:picMk id="2" creationId="{00000000-0000-0000-0000-000000000000}"/>
          </ac:picMkLst>
        </pc:picChg>
        <pc:picChg chg="add">
          <ac:chgData name="Lai, Wilson" userId="2840974a-0d84-4886-90a9-9a3ed79f3a48" providerId="ADAL" clId="{9F23B798-9E84-4552-BA63-E776E805C424}" dt="2026-09-16T11:37:40.275" v="13" actId="22"/>
          <ac:picMkLst>
            <pc:docMk/>
            <pc:sldMk cId="0" sldId="258"/>
            <ac:picMk id="4" creationId="{29119435-0E0C-0850-E366-D5F3AB3A2C42}"/>
          </ac:picMkLst>
        </pc:picChg>
      </pc:sldChg>
      <pc:sldChg chg="addSp delSp mod modNotesTx">
        <pc:chgData name="Lai, Wilson" userId="2840974a-0d84-4886-90a9-9a3ed79f3a48" providerId="ADAL" clId="{9F23B798-9E84-4552-BA63-E776E805C424}" dt="2026-09-16T15:15:15.491" v="53" actId="14"/>
        <pc:sldMkLst>
          <pc:docMk/>
          <pc:sldMk cId="0" sldId="259"/>
        </pc:sldMkLst>
        <pc:picChg chg="del">
          <ac:chgData name="Lai, Wilson" userId="2840974a-0d84-4886-90a9-9a3ed79f3a48" providerId="ADAL" clId="{9F23B798-9E84-4552-BA63-E776E805C424}" dt="2026-09-16T11:37:41.624" v="14" actId="21"/>
          <ac:picMkLst>
            <pc:docMk/>
            <pc:sldMk cId="0" sldId="259"/>
            <ac:picMk id="2" creationId="{00000000-0000-0000-0000-000000000000}"/>
          </ac:picMkLst>
        </pc:picChg>
        <pc:picChg chg="add">
          <ac:chgData name="Lai, Wilson" userId="2840974a-0d84-4886-90a9-9a3ed79f3a48" providerId="ADAL" clId="{9F23B798-9E84-4552-BA63-E776E805C424}" dt="2026-09-16T11:38:21.914" v="15" actId="22"/>
          <ac:picMkLst>
            <pc:docMk/>
            <pc:sldMk cId="0" sldId="259"/>
            <ac:picMk id="4" creationId="{8D47247F-44B0-FC8C-D9FE-700244981B19}"/>
          </ac:picMkLst>
        </pc:picChg>
      </pc:sldChg>
      <pc:sldChg chg="addSp delSp mod modNotesTx">
        <pc:chgData name="Lai, Wilson" userId="2840974a-0d84-4886-90a9-9a3ed79f3a48" providerId="ADAL" clId="{9F23B798-9E84-4552-BA63-E776E805C424}" dt="2026-09-16T15:15:28.731" v="55" actId="12"/>
        <pc:sldMkLst>
          <pc:docMk/>
          <pc:sldMk cId="0" sldId="260"/>
        </pc:sldMkLst>
        <pc:picChg chg="del">
          <ac:chgData name="Lai, Wilson" userId="2840974a-0d84-4886-90a9-9a3ed79f3a48" providerId="ADAL" clId="{9F23B798-9E84-4552-BA63-E776E805C424}" dt="2026-09-16T11:38:23.524" v="16" actId="21"/>
          <ac:picMkLst>
            <pc:docMk/>
            <pc:sldMk cId="0" sldId="260"/>
            <ac:picMk id="2" creationId="{00000000-0000-0000-0000-000000000000}"/>
          </ac:picMkLst>
        </pc:picChg>
        <pc:picChg chg="add del">
          <ac:chgData name="Lai, Wilson" userId="2840974a-0d84-4886-90a9-9a3ed79f3a48" providerId="ADAL" clId="{9F23B798-9E84-4552-BA63-E776E805C424}" dt="2026-09-16T11:40:17.923" v="25" actId="21"/>
          <ac:picMkLst>
            <pc:docMk/>
            <pc:sldMk cId="0" sldId="260"/>
            <ac:picMk id="4" creationId="{81490463-BDA3-E378-E433-DAA9A0CEB09E}"/>
          </ac:picMkLst>
        </pc:picChg>
      </pc:sldChg>
      <pc:sldChg chg="addSp delSp mod modNotesTx">
        <pc:chgData name="Lai, Wilson" userId="2840974a-0d84-4886-90a9-9a3ed79f3a48" providerId="ADAL" clId="{9F23B798-9E84-4552-BA63-E776E805C424}" dt="2026-09-16T15:15:50.073" v="61" actId="12"/>
        <pc:sldMkLst>
          <pc:docMk/>
          <pc:sldMk cId="0" sldId="261"/>
        </pc:sldMkLst>
        <pc:picChg chg="del">
          <ac:chgData name="Lai, Wilson" userId="2840974a-0d84-4886-90a9-9a3ed79f3a48" providerId="ADAL" clId="{9F23B798-9E84-4552-BA63-E776E805C424}" dt="2026-09-16T11:38:51.146" v="18" actId="21"/>
          <ac:picMkLst>
            <pc:docMk/>
            <pc:sldMk cId="0" sldId="261"/>
            <ac:picMk id="2" creationId="{00000000-0000-0000-0000-000000000000}"/>
          </ac:picMkLst>
        </pc:picChg>
        <pc:picChg chg="add del">
          <ac:chgData name="Lai, Wilson" userId="2840974a-0d84-4886-90a9-9a3ed79f3a48" providerId="ADAL" clId="{9F23B798-9E84-4552-BA63-E776E805C424}" dt="2026-09-16T11:39:51.248" v="22" actId="21"/>
          <ac:picMkLst>
            <pc:docMk/>
            <pc:sldMk cId="0" sldId="261"/>
            <ac:picMk id="4" creationId="{21FB9025-73BE-249E-3AA9-E48CF0DCBE27}"/>
          </ac:picMkLst>
        </pc:picChg>
        <pc:picChg chg="add">
          <ac:chgData name="Lai, Wilson" userId="2840974a-0d84-4886-90a9-9a3ed79f3a48" providerId="ADAL" clId="{9F23B798-9E84-4552-BA63-E776E805C424}" dt="2026-09-16T11:40:01.055" v="23" actId="22"/>
          <ac:picMkLst>
            <pc:docMk/>
            <pc:sldMk cId="0" sldId="261"/>
            <ac:picMk id="6" creationId="{E486D7A9-306D-B58D-802C-C0AFD027CA07}"/>
          </ac:picMkLst>
        </pc:picChg>
      </pc:sldChg>
      <pc:sldChg chg="addSp delSp mod modNotesTx">
        <pc:chgData name="Lai, Wilson" userId="2840974a-0d84-4886-90a9-9a3ed79f3a48" providerId="ADAL" clId="{9F23B798-9E84-4552-BA63-E776E805C424}" dt="2026-09-16T15:16:07.227" v="65" actId="14"/>
        <pc:sldMkLst>
          <pc:docMk/>
          <pc:sldMk cId="0" sldId="262"/>
        </pc:sldMkLst>
        <pc:picChg chg="del">
          <ac:chgData name="Lai, Wilson" userId="2840974a-0d84-4886-90a9-9a3ed79f3a48" providerId="ADAL" clId="{9F23B798-9E84-4552-BA63-E776E805C424}" dt="2026-09-16T11:39:11.150" v="20" actId="21"/>
          <ac:picMkLst>
            <pc:docMk/>
            <pc:sldMk cId="0" sldId="262"/>
            <ac:picMk id="2" creationId="{00000000-0000-0000-0000-000000000000}"/>
          </ac:picMkLst>
        </pc:picChg>
        <pc:picChg chg="add">
          <ac:chgData name="Lai, Wilson" userId="2840974a-0d84-4886-90a9-9a3ed79f3a48" providerId="ADAL" clId="{9F23B798-9E84-4552-BA63-E776E805C424}" dt="2026-09-16T11:39:40.410" v="21" actId="22"/>
          <ac:picMkLst>
            <pc:docMk/>
            <pc:sldMk cId="0" sldId="262"/>
            <ac:picMk id="4" creationId="{872C2FEB-882C-3301-DC4C-0ED4E17B6475}"/>
          </ac:picMkLst>
        </pc:picChg>
      </pc:sldChg>
      <pc:sldChg chg="addSp delSp mod modNotesTx">
        <pc:chgData name="Lai, Wilson" userId="2840974a-0d84-4886-90a9-9a3ed79f3a48" providerId="ADAL" clId="{9F23B798-9E84-4552-BA63-E776E805C424}" dt="2026-09-16T15:16:16.205" v="67" actId="14"/>
        <pc:sldMkLst>
          <pc:docMk/>
          <pc:sldMk cId="0" sldId="263"/>
        </pc:sldMkLst>
        <pc:picChg chg="del">
          <ac:chgData name="Lai, Wilson" userId="2840974a-0d84-4886-90a9-9a3ed79f3a48" providerId="ADAL" clId="{9F23B798-9E84-4552-BA63-E776E805C424}" dt="2026-09-16T11:40:32.646" v="26" actId="21"/>
          <ac:picMkLst>
            <pc:docMk/>
            <pc:sldMk cId="0" sldId="263"/>
            <ac:picMk id="2" creationId="{00000000-0000-0000-0000-000000000000}"/>
          </ac:picMkLst>
        </pc:picChg>
        <pc:picChg chg="add">
          <ac:chgData name="Lai, Wilson" userId="2840974a-0d84-4886-90a9-9a3ed79f3a48" providerId="ADAL" clId="{9F23B798-9E84-4552-BA63-E776E805C424}" dt="2026-09-16T11:40:58.723" v="27" actId="22"/>
          <ac:picMkLst>
            <pc:docMk/>
            <pc:sldMk cId="0" sldId="263"/>
            <ac:picMk id="4" creationId="{776E5183-92C9-AE38-E5E5-E6F558F6C5FA}"/>
          </ac:picMkLst>
        </pc:picChg>
      </pc:sldChg>
      <pc:sldChg chg="addSp delSp mod modNotesTx">
        <pc:chgData name="Lai, Wilson" userId="2840974a-0d84-4886-90a9-9a3ed79f3a48" providerId="ADAL" clId="{9F23B798-9E84-4552-BA63-E776E805C424}" dt="2026-09-16T15:16:32.943" v="71" actId="14"/>
        <pc:sldMkLst>
          <pc:docMk/>
          <pc:sldMk cId="0" sldId="264"/>
        </pc:sldMkLst>
        <pc:picChg chg="del">
          <ac:chgData name="Lai, Wilson" userId="2840974a-0d84-4886-90a9-9a3ed79f3a48" providerId="ADAL" clId="{9F23B798-9E84-4552-BA63-E776E805C424}" dt="2026-09-16T11:41:05.518" v="28" actId="21"/>
          <ac:picMkLst>
            <pc:docMk/>
            <pc:sldMk cId="0" sldId="264"/>
            <ac:picMk id="2" creationId="{00000000-0000-0000-0000-000000000000}"/>
          </ac:picMkLst>
        </pc:picChg>
        <pc:picChg chg="add">
          <ac:chgData name="Lai, Wilson" userId="2840974a-0d84-4886-90a9-9a3ed79f3a48" providerId="ADAL" clId="{9F23B798-9E84-4552-BA63-E776E805C424}" dt="2026-09-16T11:41:37.150" v="29" actId="22"/>
          <ac:picMkLst>
            <pc:docMk/>
            <pc:sldMk cId="0" sldId="264"/>
            <ac:picMk id="4" creationId="{2B6FE62A-4F9C-42B1-49FB-9511C6578A7B}"/>
          </ac:picMkLst>
        </pc:picChg>
      </pc:sldChg>
      <pc:sldChg chg="addSp delSp mod modNotesTx">
        <pc:chgData name="Lai, Wilson" userId="2840974a-0d84-4886-90a9-9a3ed79f3a48" providerId="ADAL" clId="{9F23B798-9E84-4552-BA63-E776E805C424}" dt="2026-09-16T15:16:46.531" v="73" actId="14"/>
        <pc:sldMkLst>
          <pc:docMk/>
          <pc:sldMk cId="0" sldId="265"/>
        </pc:sldMkLst>
        <pc:picChg chg="del">
          <ac:chgData name="Lai, Wilson" userId="2840974a-0d84-4886-90a9-9a3ed79f3a48" providerId="ADAL" clId="{9F23B798-9E84-4552-BA63-E776E805C424}" dt="2026-09-16T11:41:38.878" v="30" actId="21"/>
          <ac:picMkLst>
            <pc:docMk/>
            <pc:sldMk cId="0" sldId="265"/>
            <ac:picMk id="2" creationId="{00000000-0000-0000-0000-000000000000}"/>
          </ac:picMkLst>
        </pc:picChg>
        <pc:picChg chg="add">
          <ac:chgData name="Lai, Wilson" userId="2840974a-0d84-4886-90a9-9a3ed79f3a48" providerId="ADAL" clId="{9F23B798-9E84-4552-BA63-E776E805C424}" dt="2026-09-16T11:42:02.303" v="31" actId="22"/>
          <ac:picMkLst>
            <pc:docMk/>
            <pc:sldMk cId="0" sldId="265"/>
            <ac:picMk id="4" creationId="{ED146C33-6476-166F-D1A1-654B0E6208C5}"/>
          </ac:picMkLst>
        </pc:picChg>
      </pc:sldChg>
      <pc:sldChg chg="addSp delSp mod modNotesTx">
        <pc:chgData name="Lai, Wilson" userId="2840974a-0d84-4886-90a9-9a3ed79f3a48" providerId="ADAL" clId="{9F23B798-9E84-4552-BA63-E776E805C424}" dt="2026-09-16T15:16:57.057" v="75" actId="14"/>
        <pc:sldMkLst>
          <pc:docMk/>
          <pc:sldMk cId="0" sldId="266"/>
        </pc:sldMkLst>
        <pc:picChg chg="del">
          <ac:chgData name="Lai, Wilson" userId="2840974a-0d84-4886-90a9-9a3ed79f3a48" providerId="ADAL" clId="{9F23B798-9E84-4552-BA63-E776E805C424}" dt="2026-09-16T11:42:05.924" v="32" actId="21"/>
          <ac:picMkLst>
            <pc:docMk/>
            <pc:sldMk cId="0" sldId="266"/>
            <ac:picMk id="2" creationId="{00000000-0000-0000-0000-000000000000}"/>
          </ac:picMkLst>
        </pc:picChg>
        <pc:picChg chg="add">
          <ac:chgData name="Lai, Wilson" userId="2840974a-0d84-4886-90a9-9a3ed79f3a48" providerId="ADAL" clId="{9F23B798-9E84-4552-BA63-E776E805C424}" dt="2026-09-16T11:42:33.806" v="33" actId="22"/>
          <ac:picMkLst>
            <pc:docMk/>
            <pc:sldMk cId="0" sldId="266"/>
            <ac:picMk id="4" creationId="{A7CF018E-03A0-6633-5F0C-65A5DD4595FB}"/>
          </ac:picMkLst>
        </pc:picChg>
      </pc:sldChg>
      <pc:sldChg chg="addSp delSp mod modNotesTx">
        <pc:chgData name="Lai, Wilson" userId="2840974a-0d84-4886-90a9-9a3ed79f3a48" providerId="ADAL" clId="{9F23B798-9E84-4552-BA63-E776E805C424}" dt="2026-09-16T15:17:07.753" v="78" actId="12"/>
        <pc:sldMkLst>
          <pc:docMk/>
          <pc:sldMk cId="0" sldId="267"/>
        </pc:sldMkLst>
        <pc:picChg chg="del">
          <ac:chgData name="Lai, Wilson" userId="2840974a-0d84-4886-90a9-9a3ed79f3a48" providerId="ADAL" clId="{9F23B798-9E84-4552-BA63-E776E805C424}" dt="2026-09-16T14:01:53.599" v="42" actId="21"/>
          <ac:picMkLst>
            <pc:docMk/>
            <pc:sldMk cId="0" sldId="267"/>
            <ac:picMk id="2" creationId="{00000000-0000-0000-0000-000000000000}"/>
          </ac:picMkLst>
        </pc:picChg>
        <pc:picChg chg="add">
          <ac:chgData name="Lai, Wilson" userId="2840974a-0d84-4886-90a9-9a3ed79f3a48" providerId="ADAL" clId="{9F23B798-9E84-4552-BA63-E776E805C424}" dt="2026-09-16T14:02:17.241" v="43" actId="22"/>
          <ac:picMkLst>
            <pc:docMk/>
            <pc:sldMk cId="0" sldId="267"/>
            <ac:picMk id="4" creationId="{914BE343-7D32-EFF4-F23B-1933A294C403}"/>
          </ac:picMkLst>
        </pc:picChg>
      </pc:sldChg>
      <pc:sldChg chg="addSp delSp mod">
        <pc:chgData name="Lai, Wilson" userId="2840974a-0d84-4886-90a9-9a3ed79f3a48" providerId="ADAL" clId="{9F23B798-9E84-4552-BA63-E776E805C424}" dt="2026-09-16T11:43:58.669" v="35" actId="22"/>
        <pc:sldMkLst>
          <pc:docMk/>
          <pc:sldMk cId="0" sldId="268"/>
        </pc:sldMkLst>
        <pc:picChg chg="del">
          <ac:chgData name="Lai, Wilson" userId="2840974a-0d84-4886-90a9-9a3ed79f3a48" providerId="ADAL" clId="{9F23B798-9E84-4552-BA63-E776E805C424}" dt="2026-09-16T11:42:50.103" v="34" actId="21"/>
          <ac:picMkLst>
            <pc:docMk/>
            <pc:sldMk cId="0" sldId="268"/>
            <ac:picMk id="2" creationId="{00000000-0000-0000-0000-000000000000}"/>
          </ac:picMkLst>
        </pc:picChg>
        <pc:picChg chg="add">
          <ac:chgData name="Lai, Wilson" userId="2840974a-0d84-4886-90a9-9a3ed79f3a48" providerId="ADAL" clId="{9F23B798-9E84-4552-BA63-E776E805C424}" dt="2026-09-16T11:43:58.669" v="35" actId="22"/>
          <ac:picMkLst>
            <pc:docMk/>
            <pc:sldMk cId="0" sldId="268"/>
            <ac:picMk id="4" creationId="{08BB46F9-2146-B61A-A11F-AFE1ED03CB29}"/>
          </ac:picMkLst>
        </pc:picChg>
      </pc:sldChg>
      <pc:sldChg chg="addSp delSp mod modNotesTx">
        <pc:chgData name="Lai, Wilson" userId="2840974a-0d84-4886-90a9-9a3ed79f3a48" providerId="ADAL" clId="{9F23B798-9E84-4552-BA63-E776E805C424}" dt="2026-09-16T15:17:30.001" v="80" actId="14"/>
        <pc:sldMkLst>
          <pc:docMk/>
          <pc:sldMk cId="0" sldId="269"/>
        </pc:sldMkLst>
        <pc:picChg chg="del">
          <ac:chgData name="Lai, Wilson" userId="2840974a-0d84-4886-90a9-9a3ed79f3a48" providerId="ADAL" clId="{9F23B798-9E84-4552-BA63-E776E805C424}" dt="2026-09-16T11:44:06.238" v="36" actId="21"/>
          <ac:picMkLst>
            <pc:docMk/>
            <pc:sldMk cId="0" sldId="269"/>
            <ac:picMk id="2" creationId="{00000000-0000-0000-0000-000000000000}"/>
          </ac:picMkLst>
        </pc:picChg>
        <pc:picChg chg="add">
          <ac:chgData name="Lai, Wilson" userId="2840974a-0d84-4886-90a9-9a3ed79f3a48" providerId="ADAL" clId="{9F23B798-9E84-4552-BA63-E776E805C424}" dt="2026-09-16T11:44:38.930" v="37" actId="22"/>
          <ac:picMkLst>
            <pc:docMk/>
            <pc:sldMk cId="0" sldId="269"/>
            <ac:picMk id="4" creationId="{1C619552-DA10-3665-F0DD-3E43C0B1DF6E}"/>
          </ac:picMkLst>
        </pc:picChg>
      </pc:sldChg>
      <pc:sldChg chg="addSp delSp mod modNotesTx">
        <pc:chgData name="Lai, Wilson" userId="2840974a-0d84-4886-90a9-9a3ed79f3a48" providerId="ADAL" clId="{9F23B798-9E84-4552-BA63-E776E805C424}" dt="2026-09-16T15:17:48.505" v="82" actId="12"/>
        <pc:sldMkLst>
          <pc:docMk/>
          <pc:sldMk cId="0" sldId="270"/>
        </pc:sldMkLst>
        <pc:picChg chg="del">
          <ac:chgData name="Lai, Wilson" userId="2840974a-0d84-4886-90a9-9a3ed79f3a48" providerId="ADAL" clId="{9F23B798-9E84-4552-BA63-E776E805C424}" dt="2026-09-16T11:44:42.263" v="38" actId="21"/>
          <ac:picMkLst>
            <pc:docMk/>
            <pc:sldMk cId="0" sldId="270"/>
            <ac:picMk id="2" creationId="{00000000-0000-0000-0000-000000000000}"/>
          </ac:picMkLst>
        </pc:picChg>
        <pc:picChg chg="add">
          <ac:chgData name="Lai, Wilson" userId="2840974a-0d84-4886-90a9-9a3ed79f3a48" providerId="ADAL" clId="{9F23B798-9E84-4552-BA63-E776E805C424}" dt="2026-09-16T11:44:54.594" v="39" actId="22"/>
          <ac:picMkLst>
            <pc:docMk/>
            <pc:sldMk cId="0" sldId="270"/>
            <ac:picMk id="4" creationId="{DC79C97A-E8FE-570C-7F9C-AFAB9A40AF22}"/>
          </ac:picMkLst>
        </pc:picChg>
      </pc:sldChg>
      <pc:sldChg chg="addSp delSp mod">
        <pc:chgData name="Lai, Wilson" userId="2840974a-0d84-4886-90a9-9a3ed79f3a48" providerId="ADAL" clId="{9F23B798-9E84-4552-BA63-E776E805C424}" dt="2026-09-16T11:45:09.392" v="41" actId="22"/>
        <pc:sldMkLst>
          <pc:docMk/>
          <pc:sldMk cId="0" sldId="271"/>
        </pc:sldMkLst>
        <pc:picChg chg="del">
          <ac:chgData name="Lai, Wilson" userId="2840974a-0d84-4886-90a9-9a3ed79f3a48" providerId="ADAL" clId="{9F23B798-9E84-4552-BA63-E776E805C424}" dt="2026-09-16T11:44:57.777" v="40" actId="21"/>
          <ac:picMkLst>
            <pc:docMk/>
            <pc:sldMk cId="0" sldId="271"/>
            <ac:picMk id="2" creationId="{00000000-0000-0000-0000-000000000000}"/>
          </ac:picMkLst>
        </pc:picChg>
        <pc:picChg chg="add">
          <ac:chgData name="Lai, Wilson" userId="2840974a-0d84-4886-90a9-9a3ed79f3a48" providerId="ADAL" clId="{9F23B798-9E84-4552-BA63-E776E805C424}" dt="2026-09-16T11:45:09.392" v="41" actId="22"/>
          <ac:picMkLst>
            <pc:docMk/>
            <pc:sldMk cId="0" sldId="271"/>
            <ac:picMk id="4" creationId="{9824A1DF-700F-23A8-C990-41B6B6226CF4}"/>
          </ac:picMkLst>
        </pc:picChg>
      </pc:sldChg>
      <pc:sldChg chg="modNotesTx">
        <pc:chgData name="Lai, Wilson" userId="2840974a-0d84-4886-90a9-9a3ed79f3a48" providerId="ADAL" clId="{9F23B798-9E84-4552-BA63-E776E805C424}" dt="2026-09-16T15:18:14.874" v="84" actId="14"/>
        <pc:sldMkLst>
          <pc:docMk/>
          <pc:sldMk cId="1191279138" sldId="272"/>
        </pc:sldMkLst>
      </pc:sldChg>
      <pc:sldMasterChg chg="setBg">
        <pc:chgData name="Lai, Wilson" userId="2840974a-0d84-4886-90a9-9a3ed79f3a48" providerId="ADAL" clId="{9F23B798-9E84-4552-BA63-E776E805C424}" dt="2026-09-16T11:05:56.625" v="0"/>
        <pc:sldMasterMkLst>
          <pc:docMk/>
          <pc:sldMasterMk cId="3070275562"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C508C3-C428-4AA7-9947-9DEBA81C0839}"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2CB053-8257-4312-BAF2-2546DC27E6FE}" type="slidenum">
              <a:rPr lang="en-US" smtClean="0"/>
              <a:t>‹#›</a:t>
            </a:fld>
            <a:endParaRPr lang="en-US"/>
          </a:p>
        </p:txBody>
      </p:sp>
    </p:spTree>
    <p:extLst>
      <p:ext uri="{BB962C8B-B14F-4D97-AF65-F5344CB8AC3E}">
        <p14:creationId xmlns:p14="http://schemas.microsoft.com/office/powerpoint/2010/main" val="2531060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 &amp; Hook:</a:t>
            </a:r>
            <a:r>
              <a:rPr lang="en-US" sz="1200" kern="1200" dirty="0">
                <a:solidFill>
                  <a:schemeClr val="tx1"/>
                </a:solidFill>
                <a:effectLst/>
                <a:latin typeface="+mn-lt"/>
                <a:ea typeface="+mn-ea"/>
                <a:cs typeface="+mn-cs"/>
              </a:rPr>
              <a:t> Welcome everyone. Today, we’re stepping into the field guide to deception and dark personalities. We often imagine dark traits in extreme, cinematic terms—a movie villain or an obvious criminal. But in everyday life, from corporate boardrooms to relationships, these dynamics are much more subtle and widespread. </a:t>
            </a:r>
          </a:p>
          <a:p>
            <a:pPr lvl="0"/>
            <a:r>
              <a:rPr lang="en-US" sz="1200" b="1" kern="1200" dirty="0">
                <a:solidFill>
                  <a:schemeClr val="tx1"/>
                </a:solidFill>
                <a:effectLst/>
                <a:latin typeface="+mn-lt"/>
                <a:ea typeface="+mn-ea"/>
                <a:cs typeface="+mn-cs"/>
              </a:rPr>
              <a:t>The Core Paradox:</a:t>
            </a:r>
            <a:r>
              <a:rPr lang="en-US" sz="1200" kern="1200" dirty="0">
                <a:solidFill>
                  <a:schemeClr val="tx1"/>
                </a:solidFill>
                <a:effectLst/>
                <a:latin typeface="+mn-lt"/>
                <a:ea typeface="+mn-ea"/>
                <a:cs typeface="+mn-cs"/>
              </a:rPr>
              <a:t> The primary goal today is not to make us cynical about humanity, but to empower us. Most people navigate the world with baseline empathy and assume others operate under the same moral code. Understanding deception and dark traits gives us a realistic framework to protect our organizations, teams, and mental well-being. </a:t>
            </a:r>
          </a:p>
          <a:p>
            <a:pPr lvl="0"/>
            <a:r>
              <a:rPr lang="en-US" sz="1200" b="1" kern="1200" dirty="0">
                <a:solidFill>
                  <a:schemeClr val="tx1"/>
                </a:solidFill>
                <a:effectLst/>
                <a:latin typeface="+mn-lt"/>
                <a:ea typeface="+mn-ea"/>
                <a:cs typeface="+mn-cs"/>
              </a:rPr>
              <a:t>Roadmap:</a:t>
            </a:r>
            <a:r>
              <a:rPr lang="en-US" sz="1200" kern="1200" dirty="0">
                <a:solidFill>
                  <a:schemeClr val="tx1"/>
                </a:solidFill>
                <a:effectLst/>
                <a:latin typeface="+mn-lt"/>
                <a:ea typeface="+mn-ea"/>
                <a:cs typeface="+mn-cs"/>
              </a:rPr>
              <a:t> Over this session, we will break down the statistics of dark traits, debunk popular deception myths, examine the cognitive mechanics of lying, profile the "Dark Tetrad," and establish an actionable action framework for managing high-risk individuals. </a:t>
            </a:r>
          </a:p>
          <a:p>
            <a:endParaRPr lang="en-US" dirty="0"/>
          </a:p>
          <a:p>
            <a:endParaRPr lang="en-US" dirty="0"/>
          </a:p>
          <a:p>
            <a:endParaRPr lang="en-US" dirty="0"/>
          </a:p>
          <a:p>
            <a:r>
              <a:rPr lang="en-US" dirty="0"/>
              <a:t>https://www.youtube.com/watch?v=AcK_zgJjnoo</a:t>
            </a:r>
          </a:p>
        </p:txBody>
      </p:sp>
      <p:sp>
        <p:nvSpPr>
          <p:cNvPr id="4" name="Slide Number Placeholder 3"/>
          <p:cNvSpPr>
            <a:spLocks noGrp="1"/>
          </p:cNvSpPr>
          <p:nvPr>
            <p:ph type="sldNum" sz="quarter" idx="5"/>
          </p:nvPr>
        </p:nvSpPr>
        <p:spPr/>
        <p:txBody>
          <a:bodyPr/>
          <a:lstStyle/>
          <a:p>
            <a:fld id="{CE2CB053-8257-4312-BAF2-2546DC27E6FE}" type="slidenum">
              <a:rPr lang="en-US" smtClean="0"/>
              <a:t>1</a:t>
            </a:fld>
            <a:endParaRPr lang="en-US"/>
          </a:p>
        </p:txBody>
      </p:sp>
    </p:spTree>
    <p:extLst>
      <p:ext uri="{BB962C8B-B14F-4D97-AF65-F5344CB8AC3E}">
        <p14:creationId xmlns:p14="http://schemas.microsoft.com/office/powerpoint/2010/main" val="2927033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Demographic Breakdown:</a:t>
            </a:r>
            <a:r>
              <a:rPr lang="en-US" sz="1200" kern="1200" dirty="0">
                <a:solidFill>
                  <a:schemeClr val="tx1"/>
                </a:solidFill>
                <a:effectLst/>
                <a:latin typeface="+mn-lt"/>
                <a:ea typeface="+mn-ea"/>
                <a:cs typeface="+mn-cs"/>
              </a:rPr>
              <a:t> Look at the distribution on this slide: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90% General Population:</a:t>
            </a:r>
            <a:r>
              <a:rPr lang="en-US" sz="1200" kern="1200" dirty="0">
                <a:solidFill>
                  <a:schemeClr val="tx1"/>
                </a:solidFill>
                <a:effectLst/>
                <a:latin typeface="+mn-lt"/>
                <a:ea typeface="+mn-ea"/>
                <a:cs typeface="+mn-cs"/>
              </a:rPr>
              <a:t> The vast majority of people operate with standard social reciprocity, empathy, and general honesty.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10% Elevated Dark Traits:</a:t>
            </a:r>
            <a:r>
              <a:rPr lang="en-US" sz="1200" kern="1200" dirty="0">
                <a:solidFill>
                  <a:schemeClr val="tx1"/>
                </a:solidFill>
                <a:effectLst/>
                <a:latin typeface="+mn-lt"/>
                <a:ea typeface="+mn-ea"/>
                <a:cs typeface="+mn-cs"/>
              </a:rPr>
              <a:t> One in ten individuals exhibits elevated, sub-clinical dark traits. They are scattered across our workplaces, leadership positions, and social circles.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 Clinical Psychopathy:</a:t>
            </a:r>
            <a:r>
              <a:rPr lang="en-US" sz="1200" kern="1200" dirty="0">
                <a:solidFill>
                  <a:schemeClr val="tx1"/>
                </a:solidFill>
                <a:effectLst/>
                <a:latin typeface="+mn-lt"/>
                <a:ea typeface="+mn-ea"/>
                <a:cs typeface="+mn-cs"/>
              </a:rPr>
              <a:t> Only about 1% of the population meets the strict criteria for clinical psychopathy. </a:t>
            </a:r>
          </a:p>
          <a:p>
            <a:pPr lvl="0"/>
            <a:r>
              <a:rPr lang="en-US" sz="1200" b="1" kern="1200" dirty="0">
                <a:solidFill>
                  <a:schemeClr val="tx1"/>
                </a:solidFill>
                <a:effectLst/>
                <a:latin typeface="+mn-lt"/>
                <a:ea typeface="+mn-ea"/>
                <a:cs typeface="+mn-cs"/>
              </a:rPr>
              <a:t>The Asymmetric Impact:</a:t>
            </a:r>
            <a:r>
              <a:rPr lang="en-US" sz="1200" kern="1200" dirty="0">
                <a:solidFill>
                  <a:schemeClr val="tx1"/>
                </a:solidFill>
                <a:effectLst/>
                <a:latin typeface="+mn-lt"/>
                <a:ea typeface="+mn-ea"/>
                <a:cs typeface="+mn-cs"/>
              </a:rPr>
              <a:t> Notice the statistic at the bottom—that 1% clinical tier is disproportionately responsible for roughly </a:t>
            </a:r>
            <a:r>
              <a:rPr lang="en-US" sz="1200" b="1" kern="1200" dirty="0">
                <a:solidFill>
                  <a:schemeClr val="tx1"/>
                </a:solidFill>
                <a:effectLst/>
                <a:latin typeface="+mn-lt"/>
                <a:ea typeface="+mn-ea"/>
                <a:cs typeface="+mn-cs"/>
              </a:rPr>
              <a:t>50% of all serious harm and offenses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Tactical Takeaway:</a:t>
            </a:r>
            <a:r>
              <a:rPr lang="en-US" sz="1200" kern="1200" dirty="0">
                <a:solidFill>
                  <a:schemeClr val="tx1"/>
                </a:solidFill>
                <a:effectLst/>
                <a:latin typeface="+mn-lt"/>
                <a:ea typeface="+mn-ea"/>
                <a:cs typeface="+mn-cs"/>
              </a:rPr>
              <a:t> You cannot simply "avoid" these personalities—statistically, you will manage, report to, hire, or work alongside them. The goal isn't avoidance; it’s early identification, strategic boundary setting, and risk mitigation.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2</a:t>
            </a:fld>
            <a:endParaRPr lang="en-US"/>
          </a:p>
        </p:txBody>
      </p:sp>
    </p:spTree>
    <p:extLst>
      <p:ext uri="{BB962C8B-B14F-4D97-AF65-F5344CB8AC3E}">
        <p14:creationId xmlns:p14="http://schemas.microsoft.com/office/powerpoint/2010/main" val="1039374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Human Baseline:</a:t>
            </a:r>
            <a:r>
              <a:rPr lang="en-US" sz="1200" kern="1200" dirty="0">
                <a:solidFill>
                  <a:schemeClr val="tx1"/>
                </a:solidFill>
                <a:effectLst/>
                <a:latin typeface="+mn-lt"/>
                <a:ea typeface="+mn-ea"/>
                <a:cs typeface="+mn-cs"/>
              </a:rPr>
              <a:t> The average person’s ability to detect a lie in real time is </a:t>
            </a:r>
            <a:r>
              <a:rPr lang="en-US" sz="1200" b="1" kern="1200" dirty="0">
                <a:solidFill>
                  <a:schemeClr val="tx1"/>
                </a:solidFill>
                <a:effectLst/>
                <a:latin typeface="+mn-lt"/>
                <a:ea typeface="+mn-ea"/>
                <a:cs typeface="+mn-cs"/>
              </a:rPr>
              <a:t>54%</a:t>
            </a:r>
            <a:r>
              <a:rPr lang="en-US" sz="1200" kern="1200" dirty="0">
                <a:solidFill>
                  <a:schemeClr val="tx1"/>
                </a:solidFill>
                <a:effectLst/>
                <a:latin typeface="+mn-lt"/>
                <a:ea typeface="+mn-ea"/>
                <a:cs typeface="+mn-cs"/>
              </a:rPr>
              <a:t>—essentially a coin flip. Why are we so bad at it? Because we rely on widespread cultural myths rather than empirical science. </a:t>
            </a:r>
          </a:p>
          <a:p>
            <a:pPr lvl="0"/>
            <a:r>
              <a:rPr lang="en-US" sz="1200" b="1" kern="1200" dirty="0">
                <a:solidFill>
                  <a:schemeClr val="tx1"/>
                </a:solidFill>
                <a:effectLst/>
                <a:latin typeface="+mn-lt"/>
                <a:ea typeface="+mn-ea"/>
                <a:cs typeface="+mn-cs"/>
              </a:rPr>
              <a:t>Myth #1: Gaze Aversion:</a:t>
            </a:r>
            <a:r>
              <a:rPr lang="en-US" sz="1200" kern="1200" dirty="0">
                <a:solidFill>
                  <a:schemeClr val="tx1"/>
                </a:solidFill>
                <a:effectLst/>
                <a:latin typeface="+mn-lt"/>
                <a:ea typeface="+mn-ea"/>
                <a:cs typeface="+mn-cs"/>
              </a:rPr>
              <a:t> Ask anyone what a liar looks like, and they’ll tell you "they can't look you in the eye". Empirical research proves this is completely false. Accomplished liars frequently maintain intentional, controlled eye contact. Furthermore, falsely equating eye contact avoidance with lying often unfairly flags neurodivergent individuals. </a:t>
            </a:r>
          </a:p>
          <a:p>
            <a:pPr lvl="0"/>
            <a:r>
              <a:rPr lang="en-US" sz="1200" b="1" kern="1200" dirty="0">
                <a:solidFill>
                  <a:schemeClr val="tx1"/>
                </a:solidFill>
                <a:effectLst/>
                <a:latin typeface="+mn-lt"/>
                <a:ea typeface="+mn-ea"/>
                <a:cs typeface="+mn-cs"/>
              </a:rPr>
              <a:t>Myth #2: Fidgeting:</a:t>
            </a:r>
            <a:r>
              <a:rPr lang="en-US" sz="1200" kern="1200" dirty="0">
                <a:solidFill>
                  <a:schemeClr val="tx1"/>
                </a:solidFill>
                <a:effectLst/>
                <a:latin typeface="+mn-lt"/>
                <a:ea typeface="+mn-ea"/>
                <a:cs typeface="+mn-cs"/>
              </a:rPr>
              <a:t> We associate fidgeting with guilt, but it merely signals general physiological arousal or nervousness, not deception. </a:t>
            </a:r>
          </a:p>
          <a:p>
            <a:pPr lvl="0"/>
            <a:r>
              <a:rPr lang="en-US" sz="1200" b="1" kern="1200" dirty="0">
                <a:solidFill>
                  <a:schemeClr val="tx1"/>
                </a:solidFill>
                <a:effectLst/>
                <a:latin typeface="+mn-lt"/>
                <a:ea typeface="+mn-ea"/>
                <a:cs typeface="+mn-cs"/>
              </a:rPr>
              <a:t>Scientific Baselines: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Statement Verifiability:</a:t>
            </a:r>
            <a:r>
              <a:rPr lang="en-US" sz="1200" kern="1200" dirty="0">
                <a:solidFill>
                  <a:schemeClr val="tx1"/>
                </a:solidFill>
                <a:effectLst/>
                <a:latin typeface="+mn-lt"/>
                <a:ea typeface="+mn-ea"/>
                <a:cs typeface="+mn-cs"/>
              </a:rPr>
              <a:t> Liars naturally offer fewer verifiable, fact-checkable details because details create legal or logical traps.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Cognitive Strain:</a:t>
            </a:r>
            <a:r>
              <a:rPr lang="en-US" sz="1200" kern="1200" dirty="0">
                <a:solidFill>
                  <a:schemeClr val="tx1"/>
                </a:solidFill>
                <a:effectLst/>
                <a:latin typeface="+mn-lt"/>
                <a:ea typeface="+mn-ea"/>
                <a:cs typeface="+mn-cs"/>
              </a:rPr>
              <a:t> Lying requires creating a secondary narrative while holding the truth in memory, producing noticeable processing lags.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3</a:t>
            </a:fld>
            <a:endParaRPr lang="en-US"/>
          </a:p>
        </p:txBody>
      </p:sp>
    </p:spTree>
    <p:extLst>
      <p:ext uri="{BB962C8B-B14F-4D97-AF65-F5344CB8AC3E}">
        <p14:creationId xmlns:p14="http://schemas.microsoft.com/office/powerpoint/2010/main" val="1056559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Mental Mechanics:</a:t>
            </a:r>
            <a:r>
              <a:rPr lang="en-US" sz="1200" kern="1200" dirty="0">
                <a:solidFill>
                  <a:schemeClr val="tx1"/>
                </a:solidFill>
                <a:effectLst/>
                <a:latin typeface="+mn-lt"/>
                <a:ea typeface="+mn-ea"/>
                <a:cs typeface="+mn-cs"/>
              </a:rPr>
              <a:t> Contrary to popular belief, unprompted liars usually do not over-explain or chatter endlessly. Constructing an alternative reality places a severe tax on the brain's executive processing centers. </a:t>
            </a:r>
          </a:p>
          <a:p>
            <a:pPr lvl="0"/>
            <a:r>
              <a:rPr lang="en-US" sz="1200" b="1" kern="1200" dirty="0">
                <a:solidFill>
                  <a:schemeClr val="tx1"/>
                </a:solidFill>
                <a:effectLst/>
                <a:latin typeface="+mn-lt"/>
                <a:ea typeface="+mn-ea"/>
                <a:cs typeface="+mn-cs"/>
              </a:rPr>
              <a:t>The Cognitive Funnel:</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Inventing Facts:</a:t>
            </a:r>
            <a:r>
              <a:rPr lang="en-US" sz="1200" kern="1200" dirty="0">
                <a:solidFill>
                  <a:schemeClr val="tx1"/>
                </a:solidFill>
                <a:effectLst/>
                <a:latin typeface="+mn-lt"/>
                <a:ea typeface="+mn-ea"/>
                <a:cs typeface="+mn-cs"/>
              </a:rPr>
              <a:t> Constructing a plausible alternate reality on the spot.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Tracking the Lie:</a:t>
            </a:r>
            <a:r>
              <a:rPr lang="en-US" sz="1200" kern="1200" dirty="0">
                <a:solidFill>
                  <a:schemeClr val="tx1"/>
                </a:solidFill>
                <a:effectLst/>
                <a:latin typeface="+mn-lt"/>
                <a:ea typeface="+mn-ea"/>
                <a:cs typeface="+mn-cs"/>
              </a:rPr>
              <a:t> Remembering the exact fabrication so they don't contradict themselves later.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Anticipating Knowledge:</a:t>
            </a:r>
            <a:r>
              <a:rPr lang="en-US" sz="1200" kern="1200" dirty="0">
                <a:solidFill>
                  <a:schemeClr val="tx1"/>
                </a:solidFill>
                <a:effectLst/>
                <a:latin typeface="+mn-lt"/>
                <a:ea typeface="+mn-ea"/>
                <a:cs typeface="+mn-cs"/>
              </a:rPr>
              <a:t> Constantly calculating what the interrogator or listener already knows to avoid obvious traps. </a:t>
            </a:r>
          </a:p>
          <a:p>
            <a:pPr lvl="0"/>
            <a:r>
              <a:rPr lang="en-US" sz="1200" b="1" kern="1200" dirty="0">
                <a:solidFill>
                  <a:schemeClr val="tx1"/>
                </a:solidFill>
                <a:effectLst/>
                <a:latin typeface="+mn-lt"/>
                <a:ea typeface="+mn-ea"/>
                <a:cs typeface="+mn-cs"/>
              </a:rPr>
              <a:t>Physiological &amp; Verbal Signals:</a:t>
            </a:r>
            <a:r>
              <a:rPr lang="en-US" sz="1200" kern="1200" dirty="0">
                <a:solidFill>
                  <a:schemeClr val="tx1"/>
                </a:solidFill>
                <a:effectLst/>
                <a:latin typeface="+mn-lt"/>
                <a:ea typeface="+mn-ea"/>
                <a:cs typeface="+mn-cs"/>
              </a:rPr>
              <a:t> This internal cognitive strain drains brain power, spikes cortisol, slows speech tempo, and forces the speaker to default to sparse, ambiguous, and non-committal descriptions.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4</a:t>
            </a:fld>
            <a:endParaRPr lang="en-US"/>
          </a:p>
        </p:txBody>
      </p:sp>
    </p:spTree>
    <p:extLst>
      <p:ext uri="{BB962C8B-B14F-4D97-AF65-F5344CB8AC3E}">
        <p14:creationId xmlns:p14="http://schemas.microsoft.com/office/powerpoint/2010/main" val="2080279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Closed vs. Open Questions: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Closed Questions</a:t>
            </a:r>
            <a:r>
              <a:rPr lang="en-US" sz="1200" kern="1200" dirty="0">
                <a:solidFill>
                  <a:schemeClr val="tx1"/>
                </a:solidFill>
                <a:effectLst/>
                <a:latin typeface="+mn-lt"/>
                <a:ea typeface="+mn-ea"/>
                <a:cs typeface="+mn-cs"/>
              </a:rPr>
              <a:t> (e.g., "Were you at the office?") allow a deceptive person to give a simple "Yes" or "No". This requires zero cognitive effort and lets them maintain their defensive posture.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Open Questions</a:t>
            </a:r>
            <a:r>
              <a:rPr lang="en-US" sz="1200" kern="1200" dirty="0">
                <a:solidFill>
                  <a:schemeClr val="tx1"/>
                </a:solidFill>
                <a:effectLst/>
                <a:latin typeface="+mn-lt"/>
                <a:ea typeface="+mn-ea"/>
                <a:cs typeface="+mn-cs"/>
              </a:rPr>
              <a:t> (e.g., "Tell me about what you were working on") force the individual to generate detailed narratives on the spot. </a:t>
            </a:r>
          </a:p>
          <a:p>
            <a:pPr lvl="0"/>
            <a:r>
              <a:rPr lang="en-US" sz="1200" b="1" kern="1200" dirty="0">
                <a:solidFill>
                  <a:schemeClr val="tx1"/>
                </a:solidFill>
                <a:effectLst/>
                <a:latin typeface="+mn-lt"/>
                <a:ea typeface="+mn-ea"/>
                <a:cs typeface="+mn-cs"/>
              </a:rPr>
              <a:t>The Strategic Prompt:</a:t>
            </a:r>
            <a:r>
              <a:rPr lang="en-US" sz="1200" kern="1200" dirty="0">
                <a:solidFill>
                  <a:schemeClr val="tx1"/>
                </a:solidFill>
                <a:effectLst/>
                <a:latin typeface="+mn-lt"/>
                <a:ea typeface="+mn-ea"/>
                <a:cs typeface="+mn-cs"/>
              </a:rPr>
              <a:t> The phrase </a:t>
            </a:r>
            <a:r>
              <a:rPr lang="en-US" sz="1200" b="1" kern="1200" dirty="0">
                <a:solidFill>
                  <a:schemeClr val="tx1"/>
                </a:solidFill>
                <a:effectLst/>
                <a:latin typeface="+mn-lt"/>
                <a:ea typeface="+mn-ea"/>
                <a:cs typeface="+mn-cs"/>
              </a:rPr>
              <a:t>"Tell me more about that"</a:t>
            </a:r>
            <a:r>
              <a:rPr lang="en-US" sz="1200" kern="1200" dirty="0">
                <a:solidFill>
                  <a:schemeClr val="tx1"/>
                </a:solidFill>
                <a:effectLst/>
                <a:latin typeface="+mn-lt"/>
                <a:ea typeface="+mn-ea"/>
                <a:cs typeface="+mn-cs"/>
              </a:rPr>
              <a:t> is one of the most effective tools in deception detection. </a:t>
            </a:r>
          </a:p>
          <a:p>
            <a:pPr lvl="0"/>
            <a:r>
              <a:rPr lang="en-US" sz="1200" b="1" kern="1200" dirty="0">
                <a:solidFill>
                  <a:schemeClr val="tx1"/>
                </a:solidFill>
                <a:effectLst/>
                <a:latin typeface="+mn-lt"/>
                <a:ea typeface="+mn-ea"/>
                <a:cs typeface="+mn-cs"/>
              </a:rPr>
              <a:t>Differentiating Responses: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Truth-tellers:</a:t>
            </a:r>
            <a:r>
              <a:rPr lang="en-US" sz="1200" kern="1200" dirty="0">
                <a:solidFill>
                  <a:schemeClr val="tx1"/>
                </a:solidFill>
                <a:effectLst/>
                <a:latin typeface="+mn-lt"/>
                <a:ea typeface="+mn-ea"/>
                <a:cs typeface="+mn-cs"/>
              </a:rPr>
              <a:t> Effortlessly recall mundane, spontaneous specifics (e.g., complaining about software bugs, formatting issues, or minor interruptions).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Liars:</a:t>
            </a:r>
            <a:r>
              <a:rPr lang="en-US" sz="1200" kern="1200" dirty="0">
                <a:solidFill>
                  <a:schemeClr val="tx1"/>
                </a:solidFill>
                <a:effectLst/>
                <a:latin typeface="+mn-lt"/>
                <a:ea typeface="+mn-ea"/>
                <a:cs typeface="+mn-cs"/>
              </a:rPr>
              <a:t> Struggle under the sudden cognitive load, offering vague generalizations, script-like answers, or unprovable details.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5</a:t>
            </a:fld>
            <a:endParaRPr lang="en-US"/>
          </a:p>
        </p:txBody>
      </p:sp>
    </p:spTree>
    <p:extLst>
      <p:ext uri="{BB962C8B-B14F-4D97-AF65-F5344CB8AC3E}">
        <p14:creationId xmlns:p14="http://schemas.microsoft.com/office/powerpoint/2010/main" val="1998701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Micro-Expressions &amp; Facial Muscles:</a:t>
            </a:r>
            <a:r>
              <a:rPr lang="en-US" sz="1200" kern="1200" dirty="0">
                <a:solidFill>
                  <a:schemeClr val="tx1"/>
                </a:solidFill>
                <a:effectLst/>
                <a:latin typeface="+mn-lt"/>
                <a:ea typeface="+mn-ea"/>
                <a:cs typeface="+mn-cs"/>
              </a:rPr>
              <a:t> True emotion leaks out through micro-expressions that are controlled by involuntary facial muscles. </a:t>
            </a:r>
          </a:p>
          <a:p>
            <a:pPr lvl="0"/>
            <a:r>
              <a:rPr lang="en-US" sz="1200" b="1" kern="1200" dirty="0">
                <a:solidFill>
                  <a:schemeClr val="tx1"/>
                </a:solidFill>
                <a:effectLst/>
                <a:latin typeface="+mn-lt"/>
                <a:ea typeface="+mn-ea"/>
                <a:cs typeface="+mn-cs"/>
              </a:rPr>
              <a:t>Smiles (Genuine vs. Deceptive):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Duchenne (Genuine) Smile:</a:t>
            </a:r>
            <a:r>
              <a:rPr lang="en-US" sz="1200" kern="1200" dirty="0">
                <a:solidFill>
                  <a:schemeClr val="tx1"/>
                </a:solidFill>
                <a:effectLst/>
                <a:latin typeface="+mn-lt"/>
                <a:ea typeface="+mn-ea"/>
                <a:cs typeface="+mn-cs"/>
              </a:rPr>
              <a:t> Involves both the </a:t>
            </a:r>
            <a:r>
              <a:rPr lang="en-US" sz="1200" i="1" kern="1200" dirty="0">
                <a:solidFill>
                  <a:schemeClr val="tx1"/>
                </a:solidFill>
                <a:effectLst/>
                <a:latin typeface="+mn-lt"/>
                <a:ea typeface="+mn-ea"/>
                <a:cs typeface="+mn-cs"/>
              </a:rPr>
              <a:t>zygomaticus major</a:t>
            </a:r>
            <a:r>
              <a:rPr lang="en-US" sz="1200" kern="1200" dirty="0">
                <a:solidFill>
                  <a:schemeClr val="tx1"/>
                </a:solidFill>
                <a:effectLst/>
                <a:latin typeface="+mn-lt"/>
                <a:ea typeface="+mn-ea"/>
                <a:cs typeface="+mn-cs"/>
              </a:rPr>
              <a:t> (raising the mouth corners) and the </a:t>
            </a:r>
            <a:r>
              <a:rPr lang="en-US" sz="1200" i="1" kern="1200" dirty="0">
                <a:solidFill>
                  <a:schemeClr val="tx1"/>
                </a:solidFill>
                <a:effectLst/>
                <a:latin typeface="+mn-lt"/>
                <a:ea typeface="+mn-ea"/>
                <a:cs typeface="+mn-cs"/>
              </a:rPr>
              <a:t>orbicularis oculi</a:t>
            </a:r>
            <a:r>
              <a:rPr lang="en-US" sz="1200" kern="1200" dirty="0">
                <a:solidFill>
                  <a:schemeClr val="tx1"/>
                </a:solidFill>
                <a:effectLst/>
                <a:latin typeface="+mn-lt"/>
                <a:ea typeface="+mn-ea"/>
                <a:cs typeface="+mn-cs"/>
              </a:rPr>
              <a:t> (crinkling around the eyes).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Deceptive Smile:</a:t>
            </a:r>
            <a:r>
              <a:rPr lang="en-US" sz="1200" kern="1200" dirty="0">
                <a:solidFill>
                  <a:schemeClr val="tx1"/>
                </a:solidFill>
                <a:effectLst/>
                <a:latin typeface="+mn-lt"/>
                <a:ea typeface="+mn-ea"/>
                <a:cs typeface="+mn-cs"/>
              </a:rPr>
              <a:t> Isolated solely to the lower face and mouth. The eyes remain flat or cold, often paired with incongruent or aggressive speech. </a:t>
            </a:r>
          </a:p>
          <a:p>
            <a:pPr lvl="0"/>
            <a:r>
              <a:rPr lang="en-US" sz="1200" b="1" kern="1200" dirty="0">
                <a:solidFill>
                  <a:schemeClr val="tx1"/>
                </a:solidFill>
                <a:effectLst/>
                <a:latin typeface="+mn-lt"/>
                <a:ea typeface="+mn-ea"/>
                <a:cs typeface="+mn-cs"/>
              </a:rPr>
              <a:t>Sadness &amp; Pleading: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Genuine Sadness:</a:t>
            </a:r>
            <a:r>
              <a:rPr lang="en-US" sz="1200" kern="1200" dirty="0">
                <a:solidFill>
                  <a:schemeClr val="tx1"/>
                </a:solidFill>
                <a:effectLst/>
                <a:latin typeface="+mn-lt"/>
                <a:ea typeface="+mn-ea"/>
                <a:cs typeface="+mn-cs"/>
              </a:rPr>
              <a:t> Shows predictable downward pulls at the lip corners and subtle inner-eyebrow pulling.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Fake Pleading:</a:t>
            </a:r>
            <a:r>
              <a:rPr lang="en-US" sz="1200" kern="1200" dirty="0">
                <a:solidFill>
                  <a:schemeClr val="tx1"/>
                </a:solidFill>
                <a:effectLst/>
                <a:latin typeface="+mn-lt"/>
                <a:ea typeface="+mn-ea"/>
                <a:cs typeface="+mn-cs"/>
              </a:rPr>
              <a:t> Often features raised, flat brows—simulating surprise or drama rather than actual grief. In studies of public missing-person pleas, this facial distortion carries high predictive accuracy for deceptive intent.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6</a:t>
            </a:fld>
            <a:endParaRPr lang="en-US"/>
          </a:p>
        </p:txBody>
      </p:sp>
    </p:spTree>
    <p:extLst>
      <p:ext uri="{BB962C8B-B14F-4D97-AF65-F5344CB8AC3E}">
        <p14:creationId xmlns:p14="http://schemas.microsoft.com/office/powerpoint/2010/main" val="3560665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 of the 4 Profiles:</a:t>
            </a:r>
            <a:r>
              <a:rPr lang="en-US" sz="1200" kern="1200" dirty="0">
                <a:solidFill>
                  <a:schemeClr val="tx1"/>
                </a:solidFill>
                <a:effectLst/>
                <a:latin typeface="+mn-lt"/>
                <a:ea typeface="+mn-ea"/>
                <a:cs typeface="+mn-cs"/>
              </a:rPr>
              <a:t> The Dark Tetrad consists of Psychopathy, Machiavellianism, Narcissism, and Sadism. </a:t>
            </a:r>
          </a:p>
          <a:p>
            <a:pPr lvl="0"/>
            <a:r>
              <a:rPr lang="en-US" sz="1200" b="1" kern="1200" dirty="0">
                <a:solidFill>
                  <a:schemeClr val="tx1"/>
                </a:solidFill>
                <a:effectLst/>
                <a:latin typeface="+mn-lt"/>
                <a:ea typeface="+mn-ea"/>
                <a:cs typeface="+mn-cs"/>
              </a:rPr>
              <a:t>Deconstructing Each Trait: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Psychopathy:</a:t>
            </a:r>
            <a:r>
              <a:rPr lang="en-US" sz="1200" kern="1200" dirty="0">
                <a:solidFill>
                  <a:schemeClr val="tx1"/>
                </a:solidFill>
                <a:effectLst/>
                <a:latin typeface="+mn-lt"/>
                <a:ea typeface="+mn-ea"/>
                <a:cs typeface="+mn-cs"/>
              </a:rPr>
              <a:t> Driven by impulsive stimulation and dominance. Characterized by shallow emotional affect, rule-breaking, and zero remorse. </a:t>
            </a:r>
            <a:r>
              <a:rPr lang="en-US" sz="1200" i="1" kern="1200" dirty="0">
                <a:solidFill>
                  <a:schemeClr val="tx1"/>
                </a:solidFill>
                <a:effectLst/>
                <a:latin typeface="+mn-lt"/>
                <a:ea typeface="+mn-ea"/>
                <a:cs typeface="+mn-cs"/>
              </a:rPr>
              <a:t>Red Flag:</a:t>
            </a:r>
            <a:r>
              <a:rPr lang="en-US" sz="1200" kern="1200" dirty="0">
                <a:solidFill>
                  <a:schemeClr val="tx1"/>
                </a:solidFill>
                <a:effectLst/>
                <a:latin typeface="+mn-lt"/>
                <a:ea typeface="+mn-ea"/>
                <a:cs typeface="+mn-cs"/>
              </a:rPr>
              <a:t> Chaotic behavior—they can be wildly volatile or unnaturally calm in genuine crises.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Machiavellianism:</a:t>
            </a:r>
            <a:r>
              <a:rPr lang="en-US" sz="1200" kern="1200" dirty="0">
                <a:solidFill>
                  <a:schemeClr val="tx1"/>
                </a:solidFill>
                <a:effectLst/>
                <a:latin typeface="+mn-lt"/>
                <a:ea typeface="+mn-ea"/>
                <a:cs typeface="+mn-cs"/>
              </a:rPr>
              <a:t> Driven by long-term power, strategic control, and "3D chess" manipulation. They collect personal information to use as strategic leverage later. </a:t>
            </a:r>
            <a:r>
              <a:rPr lang="en-US" sz="1200" i="1" kern="1200" dirty="0">
                <a:solidFill>
                  <a:schemeClr val="tx1"/>
                </a:solidFill>
                <a:effectLst/>
                <a:latin typeface="+mn-lt"/>
                <a:ea typeface="+mn-ea"/>
                <a:cs typeface="+mn-cs"/>
              </a:rPr>
              <a:t>Red Flag:</a:t>
            </a:r>
            <a:r>
              <a:rPr lang="en-US" sz="1200" kern="1200" dirty="0">
                <a:solidFill>
                  <a:schemeClr val="tx1"/>
                </a:solidFill>
                <a:effectLst/>
                <a:latin typeface="+mn-lt"/>
                <a:ea typeface="+mn-ea"/>
                <a:cs typeface="+mn-cs"/>
              </a:rPr>
              <a:t> The smooth-talking, hyper-strategic operator.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Narcissism:</a:t>
            </a:r>
            <a:r>
              <a:rPr lang="en-US" sz="1200" kern="1200" dirty="0">
                <a:solidFill>
                  <a:schemeClr val="tx1"/>
                </a:solidFill>
                <a:effectLst/>
                <a:latin typeface="+mn-lt"/>
                <a:ea typeface="+mn-ea"/>
                <a:cs typeface="+mn-cs"/>
              </a:rPr>
              <a:t> Driven by entitlement and constant admiration. Exploitative and self-focused. </a:t>
            </a:r>
            <a:r>
              <a:rPr lang="en-US" sz="1200" i="1" kern="1200" dirty="0">
                <a:solidFill>
                  <a:schemeClr val="tx1"/>
                </a:solidFill>
                <a:effectLst/>
                <a:latin typeface="+mn-lt"/>
                <a:ea typeface="+mn-ea"/>
                <a:cs typeface="+mn-cs"/>
              </a:rPr>
              <a:t>Red Flag:</a:t>
            </a:r>
            <a:r>
              <a:rPr lang="en-US" sz="1200" kern="1200" dirty="0">
                <a:solidFill>
                  <a:schemeClr val="tx1"/>
                </a:solidFill>
                <a:effectLst/>
                <a:latin typeface="+mn-lt"/>
                <a:ea typeface="+mn-ea"/>
                <a:cs typeface="+mn-cs"/>
              </a:rPr>
              <a:t> "The Eternal Expert" who claims authority on every subject.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Sadism:</a:t>
            </a:r>
            <a:r>
              <a:rPr lang="en-US" sz="1200" kern="1200" dirty="0">
                <a:solidFill>
                  <a:schemeClr val="tx1"/>
                </a:solidFill>
                <a:effectLst/>
                <a:latin typeface="+mn-lt"/>
                <a:ea typeface="+mn-ea"/>
                <a:cs typeface="+mn-cs"/>
              </a:rPr>
              <a:t> Driven by pleasure in another person's emotional, social, or physical suffering. </a:t>
            </a:r>
            <a:r>
              <a:rPr lang="en-US" sz="1200" i="1" kern="1200" dirty="0">
                <a:solidFill>
                  <a:schemeClr val="tx1"/>
                </a:solidFill>
                <a:effectLst/>
                <a:latin typeface="+mn-lt"/>
                <a:ea typeface="+mn-ea"/>
                <a:cs typeface="+mn-cs"/>
              </a:rPr>
              <a:t>Red Flag:</a:t>
            </a:r>
            <a:r>
              <a:rPr lang="en-US" sz="1200" kern="1200" dirty="0">
                <a:solidFill>
                  <a:schemeClr val="tx1"/>
                </a:solidFill>
                <a:effectLst/>
                <a:latin typeface="+mn-lt"/>
                <a:ea typeface="+mn-ea"/>
                <a:cs typeface="+mn-cs"/>
              </a:rPr>
              <a:t> A subtle enjoyment of others' struggles or pain.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7</a:t>
            </a:fld>
            <a:endParaRPr lang="en-US"/>
          </a:p>
        </p:txBody>
      </p:sp>
    </p:spTree>
    <p:extLst>
      <p:ext uri="{BB962C8B-B14F-4D97-AF65-F5344CB8AC3E}">
        <p14:creationId xmlns:p14="http://schemas.microsoft.com/office/powerpoint/2010/main" val="1017974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Two Distinct Expressions:</a:t>
            </a:r>
            <a:r>
              <a:rPr lang="en-US" sz="1200" kern="1200" dirty="0">
                <a:solidFill>
                  <a:schemeClr val="tx1"/>
                </a:solidFill>
                <a:effectLst/>
                <a:latin typeface="+mn-lt"/>
                <a:ea typeface="+mn-ea"/>
                <a:cs typeface="+mn-cs"/>
              </a:rPr>
              <a:t> Narcissism isn't one-size-fits-all; identifying the specific type helps predict how and when an individual will strike. </a:t>
            </a:r>
          </a:p>
          <a:p>
            <a:pPr lvl="0"/>
            <a:r>
              <a:rPr lang="en-US" sz="1200" b="1" kern="1200" dirty="0">
                <a:solidFill>
                  <a:schemeClr val="tx1"/>
                </a:solidFill>
                <a:effectLst/>
                <a:latin typeface="+mn-lt"/>
                <a:ea typeface="+mn-ea"/>
                <a:cs typeface="+mn-cs"/>
              </a:rPr>
              <a:t>Grandiose Narcissism ("The Iron Ego"):</a:t>
            </a:r>
            <a:r>
              <a:rPr lang="en-US" sz="1200" kern="1200" dirty="0">
                <a:solidFill>
                  <a:schemeClr val="tx1"/>
                </a:solidFill>
                <a:effectLst/>
                <a:latin typeface="+mn-lt"/>
                <a:ea typeface="+mn-ea"/>
                <a:cs typeface="+mn-cs"/>
              </a:rPr>
              <a:t> Projects immense self-belief, charm, and invulnerability.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Primary Trigger:</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Failure to achieve or loss of status.</a:t>
            </a:r>
            <a:r>
              <a:rPr lang="en-US" sz="1200" kern="1200" dirty="0">
                <a:solidFill>
                  <a:schemeClr val="tx1"/>
                </a:solidFill>
                <a:effectLst/>
                <a:latin typeface="+mn-lt"/>
                <a:ea typeface="+mn-ea"/>
                <a:cs typeface="+mn-cs"/>
              </a:rPr>
              <a:t> When denied a promotion, title, or public recognition, they become aggressively combative to protect their self-image. </a:t>
            </a:r>
          </a:p>
          <a:p>
            <a:pPr lvl="0"/>
            <a:r>
              <a:rPr lang="en-US" sz="1200" b="1" kern="1200" dirty="0">
                <a:solidFill>
                  <a:schemeClr val="tx1"/>
                </a:solidFill>
                <a:effectLst/>
                <a:latin typeface="+mn-lt"/>
                <a:ea typeface="+mn-ea"/>
                <a:cs typeface="+mn-cs"/>
              </a:rPr>
              <a:t>Vulnerable Narcissism ("The Fragile Ego"):</a:t>
            </a:r>
            <a:r>
              <a:rPr lang="en-US" sz="1200" kern="1200" dirty="0">
                <a:solidFill>
                  <a:schemeClr val="tx1"/>
                </a:solidFill>
                <a:effectLst/>
                <a:latin typeface="+mn-lt"/>
                <a:ea typeface="+mn-ea"/>
                <a:cs typeface="+mn-cs"/>
              </a:rPr>
              <a:t> Deeply insecure, hypersensitive, yet feels highly entitled. They rely heavily on constant external validation.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Primary Trigger:</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Social rejection or minor slights.</a:t>
            </a:r>
            <a:r>
              <a:rPr lang="en-US" sz="1200" kern="1200" dirty="0">
                <a:solidFill>
                  <a:schemeClr val="tx1"/>
                </a:solidFill>
                <a:effectLst/>
                <a:latin typeface="+mn-lt"/>
                <a:ea typeface="+mn-ea"/>
                <a:cs typeface="+mn-cs"/>
              </a:rPr>
              <a:t> A casual critique or perceived social snub can trigger disproportionate hostility or vindictive behavior.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8</a:t>
            </a:fld>
            <a:endParaRPr lang="en-US"/>
          </a:p>
        </p:txBody>
      </p:sp>
    </p:spTree>
    <p:extLst>
      <p:ext uri="{BB962C8B-B14F-4D97-AF65-F5344CB8AC3E}">
        <p14:creationId xmlns:p14="http://schemas.microsoft.com/office/powerpoint/2010/main" val="1949910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50/50 Split:</a:t>
            </a:r>
            <a:r>
              <a:rPr lang="en-US" sz="1200" kern="1200" dirty="0">
                <a:solidFill>
                  <a:schemeClr val="tx1"/>
                </a:solidFill>
                <a:effectLst/>
                <a:latin typeface="+mn-lt"/>
                <a:ea typeface="+mn-ea"/>
                <a:cs typeface="+mn-cs"/>
              </a:rPr>
              <a:t> Behavioral genetics show dark traits are roughly 50% inherited baseline traits and 50% environmental development. </a:t>
            </a:r>
          </a:p>
          <a:p>
            <a:pPr lvl="0"/>
            <a:r>
              <a:rPr lang="en-US" sz="1200" b="1" kern="1200" dirty="0">
                <a:solidFill>
                  <a:schemeClr val="tx1"/>
                </a:solidFill>
                <a:effectLst/>
                <a:latin typeface="+mn-lt"/>
                <a:ea typeface="+mn-ea"/>
                <a:cs typeface="+mn-cs"/>
              </a:rPr>
              <a:t>Environmental Influences:</a:t>
            </a:r>
            <a:r>
              <a:rPr lang="en-US" sz="1200" kern="1200" dirty="0">
                <a:solidFill>
                  <a:schemeClr val="tx1"/>
                </a:solidFill>
                <a:effectLst/>
                <a:latin typeface="+mn-lt"/>
                <a:ea typeface="+mn-ea"/>
                <a:cs typeface="+mn-cs"/>
              </a:rPr>
              <a:t> Cold, indifferent, or abusive parenting strongly correlates with adult psychopathy. Conversely, overvaluation and unearned praise ("you are inherently superior to others") correlate strongly with narcissism. </a:t>
            </a:r>
          </a:p>
          <a:p>
            <a:pPr lvl="0"/>
            <a:r>
              <a:rPr lang="en-US" sz="1200" b="1" kern="1200" dirty="0">
                <a:solidFill>
                  <a:schemeClr val="tx1"/>
                </a:solidFill>
                <a:effectLst/>
                <a:latin typeface="+mn-lt"/>
                <a:ea typeface="+mn-ea"/>
                <a:cs typeface="+mn-cs"/>
              </a:rPr>
              <a:t>Neurological Differences: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Prefrontal Cortex:</a:t>
            </a:r>
            <a:r>
              <a:rPr lang="en-US" sz="1200" kern="1200" dirty="0">
                <a:solidFill>
                  <a:schemeClr val="tx1"/>
                </a:solidFill>
                <a:effectLst/>
                <a:latin typeface="+mn-lt"/>
                <a:ea typeface="+mn-ea"/>
                <a:cs typeface="+mn-cs"/>
              </a:rPr>
              <a:t> Shows lower activity and reduced connectivity, leading to poor impulse control and impaired moral reasoning.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Amygdala:</a:t>
            </a:r>
            <a:r>
              <a:rPr lang="en-US" sz="1200" kern="1200" dirty="0">
                <a:solidFill>
                  <a:schemeClr val="tx1"/>
                </a:solidFill>
                <a:effectLst/>
                <a:latin typeface="+mn-lt"/>
                <a:ea typeface="+mn-ea"/>
                <a:cs typeface="+mn-cs"/>
              </a:rPr>
              <a:t> Physically smaller and hypo-active. This results in an abnormally low fear response and an inability to learn from punishment or negative reinforcement.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9</a:t>
            </a:fld>
            <a:endParaRPr lang="en-US"/>
          </a:p>
        </p:txBody>
      </p:sp>
    </p:spTree>
    <p:extLst>
      <p:ext uri="{BB962C8B-B14F-4D97-AF65-F5344CB8AC3E}">
        <p14:creationId xmlns:p14="http://schemas.microsoft.com/office/powerpoint/2010/main" val="3835115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Challenging Pop Culture:</a:t>
            </a:r>
            <a:r>
              <a:rPr lang="en-US" sz="1200" kern="1200" dirty="0">
                <a:solidFill>
                  <a:schemeClr val="tx1"/>
                </a:solidFill>
                <a:effectLst/>
                <a:latin typeface="+mn-lt"/>
                <a:ea typeface="+mn-ea"/>
                <a:cs typeface="+mn-cs"/>
              </a:rPr>
              <a:t> Movies and media often suggest that cold, ruthless traits produce high-performing executives, financial geniuses, and decisive leaders. Empirical research proves the exact opposite. </a:t>
            </a:r>
          </a:p>
          <a:p>
            <a:pPr lvl="0"/>
            <a:r>
              <a:rPr lang="en-US" sz="1200" b="1" kern="1200" dirty="0">
                <a:solidFill>
                  <a:schemeClr val="tx1"/>
                </a:solidFill>
                <a:effectLst/>
                <a:latin typeface="+mn-lt"/>
                <a:ea typeface="+mn-ea"/>
                <a:cs typeface="+mn-cs"/>
              </a:rPr>
              <a:t>Real-World Data:</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Hedge Fund Managers:</a:t>
            </a:r>
            <a:r>
              <a:rPr lang="en-US" sz="1200" kern="1200" dirty="0">
                <a:solidFill>
                  <a:schemeClr val="tx1"/>
                </a:solidFill>
                <a:effectLst/>
                <a:latin typeface="+mn-lt"/>
                <a:ea typeface="+mn-ea"/>
                <a:cs typeface="+mn-cs"/>
              </a:rPr>
              <a:t> Research tracking fund managers found higher psychopathic traits directly correlated with </a:t>
            </a:r>
            <a:r>
              <a:rPr lang="en-US" sz="1200" b="1" kern="1200" dirty="0">
                <a:solidFill>
                  <a:schemeClr val="tx1"/>
                </a:solidFill>
                <a:effectLst/>
                <a:latin typeface="+mn-lt"/>
                <a:ea typeface="+mn-ea"/>
                <a:cs typeface="+mn-cs"/>
              </a:rPr>
              <a:t>lower financial returns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Government &amp; Politics:</a:t>
            </a:r>
            <a:r>
              <a:rPr lang="en-US" sz="1200" kern="1200" dirty="0">
                <a:solidFill>
                  <a:schemeClr val="tx1"/>
                </a:solidFill>
                <a:effectLst/>
                <a:latin typeface="+mn-lt"/>
                <a:ea typeface="+mn-ea"/>
                <a:cs typeface="+mn-cs"/>
              </a:rPr>
              <a:t> High dark traits correlate with less actual legislative influence and compromised deal-making ability.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Corporate Management:</a:t>
            </a:r>
            <a:r>
              <a:rPr lang="en-US" sz="1200" kern="1200" dirty="0">
                <a:solidFill>
                  <a:schemeClr val="tx1"/>
                </a:solidFill>
                <a:effectLst/>
                <a:latin typeface="+mn-lt"/>
                <a:ea typeface="+mn-ea"/>
                <a:cs typeface="+mn-cs"/>
              </a:rPr>
              <a:t> Initial charm quickly degrades into workplace bullying, team distress, and high turnover.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Ruthlessness creates chaos and destruction, not sustainable leadership.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10</a:t>
            </a:fld>
            <a:endParaRPr lang="en-US"/>
          </a:p>
        </p:txBody>
      </p:sp>
    </p:spTree>
    <p:extLst>
      <p:ext uri="{BB962C8B-B14F-4D97-AF65-F5344CB8AC3E}">
        <p14:creationId xmlns:p14="http://schemas.microsoft.com/office/powerpoint/2010/main" val="42941304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Defining Gaslighting:</a:t>
            </a:r>
            <a:r>
              <a:rPr lang="en-US" sz="1200" kern="1200" dirty="0">
                <a:solidFill>
                  <a:schemeClr val="tx1"/>
                </a:solidFill>
                <a:effectLst/>
                <a:latin typeface="+mn-lt"/>
                <a:ea typeface="+mn-ea"/>
                <a:cs typeface="+mn-cs"/>
              </a:rPr>
              <a:t> Gaslighting is not a simple disagreement over facts; it is a systematic tactic to undermine a victim's trust in their own perception of reality. </a:t>
            </a:r>
          </a:p>
          <a:p>
            <a:pPr lvl="0"/>
            <a:r>
              <a:rPr lang="en-US" sz="1200" b="1" kern="1200" dirty="0">
                <a:solidFill>
                  <a:schemeClr val="tx1"/>
                </a:solidFill>
                <a:effectLst/>
                <a:latin typeface="+mn-lt"/>
                <a:ea typeface="+mn-ea"/>
                <a:cs typeface="+mn-cs"/>
              </a:rPr>
              <a:t>The Four-Stage Doom Loop:</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i="1" kern="1200" dirty="0">
                <a:solidFill>
                  <a:schemeClr val="tx1"/>
                </a:solidFill>
                <a:effectLst/>
                <a:latin typeface="+mn-lt"/>
                <a:ea typeface="+mn-ea"/>
                <a:cs typeface="+mn-cs"/>
              </a:rPr>
              <a:t>Deny Subjective Reality:</a:t>
            </a:r>
            <a:r>
              <a:rPr lang="en-US" sz="1200" kern="1200" dirty="0">
                <a:solidFill>
                  <a:schemeClr val="tx1"/>
                </a:solidFill>
                <a:effectLst/>
                <a:latin typeface="+mn-lt"/>
                <a:ea typeface="+mn-ea"/>
                <a:cs typeface="+mn-cs"/>
              </a:rPr>
              <a:t> Aggressively dismissing facts or feelings ("That never happened," "You're misremembering"). </a:t>
            </a:r>
          </a:p>
          <a:p>
            <a:pPr marL="228600" lvl="0" indent="-228600">
              <a:buFont typeface="+mj-lt"/>
              <a:buAutoNum type="arabicPeriod"/>
            </a:pPr>
            <a:r>
              <a:rPr lang="en-US" sz="1200" i="1" kern="1200" dirty="0">
                <a:solidFill>
                  <a:schemeClr val="tx1"/>
                </a:solidFill>
                <a:effectLst/>
                <a:latin typeface="+mn-lt"/>
                <a:ea typeface="+mn-ea"/>
                <a:cs typeface="+mn-cs"/>
              </a:rPr>
              <a:t>Induce Self-Doubt:</a:t>
            </a:r>
            <a:r>
              <a:rPr lang="en-US" sz="1200" kern="1200" dirty="0">
                <a:solidFill>
                  <a:schemeClr val="tx1"/>
                </a:solidFill>
                <a:effectLst/>
                <a:latin typeface="+mn-lt"/>
                <a:ea typeface="+mn-ea"/>
                <a:cs typeface="+mn-cs"/>
              </a:rPr>
              <a:t> The victim begins doubting their own memory, judgment, and emotional responses. </a:t>
            </a:r>
          </a:p>
          <a:p>
            <a:pPr marL="228600" lvl="0" indent="-228600">
              <a:buFont typeface="+mj-lt"/>
              <a:buAutoNum type="arabicPeriod"/>
            </a:pPr>
            <a:r>
              <a:rPr lang="en-US" sz="1200" i="1" kern="1200" dirty="0">
                <a:solidFill>
                  <a:schemeClr val="tx1"/>
                </a:solidFill>
                <a:effectLst/>
                <a:latin typeface="+mn-lt"/>
                <a:ea typeface="+mn-ea"/>
                <a:cs typeface="+mn-cs"/>
              </a:rPr>
              <a:t>Isolate from Support:</a:t>
            </a:r>
            <a:r>
              <a:rPr lang="en-US" sz="1200" kern="1200" dirty="0">
                <a:solidFill>
                  <a:schemeClr val="tx1"/>
                </a:solidFill>
                <a:effectLst/>
                <a:latin typeface="+mn-lt"/>
                <a:ea typeface="+mn-ea"/>
                <a:cs typeface="+mn-cs"/>
              </a:rPr>
              <a:t> Severing ties with friends, colleagues, or advisors who could provide objective reality-checks. </a:t>
            </a:r>
          </a:p>
          <a:p>
            <a:pPr marL="228600" lvl="0" indent="-228600">
              <a:buFont typeface="+mj-lt"/>
              <a:buAutoNum type="arabicPeriod"/>
            </a:pPr>
            <a:r>
              <a:rPr lang="en-US" sz="1200" i="1" kern="1200" dirty="0">
                <a:solidFill>
                  <a:schemeClr val="tx1"/>
                </a:solidFill>
                <a:effectLst/>
                <a:latin typeface="+mn-lt"/>
                <a:ea typeface="+mn-ea"/>
                <a:cs typeface="+mn-cs"/>
              </a:rPr>
              <a:t>Create Absolute Dependence:</a:t>
            </a:r>
            <a:r>
              <a:rPr lang="en-US" sz="1200" kern="1200" dirty="0">
                <a:solidFill>
                  <a:schemeClr val="tx1"/>
                </a:solidFill>
                <a:effectLst/>
                <a:latin typeface="+mn-lt"/>
                <a:ea typeface="+mn-ea"/>
                <a:cs typeface="+mn-cs"/>
              </a:rPr>
              <a:t> The victim relies entirely on the manipulator's version of reality to feel secure.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11</a:t>
            </a:fld>
            <a:endParaRPr lang="en-US"/>
          </a:p>
        </p:txBody>
      </p:sp>
    </p:spTree>
    <p:extLst>
      <p:ext uri="{BB962C8B-B14F-4D97-AF65-F5344CB8AC3E}">
        <p14:creationId xmlns:p14="http://schemas.microsoft.com/office/powerpoint/2010/main" val="3280310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Why the Stick Fails:</a:t>
            </a:r>
            <a:r>
              <a:rPr lang="en-US" sz="1200" kern="1200" dirty="0">
                <a:solidFill>
                  <a:schemeClr val="tx1"/>
                </a:solidFill>
                <a:effectLst/>
                <a:latin typeface="+mn-lt"/>
                <a:ea typeface="+mn-ea"/>
                <a:cs typeface="+mn-cs"/>
              </a:rPr>
              <a:t> Threatening, punishing, or appealing to guilt does not work on psychopathic or highly dark personalities. Because of their amygdala deficits, they lack the neurological hardware to register fear or moral remorse. </a:t>
            </a:r>
          </a:p>
          <a:p>
            <a:pPr lvl="0"/>
            <a:r>
              <a:rPr lang="en-US" sz="1200" b="1" kern="1200" dirty="0">
                <a:solidFill>
                  <a:schemeClr val="tx1"/>
                </a:solidFill>
                <a:effectLst/>
                <a:latin typeface="+mn-lt"/>
                <a:ea typeface="+mn-ea"/>
                <a:cs typeface="+mn-cs"/>
              </a:rPr>
              <a:t>Why the Carrot Succeeds:</a:t>
            </a:r>
            <a:r>
              <a:rPr lang="en-US" sz="1200" kern="1200" dirty="0">
                <a:solidFill>
                  <a:schemeClr val="tx1"/>
                </a:solidFill>
                <a:effectLst/>
                <a:latin typeface="+mn-lt"/>
                <a:ea typeface="+mn-ea"/>
                <a:cs typeface="+mn-cs"/>
              </a:rPr>
              <a:t> Dark personalities are highly reward-driven. </a:t>
            </a:r>
          </a:p>
          <a:p>
            <a:pPr lvl="0"/>
            <a:r>
              <a:rPr lang="en-US" sz="1200" b="1" kern="1200" dirty="0">
                <a:solidFill>
                  <a:schemeClr val="tx1"/>
                </a:solidFill>
                <a:effectLst/>
                <a:latin typeface="+mn-lt"/>
                <a:ea typeface="+mn-ea"/>
                <a:cs typeface="+mn-cs"/>
              </a:rPr>
              <a:t>Tactical Application:</a:t>
            </a:r>
            <a:r>
              <a:rPr lang="en-US" sz="1200" kern="1200" dirty="0">
                <a:solidFill>
                  <a:schemeClr val="tx1"/>
                </a:solidFill>
                <a:effectLst/>
                <a:latin typeface="+mn-lt"/>
                <a:ea typeface="+mn-ea"/>
                <a:cs typeface="+mn-cs"/>
              </a:rPr>
              <a:t> To influence or manage their behavior, align desired organizational outcomes directly with their selfish motivators—such as financial incentives, prestige, or status. Frame compliance as a path to personal gain rather than an ethical duty.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12</a:t>
            </a:fld>
            <a:endParaRPr lang="en-US"/>
          </a:p>
        </p:txBody>
      </p:sp>
    </p:spTree>
    <p:extLst>
      <p:ext uri="{BB962C8B-B14F-4D97-AF65-F5344CB8AC3E}">
        <p14:creationId xmlns:p14="http://schemas.microsoft.com/office/powerpoint/2010/main" val="1257367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In-Person Vulnerability:</a:t>
            </a:r>
            <a:r>
              <a:rPr lang="en-US" sz="1200" kern="1200" dirty="0">
                <a:solidFill>
                  <a:schemeClr val="tx1"/>
                </a:solidFill>
                <a:effectLst/>
                <a:latin typeface="+mn-lt"/>
                <a:ea typeface="+mn-ea"/>
                <a:cs typeface="+mn-cs"/>
              </a:rPr>
              <a:t> Face-to-face meetings give high-dark-trait individuals a major advantage. They can leverage physical presence, charismatic charm, micro-expressions, and real-time gaslighting to pressure you. </a:t>
            </a:r>
          </a:p>
          <a:p>
            <a:pPr lvl="0"/>
            <a:r>
              <a:rPr lang="en-US" sz="1200" b="1" kern="1200" dirty="0">
                <a:solidFill>
                  <a:schemeClr val="tx1"/>
                </a:solidFill>
                <a:effectLst/>
                <a:latin typeface="+mn-lt"/>
                <a:ea typeface="+mn-ea"/>
                <a:cs typeface="+mn-cs"/>
              </a:rPr>
              <a:t>The Tactical Power of Written Communication: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Strip Away Charm:</a:t>
            </a:r>
            <a:r>
              <a:rPr lang="en-US" sz="1200" kern="1200" dirty="0">
                <a:solidFill>
                  <a:schemeClr val="tx1"/>
                </a:solidFill>
                <a:effectLst/>
                <a:latin typeface="+mn-lt"/>
                <a:ea typeface="+mn-ea"/>
                <a:cs typeface="+mn-cs"/>
              </a:rPr>
              <a:t> Written channels eliminate charismatic posture, vocal tone, and physical intimidation.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Create an Immutable Record:</a:t>
            </a:r>
            <a:r>
              <a:rPr lang="en-US" sz="1200" kern="1200" dirty="0">
                <a:solidFill>
                  <a:schemeClr val="tx1"/>
                </a:solidFill>
                <a:effectLst/>
                <a:latin typeface="+mn-lt"/>
                <a:ea typeface="+mn-ea"/>
                <a:cs typeface="+mn-cs"/>
              </a:rPr>
              <a:t> Creates a clear, verifiable audit trail of commitments, statements, and deadlines.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Provide Processing Time:</a:t>
            </a:r>
            <a:r>
              <a:rPr lang="en-US" sz="1200" kern="1200" dirty="0">
                <a:solidFill>
                  <a:schemeClr val="tx1"/>
                </a:solidFill>
                <a:effectLst/>
                <a:latin typeface="+mn-lt"/>
                <a:ea typeface="+mn-ea"/>
                <a:cs typeface="+mn-cs"/>
              </a:rPr>
              <a:t> Text negotiations give you time to consult third parties, review facts, and respond strategically rather than reactively.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13</a:t>
            </a:fld>
            <a:endParaRPr lang="en-US"/>
          </a:p>
        </p:txBody>
      </p:sp>
    </p:spTree>
    <p:extLst>
      <p:ext uri="{BB962C8B-B14F-4D97-AF65-F5344CB8AC3E}">
        <p14:creationId xmlns:p14="http://schemas.microsoft.com/office/powerpoint/2010/main" val="665992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Actionable Framework:</a:t>
            </a:r>
            <a:r>
              <a:rPr lang="en-US" sz="1200" kern="1200" dirty="0">
                <a:solidFill>
                  <a:schemeClr val="tx1"/>
                </a:solidFill>
                <a:effectLst/>
                <a:latin typeface="+mn-lt"/>
                <a:ea typeface="+mn-ea"/>
                <a:cs typeface="+mn-cs"/>
              </a:rPr>
              <a:t> Synthesizing our tactical defense into six core operational rules: </a:t>
            </a:r>
          </a:p>
          <a:p>
            <a:pPr marL="228600" lvl="0" indent="-228600">
              <a:buFont typeface="+mj-lt"/>
              <a:buAutoNum type="arabicPeriod"/>
            </a:pPr>
            <a:r>
              <a:rPr lang="en-US" sz="1200" i="1" kern="1200" dirty="0">
                <a:solidFill>
                  <a:schemeClr val="tx1"/>
                </a:solidFill>
                <a:effectLst/>
                <a:latin typeface="+mn-lt"/>
                <a:ea typeface="+mn-ea"/>
                <a:cs typeface="+mn-cs"/>
              </a:rPr>
              <a:t>Set Explicit Boundaries:</a:t>
            </a:r>
            <a:r>
              <a:rPr lang="en-US" sz="1200" kern="1200" dirty="0">
                <a:solidFill>
                  <a:schemeClr val="tx1"/>
                </a:solidFill>
                <a:effectLst/>
                <a:latin typeface="+mn-lt"/>
                <a:ea typeface="+mn-ea"/>
                <a:cs typeface="+mn-cs"/>
              </a:rPr>
              <a:t> Documented, written rules work better than relying on unspoken social norms. </a:t>
            </a:r>
          </a:p>
          <a:p>
            <a:pPr marL="228600" lvl="0" indent="-228600">
              <a:buFont typeface="+mj-lt"/>
              <a:buAutoNum type="arabicPeriod"/>
            </a:pPr>
            <a:r>
              <a:rPr lang="en-US" sz="1200" i="1" kern="1200" dirty="0">
                <a:solidFill>
                  <a:schemeClr val="tx1"/>
                </a:solidFill>
                <a:effectLst/>
                <a:latin typeface="+mn-lt"/>
                <a:ea typeface="+mn-ea"/>
                <a:cs typeface="+mn-cs"/>
              </a:rPr>
              <a:t>Deny Power Over Others:</a:t>
            </a:r>
            <a:r>
              <a:rPr lang="en-US" sz="1200" kern="1200" dirty="0">
                <a:solidFill>
                  <a:schemeClr val="tx1"/>
                </a:solidFill>
                <a:effectLst/>
                <a:latin typeface="+mn-lt"/>
                <a:ea typeface="+mn-ea"/>
                <a:cs typeface="+mn-cs"/>
              </a:rPr>
              <a:t> Avoid putting toxic traits into supervisory roles, as toxicity cascades down. </a:t>
            </a:r>
          </a:p>
          <a:p>
            <a:pPr marL="228600" lvl="0" indent="-228600">
              <a:buFont typeface="+mj-lt"/>
              <a:buAutoNum type="arabicPeriod"/>
            </a:pPr>
            <a:r>
              <a:rPr lang="en-US" sz="1200" i="1" kern="1200" dirty="0">
                <a:solidFill>
                  <a:schemeClr val="tx1"/>
                </a:solidFill>
                <a:effectLst/>
                <a:latin typeface="+mn-lt"/>
                <a:ea typeface="+mn-ea"/>
                <a:cs typeface="+mn-cs"/>
              </a:rPr>
              <a:t>Emphasize Common Identity:</a:t>
            </a:r>
            <a:r>
              <a:rPr lang="en-US" sz="1200" kern="1200" dirty="0">
                <a:solidFill>
                  <a:schemeClr val="tx1"/>
                </a:solidFill>
                <a:effectLst/>
                <a:latin typeface="+mn-lt"/>
                <a:ea typeface="+mn-ea"/>
                <a:cs typeface="+mn-cs"/>
              </a:rPr>
              <a:t> Frame feedback through a collective "we" lens to bypass ego defenses. </a:t>
            </a:r>
          </a:p>
          <a:p>
            <a:pPr marL="228600" lvl="0" indent="-228600">
              <a:buFont typeface="+mj-lt"/>
              <a:buAutoNum type="arabicPeriod"/>
            </a:pPr>
            <a:r>
              <a:rPr lang="en-US" sz="1200" i="1" kern="1200" dirty="0">
                <a:solidFill>
                  <a:schemeClr val="tx1"/>
                </a:solidFill>
                <a:effectLst/>
                <a:latin typeface="+mn-lt"/>
                <a:ea typeface="+mn-ea"/>
                <a:cs typeface="+mn-cs"/>
              </a:rPr>
              <a:t>Negotiate Via Text:</a:t>
            </a:r>
            <a:r>
              <a:rPr lang="en-US" sz="1200" kern="1200" dirty="0">
                <a:solidFill>
                  <a:schemeClr val="tx1"/>
                </a:solidFill>
                <a:effectLst/>
                <a:latin typeface="+mn-lt"/>
                <a:ea typeface="+mn-ea"/>
                <a:cs typeface="+mn-cs"/>
              </a:rPr>
              <a:t> Shift high-stakes interactions into written channels whenever possible. </a:t>
            </a:r>
          </a:p>
          <a:p>
            <a:pPr marL="228600" lvl="0" indent="-228600">
              <a:buFont typeface="+mj-lt"/>
              <a:buAutoNum type="arabicPeriod"/>
            </a:pPr>
            <a:r>
              <a:rPr lang="en-US" sz="1200" i="1" kern="1200" dirty="0">
                <a:solidFill>
                  <a:schemeClr val="tx1"/>
                </a:solidFill>
                <a:effectLst/>
                <a:latin typeface="+mn-lt"/>
                <a:ea typeface="+mn-ea"/>
                <a:cs typeface="+mn-cs"/>
              </a:rPr>
              <a:t>Deploy Strategic Rewards:</a:t>
            </a:r>
            <a:r>
              <a:rPr lang="en-US" sz="1200" kern="1200" dirty="0">
                <a:solidFill>
                  <a:schemeClr val="tx1"/>
                </a:solidFill>
                <a:effectLst/>
                <a:latin typeface="+mn-lt"/>
                <a:ea typeface="+mn-ea"/>
                <a:cs typeface="+mn-cs"/>
              </a:rPr>
              <a:t> Align personal incentives with constructive behaviors. </a:t>
            </a:r>
          </a:p>
          <a:p>
            <a:pPr marL="228600" lvl="0" indent="-228600">
              <a:buFont typeface="+mj-lt"/>
              <a:buAutoNum type="arabicPeriod"/>
            </a:pPr>
            <a:r>
              <a:rPr lang="en-US" sz="1200" i="1" kern="1200" dirty="0">
                <a:solidFill>
                  <a:schemeClr val="tx1"/>
                </a:solidFill>
                <a:effectLst/>
                <a:latin typeface="+mn-lt"/>
                <a:ea typeface="+mn-ea"/>
                <a:cs typeface="+mn-cs"/>
              </a:rPr>
              <a:t>Learn Their Cues:</a:t>
            </a:r>
            <a:r>
              <a:rPr lang="en-US" sz="1200" kern="1200" dirty="0">
                <a:solidFill>
                  <a:schemeClr val="tx1"/>
                </a:solidFill>
                <a:effectLst/>
                <a:latin typeface="+mn-lt"/>
                <a:ea typeface="+mn-ea"/>
                <a:cs typeface="+mn-cs"/>
              </a:rPr>
              <a:t> Watch for fake smiles, processing lags, and subtle boundary testing.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14</a:t>
            </a:fld>
            <a:endParaRPr lang="en-US"/>
          </a:p>
        </p:txBody>
      </p:sp>
    </p:spTree>
    <p:extLst>
      <p:ext uri="{BB962C8B-B14F-4D97-AF65-F5344CB8AC3E}">
        <p14:creationId xmlns:p14="http://schemas.microsoft.com/office/powerpoint/2010/main" val="2903170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Trait Stability Over Time:</a:t>
            </a:r>
            <a:r>
              <a:rPr lang="en-US" sz="1200" kern="1200" dirty="0">
                <a:solidFill>
                  <a:schemeClr val="tx1"/>
                </a:solidFill>
                <a:effectLst/>
                <a:latin typeface="+mn-lt"/>
                <a:ea typeface="+mn-ea"/>
                <a:cs typeface="+mn-cs"/>
              </a:rPr>
              <a:t> A common mistake is believing you can "fix" or reform a person with severe dark personality traits. Personality traits remain relatively stable across a lifespan. </a:t>
            </a:r>
          </a:p>
          <a:p>
            <a:pPr lvl="0"/>
            <a:r>
              <a:rPr lang="en-US" sz="1200" b="1" kern="1200" dirty="0">
                <a:solidFill>
                  <a:schemeClr val="tx1"/>
                </a:solidFill>
                <a:effectLst/>
                <a:latin typeface="+mn-lt"/>
                <a:ea typeface="+mn-ea"/>
                <a:cs typeface="+mn-cs"/>
              </a:rPr>
              <a:t>The Age 50+ Flatline:</a:t>
            </a:r>
            <a:r>
              <a:rPr lang="en-US" sz="1200" kern="1200" dirty="0">
                <a:solidFill>
                  <a:schemeClr val="tx1"/>
                </a:solidFill>
                <a:effectLst/>
                <a:latin typeface="+mn-lt"/>
                <a:ea typeface="+mn-ea"/>
                <a:cs typeface="+mn-cs"/>
              </a:rPr>
              <a:t> Data shows </a:t>
            </a:r>
            <a:r>
              <a:rPr lang="en-US" sz="1200" b="1" kern="1200" dirty="0">
                <a:solidFill>
                  <a:schemeClr val="tx1"/>
                </a:solidFill>
                <a:effectLst/>
                <a:latin typeface="+mn-lt"/>
                <a:ea typeface="+mn-ea"/>
                <a:cs typeface="+mn-cs"/>
              </a:rPr>
              <a:t>93%</a:t>
            </a:r>
            <a:r>
              <a:rPr lang="en-US" sz="1200" kern="1200" dirty="0">
                <a:solidFill>
                  <a:schemeClr val="tx1"/>
                </a:solidFill>
                <a:effectLst/>
                <a:latin typeface="+mn-lt"/>
                <a:ea typeface="+mn-ea"/>
                <a:cs typeface="+mn-cs"/>
              </a:rPr>
              <a:t> of people report that individuals with dark traits are just as bad—or worse—after the age of 50. </a:t>
            </a:r>
          </a:p>
          <a:p>
            <a:pPr lvl="0"/>
            <a:r>
              <a:rPr lang="en-US" sz="1200" b="1" kern="1200" dirty="0">
                <a:solidFill>
                  <a:schemeClr val="tx1"/>
                </a:solidFill>
                <a:effectLst/>
                <a:latin typeface="+mn-lt"/>
                <a:ea typeface="+mn-ea"/>
                <a:cs typeface="+mn-cs"/>
              </a:rPr>
              <a:t>Final Reality Check:</a:t>
            </a:r>
            <a:r>
              <a:rPr lang="en-US" sz="1200" kern="1200" dirty="0">
                <a:solidFill>
                  <a:schemeClr val="tx1"/>
                </a:solidFill>
                <a:effectLst/>
                <a:latin typeface="+mn-lt"/>
                <a:ea typeface="+mn-ea"/>
                <a:cs typeface="+mn-cs"/>
              </a:rPr>
              <a:t> You will not cure a dark personality. Your primary duty is to protect your team, manage your exposure, enforce clear boundaries, and keep your perception of reality intact. </a:t>
            </a:r>
          </a:p>
          <a:p>
            <a:endParaRPr lang="en-US" dirty="0"/>
          </a:p>
        </p:txBody>
      </p:sp>
      <p:sp>
        <p:nvSpPr>
          <p:cNvPr id="4" name="Slide Number Placeholder 3"/>
          <p:cNvSpPr>
            <a:spLocks noGrp="1"/>
          </p:cNvSpPr>
          <p:nvPr>
            <p:ph type="sldNum" sz="quarter" idx="5"/>
          </p:nvPr>
        </p:nvSpPr>
        <p:spPr/>
        <p:txBody>
          <a:bodyPr/>
          <a:lstStyle/>
          <a:p>
            <a:fld id="{CE2CB053-8257-4312-BAF2-2546DC27E6FE}" type="slidenum">
              <a:rPr lang="en-US" smtClean="0"/>
              <a:t>15</a:t>
            </a:fld>
            <a:endParaRPr lang="en-US"/>
          </a:p>
        </p:txBody>
      </p:sp>
    </p:spTree>
    <p:extLst>
      <p:ext uri="{BB962C8B-B14F-4D97-AF65-F5344CB8AC3E}">
        <p14:creationId xmlns:p14="http://schemas.microsoft.com/office/powerpoint/2010/main" val="2650403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https://www.youtube.c</a:t>
            </a:r>
            <a:r>
              <a:rPr lang="en-US" sz="1200" b="1" kern="1200" dirty="0">
                <a:solidFill>
                  <a:schemeClr val="tx1"/>
                </a:solidFill>
                <a:effectLst/>
                <a:latin typeface="+mn-lt"/>
                <a:ea typeface="+mn-ea"/>
                <a:cs typeface="+mn-cs"/>
              </a:rPr>
              <a:t>Executive Recap:</a:t>
            </a:r>
            <a:r>
              <a:rPr lang="en-US" sz="1200" kern="1200" dirty="0">
                <a:solidFill>
                  <a:schemeClr val="tx1"/>
                </a:solidFill>
                <a:effectLst/>
                <a:latin typeface="+mn-lt"/>
                <a:ea typeface="+mn-ea"/>
                <a:cs typeface="+mn-cs"/>
              </a:rPr>
              <a:t> We've surveyed the landscape of deception and dark personalities, moving from general myths to actionable behavioral science. </a:t>
            </a:r>
          </a:p>
          <a:p>
            <a:pPr lvl="0"/>
            <a:r>
              <a:rPr lang="en-US" sz="1200" b="1" kern="1200" dirty="0">
                <a:solidFill>
                  <a:schemeClr val="tx1"/>
                </a:solidFill>
                <a:effectLst/>
                <a:latin typeface="+mn-lt"/>
                <a:ea typeface="+mn-ea"/>
                <a:cs typeface="+mn-cs"/>
              </a:rPr>
              <a:t>Core Takeaways: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Spotting Deception:</a:t>
            </a:r>
            <a:r>
              <a:rPr lang="en-US" sz="1200" kern="1200" dirty="0">
                <a:solidFill>
                  <a:schemeClr val="tx1"/>
                </a:solidFill>
                <a:effectLst/>
                <a:latin typeface="+mn-lt"/>
                <a:ea typeface="+mn-ea"/>
                <a:cs typeface="+mn-cs"/>
              </a:rPr>
              <a:t> Focus on statement verifiability, cognitive processing lag, and open-ended probing rather than outdated myths like eye contact.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Understanding the Profiles:</a:t>
            </a:r>
            <a:r>
              <a:rPr lang="en-US" sz="1200" kern="1200" dirty="0">
                <a:solidFill>
                  <a:schemeClr val="tx1"/>
                </a:solidFill>
                <a:effectLst/>
                <a:latin typeface="+mn-lt"/>
                <a:ea typeface="+mn-ea"/>
                <a:cs typeface="+mn-cs"/>
              </a:rPr>
              <a:t> Recognize the distinct drivers of Psychopathy, Machiavellianism, Narcissism, and Sadism.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Strategic Management:</a:t>
            </a:r>
            <a:r>
              <a:rPr lang="en-US" sz="1200" kern="1200" dirty="0">
                <a:solidFill>
                  <a:schemeClr val="tx1"/>
                </a:solidFill>
                <a:effectLst/>
                <a:latin typeface="+mn-lt"/>
                <a:ea typeface="+mn-ea"/>
                <a:cs typeface="+mn-cs"/>
              </a:rPr>
              <a:t> Shift negotiations to text, rely on reward structures over punishment, and set firm, written boundaries. </a:t>
            </a:r>
          </a:p>
          <a:p>
            <a:pPr lvl="0"/>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By taking away the leverage of charm and emotional manipulation, we build safer, healthier, and more productive environments. Thank you.</a:t>
            </a:r>
          </a:p>
          <a:p>
            <a:r>
              <a:rPr lang="en-US" dirty="0"/>
              <a:t>om/watch?v=AcK_zgJjnoo</a:t>
            </a:r>
          </a:p>
        </p:txBody>
      </p:sp>
      <p:sp>
        <p:nvSpPr>
          <p:cNvPr id="4" name="Slide Number Placeholder 3"/>
          <p:cNvSpPr>
            <a:spLocks noGrp="1"/>
          </p:cNvSpPr>
          <p:nvPr>
            <p:ph type="sldNum" sz="quarter" idx="5"/>
          </p:nvPr>
        </p:nvSpPr>
        <p:spPr/>
        <p:txBody>
          <a:bodyPr/>
          <a:lstStyle/>
          <a:p>
            <a:fld id="{CE2CB053-8257-4312-BAF2-2546DC27E6FE}" type="slidenum">
              <a:rPr lang="en-US" smtClean="0"/>
              <a:t>16</a:t>
            </a:fld>
            <a:endParaRPr lang="en-US"/>
          </a:p>
        </p:txBody>
      </p:sp>
    </p:spTree>
    <p:extLst>
      <p:ext uri="{BB962C8B-B14F-4D97-AF65-F5344CB8AC3E}">
        <p14:creationId xmlns:p14="http://schemas.microsoft.com/office/powerpoint/2010/main" val="1341020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7F249B-3BAF-5C8E-6641-06C3B89ADE68}"/>
              </a:ext>
            </a:extLst>
          </p:cNvPr>
          <p:cNvSpPr>
            <a:spLocks noGrp="1"/>
          </p:cNvSpPr>
          <p:nvPr>
            <p:ph type="dt" sz="half" idx="10"/>
          </p:nvPr>
        </p:nvSpPr>
        <p:spPr/>
        <p:txBody>
          <a:bodyPr/>
          <a:lstStyle/>
          <a:p>
            <a:fld id="{B5C158E0-F937-4C01-A30F-64BBD6B31FD4}" type="datetimeFigureOut">
              <a:rPr lang="en-US" smtClean="0"/>
              <a:t>10/20/2026</a:t>
            </a:fld>
            <a:endParaRPr lang="en-US"/>
          </a:p>
        </p:txBody>
      </p:sp>
      <p:sp>
        <p:nvSpPr>
          <p:cNvPr id="3" name="Footer Placeholder 2">
            <a:extLst>
              <a:ext uri="{FF2B5EF4-FFF2-40B4-BE49-F238E27FC236}">
                <a16:creationId xmlns:a16="http://schemas.microsoft.com/office/drawing/2014/main" id="{20AC2BBA-F4B7-55F0-5EEC-30F825A291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95E0ED-7E18-0A0C-5012-534771E3041C}"/>
              </a:ext>
            </a:extLst>
          </p:cNvPr>
          <p:cNvSpPr>
            <a:spLocks noGrp="1"/>
          </p:cNvSpPr>
          <p:nvPr>
            <p:ph type="sldNum" sz="quarter" idx="12"/>
          </p:nvPr>
        </p:nvSpPr>
        <p:spPr/>
        <p:txBody>
          <a:bodyPr/>
          <a:lstStyle/>
          <a:p>
            <a:fld id="{CDAC10FC-22DB-43DF-A15D-5F9861DAA412}" type="slidenum">
              <a:rPr lang="en-US" smtClean="0"/>
              <a:t>‹#›</a:t>
            </a:fld>
            <a:endParaRPr lang="en-US"/>
          </a:p>
        </p:txBody>
      </p:sp>
    </p:spTree>
    <p:extLst>
      <p:ext uri="{BB962C8B-B14F-4D97-AF65-F5344CB8AC3E}">
        <p14:creationId xmlns:p14="http://schemas.microsoft.com/office/powerpoint/2010/main" val="69792495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D746A7-A524-4D79-FABF-9A79E3388E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C9A3A2-1663-6111-2F41-1410D0CF65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42C9E6-EE55-9431-DF67-E86D17F9DD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C158E0-F937-4C01-A30F-64BBD6B31FD4}" type="datetimeFigureOut">
              <a:rPr lang="en-US" smtClean="0"/>
              <a:t>10/20/2026</a:t>
            </a:fld>
            <a:endParaRPr lang="en-US"/>
          </a:p>
        </p:txBody>
      </p:sp>
      <p:sp>
        <p:nvSpPr>
          <p:cNvPr id="5" name="Footer Placeholder 4">
            <a:extLst>
              <a:ext uri="{FF2B5EF4-FFF2-40B4-BE49-F238E27FC236}">
                <a16:creationId xmlns:a16="http://schemas.microsoft.com/office/drawing/2014/main" id="{5D97B447-F037-84FE-22AC-522C43FB4A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0B7A4B4-0AE6-45AA-46AB-32C4478D31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AC10FC-22DB-43DF-A15D-5F9861DAA412}" type="slidenum">
              <a:rPr lang="en-US" smtClean="0"/>
              <a:t>‹#›</a:t>
            </a:fld>
            <a:endParaRPr lang="en-US"/>
          </a:p>
        </p:txBody>
      </p:sp>
    </p:spTree>
    <p:extLst>
      <p:ext uri="{BB962C8B-B14F-4D97-AF65-F5344CB8AC3E}">
        <p14:creationId xmlns:p14="http://schemas.microsoft.com/office/powerpoint/2010/main" val="307027556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41A3844-6B31-B1D1-3449-8A54809CD83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19435-0E0C-0850-E366-D5F3AB3A2C4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47247F-44B0-FC8C-D9FE-700244981B1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490463-BDA3-E378-E433-DAA9A0CEB09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86D7A9-306D-B58D-802C-C0AFD027CA0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2C2FEB-882C-3301-DC4C-0ED4E17B647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6E5183-92C9-AE38-E5E5-E6F558F6C5F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6FE62A-4F9C-42B1-49FB-9511C6578A7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146C33-6476-166F-D1A1-654B0E6208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CF018E-03A0-6633-5F0C-65A5DD4595F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4BE343-7D32-EFF4-F23B-1933A294C40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BB46F9-2146-B61A-A11F-AFE1ED03CB2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619552-DA10-3665-F0DD-3E43C0B1DF6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79C97A-E8FE-570C-7F9C-AFAB9A40AF2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24A1DF-700F-23A8-C990-41B6B6226CF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2E9E91-9120-34AB-54A3-65A200EE1D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1912791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2054</Words>
  <Application>Microsoft Office PowerPoint</Application>
  <PresentationFormat>寬螢幕</PresentationFormat>
  <Paragraphs>108</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2026-09-16T11:04:35Z</dcterms:created>
  <dcterms:modified xsi:type="dcterms:W3CDTF">2026-10-20T13:28:50Z</dcterms:modified>
</cp:coreProperties>
</file>