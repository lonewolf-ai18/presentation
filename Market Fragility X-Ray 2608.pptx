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681B2-F33C-45DE-9393-432815B9C2BD}" v="19" dt="2026-08-03T04:08:04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48006" autoAdjust="0"/>
  </p:normalViewPr>
  <p:slideViewPr>
    <p:cSldViewPr snapToGrid="0">
      <p:cViewPr varScale="1">
        <p:scale>
          <a:sx n="45" d="100"/>
          <a:sy n="45" d="100"/>
        </p:scale>
        <p:origin x="120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8-03T04:08:12.183" v="111" actId="15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8-03T04:03:19.585" v="52" actId="12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8-03T01:33:52.105" v="11" actId="164"/>
          <ac:spMkLst>
            <pc:docMk/>
            <pc:sldMk cId="0" sldId="257"/>
            <ac:spMk id="5" creationId="{71E44EAA-649F-6CC0-2A6C-053497E70539}"/>
          </ac:spMkLst>
        </pc:spChg>
        <pc:grpChg chg="add mod">
          <ac:chgData name="Lai, Wilson" userId="2840974a-0d84-4886-90a9-9a3ed79f3a48" providerId="ADAL" clId="{9F23B798-9E84-4552-BA63-E776E805C424}" dt="2026-08-03T04:00:22.528" v="43" actId="1076"/>
          <ac:grpSpMkLst>
            <pc:docMk/>
            <pc:sldMk cId="0" sldId="257"/>
            <ac:grpSpMk id="6" creationId="{607F6D20-4CF3-47AD-8244-52C7C90C48E7}"/>
          </ac:grpSpMkLst>
        </pc:grpChg>
        <pc:picChg chg="del">
          <ac:chgData name="Lai, Wilson" userId="2840974a-0d84-4886-90a9-9a3ed79f3a48" providerId="ADAL" clId="{9F23B798-9E84-4552-BA63-E776E805C424}" dt="2026-08-03T03:51:12.532" v="12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8-03T01:33:52.105" v="11" actId="164"/>
          <ac:picMkLst>
            <pc:docMk/>
            <pc:sldMk cId="0" sldId="257"/>
            <ac:picMk id="3" creationId="{48749C90-A207-B997-6E9D-90CC89314D01}"/>
          </ac:picMkLst>
        </pc:picChg>
        <pc:picChg chg="add ord">
          <ac:chgData name="Lai, Wilson" userId="2840974a-0d84-4886-90a9-9a3ed79f3a48" providerId="ADAL" clId="{9F23B798-9E84-4552-BA63-E776E805C424}" dt="2026-08-03T03:52:05.390" v="14" actId="167"/>
          <ac:picMkLst>
            <pc:docMk/>
            <pc:sldMk cId="0" sldId="257"/>
            <ac:picMk id="7" creationId="{B40C0BF5-524F-7463-431A-8F7C7424A4C2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3:56.420" v="56" actId="15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8-03T03:52:09.523" v="15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2:22.948" v="16" actId="22"/>
          <ac:picMkLst>
            <pc:docMk/>
            <pc:sldMk cId="0" sldId="258"/>
            <ac:picMk id="4" creationId="{B22FB5FB-F41D-E06B-15E7-7018A520441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4:17.654" v="60" actId="1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8-03T03:52:27.328" v="17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2:35.265" v="18" actId="22"/>
          <ac:picMkLst>
            <pc:docMk/>
            <pc:sldMk cId="0" sldId="259"/>
            <ac:picMk id="4" creationId="{4A7C082D-6567-C79C-99A5-67333A49CBB5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4:37.134" v="63" actId="15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8-03T03:52:37.637" v="19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3:32.902" v="20" actId="22"/>
          <ac:picMkLst>
            <pc:docMk/>
            <pc:sldMk cId="0" sldId="260"/>
            <ac:picMk id="4" creationId="{C46C749C-4F33-2AD0-A9E8-0B434787FCC5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4:55.762" v="66" actId="15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8-03T03:53:37.384" v="21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4:57.157" v="22" actId="22"/>
          <ac:picMkLst>
            <pc:docMk/>
            <pc:sldMk cId="0" sldId="261"/>
            <ac:picMk id="4" creationId="{A6EFB741-3F0D-33F7-3E11-0CB290FB0235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5:23.067" v="76" actId="15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8-03T03:54:59.435" v="23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5:10.195" v="24" actId="22"/>
          <ac:picMkLst>
            <pc:docMk/>
            <pc:sldMk cId="0" sldId="262"/>
            <ac:picMk id="4" creationId="{776E4CB0-32EB-066A-7D54-4ABE36F3327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5:48.471" v="80" actId="15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8-03T03:55:14.502" v="25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5:22.193" v="26" actId="22"/>
          <ac:picMkLst>
            <pc:docMk/>
            <pc:sldMk cId="0" sldId="263"/>
            <ac:picMk id="4" creationId="{D5A267B2-A1B1-6FE1-F750-A41D3D40F54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6:08.881" v="85" actId="15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8-03T03:55:25.007" v="27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6:13.349" v="28" actId="22"/>
          <ac:picMkLst>
            <pc:docMk/>
            <pc:sldMk cId="0" sldId="264"/>
            <ac:picMk id="4" creationId="{F7BF1096-CD60-2BDC-ECB0-83B7BD874BD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6:30.063" v="88" actId="15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8-03T03:56:16.867" v="29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6:40.945" v="30" actId="22"/>
          <ac:picMkLst>
            <pc:docMk/>
            <pc:sldMk cId="0" sldId="265"/>
            <ac:picMk id="4" creationId="{3B9F2C7F-4D9E-F3D2-B90B-73953F6C94B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6:49.093" v="91" actId="15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8-03T03:56:43.412" v="31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7:14.076" v="32" actId="22"/>
          <ac:picMkLst>
            <pc:docMk/>
            <pc:sldMk cId="0" sldId="266"/>
            <ac:picMk id="4" creationId="{126A5CFF-02A6-420E-2B98-14887C5C7132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7:07.939" v="96" actId="15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8-03T03:57:18.751" v="33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7:51.629" v="34" actId="22"/>
          <ac:picMkLst>
            <pc:docMk/>
            <pc:sldMk cId="0" sldId="267"/>
            <ac:picMk id="4" creationId="{85279E64-FD2E-49CA-C03B-F229FC94683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7:24.275" v="100" actId="15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8-03T03:57:53.851" v="35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8:38.229" v="36" actId="22"/>
          <ac:picMkLst>
            <pc:docMk/>
            <pc:sldMk cId="0" sldId="268"/>
            <ac:picMk id="4" creationId="{5ED0C9BC-AC9F-F937-AA3B-EE9DEF0FCBD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7:46.349" v="107" actId="1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8-03T03:58:41.097" v="37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8:51.545" v="38" actId="22"/>
          <ac:picMkLst>
            <pc:docMk/>
            <pc:sldMk cId="0" sldId="269"/>
            <ac:picMk id="4" creationId="{0F9C612E-BC1B-9779-B76E-E40F9CD1B109}"/>
          </ac:picMkLst>
        </pc:picChg>
      </pc:sldChg>
      <pc:sldChg chg="addSp delSp mod">
        <pc:chgData name="Lai, Wilson" userId="2840974a-0d84-4886-90a9-9a3ed79f3a48" providerId="ADAL" clId="{9F23B798-9E84-4552-BA63-E776E805C424}" dt="2026-08-03T03:59:31.916" v="40" actId="2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8-03T03:58:53.497" v="39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03:59:31.916" v="40" actId="22"/>
          <ac:picMkLst>
            <pc:docMk/>
            <pc:sldMk cId="0" sldId="270"/>
            <ac:picMk id="4" creationId="{5DFB5CB3-E3C9-E472-3FC1-A8C94897C96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04:08:12.183" v="111" actId="15"/>
        <pc:sldMkLst>
          <pc:docMk/>
          <pc:sldMk cId="3244622027" sldId="271"/>
        </pc:sldMkLst>
        <pc:picChg chg="del">
          <ac:chgData name="Lai, Wilson" userId="2840974a-0d84-4886-90a9-9a3ed79f3a48" providerId="ADAL" clId="{9F23B798-9E84-4552-BA63-E776E805C424}" dt="2026-08-03T03:59:34.523" v="41" actId="21"/>
          <ac:picMkLst>
            <pc:docMk/>
            <pc:sldMk cId="3244622027" sldId="271"/>
            <ac:picMk id="3" creationId="{96B497D2-5EB7-3B39-65BA-53F764EC8AAB}"/>
          </ac:picMkLst>
        </pc:picChg>
        <pc:picChg chg="add">
          <ac:chgData name="Lai, Wilson" userId="2840974a-0d84-4886-90a9-9a3ed79f3a48" providerId="ADAL" clId="{9F23B798-9E84-4552-BA63-E776E805C424}" dt="2026-08-03T03:59:44.537" v="42" actId="22"/>
          <ac:picMkLst>
            <pc:docMk/>
            <pc:sldMk cId="3244622027" sldId="271"/>
            <ac:picMk id="4" creationId="{70EA1DC9-3EF3-F37D-5106-D145418A5D2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94E13-4290-4BB7-B89A-98F1DF9D0D2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638F7-27FF-4781-8C6B-B82400E44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https://www.youtube.com/watch?v=ojQGZm5PJbA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 the Scene: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everyone. Today, we are taking an "X-Ray" diagnostic view into the hidden structural mechanics driving today’s market.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a high-level, broad indices like the S&amp;P 500 appear serene, but behind the scenes, extreme internal dispersion, violent sector rotations, and hidden leverage are causing severe friction.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Themes Covered: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$20 Billion Liquidation: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recent volatility in AI and semiconductor names was driven by forced liquidations and margin calls—not fundamental shifts.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 War AI &amp; Capital Demands: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massive $4–5 trillion AI capex buildout, its strain on private credit, and the looming energy crowding-out effect.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 Economic Policy Lags: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contractionary forces (yields, oil, strong dollar) operate on a 13-week lag and are beginning to bite a market priced for perfection.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Systemic Risks &amp; Regulatory Voids: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dangers of operating leverage and regulatory paralysis.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84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Index Facade vs. Underlying Reality: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quote Jack Forehand: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"If you were looking at the overall indexes, you'd say it's a smooth ride. You look behind the scenes, and there's turbulence in the private jet."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Facade: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Mainstream headline indices show the S&amp;P 500 trending near all-time highs, giving investors a false sense of security and fundamental strength.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 the hood, high-beta tech, AI names, and semiconductors are experiencing drawdowns of 25% to 40%.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Rotation &amp; Volatility: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High-beta technology has taken violent hits. The top portion of the S&amp;P 500 (tech/telecom) has entered correction territory, while older, non-tech sectors have held up or rotated upward.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valuation for AI depends heavily on long-term terminal value, any minor model or supply chain news creates massive price shocks.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93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4-Step Breakdown of the Blowup: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Ascent: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highly concentrated fund (run by Leopold) built huge bets in memory and AI hardware, surging +400% into May/June.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Pressure: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Sector rotation and memory/semiconductor pullbacks triggered severe margin calls.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 in the Water: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Word leaked to Wall Street that the fund was on the ropes, leading traders to push these concentrated names lower.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Buyout: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Citadel absorbed the entire distressed basket in a single discounted transaction over the weekend.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price action drops 30–35% in a month due to a single fund's distress, price action is being driven by liquidity mechanics rather than deteriorating long-term fundamentals.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9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Mistaking Liquidation for a Fundamental Bottom: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 Event: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Media headlines attributed the 20%+ bounce in memory/semi names to "fundamental AI bottoming". In reality, it was a forced buyout hitting the tape.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 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13F basket surged 20% in a single session while equal-weighted indices (RSP) were flat-to-down.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Volatility Signature: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Options correlation metrics crashed specifically as this liquidation trade was re-bid, demonstrating that the market misconstrued an artificial order flow for a fundamental shift.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Lesson: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Investors must look past short-term price reflexivity. Price led the narrative, causing market participants to mistake an unwinding margin call for organic demand.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99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 vs. Structural Shift: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Wall Street is celebrating S&amp;P 500 net profit margins of 15.7% (up 300 bps YoY) and semiconductor margins hitting projected records near 44% in 2026.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Analysts are falsely labeling this an "AI Productivity Boom" when it is actually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Operating Leverage Boom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Mechanics of Operating Leverage: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Semiconductor manufacturing is a high fixed-cost business. When top-line revenue expands rapidly, margins explode upward.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Downside Risk: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Operating leverage works symmetrically. If top-line revenue growth slows even slightly, high fixed costs will cause profit margins to deleverage rapidly.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60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Wartime Scale Investment: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projected AI capex and data center buildout is estimated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$4 to $5 Trillion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inflation-adjusted terms, this matches total U.S. expenditure to fight World War II.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 GDP Dependence: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2026, U.S. GDP growth is projected around 2%. Roughly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half (50%) of total U.S. GDP growth is tied directly to AI capital expenditures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"Pot Committed":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Ben Hunt notes, both the market and the U.S. government are "pot committed". Removing half of GDP growth would feel like a full-blown recession, forcing policymakers to defend the buildout at all costs.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21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Funding Flow Dynamics: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 Cash Flow Deficits: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Major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hyperscalers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no longer finance this buildout purely through organic cash flow (e.g., Google moving to negative free cash flow).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Capital Demands: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Tech giants must heavily issue debt and sell equity.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Shadow Banks: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Non-bank lenders—private credit, private equity, and alternative asset managers—are funding the bulk of this deficit.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Systemic Risk Transmission: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risk is not contained in traditional commercial banks, but in private credit markets.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AI buildout projects fail to generate required returns, the result won't just be a tech bear market—it risks becoming a systemic private credit crisis.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17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Impossible Growth Trajectory: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data centers currently consume ~4% of national electricity. Estimates project this will rise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support planned AI models.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Non-AI power allocation must shrink from 96% down to 75%.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Math Problem: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physically impossible to scale grid generation (turbines, gas plants, infrastructure) fast enough to expand the total energy pie.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 Consequences: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AI consumes a larger slice of power, non-AI consumers will face higher energy prices and potential rationing.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28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Evaluating the Diagnostic Metrics: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 to Trend: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S&amp;P 500 is 50%–60% above its historical post-WWII trend line—the highest elevation since the 2000 Dot-Com bubble.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 per GDP: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Profits relative to GDP are near 14%, an all-time historical high.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Labor Compensation: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Total labor compensation relative to GDP is at a record low, leaving no margin to extract further corporate efficiency.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Household Assets: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Household equity exposure is at an all-time high, while cash reserves are near record lows.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Synthesis: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Markets have exhausted their capacity to absorb negative shocks. The system is priced for perfection.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546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Policy Drag Index: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Combined metric consisting of: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 Weight: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10-Year Treasury Yield (higher cost of capital).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25% Weight: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WTI Crude Oil Price (higher energy input costs).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25% Weight: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 Trade-Weighted U.S. Dollar (reduced international competitiveness).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Inverted Scale Signal: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three variables act as a composite restrictive force on the economy.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Tightening forces require an incubation period before their impact shows up in economic data and stock prices.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24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Lag Lead Times: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T+0 Weeks (Policy Change):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Rates, oil, or dollar spike. Initial stock market reaction is muted.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T+13 Weeks (Stock Market Lag):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Contractionary policy pressure hits equities on roughly a 3-month (13-week) lag.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T+17 Weeks (Bond Market Lag):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economic growth slows, bond yields fall and bond prices rebound roughly 4 weeks after equities begin to struggle.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T+52 Weeks (PMI Economic Lag):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Broad economic indicators like manufacturing and service PMIs lag monetary/policy shifts by up to a full year.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Position: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policy tightening from earlier in the year is now hitting its 13-week window, introducing headwinds into current asset prices.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4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De-Facto Inaction: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Deregulation is occurring not through legislation, but by allowing regulatory seats to remain vacant.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Agency Status: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CFTC: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Lacks the required quorum of commissioners to hold meetings or make decisions.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track to lose quorum and become unable to execute regular enforcement or administrative business.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Systemic Risk Vector: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 sudden financial shock or forced liquidation cascade occurs, key market regulators lack the legal voting capacity to approve emergency backstops or circuit breakers.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15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Connecting the Core Vectors: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 Capital Needs: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$4–5T required for AI capex during a period of structural capital scarcity.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 Fragility: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operating leverage means minor earnings misses can lead to sharp margin compressions.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Policy Drag: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13-week policy lag is catching up with economic momentum.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Quote: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"When people all feel pretty good, like it's a sunny day... that's when the clouds come in from what started to happen three or four months ago."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Jim Paulson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09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Diagnostic Wrap-Up: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$4–5 Trillion AI Spend: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Equivalent to total U.S. World War II spending.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 of 2026 GDP Growth: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U.S. economic growth is dependent on AI capex.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Credit Risk: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Funding has shifted from corporate cash flows to high-risk private credit markets.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4% to 25% Grid Strain: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Energy bottlenecks create structural inflationary pressure.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13-Week Lag: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market's recent 20% semiconductor bounce reflects a forced margin call resolution rather than a fundamental bottom, right as policy lags begin to weigh on broad activity.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38F7-27FF-4781-8C6B-B82400E440E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72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18A399-DBB5-09D4-DD95-6E156209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6684-2D1D-4EB3-874C-585FABCA5BC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36585-184A-AC9C-CA9E-5EA9127A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31D77-6F6C-7BB3-B293-51C59A23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428B-9AD0-4A0D-9BD0-AABC51E4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2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CBD797-D29D-9A30-F066-EA9706875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D1909-7CB4-2DB3-3585-20FC19534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9B2F-36E9-15EA-AFA4-E294662B2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56684-2D1D-4EB3-874C-585FABCA5BC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7307C-1E88-5C9C-CFAD-E7008BEEB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7E16C-676F-1A55-5C2A-999BDDA57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B428B-9AD0-4A0D-9BD0-AABC51E4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0C0BF5-524F-7463-431A-8F7C7424A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2FB5FB-F41D-E06B-15E7-7018A5204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7C082D-6567-C79C-99A5-67333A49C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6C749C-4F33-2AD0-A9E8-0B434787F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EFB741-3F0D-33F7-3E11-0CB290FB0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6E4CB0-32EB-066A-7D54-4ABE36F33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A267B2-A1B1-6FE1-F750-A41D3D40F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BF1096-CD60-2BDC-ECB0-83B7BD874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9F2C7F-4D9E-F3D2-B90B-73953F6C9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6A5CFF-02A6-420E-2B98-14887C5C7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279E64-FD2E-49CA-C03B-F229FC946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D0C9BC-AC9F-F937-AA3B-EE9DEF0FC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9C612E-BC1B-9779-B76E-E40F9CD1B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FB5CB3-E3C9-E472-3FC1-A8C94897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EA1DC9-3EF3-F37D-5106-D145418A5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22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1686</Words>
  <Application>Microsoft Office PowerPoint</Application>
  <PresentationFormat>寬螢幕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2026-08-03T01:27:31Z</dcterms:created>
  <dcterms:modified xsi:type="dcterms:W3CDTF">2026-10-19T15:36:58Z</dcterms:modified>
</cp:coreProperties>
</file>