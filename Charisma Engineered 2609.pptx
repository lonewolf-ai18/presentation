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35372-EF3A-4239-9F3C-9E05F8612373}" v="18" dt="2026-09-13T14:17:47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modMainMaster">
      <pc:chgData name="Lai, Wilson" userId="2840974a-0d84-4886-90a9-9a3ed79f3a48" providerId="ADAL" clId="{9F23B798-9E84-4552-BA63-E776E805C424}" dt="2026-09-13T14:18:01.294" v="96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9-13T14:18:01.294" v="96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12T06:35:19.597" v="13" actId="164"/>
          <ac:spMkLst>
            <pc:docMk/>
            <pc:sldMk cId="0" sldId="257"/>
            <ac:spMk id="5" creationId="{82E6BDBD-0061-2BDC-F009-1084995C11B3}"/>
          </ac:spMkLst>
        </pc:spChg>
        <pc:grpChg chg="add mod">
          <ac:chgData name="Lai, Wilson" userId="2840974a-0d84-4886-90a9-9a3ed79f3a48" providerId="ADAL" clId="{9F23B798-9E84-4552-BA63-E776E805C424}" dt="2026-09-12T06:35:19.597" v="13" actId="164"/>
          <ac:grpSpMkLst>
            <pc:docMk/>
            <pc:sldMk cId="0" sldId="257"/>
            <ac:grpSpMk id="6" creationId="{C70246E1-60A7-8DBB-7A55-A06F1EFF773C}"/>
          </ac:grpSpMkLst>
        </pc:grpChg>
        <pc:picChg chg="del">
          <ac:chgData name="Lai, Wilson" userId="2840974a-0d84-4886-90a9-9a3ed79f3a48" providerId="ADAL" clId="{9F23B798-9E84-4552-BA63-E776E805C424}" dt="2026-09-12T06:22:49.005" v="1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12T06:35:19.597" v="13" actId="164"/>
          <ac:picMkLst>
            <pc:docMk/>
            <pc:sldMk cId="0" sldId="257"/>
            <ac:picMk id="2" creationId="{E3759D11-3FE9-E1A0-729C-9DA4BBAE9373}"/>
          </ac:picMkLst>
        </pc:picChg>
        <pc:picChg chg="add ord">
          <ac:chgData name="Lai, Wilson" userId="2840974a-0d84-4886-90a9-9a3ed79f3a48" providerId="ADAL" clId="{9F23B798-9E84-4552-BA63-E776E805C424}" dt="2026-09-13T14:18:01.294" v="96" actId="166"/>
          <ac:picMkLst>
            <pc:docMk/>
            <pc:sldMk cId="0" sldId="257"/>
            <ac:picMk id="4" creationId="{FB87DEFF-767F-8DF7-97EE-6A0AC846ECD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4:13.002" v="46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12T06:23:32.872" v="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06:23:43.233" v="4" actId="22"/>
          <ac:picMkLst>
            <pc:docMk/>
            <pc:sldMk cId="0" sldId="258"/>
            <ac:picMk id="4" creationId="{6DE0C8FA-CA13-FE80-B205-BF850CDE9CB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4:26.688" v="48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12T12:48:20.924" v="1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48:34.168" v="15" actId="22"/>
          <ac:picMkLst>
            <pc:docMk/>
            <pc:sldMk cId="0" sldId="259"/>
            <ac:picMk id="4" creationId="{2491B64E-95EA-91E2-63D9-D1A6EB3F92D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4:48.887" v="54" actId="14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12T12:48:35.917" v="1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49:09.229" v="17" actId="22"/>
          <ac:picMkLst>
            <pc:docMk/>
            <pc:sldMk cId="0" sldId="260"/>
            <ac:picMk id="4" creationId="{1D927FBF-26E4-505D-7EF1-83D2B00464F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5:01.574" v="56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12T12:49:11.420" v="1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49:22.775" v="19" actId="22"/>
          <ac:picMkLst>
            <pc:docMk/>
            <pc:sldMk cId="0" sldId="261"/>
            <ac:picMk id="4" creationId="{9A98C062-B2A3-8079-CA97-9441AD46AF5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5:11.840" v="58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12T12:49:24.578" v="2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49:48.187" v="21" actId="22"/>
          <ac:picMkLst>
            <pc:docMk/>
            <pc:sldMk cId="0" sldId="262"/>
            <ac:picMk id="4" creationId="{BE9AD1A7-1528-B17E-DEA2-DA804AB5F72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5:25.552" v="63" actId="14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12T12:49:50.540" v="2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0:00.827" v="23" actId="22"/>
          <ac:picMkLst>
            <pc:docMk/>
            <pc:sldMk cId="0" sldId="263"/>
            <ac:picMk id="4" creationId="{11BD5F15-8C66-506A-9227-AD7DAA07A20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5:42.685" v="67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12T12:50:03.136" v="24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0:32.488" v="25" actId="22"/>
          <ac:picMkLst>
            <pc:docMk/>
            <pc:sldMk cId="0" sldId="264"/>
            <ac:picMk id="4" creationId="{84BA1145-76F1-F4D0-EA52-1A06A616088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5:54.934" v="69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12T12:50:35.039" v="2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0:45.082" v="27" actId="22"/>
          <ac:picMkLst>
            <pc:docMk/>
            <pc:sldMk cId="0" sldId="265"/>
            <ac:picMk id="4" creationId="{104C329A-6BCF-E25D-FA18-C3CECEDF897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6:07.298" v="71" actId="14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12T12:50:50.322" v="28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1:01.129" v="29" actId="22"/>
          <ac:picMkLst>
            <pc:docMk/>
            <pc:sldMk cId="0" sldId="266"/>
            <ac:picMk id="4" creationId="{1339F687-D902-ADE0-7237-C16F12C0850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6:34.394" v="77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12T12:51:04.625" v="30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1:28.475" v="31" actId="22"/>
          <ac:picMkLst>
            <pc:docMk/>
            <pc:sldMk cId="0" sldId="267"/>
            <ac:picMk id="4" creationId="{4F1D39FC-886D-C706-77B9-F1FE220810A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6:58.480" v="84" actId="14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12T12:51:31.154" v="32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1:56.301" v="33" actId="22"/>
          <ac:picMkLst>
            <pc:docMk/>
            <pc:sldMk cId="0" sldId="268"/>
            <ac:picMk id="4" creationId="{8B77EDB4-93C4-5C6C-64F2-CF023645080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7:12.870" v="88" actId="14"/>
        <pc:sldMkLst>
          <pc:docMk/>
          <pc:sldMk cId="0" sldId="269"/>
        </pc:sldMkLst>
        <pc:picChg chg="add del">
          <ac:chgData name="Lai, Wilson" userId="2840974a-0d84-4886-90a9-9a3ed79f3a48" providerId="ADAL" clId="{9F23B798-9E84-4552-BA63-E776E805C424}" dt="2026-09-12T12:52:24.863" v="36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3:04.280" v="37" actId="22"/>
          <ac:picMkLst>
            <pc:docMk/>
            <pc:sldMk cId="0" sldId="269"/>
            <ac:picMk id="4" creationId="{A40987DF-0D63-52A4-2157-F4AD50D39A6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3T14:17:34.605" v="95" actId="14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12T12:53:06.435" v="38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4:01.791" v="39" actId="22"/>
          <ac:picMkLst>
            <pc:docMk/>
            <pc:sldMk cId="0" sldId="270"/>
            <ac:picMk id="4" creationId="{187F92E2-E9C2-B5FD-369C-F02A38B945E2}"/>
          </ac:picMkLst>
        </pc:picChg>
      </pc:sldChg>
      <pc:sldChg chg="addSp delSp mod">
        <pc:chgData name="Lai, Wilson" userId="2840974a-0d84-4886-90a9-9a3ed79f3a48" providerId="ADAL" clId="{9F23B798-9E84-4552-BA63-E776E805C424}" dt="2026-09-12T12:54:21.570" v="41" actId="2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12T12:54:04.026" v="40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2T12:54:21.570" v="41" actId="22"/>
          <ac:picMkLst>
            <pc:docMk/>
            <pc:sldMk cId="0" sldId="271"/>
            <ac:picMk id="4" creationId="{FDD79927-DC48-81B5-C86B-E932D3B9CFAD}"/>
          </ac:picMkLst>
        </pc:picChg>
      </pc:sldChg>
      <pc:sldMasterChg chg="setBg">
        <pc:chgData name="Lai, Wilson" userId="2840974a-0d84-4886-90a9-9a3ed79f3a48" providerId="ADAL" clId="{9F23B798-9E84-4552-BA63-E776E805C424}" dt="2026-09-12T06:22:02.633" v="0"/>
        <pc:sldMasterMkLst>
          <pc:docMk/>
          <pc:sldMasterMk cId="2122254976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11755-B6EC-4F0C-9267-9D799FD7DB0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7A8A7-FA8A-47BE-984E-3138F06BD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Hook: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 everyone. Today, we aren't just talking about "being nice" or making polite conversation. We are exploring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and mechanics of connection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Concept: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Charisma is often viewed as a mysterious, innate quality—something you're either born with or not. But behavioral research, particularly the work of Vanessa Van Edwards, proves otherwise: charisma can be broken down into actionable patterns, non-verbal cues, and deliberate conversational structures.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&amp; Purpose: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at the diagram on the screen. Notice how connection nodes and engagement vectors intersect at a "Trust Interface." Over the next 15 slides, we will unpack how to transform everyday interactions from transactional autopilot into genuine magnetic connection. By the end of this session, you'll have a complete blueprint to master conversation mechanics and bypass superficial small talk.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https://www.youtube.com/watch?v=q2cg1gEYWJQ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8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living through a modern social paradox. We are more digitally connected than at any point in human history, yet we are experiencing a global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 crisis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Statistics &amp; Observations: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1 in 6 people worldwide report feeling severely affected by loneliness.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communication is increasingly asynchronous and self-absorbed—exemplified by people sending 9-minute voice notes, which function more like selfish monologues than interactive dialogues.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Communication is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atrophied muscle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As the upcoming generations converse more with AI models and smartphones than with real humans, our fundamental social skills deteriorate.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for Presenter: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Emphasize that conversation isn't just an extra optional skill—it is social health. If we don't actively practice real-time conversational reps, our ability to form trust and psychological safety will continue to decline.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48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Proposition: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Why does mastering conversation matter in a professional setting? Because conversational intelligence is the ultimate unfair advantage and career insurance.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Friction Reduction: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Master conversationalists don't just speak well; they eliminate communication friction. When friction disappears within a team, two things happen immediately: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Productivity skyrockets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because messages are conveyed clearly without misunderstanding.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Psychological Safety increases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enabling team members to take creative risks and share honest feedback.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Career Trajectory: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Whether you are pitching an idea, seeking a promotion, or building client trust, your social mechanics determine your ceiling. High competence combined with low warmth or poor delivery leads to overlooked talent. Mastering conversation is the engine for long-term career longevity and achieving your strategic goals.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31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 Overview: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move beyond surface-level chatter, we must understand the 3-Tier Model of Human Intimacy developed in psychological research.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 1: General Traits (The Foundation)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Gather basic facts and discover stories.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Asking autopilot, fact-checking questions ("Where do you work?", "How are you?") triggers administrative brain answers.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 2: Personal Concerns (The Scaffolding)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Uncover motivations, goals, and secret passions.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gets them up in the morning? What keeps them up at night?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 3: Self-Narrative (The Apex)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Understand their core worldview, values, and deep identity.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Identifying whether they frame their life around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Redemption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Contamination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narrative.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job as a conversational leader is to deliberately guide interactions from Level 1 up to Level 2 and Level 3 when appropriate.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98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small talk fails because it relies on "Autopilot Scripts". When you ask "How are you?", the brain responds automatically ("Good, you?") without engaging any real emotion or focus.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Dopamine Spark Swaps: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"How are you?":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was the highlight of your day?"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forces their brain to search for positive memories and optimism, releasing dopamine.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"Been busy?":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"Have any fun plans coming up?"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signals a shared future and builds rapport through anticipation and excitement.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"What do you do?":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"Working on anything exciting lately?"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gives them permission to discuss passion projects rather than reciting a boring job title.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Practice Tip: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Challenge the audience to replace just one autopilot question during their next coffee break or networking session.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09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someone asks what you do, most people give a boring resume answer: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"I'm a senior analyst at ACME Corp."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kills the conversation.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Formula: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the 3-part formula to create an engaging hook: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[X] Clear Label: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Allows their brain to categorize your role effortlessly.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[Y] Target Audience: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Identifies who you help, filtering whether they or their network connect with your work.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[Z] Intriguing Hook: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Introduces a curiosity gap they feel compelled to ask about.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"I'm a 5th-grade teacher [X], and for the last 10 years, I developed a unique system [Y] that gets young students to read 2x faster [Z]."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Never read your resume. Give the brain the simplest road possible, then spark immediate curiosity.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58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Transitioning to Level 2: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you bypass basic small talk, Level 2 is about understanding what drives the other person. You are giving them explicit permission to share private motivations in a public setting.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Pillar 1: Pet Projects (Pride &amp; Goals)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side projects, secret desires, or personal ambitions.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Prompt: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"What's your biggest goal this year?" or "What's a project you're secretly excited about?"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Pillar 2: Pest Projects (Shame &amp; Worry)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 friction points, stressors, or obstacles keeping them awake at night.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Prompt: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"What's a challenge you're trying to figure out right now?"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Insight: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love talking about what they are trying to solve or build. Asking about Pet and Pest projects positions you as a trusted collaborator, not just a casual observer.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0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Apex Level: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Level 3, you are uncovering the fundamental story a person tells themselves about who they are.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Sneak-Attack Diagnostic: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 the simple question: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 you consider yourself a lucky person?"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A: Redemption Narrative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Internal Locus of Control. They immediately answer "Yes."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Belief: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 can overcome adversity." They frame past hardships as lessons that led to growth. They generate their own luck.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B: Contamination Narrative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External Locus of Control. They answer "No" or hesitate.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Belief: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"Bad things always happen to me." They frame good events as ruined by inevitable bad outcomes. They frequently use absolute terms like "always" or "never."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Insight: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shows 82% of first impressions are built on Warmth and Competence. Which narrative a person lives in directly dictates how warm and competent they appear.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18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Navigating Personalities: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engaging with people at Level 2 and 3, you will encounter distinct archetypes. Adapt your conversational approach based on their driver: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Ambitious Hero (Driven by progress):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Watch for burnout.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 them about growth metrics and big milestones.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Contented Pragmatist (Driven by stability):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Averse to sudden change.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Ask what currently works; don't force them to scale prematurely.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Selfless Helper (Driven by service):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Prone to compassion fatigue.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Reassure them that sharing their own needs isn't selfish.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Creative Disruptor (Driven by breaking norms):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contrarian to a fault.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Enlist them to stress-test your ideas.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Unlucky Struggler (Driven by contamination):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Defeatist mindset.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Enjoy their dark humor; do not try to fix their luck.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14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Workplace 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95% of professionals report working with someone who talks too much, and 71% say over-talking directly hinders their productivity.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Turn-Taking Timeline: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0–15 Seconds (Too Short):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Creates conversational scarcity and under-signaling.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15–30 Seconds (The Sweet Spot):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ideal conversational turn. It gives enough detail to add value without losing the listener's attention.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 Seconds (Warning Zone):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are approaching monologue territory. Look for disengagement signals.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60+ Seconds (The Danger Zone):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Conversational Narcissism. You have taken hostage of the conversation.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Yap Challenge: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Try opening your camera right now and explaining a complex opinion without notes in under 15 seconds. It forces conciseness and clarity.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52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Listening Beyond Words: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High-charisma individuals constantly monitor the non-verbal cues of their listener to adjust real-time pacing.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Lower Lid Flex (Eyes narrow slightly):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NOT anger; it indicates intense focus and cognitive processing.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Bookmark the topic you just mentioned—they care deeply about it.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Open Fish (Mouth slightly parted):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person has a thought and is waiting for an opening to speak.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speaking immediately and pass the conversational baton.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 Triple Nod / Head Tilt: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Universal warmth indicators exposing the ear to listen actively.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have achieved psychological safety; keep going.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83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Dynamics: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Charisma is deeply embodied. There are three specific physiological mechanics you can control: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 (Max Resonance Point):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 speak on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out-breath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Avoid holding your breath on your opening word, which causes high-pitched vocal strain. Speaking on an exhale naturally lowers vocal pitch, signaling calm authority and pride.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 (The Winner's Footprint):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Charisma occupies physical real estate. Expand the distance between your ears/shoulders and keep your torso uncrossed. This signals physical confidence and ease.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 (The 60% Rule):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Aim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60–70% eye contact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trigger oxytocin release. Look away briefly when processing complex thoughts to demonstrate high competence, then re-engage eye contact to deliver key points.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Archetypes in Groups: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 room contains two main conversational profiles: Entertainers and Appreciators.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Entertainers: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Love the spotlight, tell stories, give advice, and seek validation/adoration.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not try to out-shine or compete with them. Ask them a hyper-specific, challenging prompt and let them run with the conversation.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Appreciators: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Prefer to listen, laugh at others' jokes, but are hesitant to open up about themselves.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Bring the conversational energy to them. Share engaging, dopamine-rich stories to make them feel comfortable, earning their trust until they open up.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86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Psychological Principle: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Due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Peak-End Effect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people judge an interaction primarily by how it ended. Ending awkwardly ruins an otherwise great conversation.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Future Cue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their focus to upcoming events.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"Do you have fun plans for this weekend?"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Exit Voice + Compliment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your vocal pitch downward to signal finality.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"It was so great chatting with you..."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Action + Physical Pivot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a clear, assertive reason to leave and physically pivot your shoulders away.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"...I'm going to grab a fresh drink/head to my next meeting."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19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Paradigm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trying to be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impressive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start focusing on being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 of Magnetic Charisma: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Charisma is not about how you make people feel about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is exclusively about how you make people feel about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themselves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your presence.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Thought: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Boring questions yield boring, autopilot responses. Conversational generosity—asking insightful questions, actively listening, and holding space—is what makes an individual unforgettable.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 to 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we wrap up this core section, ask yourself: What is your signature question going to be? How will you structure your next conversation to build immediate trust?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7A8A7-FA8A-47BE-984E-3138F06BD5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83A7A-6626-074E-67A2-F7CE9AF3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690C-586F-49DE-8949-04F5B0F5B40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D3857-830E-6A6C-50E3-24C0CAB7A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4FA16-A72D-5E98-BE59-02A15272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1884-6E89-470A-A05F-AB50623F3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7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EE308-59AF-883D-AB4F-678676D4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C6CD2-27E3-596E-5F94-37797C884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279FC-7A3A-7350-72D1-11FCBFE5A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D690C-586F-49DE-8949-04F5B0F5B40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34AB-E004-9103-75CB-CD1CCC706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F9EC-6DE4-8006-D100-11EA6D9F7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D1884-6E89-470A-A05F-AB50623F3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87DEFF-767F-8DF7-97EE-6A0AC846E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E0C8FA-CA13-FE80-B205-BF850CDE9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91B64E-95EA-91E2-63D9-D1A6EB3F9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927FBF-26E4-505D-7EF1-83D2B004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98C062-B2A3-8079-CA97-9441AD46A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9AD1A7-1528-B17E-DEA2-DA804AB5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BD5F15-8C66-506A-9227-AD7DAA07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BA1145-76F1-F4D0-EA52-1A06A6160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4C329A-6BCF-E25D-FA18-C3CECEDF8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39F687-D902-ADE0-7237-C16F12C08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D39FC-886D-C706-77B9-F1FE22081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77EDB4-93C4-5C6C-64F2-CF023645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0987DF-0D63-52A4-2157-F4AD50D39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7F92E2-E9C2-B5FD-369C-F02A38B94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D79927-DC48-81B5-C86B-E932D3B9C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C5D03-5E82-B47D-4967-97F14B9A6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49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2161</Words>
  <Application>Microsoft Office PowerPoint</Application>
  <PresentationFormat>寬螢幕</PresentationFormat>
  <Paragraphs>122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2026-09-12T06:20:11Z</dcterms:created>
  <dcterms:modified xsi:type="dcterms:W3CDTF">2026-10-20T13:28:29Z</dcterms:modified>
</cp:coreProperties>
</file>