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1A1D13A-E99C-4419-9633-0E88E1E9DFCE}" v="20" dt="2026-08-12T02:00:07.60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68234" autoAdjust="0"/>
  </p:normalViewPr>
  <p:slideViewPr>
    <p:cSldViewPr snapToGrid="0">
      <p:cViewPr varScale="1">
        <p:scale>
          <a:sx n="75" d="100"/>
          <a:sy n="75" d="100"/>
        </p:scale>
        <p:origin x="72" y="4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custSel modSld sldOrd">
      <pc:chgData name="Lai, Wilson" userId="2840974a-0d84-4886-90a9-9a3ed79f3a48" providerId="ADAL" clId="{9F23B798-9E84-4552-BA63-E776E805C424}" dt="2026-08-12T02:02:21.523" v="51" actId="22"/>
      <pc:docMkLst>
        <pc:docMk/>
      </pc:docMkLst>
      <pc:sldChg chg="addSp delSp modSp mod modAnim">
        <pc:chgData name="Lai, Wilson" userId="2840974a-0d84-4886-90a9-9a3ed79f3a48" providerId="ADAL" clId="{9F23B798-9E84-4552-BA63-E776E805C424}" dt="2026-08-12T02:00:23.421" v="49" actId="166"/>
        <pc:sldMkLst>
          <pc:docMk/>
          <pc:sldMk cId="0" sldId="257"/>
        </pc:sldMkLst>
        <pc:spChg chg="add mod">
          <ac:chgData name="Lai, Wilson" userId="2840974a-0d84-4886-90a9-9a3ed79f3a48" providerId="ADAL" clId="{9F23B798-9E84-4552-BA63-E776E805C424}" dt="2026-08-11T11:00:10.381" v="8" actId="164"/>
          <ac:spMkLst>
            <pc:docMk/>
            <pc:sldMk cId="0" sldId="257"/>
            <ac:spMk id="5" creationId="{144D2FC9-61C2-4FCC-7A12-4748769C77A9}"/>
          </ac:spMkLst>
        </pc:spChg>
        <pc:grpChg chg="add mod">
          <ac:chgData name="Lai, Wilson" userId="2840974a-0d84-4886-90a9-9a3ed79f3a48" providerId="ADAL" clId="{9F23B798-9E84-4552-BA63-E776E805C424}" dt="2026-08-11T11:00:10.381" v="8" actId="164"/>
          <ac:grpSpMkLst>
            <pc:docMk/>
            <pc:sldMk cId="0" sldId="257"/>
            <ac:grpSpMk id="6" creationId="{6105B7F2-9F2E-0E0C-EE89-EC6E82848C7F}"/>
          </ac:grpSpMkLst>
        </pc:grpChg>
        <pc:picChg chg="del">
          <ac:chgData name="Lai, Wilson" userId="2840974a-0d84-4886-90a9-9a3ed79f3a48" providerId="ADAL" clId="{9F23B798-9E84-4552-BA63-E776E805C424}" dt="2026-08-12T00:10:26.160" v="9" actId="21"/>
          <ac:picMkLst>
            <pc:docMk/>
            <pc:sldMk cId="0" sldId="257"/>
            <ac:picMk id="2" creationId="{00000000-0000-0000-0000-000000000000}"/>
          </ac:picMkLst>
        </pc:picChg>
        <pc:picChg chg="add mod">
          <ac:chgData name="Lai, Wilson" userId="2840974a-0d84-4886-90a9-9a3ed79f3a48" providerId="ADAL" clId="{9F23B798-9E84-4552-BA63-E776E805C424}" dt="2026-08-11T11:00:10.381" v="8" actId="164"/>
          <ac:picMkLst>
            <pc:docMk/>
            <pc:sldMk cId="0" sldId="257"/>
            <ac:picMk id="3" creationId="{53911C8B-60D1-A8C1-F781-8620FE2019EA}"/>
          </ac:picMkLst>
        </pc:picChg>
        <pc:picChg chg="add ord">
          <ac:chgData name="Lai, Wilson" userId="2840974a-0d84-4886-90a9-9a3ed79f3a48" providerId="ADAL" clId="{9F23B798-9E84-4552-BA63-E776E805C424}" dt="2026-08-12T02:00:23.421" v="49" actId="166"/>
          <ac:picMkLst>
            <pc:docMk/>
            <pc:sldMk cId="0" sldId="257"/>
            <ac:picMk id="7" creationId="{E5C63790-80F7-8474-4509-E859228D006C}"/>
          </ac:picMkLst>
        </pc:picChg>
      </pc:sldChg>
      <pc:sldChg chg="addSp delSp mod">
        <pc:chgData name="Lai, Wilson" userId="2840974a-0d84-4886-90a9-9a3ed79f3a48" providerId="ADAL" clId="{9F23B798-9E84-4552-BA63-E776E805C424}" dt="2026-08-12T00:10:50.527" v="12" actId="22"/>
        <pc:sldMkLst>
          <pc:docMk/>
          <pc:sldMk cId="0" sldId="258"/>
        </pc:sldMkLst>
        <pc:picChg chg="del">
          <ac:chgData name="Lai, Wilson" userId="2840974a-0d84-4886-90a9-9a3ed79f3a48" providerId="ADAL" clId="{9F23B798-9E84-4552-BA63-E776E805C424}" dt="2026-08-12T00:10:42.522" v="11" actId="21"/>
          <ac:picMkLst>
            <pc:docMk/>
            <pc:sldMk cId="0" sldId="258"/>
            <ac:picMk id="2" creationId="{00000000-0000-0000-0000-000000000000}"/>
          </ac:picMkLst>
        </pc:picChg>
        <pc:picChg chg="add">
          <ac:chgData name="Lai, Wilson" userId="2840974a-0d84-4886-90a9-9a3ed79f3a48" providerId="ADAL" clId="{9F23B798-9E84-4552-BA63-E776E805C424}" dt="2026-08-12T00:10:50.527" v="12" actId="22"/>
          <ac:picMkLst>
            <pc:docMk/>
            <pc:sldMk cId="0" sldId="258"/>
            <ac:picMk id="4" creationId="{C5D1085D-C591-B4CF-D543-849C7F4D1E0A}"/>
          </ac:picMkLst>
        </pc:picChg>
      </pc:sldChg>
      <pc:sldChg chg="addSp delSp mod modNotesTx">
        <pc:chgData name="Lai, Wilson" userId="2840974a-0d84-4886-90a9-9a3ed79f3a48" providerId="ADAL" clId="{9F23B798-9E84-4552-BA63-E776E805C424}" dt="2026-08-12T01:57:34.378" v="39" actId="12"/>
        <pc:sldMkLst>
          <pc:docMk/>
          <pc:sldMk cId="0" sldId="259"/>
        </pc:sldMkLst>
        <pc:picChg chg="del">
          <ac:chgData name="Lai, Wilson" userId="2840974a-0d84-4886-90a9-9a3ed79f3a48" providerId="ADAL" clId="{9F23B798-9E84-4552-BA63-E776E805C424}" dt="2026-08-12T00:10:53.682" v="13" actId="21"/>
          <ac:picMkLst>
            <pc:docMk/>
            <pc:sldMk cId="0" sldId="259"/>
            <ac:picMk id="2" creationId="{00000000-0000-0000-0000-000000000000}"/>
          </ac:picMkLst>
        </pc:picChg>
        <pc:picChg chg="add">
          <ac:chgData name="Lai, Wilson" userId="2840974a-0d84-4886-90a9-9a3ed79f3a48" providerId="ADAL" clId="{9F23B798-9E84-4552-BA63-E776E805C424}" dt="2026-08-12T00:11:00.641" v="14" actId="22"/>
          <ac:picMkLst>
            <pc:docMk/>
            <pc:sldMk cId="0" sldId="259"/>
            <ac:picMk id="4" creationId="{DC402CCB-B686-B1ED-76B7-FDD64E2ED584}"/>
          </ac:picMkLst>
        </pc:picChg>
      </pc:sldChg>
      <pc:sldChg chg="addSp delSp mod">
        <pc:chgData name="Lai, Wilson" userId="2840974a-0d84-4886-90a9-9a3ed79f3a48" providerId="ADAL" clId="{9F23B798-9E84-4552-BA63-E776E805C424}" dt="2026-08-12T00:11:11.039" v="16" actId="22"/>
        <pc:sldMkLst>
          <pc:docMk/>
          <pc:sldMk cId="0" sldId="260"/>
        </pc:sldMkLst>
        <pc:picChg chg="del">
          <ac:chgData name="Lai, Wilson" userId="2840974a-0d84-4886-90a9-9a3ed79f3a48" providerId="ADAL" clId="{9F23B798-9E84-4552-BA63-E776E805C424}" dt="2026-08-12T00:11:02.442" v="15" actId="21"/>
          <ac:picMkLst>
            <pc:docMk/>
            <pc:sldMk cId="0" sldId="260"/>
            <ac:picMk id="2" creationId="{00000000-0000-0000-0000-000000000000}"/>
          </ac:picMkLst>
        </pc:picChg>
        <pc:picChg chg="add">
          <ac:chgData name="Lai, Wilson" userId="2840974a-0d84-4886-90a9-9a3ed79f3a48" providerId="ADAL" clId="{9F23B798-9E84-4552-BA63-E776E805C424}" dt="2026-08-12T00:11:11.039" v="16" actId="22"/>
          <ac:picMkLst>
            <pc:docMk/>
            <pc:sldMk cId="0" sldId="260"/>
            <ac:picMk id="4" creationId="{872D6DE5-8485-F7C2-C6B0-935E037FD273}"/>
          </ac:picMkLst>
        </pc:picChg>
      </pc:sldChg>
      <pc:sldChg chg="addSp delSp mod">
        <pc:chgData name="Lai, Wilson" userId="2840974a-0d84-4886-90a9-9a3ed79f3a48" providerId="ADAL" clId="{9F23B798-9E84-4552-BA63-E776E805C424}" dt="2026-08-12T00:11:23.935" v="18" actId="22"/>
        <pc:sldMkLst>
          <pc:docMk/>
          <pc:sldMk cId="0" sldId="261"/>
        </pc:sldMkLst>
        <pc:picChg chg="del">
          <ac:chgData name="Lai, Wilson" userId="2840974a-0d84-4886-90a9-9a3ed79f3a48" providerId="ADAL" clId="{9F23B798-9E84-4552-BA63-E776E805C424}" dt="2026-08-12T00:11:14.174" v="17" actId="21"/>
          <ac:picMkLst>
            <pc:docMk/>
            <pc:sldMk cId="0" sldId="261"/>
            <ac:picMk id="2" creationId="{00000000-0000-0000-0000-000000000000}"/>
          </ac:picMkLst>
        </pc:picChg>
        <pc:picChg chg="add">
          <ac:chgData name="Lai, Wilson" userId="2840974a-0d84-4886-90a9-9a3ed79f3a48" providerId="ADAL" clId="{9F23B798-9E84-4552-BA63-E776E805C424}" dt="2026-08-12T00:11:23.935" v="18" actId="22"/>
          <ac:picMkLst>
            <pc:docMk/>
            <pc:sldMk cId="0" sldId="261"/>
            <ac:picMk id="4" creationId="{B8CE5563-6E0D-53B8-1F33-2EDE5CD9CCE8}"/>
          </ac:picMkLst>
        </pc:picChg>
      </pc:sldChg>
      <pc:sldChg chg="addSp delSp mod">
        <pc:chgData name="Lai, Wilson" userId="2840974a-0d84-4886-90a9-9a3ed79f3a48" providerId="ADAL" clId="{9F23B798-9E84-4552-BA63-E776E805C424}" dt="2026-08-12T00:11:50.869" v="20" actId="22"/>
        <pc:sldMkLst>
          <pc:docMk/>
          <pc:sldMk cId="0" sldId="262"/>
        </pc:sldMkLst>
        <pc:picChg chg="del">
          <ac:chgData name="Lai, Wilson" userId="2840974a-0d84-4886-90a9-9a3ed79f3a48" providerId="ADAL" clId="{9F23B798-9E84-4552-BA63-E776E805C424}" dt="2026-08-12T00:11:27.784" v="19" actId="21"/>
          <ac:picMkLst>
            <pc:docMk/>
            <pc:sldMk cId="0" sldId="262"/>
            <ac:picMk id="2" creationId="{00000000-0000-0000-0000-000000000000}"/>
          </ac:picMkLst>
        </pc:picChg>
        <pc:picChg chg="add">
          <ac:chgData name="Lai, Wilson" userId="2840974a-0d84-4886-90a9-9a3ed79f3a48" providerId="ADAL" clId="{9F23B798-9E84-4552-BA63-E776E805C424}" dt="2026-08-12T00:11:50.869" v="20" actId="22"/>
          <ac:picMkLst>
            <pc:docMk/>
            <pc:sldMk cId="0" sldId="262"/>
            <ac:picMk id="4" creationId="{C19DACC7-639F-64C0-2C9E-27B6BD19261A}"/>
          </ac:picMkLst>
        </pc:picChg>
      </pc:sldChg>
      <pc:sldChg chg="addSp delSp mod">
        <pc:chgData name="Lai, Wilson" userId="2840974a-0d84-4886-90a9-9a3ed79f3a48" providerId="ADAL" clId="{9F23B798-9E84-4552-BA63-E776E805C424}" dt="2026-08-12T00:12:53.021" v="22" actId="22"/>
        <pc:sldMkLst>
          <pc:docMk/>
          <pc:sldMk cId="0" sldId="263"/>
        </pc:sldMkLst>
        <pc:picChg chg="del">
          <ac:chgData name="Lai, Wilson" userId="2840974a-0d84-4886-90a9-9a3ed79f3a48" providerId="ADAL" clId="{9F23B798-9E84-4552-BA63-E776E805C424}" dt="2026-08-12T00:11:53.124" v="21" actId="21"/>
          <ac:picMkLst>
            <pc:docMk/>
            <pc:sldMk cId="0" sldId="263"/>
            <ac:picMk id="2" creationId="{00000000-0000-0000-0000-000000000000}"/>
          </ac:picMkLst>
        </pc:picChg>
        <pc:picChg chg="add">
          <ac:chgData name="Lai, Wilson" userId="2840974a-0d84-4886-90a9-9a3ed79f3a48" providerId="ADAL" clId="{9F23B798-9E84-4552-BA63-E776E805C424}" dt="2026-08-12T00:12:53.021" v="22" actId="22"/>
          <ac:picMkLst>
            <pc:docMk/>
            <pc:sldMk cId="0" sldId="263"/>
            <ac:picMk id="4" creationId="{DBC39399-62E4-82E4-180C-50450F0034D3}"/>
          </ac:picMkLst>
        </pc:picChg>
      </pc:sldChg>
      <pc:sldChg chg="addSp delSp mod modNotesTx">
        <pc:chgData name="Lai, Wilson" userId="2840974a-0d84-4886-90a9-9a3ed79f3a48" providerId="ADAL" clId="{9F23B798-9E84-4552-BA63-E776E805C424}" dt="2026-08-12T01:58:26.632" v="40" actId="12"/>
        <pc:sldMkLst>
          <pc:docMk/>
          <pc:sldMk cId="0" sldId="264"/>
        </pc:sldMkLst>
        <pc:picChg chg="del">
          <ac:chgData name="Lai, Wilson" userId="2840974a-0d84-4886-90a9-9a3ed79f3a48" providerId="ADAL" clId="{9F23B798-9E84-4552-BA63-E776E805C424}" dt="2026-08-12T00:12:56.439" v="23" actId="21"/>
          <ac:picMkLst>
            <pc:docMk/>
            <pc:sldMk cId="0" sldId="264"/>
            <ac:picMk id="2" creationId="{00000000-0000-0000-0000-000000000000}"/>
          </ac:picMkLst>
        </pc:picChg>
        <pc:picChg chg="add">
          <ac:chgData name="Lai, Wilson" userId="2840974a-0d84-4886-90a9-9a3ed79f3a48" providerId="ADAL" clId="{9F23B798-9E84-4552-BA63-E776E805C424}" dt="2026-08-12T00:13:13.950" v="24" actId="22"/>
          <ac:picMkLst>
            <pc:docMk/>
            <pc:sldMk cId="0" sldId="264"/>
            <ac:picMk id="4" creationId="{C9F7FE67-CEA8-BAEC-0944-11A7965BA296}"/>
          </ac:picMkLst>
        </pc:picChg>
      </pc:sldChg>
      <pc:sldChg chg="addSp delSp mod modNotesTx">
        <pc:chgData name="Lai, Wilson" userId="2840974a-0d84-4886-90a9-9a3ed79f3a48" providerId="ADAL" clId="{9F23B798-9E84-4552-BA63-E776E805C424}" dt="2026-08-12T01:58:39.182" v="41" actId="12"/>
        <pc:sldMkLst>
          <pc:docMk/>
          <pc:sldMk cId="0" sldId="265"/>
        </pc:sldMkLst>
        <pc:picChg chg="del">
          <ac:chgData name="Lai, Wilson" userId="2840974a-0d84-4886-90a9-9a3ed79f3a48" providerId="ADAL" clId="{9F23B798-9E84-4552-BA63-E776E805C424}" dt="2026-08-12T00:13:18.128" v="27" actId="21"/>
          <ac:picMkLst>
            <pc:docMk/>
            <pc:sldMk cId="0" sldId="265"/>
            <ac:picMk id="2" creationId="{00000000-0000-0000-0000-000000000000}"/>
          </ac:picMkLst>
        </pc:picChg>
        <pc:picChg chg="add">
          <ac:chgData name="Lai, Wilson" userId="2840974a-0d84-4886-90a9-9a3ed79f3a48" providerId="ADAL" clId="{9F23B798-9E84-4552-BA63-E776E805C424}" dt="2026-08-12T00:13:25.278" v="28" actId="22"/>
          <ac:picMkLst>
            <pc:docMk/>
            <pc:sldMk cId="0" sldId="265"/>
            <ac:picMk id="4" creationId="{388978EC-D49A-29A3-0425-1C43657C6E4A}"/>
          </ac:picMkLst>
        </pc:picChg>
      </pc:sldChg>
      <pc:sldChg chg="addSp delSp mod ord">
        <pc:chgData name="Lai, Wilson" userId="2840974a-0d84-4886-90a9-9a3ed79f3a48" providerId="ADAL" clId="{9F23B798-9E84-4552-BA63-E776E805C424}" dt="2026-08-12T00:13:37.679" v="30" actId="22"/>
        <pc:sldMkLst>
          <pc:docMk/>
          <pc:sldMk cId="0" sldId="266"/>
        </pc:sldMkLst>
        <pc:picChg chg="del">
          <ac:chgData name="Lai, Wilson" userId="2840974a-0d84-4886-90a9-9a3ed79f3a48" providerId="ADAL" clId="{9F23B798-9E84-4552-BA63-E776E805C424}" dt="2026-08-12T00:13:28.933" v="29" actId="21"/>
          <ac:picMkLst>
            <pc:docMk/>
            <pc:sldMk cId="0" sldId="266"/>
            <ac:picMk id="2" creationId="{00000000-0000-0000-0000-000000000000}"/>
          </ac:picMkLst>
        </pc:picChg>
        <pc:picChg chg="add">
          <ac:chgData name="Lai, Wilson" userId="2840974a-0d84-4886-90a9-9a3ed79f3a48" providerId="ADAL" clId="{9F23B798-9E84-4552-BA63-E776E805C424}" dt="2026-08-12T00:13:37.679" v="30" actId="22"/>
          <ac:picMkLst>
            <pc:docMk/>
            <pc:sldMk cId="0" sldId="266"/>
            <ac:picMk id="4" creationId="{671EFE9E-817D-41D1-6633-58D02E32FA71}"/>
          </ac:picMkLst>
        </pc:picChg>
      </pc:sldChg>
      <pc:sldChg chg="addSp delSp mod modNotesTx">
        <pc:chgData name="Lai, Wilson" userId="2840974a-0d84-4886-90a9-9a3ed79f3a48" providerId="ADAL" clId="{9F23B798-9E84-4552-BA63-E776E805C424}" dt="2026-08-12T02:02:21.523" v="51" actId="22"/>
        <pc:sldMkLst>
          <pc:docMk/>
          <pc:sldMk cId="0" sldId="267"/>
        </pc:sldMkLst>
        <pc:picChg chg="del">
          <ac:chgData name="Lai, Wilson" userId="2840974a-0d84-4886-90a9-9a3ed79f3a48" providerId="ADAL" clId="{9F23B798-9E84-4552-BA63-E776E805C424}" dt="2026-08-12T02:02:12.701" v="50" actId="21"/>
          <ac:picMkLst>
            <pc:docMk/>
            <pc:sldMk cId="0" sldId="267"/>
            <ac:picMk id="2" creationId="{00000000-0000-0000-0000-000000000000}"/>
          </ac:picMkLst>
        </pc:picChg>
        <pc:picChg chg="add">
          <ac:chgData name="Lai, Wilson" userId="2840974a-0d84-4886-90a9-9a3ed79f3a48" providerId="ADAL" clId="{9F23B798-9E84-4552-BA63-E776E805C424}" dt="2026-08-12T02:02:21.523" v="51" actId="22"/>
          <ac:picMkLst>
            <pc:docMk/>
            <pc:sldMk cId="0" sldId="267"/>
            <ac:picMk id="4" creationId="{8BC948CA-8DD4-A410-CF1D-C864E7399E61}"/>
          </ac:picMkLst>
        </pc:picChg>
      </pc:sldChg>
      <pc:sldChg chg="addSp delSp mod modNotesTx">
        <pc:chgData name="Lai, Wilson" userId="2840974a-0d84-4886-90a9-9a3ed79f3a48" providerId="ADAL" clId="{9F23B798-9E84-4552-BA63-E776E805C424}" dt="2026-08-12T01:59:19.487" v="44" actId="12"/>
        <pc:sldMkLst>
          <pc:docMk/>
          <pc:sldMk cId="0" sldId="268"/>
        </pc:sldMkLst>
        <pc:picChg chg="del">
          <ac:chgData name="Lai, Wilson" userId="2840974a-0d84-4886-90a9-9a3ed79f3a48" providerId="ADAL" clId="{9F23B798-9E84-4552-BA63-E776E805C424}" dt="2026-08-12T00:13:39.602" v="31" actId="21"/>
          <ac:picMkLst>
            <pc:docMk/>
            <pc:sldMk cId="0" sldId="268"/>
            <ac:picMk id="2" creationId="{00000000-0000-0000-0000-000000000000}"/>
          </ac:picMkLst>
        </pc:picChg>
        <pc:picChg chg="add">
          <ac:chgData name="Lai, Wilson" userId="2840974a-0d84-4886-90a9-9a3ed79f3a48" providerId="ADAL" clId="{9F23B798-9E84-4552-BA63-E776E805C424}" dt="2026-08-12T00:15:00.189" v="32" actId="22"/>
          <ac:picMkLst>
            <pc:docMk/>
            <pc:sldMk cId="0" sldId="268"/>
            <ac:picMk id="4" creationId="{D9881B9F-53CD-47EC-31B8-56480CD2FB29}"/>
          </ac:picMkLst>
        </pc:picChg>
      </pc:sldChg>
      <pc:sldChg chg="addSp delSp mod modNotesTx">
        <pc:chgData name="Lai, Wilson" userId="2840974a-0d84-4886-90a9-9a3ed79f3a48" providerId="ADAL" clId="{9F23B798-9E84-4552-BA63-E776E805C424}" dt="2026-08-12T01:59:30.556" v="45" actId="12"/>
        <pc:sldMkLst>
          <pc:docMk/>
          <pc:sldMk cId="0" sldId="269"/>
        </pc:sldMkLst>
        <pc:picChg chg="del">
          <ac:chgData name="Lai, Wilson" userId="2840974a-0d84-4886-90a9-9a3ed79f3a48" providerId="ADAL" clId="{9F23B798-9E84-4552-BA63-E776E805C424}" dt="2026-08-12T00:15:05.455" v="33" actId="21"/>
          <ac:picMkLst>
            <pc:docMk/>
            <pc:sldMk cId="0" sldId="269"/>
            <ac:picMk id="2" creationId="{00000000-0000-0000-0000-000000000000}"/>
          </ac:picMkLst>
        </pc:picChg>
        <pc:picChg chg="add">
          <ac:chgData name="Lai, Wilson" userId="2840974a-0d84-4886-90a9-9a3ed79f3a48" providerId="ADAL" clId="{9F23B798-9E84-4552-BA63-E776E805C424}" dt="2026-08-12T00:15:13.417" v="34" actId="22"/>
          <ac:picMkLst>
            <pc:docMk/>
            <pc:sldMk cId="0" sldId="269"/>
            <ac:picMk id="4" creationId="{32B5462A-CE9D-8416-3825-5844936771D5}"/>
          </ac:picMkLst>
        </pc:picChg>
      </pc:sldChg>
      <pc:sldChg chg="addSp delSp mod modNotesTx">
        <pc:chgData name="Lai, Wilson" userId="2840974a-0d84-4886-90a9-9a3ed79f3a48" providerId="ADAL" clId="{9F23B798-9E84-4552-BA63-E776E805C424}" dt="2026-08-12T01:59:50.856" v="46" actId="12"/>
        <pc:sldMkLst>
          <pc:docMk/>
          <pc:sldMk cId="0" sldId="270"/>
        </pc:sldMkLst>
        <pc:picChg chg="del">
          <ac:chgData name="Lai, Wilson" userId="2840974a-0d84-4886-90a9-9a3ed79f3a48" providerId="ADAL" clId="{9F23B798-9E84-4552-BA63-E776E805C424}" dt="2026-08-12T00:15:15.231" v="35" actId="21"/>
          <ac:picMkLst>
            <pc:docMk/>
            <pc:sldMk cId="0" sldId="270"/>
            <ac:picMk id="2" creationId="{00000000-0000-0000-0000-000000000000}"/>
          </ac:picMkLst>
        </pc:picChg>
        <pc:picChg chg="add">
          <ac:chgData name="Lai, Wilson" userId="2840974a-0d84-4886-90a9-9a3ed79f3a48" providerId="ADAL" clId="{9F23B798-9E84-4552-BA63-E776E805C424}" dt="2026-08-12T00:15:30.812" v="36" actId="22"/>
          <ac:picMkLst>
            <pc:docMk/>
            <pc:sldMk cId="0" sldId="270"/>
            <ac:picMk id="4" creationId="{0F4C47F8-2876-204E-4FAC-15AF7201567A}"/>
          </ac:picMkLst>
        </pc:picChg>
      </pc:sldChg>
      <pc:sldChg chg="addSp delSp mod">
        <pc:chgData name="Lai, Wilson" userId="2840974a-0d84-4886-90a9-9a3ed79f3a48" providerId="ADAL" clId="{9F23B798-9E84-4552-BA63-E776E805C424}" dt="2026-08-12T00:15:43.434" v="38" actId="22"/>
        <pc:sldMkLst>
          <pc:docMk/>
          <pc:sldMk cId="0" sldId="271"/>
        </pc:sldMkLst>
        <pc:picChg chg="del">
          <ac:chgData name="Lai, Wilson" userId="2840974a-0d84-4886-90a9-9a3ed79f3a48" providerId="ADAL" clId="{9F23B798-9E84-4552-BA63-E776E805C424}" dt="2026-08-12T00:15:33.802" v="37" actId="21"/>
          <ac:picMkLst>
            <pc:docMk/>
            <pc:sldMk cId="0" sldId="271"/>
            <ac:picMk id="2" creationId="{00000000-0000-0000-0000-000000000000}"/>
          </ac:picMkLst>
        </pc:picChg>
        <pc:picChg chg="add">
          <ac:chgData name="Lai, Wilson" userId="2840974a-0d84-4886-90a9-9a3ed79f3a48" providerId="ADAL" clId="{9F23B798-9E84-4552-BA63-E776E805C424}" dt="2026-08-12T00:15:43.434" v="38" actId="22"/>
          <ac:picMkLst>
            <pc:docMk/>
            <pc:sldMk cId="0" sldId="271"/>
            <ac:picMk id="4" creationId="{3C0D4B75-F8F7-7A4F-6152-D4A1168280E2}"/>
          </ac:picMkLst>
        </pc:picChg>
      </pc:sldChg>
      <pc:sldChg chg="modNotesTx">
        <pc:chgData name="Lai, Wilson" userId="2840974a-0d84-4886-90a9-9a3ed79f3a48" providerId="ADAL" clId="{9F23B798-9E84-4552-BA63-E776E805C424}" dt="2026-08-12T02:00:10.036" v="47" actId="12"/>
        <pc:sldMkLst>
          <pc:docMk/>
          <pc:sldMk cId="4077714671" sldId="27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840E60A-E90D-43D7-8E21-CF448E430A11}" type="datetimeFigureOut">
              <a:rPr lang="en-US" smtClean="0"/>
              <a:t>10/19/2026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674757-FD86-492E-B228-431984F27F7E}" type="slidenum">
              <a:rPr lang="en-US" smtClean="0"/>
              <a:t>‹#›</a:t>
            </a:fld>
            <a:endParaRPr lang="en-US"/>
          </a:p>
        </p:txBody>
      </p:sp>
    </p:spTree>
    <p:extLst>
      <p:ext uri="{BB962C8B-B14F-4D97-AF65-F5344CB8AC3E}">
        <p14:creationId xmlns:p14="http://schemas.microsoft.com/office/powerpoint/2010/main" val="30753644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we’re embarking on a deep dive into cognitive architecture and learning efficiency. Most people view learning as an act of passive consumption—reading a textbook, watching a video, or highlighting notes. However, true mastery isn't about collecting information; it’s about constructing a resilient, interconnected neural web. In this masterclass, we will challenge common misconceptions about how our brains process knowledge and break down the exact cognitive framework needed to learn faster, retain information permanently, and apply complex concepts under real-world pressure.</a:t>
            </a:r>
          </a:p>
        </p:txBody>
      </p:sp>
      <p:sp>
        <p:nvSpPr>
          <p:cNvPr id="4" name="Slide Number Placeholder 3"/>
          <p:cNvSpPr>
            <a:spLocks noGrp="1"/>
          </p:cNvSpPr>
          <p:nvPr>
            <p:ph type="sldNum" sz="quarter" idx="5"/>
          </p:nvPr>
        </p:nvSpPr>
        <p:spPr/>
        <p:txBody>
          <a:bodyPr/>
          <a:lstStyle/>
          <a:p>
            <a:fld id="{FA674757-FD86-492E-B228-431984F27F7E}" type="slidenum">
              <a:rPr lang="en-US" smtClean="0"/>
              <a:t>1</a:t>
            </a:fld>
            <a:endParaRPr lang="en-US"/>
          </a:p>
        </p:txBody>
      </p:sp>
    </p:spTree>
    <p:extLst>
      <p:ext uri="{BB962C8B-B14F-4D97-AF65-F5344CB8AC3E}">
        <p14:creationId xmlns:p14="http://schemas.microsoft.com/office/powerpoint/2010/main" val="4285675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Let’s start by addressing a fundamental psychological trap: </a:t>
            </a:r>
            <a:r>
              <a:rPr lang="en-US" sz="1200" i="1" kern="1200" dirty="0">
                <a:solidFill>
                  <a:schemeClr val="tx1"/>
                </a:solidFill>
                <a:effectLst/>
                <a:latin typeface="+mn-lt"/>
                <a:ea typeface="+mn-ea"/>
                <a:cs typeface="+mn-cs"/>
              </a:rPr>
              <a:t>The Misinterpreted Effort Hypothesis</a:t>
            </a:r>
            <a:r>
              <a:rPr lang="en-US" sz="1200" kern="1200" dirty="0">
                <a:solidFill>
                  <a:schemeClr val="tx1"/>
                </a:solidFill>
                <a:effectLst/>
                <a:latin typeface="+mn-lt"/>
                <a:ea typeface="+mn-ea"/>
                <a:cs typeface="+mn-cs"/>
              </a:rPr>
              <a:t>. When learning feels difficult, our natural instinct is to assume our method is failing. We feel mental friction, confusion, or exhaustion, and so we retreat to 'easy' passive activities like re-reading or highlighting. </a:t>
            </a:r>
          </a:p>
          <a:p>
            <a:r>
              <a:rPr lang="en-US" sz="1200" kern="1200" dirty="0">
                <a:solidFill>
                  <a:schemeClr val="tx1"/>
                </a:solidFill>
                <a:effectLst/>
                <a:latin typeface="+mn-lt"/>
                <a:ea typeface="+mn-ea"/>
                <a:cs typeface="+mn-cs"/>
              </a:rPr>
              <a:t>Here is the critical paradigm shift: </a:t>
            </a:r>
            <a:r>
              <a:rPr lang="en-US" sz="1200" b="1" kern="1200" dirty="0">
                <a:solidFill>
                  <a:schemeClr val="tx1"/>
                </a:solidFill>
                <a:effectLst/>
                <a:latin typeface="+mn-lt"/>
                <a:ea typeface="+mn-ea"/>
                <a:cs typeface="+mn-cs"/>
              </a:rPr>
              <a:t>Friction is not failure; friction is neuroplasticity</a:t>
            </a:r>
            <a:r>
              <a:rPr lang="en-US" sz="1200" kern="1200" dirty="0">
                <a:solidFill>
                  <a:schemeClr val="tx1"/>
                </a:solidFill>
                <a:effectLst/>
                <a:latin typeface="+mn-lt"/>
                <a:ea typeface="+mn-ea"/>
                <a:cs typeface="+mn-cs"/>
              </a:rPr>
              <a:t>. The discomfort you feel during challenging learning is literally your brain rewiring its neural pathways. Easy learning creates an 'Illusion of Competence'—it feels fluent in the moment, but leads to rapid forgetting. True retention requires deliberate mental exertion to build long-lasting neural schemas.</a:t>
            </a:r>
          </a:p>
          <a:p>
            <a:endParaRPr lang="en-US" dirty="0"/>
          </a:p>
        </p:txBody>
      </p:sp>
      <p:sp>
        <p:nvSpPr>
          <p:cNvPr id="4" name="Slide Number Placeholder 3"/>
          <p:cNvSpPr>
            <a:spLocks noGrp="1"/>
          </p:cNvSpPr>
          <p:nvPr>
            <p:ph type="sldNum" sz="quarter" idx="5"/>
          </p:nvPr>
        </p:nvSpPr>
        <p:spPr/>
        <p:txBody>
          <a:bodyPr/>
          <a:lstStyle/>
          <a:p>
            <a:fld id="{FA674757-FD86-492E-B228-431984F27F7E}" type="slidenum">
              <a:rPr lang="en-US" smtClean="0"/>
              <a:t>2</a:t>
            </a:fld>
            <a:endParaRPr lang="en-US"/>
          </a:p>
        </p:txBody>
      </p:sp>
    </p:spTree>
    <p:extLst>
      <p:ext uri="{BB962C8B-B14F-4D97-AF65-F5344CB8AC3E}">
        <p14:creationId xmlns:p14="http://schemas.microsoft.com/office/powerpoint/2010/main" val="16341266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master cognitive architecture, we must shatter three pervasive myths: </a:t>
            </a:r>
          </a:p>
          <a:p>
            <a:pPr marL="228600" indent="-228600">
              <a:buFont typeface="+mj-lt"/>
              <a:buAutoNum type="arabicPeriod"/>
            </a:pPr>
            <a:r>
              <a:rPr lang="en-US" sz="1200" b="1" kern="1200" dirty="0">
                <a:solidFill>
                  <a:schemeClr val="tx1"/>
                </a:solidFill>
                <a:effectLst/>
                <a:latin typeface="+mn-lt"/>
                <a:ea typeface="+mn-ea"/>
                <a:cs typeface="+mn-cs"/>
              </a:rPr>
              <a:t>Genetics:</a:t>
            </a:r>
            <a:r>
              <a:rPr lang="en-US" sz="1200" kern="1200" dirty="0">
                <a:solidFill>
                  <a:schemeClr val="tx1"/>
                </a:solidFill>
                <a:effectLst/>
                <a:latin typeface="+mn-lt"/>
                <a:ea typeface="+mn-ea"/>
                <a:cs typeface="+mn-cs"/>
              </a:rPr>
              <a:t> The myth claims high efficiency is limited to fixed IQ or photographic memory. The science shows learning is a process, not a genetic sentence. With optimized encoding systems, anyone can increase learning efficiency by over 60%. </a:t>
            </a:r>
          </a:p>
          <a:p>
            <a:pPr marL="228600" indent="-228600">
              <a:buFont typeface="+mj-lt"/>
              <a:buAutoNum type="arabicPeriod"/>
            </a:pPr>
            <a:r>
              <a:rPr lang="en-US" sz="1200" b="1" kern="1200" dirty="0">
                <a:solidFill>
                  <a:schemeClr val="tx1"/>
                </a:solidFill>
                <a:effectLst/>
                <a:latin typeface="+mn-lt"/>
                <a:ea typeface="+mn-ea"/>
                <a:cs typeface="+mn-cs"/>
              </a:rPr>
              <a:t>Learning Styles:</a:t>
            </a:r>
            <a:r>
              <a:rPr lang="en-US" sz="1200" kern="1200" dirty="0">
                <a:solidFill>
                  <a:schemeClr val="tx1"/>
                </a:solidFill>
                <a:effectLst/>
                <a:latin typeface="+mn-lt"/>
                <a:ea typeface="+mn-ea"/>
                <a:cs typeface="+mn-cs"/>
              </a:rPr>
              <a:t> Many believe they are strictly visual, auditory, or kinesthetic learners. Cognitive neuroscience has thoroughly debunked this; learning styles are merely habits. Multi-modal, integrated learning is universally superior for every brain. </a:t>
            </a:r>
          </a:p>
          <a:p>
            <a:pPr marL="228600" indent="-228600">
              <a:buFont typeface="+mj-lt"/>
              <a:buAutoNum type="arabicPeriod"/>
            </a:pPr>
            <a:r>
              <a:rPr lang="en-US" sz="1200" b="1" kern="1200" dirty="0">
                <a:solidFill>
                  <a:schemeClr val="tx1"/>
                </a:solidFill>
                <a:effectLst/>
                <a:latin typeface="+mn-lt"/>
                <a:ea typeface="+mn-ea"/>
                <a:cs typeface="+mn-cs"/>
              </a:rPr>
              <a:t>Time:</a:t>
            </a:r>
            <a:r>
              <a:rPr lang="en-US" sz="1200" kern="1200" dirty="0">
                <a:solidFill>
                  <a:schemeClr val="tx1"/>
                </a:solidFill>
                <a:effectLst/>
                <a:latin typeface="+mn-lt"/>
                <a:ea typeface="+mn-ea"/>
                <a:cs typeface="+mn-cs"/>
              </a:rPr>
              <a:t> People think mastery requires thousands of hours of grueling, repetitive study. In reality, a lack of time is usually a symptom of 'Learning Debt'—the endless hours wasted re-learning information that was poorly encoded in the first place.</a:t>
            </a:r>
          </a:p>
          <a:p>
            <a:endParaRPr lang="en-US" dirty="0"/>
          </a:p>
        </p:txBody>
      </p:sp>
      <p:sp>
        <p:nvSpPr>
          <p:cNvPr id="4" name="Slide Number Placeholder 3"/>
          <p:cNvSpPr>
            <a:spLocks noGrp="1"/>
          </p:cNvSpPr>
          <p:nvPr>
            <p:ph type="sldNum" sz="quarter" idx="5"/>
          </p:nvPr>
        </p:nvSpPr>
        <p:spPr/>
        <p:txBody>
          <a:bodyPr/>
          <a:lstStyle/>
          <a:p>
            <a:fld id="{FA674757-FD86-492E-B228-431984F27F7E}" type="slidenum">
              <a:rPr lang="en-US" smtClean="0"/>
              <a:t>3</a:t>
            </a:fld>
            <a:endParaRPr lang="en-US"/>
          </a:p>
        </p:txBody>
      </p:sp>
    </p:spTree>
    <p:extLst>
      <p:ext uri="{BB962C8B-B14F-4D97-AF65-F5344CB8AC3E}">
        <p14:creationId xmlns:p14="http://schemas.microsoft.com/office/powerpoint/2010/main" val="14381475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Now, let's contrast two fundamentally different approaches to learning: </a:t>
            </a:r>
            <a:r>
              <a:rPr lang="en-US" sz="1200" i="1" kern="1200" dirty="0">
                <a:solidFill>
                  <a:schemeClr val="tx1"/>
                </a:solidFill>
                <a:effectLst/>
                <a:latin typeface="+mn-lt"/>
                <a:ea typeface="+mn-ea"/>
                <a:cs typeface="+mn-cs"/>
              </a:rPr>
              <a:t>Isolated</a:t>
            </a:r>
            <a:r>
              <a:rPr lang="en-US" sz="1200" kern="1200" dirty="0">
                <a:solidFill>
                  <a:schemeClr val="tx1"/>
                </a:solidFill>
                <a:effectLst/>
                <a:latin typeface="+mn-lt"/>
                <a:ea typeface="+mn-ea"/>
                <a:cs typeface="+mn-cs"/>
              </a:rPr>
              <a:t> versus </a:t>
            </a:r>
            <a:r>
              <a:rPr lang="en-US" sz="1200" i="1" kern="1200" dirty="0">
                <a:solidFill>
                  <a:schemeClr val="tx1"/>
                </a:solidFill>
                <a:effectLst/>
                <a:latin typeface="+mn-lt"/>
                <a:ea typeface="+mn-ea"/>
                <a:cs typeface="+mn-cs"/>
              </a:rPr>
              <a:t>Integrated</a:t>
            </a:r>
            <a:r>
              <a:rPr lang="en-US" sz="1200" kern="1200" dirty="0">
                <a:solidFill>
                  <a:schemeClr val="tx1"/>
                </a:solidFill>
                <a:effectLst/>
                <a:latin typeface="+mn-lt"/>
                <a:ea typeface="+mn-ea"/>
                <a:cs typeface="+mn-cs"/>
              </a:rPr>
              <a:t>. </a:t>
            </a:r>
          </a:p>
          <a:p>
            <a:r>
              <a:rPr lang="en-US" sz="1200" b="1" kern="1200" dirty="0">
                <a:solidFill>
                  <a:schemeClr val="tx1"/>
                </a:solidFill>
                <a:effectLst/>
                <a:latin typeface="+mn-lt"/>
                <a:ea typeface="+mn-ea"/>
                <a:cs typeface="+mn-cs"/>
              </a:rPr>
              <a:t>Isolated Learning</a:t>
            </a:r>
            <a:r>
              <a:rPr lang="en-US" sz="1200" kern="1200" dirty="0">
                <a:solidFill>
                  <a:schemeClr val="tx1"/>
                </a:solidFill>
                <a:effectLst/>
                <a:latin typeface="+mn-lt"/>
                <a:ea typeface="+mn-ea"/>
                <a:cs typeface="+mn-cs"/>
              </a:rPr>
              <a:t> relies on rote memorization, creating fragile lists and flashcards. Because these facts sit in isolated silos, they suffer from rapid decay, requiring endless repetition just to maintain basic regurgitation. </a:t>
            </a:r>
          </a:p>
          <a:p>
            <a:r>
              <a:rPr lang="en-US" sz="1200" b="1" kern="1200" dirty="0">
                <a:solidFill>
                  <a:schemeClr val="tx1"/>
                </a:solidFill>
                <a:effectLst/>
                <a:latin typeface="+mn-lt"/>
                <a:ea typeface="+mn-ea"/>
                <a:cs typeface="+mn-cs"/>
              </a:rPr>
              <a:t>Integrated Learning</a:t>
            </a:r>
            <a:r>
              <a:rPr lang="en-US" sz="1200" kern="1200" dirty="0">
                <a:solidFill>
                  <a:schemeClr val="tx1"/>
                </a:solidFill>
                <a:effectLst/>
                <a:latin typeface="+mn-lt"/>
                <a:ea typeface="+mn-ea"/>
                <a:cs typeface="+mn-cs"/>
              </a:rPr>
              <a:t>, on the other hand, actively compares, contrasts, and identifies underlying patterns. Instead of separate facts, it constructs interconnected neural schemas. Knowledge becomes sticky, long-lasting, and easily transferable to complex problem-solving and real-world execution.</a:t>
            </a:r>
          </a:p>
          <a:p>
            <a:endParaRPr lang="en-US" dirty="0"/>
          </a:p>
        </p:txBody>
      </p:sp>
      <p:sp>
        <p:nvSpPr>
          <p:cNvPr id="4" name="Slide Number Placeholder 3"/>
          <p:cNvSpPr>
            <a:spLocks noGrp="1"/>
          </p:cNvSpPr>
          <p:nvPr>
            <p:ph type="sldNum" sz="quarter" idx="5"/>
          </p:nvPr>
        </p:nvSpPr>
        <p:spPr/>
        <p:txBody>
          <a:bodyPr/>
          <a:lstStyle/>
          <a:p>
            <a:fld id="{FA674757-FD86-492E-B228-431984F27F7E}" type="slidenum">
              <a:rPr lang="en-US" smtClean="0"/>
              <a:t>4</a:t>
            </a:fld>
            <a:endParaRPr lang="en-US"/>
          </a:p>
        </p:txBody>
      </p:sp>
    </p:spTree>
    <p:extLst>
      <p:ext uri="{BB962C8B-B14F-4D97-AF65-F5344CB8AC3E}">
        <p14:creationId xmlns:p14="http://schemas.microsoft.com/office/powerpoint/2010/main" val="22783808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We are all familiar with Ebbinghaus’s Forgetting Curve—the rapid loss of memory over time. Why does this happen? Because the brain aggressively prunes data it deems irrelevant to conserve cognitive energy. </a:t>
            </a:r>
          </a:p>
          <a:p>
            <a:r>
              <a:rPr lang="en-US" sz="1200" kern="1200" dirty="0">
                <a:solidFill>
                  <a:schemeClr val="tx1"/>
                </a:solidFill>
                <a:effectLst/>
                <a:latin typeface="+mn-lt"/>
                <a:ea typeface="+mn-ea"/>
                <a:cs typeface="+mn-cs"/>
              </a:rPr>
              <a:t>But here is the exploit: </a:t>
            </a:r>
            <a:r>
              <a:rPr lang="en-US" sz="1200" b="1" kern="1200" dirty="0">
                <a:solidFill>
                  <a:schemeClr val="tx1"/>
                </a:solidFill>
                <a:effectLst/>
                <a:latin typeface="+mn-lt"/>
                <a:ea typeface="+mn-ea"/>
                <a:cs typeface="+mn-cs"/>
              </a:rPr>
              <a:t>Deep processing tricks the brain</a:t>
            </a:r>
            <a:r>
              <a:rPr lang="en-US" sz="1200" kern="1200" dirty="0">
                <a:solidFill>
                  <a:schemeClr val="tx1"/>
                </a:solidFill>
                <a:effectLst/>
                <a:latin typeface="+mn-lt"/>
                <a:ea typeface="+mn-ea"/>
                <a:cs typeface="+mn-cs"/>
              </a:rPr>
              <a:t>. By anchoring new information into an existing knowledge schema during initial exposure, the brain categorizes that information as vital context rather than disposable noise. High-quality initial encoding drastically flattens the forgetting curve, reducing the sheer volume of spaced repetition needed later.</a:t>
            </a:r>
          </a:p>
          <a:p>
            <a:endParaRPr lang="en-US" dirty="0"/>
          </a:p>
        </p:txBody>
      </p:sp>
      <p:sp>
        <p:nvSpPr>
          <p:cNvPr id="4" name="Slide Number Placeholder 3"/>
          <p:cNvSpPr>
            <a:spLocks noGrp="1"/>
          </p:cNvSpPr>
          <p:nvPr>
            <p:ph type="sldNum" sz="quarter" idx="5"/>
          </p:nvPr>
        </p:nvSpPr>
        <p:spPr/>
        <p:txBody>
          <a:bodyPr/>
          <a:lstStyle/>
          <a:p>
            <a:fld id="{FA674757-FD86-492E-B228-431984F27F7E}" type="slidenum">
              <a:rPr lang="en-US" smtClean="0"/>
              <a:t>5</a:t>
            </a:fld>
            <a:endParaRPr lang="en-US"/>
          </a:p>
        </p:txBody>
      </p:sp>
    </p:spTree>
    <p:extLst>
      <p:ext uri="{BB962C8B-B14F-4D97-AF65-F5344CB8AC3E}">
        <p14:creationId xmlns:p14="http://schemas.microsoft.com/office/powerpoint/2010/main" val="30409575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Every learning system rests on two primary pillars: </a:t>
            </a:r>
          </a:p>
          <a:p>
            <a:r>
              <a:rPr lang="en-US" sz="1200" kern="1200" dirty="0">
                <a:solidFill>
                  <a:schemeClr val="tx1"/>
                </a:solidFill>
                <a:effectLst/>
                <a:latin typeface="+mn-lt"/>
                <a:ea typeface="+mn-ea"/>
                <a:cs typeface="+mn-cs"/>
              </a:rPr>
              <a:t>Pillar 1 is Encoding (Input). This is how you take raw information, filter it, and weave it into your mental schema. Encoding dictates the quality and longevity of memory. If encoding fails, you enter 'Learning Debt'. </a:t>
            </a:r>
          </a:p>
          <a:p>
            <a:r>
              <a:rPr lang="en-US" sz="1200" kern="1200" dirty="0">
                <a:solidFill>
                  <a:schemeClr val="tx1"/>
                </a:solidFill>
                <a:effectLst/>
                <a:latin typeface="+mn-lt"/>
                <a:ea typeface="+mn-ea"/>
                <a:cs typeface="+mn-cs"/>
              </a:rPr>
              <a:t>Pillar 2 is Retrieval (Output). This is pulling stored information out of memory to apply it. Retrieval tests fluency and exposes hidden blind spots. If retrieval fails, you suffer from false confidence—knowing a concept in theory but freezing under pressure.</a:t>
            </a:r>
          </a:p>
          <a:p>
            <a:endParaRPr lang="en-US" dirty="0"/>
          </a:p>
        </p:txBody>
      </p:sp>
      <p:sp>
        <p:nvSpPr>
          <p:cNvPr id="4" name="Slide Number Placeholder 3"/>
          <p:cNvSpPr>
            <a:spLocks noGrp="1"/>
          </p:cNvSpPr>
          <p:nvPr>
            <p:ph type="sldNum" sz="quarter" idx="5"/>
          </p:nvPr>
        </p:nvSpPr>
        <p:spPr/>
        <p:txBody>
          <a:bodyPr/>
          <a:lstStyle/>
          <a:p>
            <a:fld id="{FA674757-FD86-492E-B228-431984F27F7E}" type="slidenum">
              <a:rPr lang="en-US" smtClean="0"/>
              <a:t>6</a:t>
            </a:fld>
            <a:endParaRPr lang="en-US"/>
          </a:p>
        </p:txBody>
      </p:sp>
    </p:spTree>
    <p:extLst>
      <p:ext uri="{BB962C8B-B14F-4D97-AF65-F5344CB8AC3E}">
        <p14:creationId xmlns:p14="http://schemas.microsoft.com/office/powerpoint/2010/main" val="14151815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Not all retrieval is created equal. Many fall into the 'Retrieval Trap' by substituting </a:t>
            </a:r>
            <a:r>
              <a:rPr lang="en-US" sz="1200" b="1" kern="1200" dirty="0">
                <a:solidFill>
                  <a:schemeClr val="tx1"/>
                </a:solidFill>
                <a:effectLst/>
                <a:latin typeface="+mn-lt"/>
                <a:ea typeface="+mn-ea"/>
                <a:cs typeface="+mn-cs"/>
              </a:rPr>
              <a:t>Passive Review</a:t>
            </a:r>
            <a:r>
              <a:rPr lang="en-US" sz="1200" kern="1200" dirty="0">
                <a:solidFill>
                  <a:schemeClr val="tx1"/>
                </a:solidFill>
                <a:effectLst/>
                <a:latin typeface="+mn-lt"/>
                <a:ea typeface="+mn-ea"/>
                <a:cs typeface="+mn-cs"/>
              </a:rPr>
              <a:t> (rereading notes, scanning flashcards) for </a:t>
            </a:r>
            <a:r>
              <a:rPr lang="en-US" sz="1200" b="1" kern="1200" dirty="0">
                <a:solidFill>
                  <a:schemeClr val="tx1"/>
                </a:solidFill>
                <a:effectLst/>
                <a:latin typeface="+mn-lt"/>
                <a:ea typeface="+mn-ea"/>
                <a:cs typeface="+mn-cs"/>
              </a:rPr>
              <a:t>Active Retrieval</a:t>
            </a:r>
            <a:r>
              <a:rPr lang="en-US" sz="1200" kern="1200" dirty="0">
                <a:solidFill>
                  <a:schemeClr val="tx1"/>
                </a:solidFill>
                <a:effectLst/>
                <a:latin typeface="+mn-lt"/>
                <a:ea typeface="+mn-ea"/>
                <a:cs typeface="+mn-cs"/>
              </a:rPr>
              <a:t> (free recall, teaching from a blank slate). </a:t>
            </a:r>
          </a:p>
          <a:p>
            <a:r>
              <a:rPr lang="en-US" sz="1200" kern="1200" dirty="0">
                <a:solidFill>
                  <a:schemeClr val="tx1"/>
                </a:solidFill>
                <a:effectLst/>
                <a:latin typeface="+mn-lt"/>
                <a:ea typeface="+mn-ea"/>
                <a:cs typeface="+mn-cs"/>
              </a:rPr>
              <a:t>Passive review feels low-effort and comfortable, giving you a dangerously high illusion of competence: </a:t>
            </a:r>
            <a:r>
              <a:rPr lang="en-US" sz="1200" i="1" kern="1200" dirty="0">
                <a:solidFill>
                  <a:schemeClr val="tx1"/>
                </a:solidFill>
                <a:effectLst/>
                <a:latin typeface="+mn-lt"/>
                <a:ea typeface="+mn-ea"/>
                <a:cs typeface="+mn-cs"/>
              </a:rPr>
              <a:t>'I recognize this, so I must know it.'</a:t>
            </a:r>
            <a:r>
              <a:rPr lang="en-US" sz="1200" kern="1200" dirty="0">
                <a:solidFill>
                  <a:schemeClr val="tx1"/>
                </a:solidFill>
                <a:effectLst/>
                <a:latin typeface="+mn-lt"/>
                <a:ea typeface="+mn-ea"/>
                <a:cs typeface="+mn-cs"/>
              </a:rPr>
              <a:t> But </a:t>
            </a:r>
            <a:r>
              <a:rPr lang="en-US" sz="1200" b="1" kern="1200" dirty="0">
                <a:solidFill>
                  <a:schemeClr val="tx1"/>
                </a:solidFill>
                <a:effectLst/>
                <a:latin typeface="+mn-lt"/>
                <a:ea typeface="+mn-ea"/>
                <a:cs typeface="+mn-cs"/>
              </a:rPr>
              <a:t>recognition is NOT recall</a:t>
            </a:r>
            <a:r>
              <a:rPr lang="en-US" sz="1200" kern="1200" dirty="0">
                <a:solidFill>
                  <a:schemeClr val="tx1"/>
                </a:solidFill>
                <a:effectLst/>
                <a:latin typeface="+mn-lt"/>
                <a:ea typeface="+mn-ea"/>
                <a:cs typeface="+mn-cs"/>
              </a:rPr>
              <a:t>. Active retrieval feels taxing and frustrating, but it forces neuroplastic reconsolidation, ensuring maximum long-term retention.</a:t>
            </a:r>
          </a:p>
          <a:p>
            <a:endParaRPr lang="en-US" dirty="0"/>
          </a:p>
        </p:txBody>
      </p:sp>
      <p:sp>
        <p:nvSpPr>
          <p:cNvPr id="4" name="Slide Number Placeholder 3"/>
          <p:cNvSpPr>
            <a:spLocks noGrp="1"/>
          </p:cNvSpPr>
          <p:nvPr>
            <p:ph type="sldNum" sz="quarter" idx="5"/>
          </p:nvPr>
        </p:nvSpPr>
        <p:spPr/>
        <p:txBody>
          <a:bodyPr/>
          <a:lstStyle/>
          <a:p>
            <a:fld id="{FA674757-FD86-492E-B228-431984F27F7E}" type="slidenum">
              <a:rPr lang="en-US" smtClean="0"/>
              <a:t>7</a:t>
            </a:fld>
            <a:endParaRPr lang="en-US"/>
          </a:p>
        </p:txBody>
      </p:sp>
    </p:spTree>
    <p:extLst>
      <p:ext uri="{BB962C8B-B14F-4D97-AF65-F5344CB8AC3E}">
        <p14:creationId xmlns:p14="http://schemas.microsoft.com/office/powerpoint/2010/main" val="679147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Where do you fit in the Learning Efficiency Matrix?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Low Encoding + Low Retrieval:</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The Passive Reader.</a:t>
            </a:r>
            <a:r>
              <a:rPr lang="en-US" sz="1200" kern="1200" dirty="0">
                <a:solidFill>
                  <a:schemeClr val="tx1"/>
                </a:solidFill>
                <a:effectLst/>
                <a:latin typeface="+mn-lt"/>
                <a:ea typeface="+mn-ea"/>
                <a:cs typeface="+mn-cs"/>
              </a:rPr>
              <a:t> Fails exams and cannot apply concepts.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High Encoding + Low Retrieval:</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The Fragile Genius.</a:t>
            </a:r>
            <a:r>
              <a:rPr lang="en-US" sz="1200" kern="1200" dirty="0">
                <a:solidFill>
                  <a:schemeClr val="tx1"/>
                </a:solidFill>
                <a:effectLst/>
                <a:latin typeface="+mn-lt"/>
                <a:ea typeface="+mn-ea"/>
                <a:cs typeface="+mn-cs"/>
              </a:rPr>
              <a:t> Has deep conceptual understanding, but lacks speed and execution under pressure.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Low Encoding + High Retrieval:</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The Learning Debt Trap.</a:t>
            </a:r>
            <a:r>
              <a:rPr lang="en-US" sz="1200" kern="1200" dirty="0">
                <a:solidFill>
                  <a:schemeClr val="tx1"/>
                </a:solidFill>
                <a:effectLst/>
                <a:latin typeface="+mn-lt"/>
                <a:ea typeface="+mn-ea"/>
                <a:cs typeface="+mn-cs"/>
              </a:rPr>
              <a:t> This is the person doing 500 flashcards a day, pushing a boulder uphill through brute-force repetition.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High Encoding + High Retrieval:</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The Top 1% Learner.</a:t>
            </a:r>
            <a:r>
              <a:rPr lang="en-US" sz="1200" kern="1200" dirty="0">
                <a:solidFill>
                  <a:schemeClr val="tx1"/>
                </a:solidFill>
                <a:effectLst/>
                <a:latin typeface="+mn-lt"/>
                <a:ea typeface="+mn-ea"/>
                <a:cs typeface="+mn-cs"/>
              </a:rPr>
              <a:t> Deeply integrated mastery, near-permanent retention, and massive amounts of free time saved. </a:t>
            </a:r>
          </a:p>
          <a:p>
            <a:r>
              <a:rPr lang="en-US" sz="1200" kern="1200" dirty="0">
                <a:solidFill>
                  <a:schemeClr val="tx1"/>
                </a:solidFill>
                <a:effectLst/>
                <a:latin typeface="+mn-lt"/>
                <a:ea typeface="+mn-ea"/>
                <a:cs typeface="+mn-cs"/>
              </a:rPr>
              <a:t>The core lesson here: </a:t>
            </a:r>
            <a:r>
              <a:rPr lang="en-US" sz="1200" b="1" kern="1200" dirty="0">
                <a:solidFill>
                  <a:schemeClr val="tx1"/>
                </a:solidFill>
                <a:effectLst/>
                <a:latin typeface="+mn-lt"/>
                <a:ea typeface="+mn-ea"/>
                <a:cs typeface="+mn-cs"/>
              </a:rPr>
              <a:t>Stop trying to outwork a bad encoding strategy with endless retrieval.</a:t>
            </a: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FA674757-FD86-492E-B228-431984F27F7E}" type="slidenum">
              <a:rPr lang="en-US" smtClean="0"/>
              <a:t>8</a:t>
            </a:fld>
            <a:endParaRPr lang="en-US"/>
          </a:p>
        </p:txBody>
      </p:sp>
    </p:spTree>
    <p:extLst>
      <p:ext uri="{BB962C8B-B14F-4D97-AF65-F5344CB8AC3E}">
        <p14:creationId xmlns:p14="http://schemas.microsoft.com/office/powerpoint/2010/main" val="10837009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achieve top 1% learning, we implement the </a:t>
            </a:r>
            <a:r>
              <a:rPr lang="en-US" sz="1200" b="1" kern="1200" dirty="0">
                <a:solidFill>
                  <a:schemeClr val="tx1"/>
                </a:solidFill>
                <a:effectLst/>
                <a:latin typeface="+mn-lt"/>
                <a:ea typeface="+mn-ea"/>
                <a:cs typeface="+mn-cs"/>
              </a:rPr>
              <a:t>PERO System</a:t>
            </a:r>
            <a:r>
              <a:rPr lang="en-US" sz="1200" kern="1200" dirty="0">
                <a:solidFill>
                  <a:schemeClr val="tx1"/>
                </a:solidFill>
                <a:effectLst/>
                <a:latin typeface="+mn-lt"/>
                <a:ea typeface="+mn-ea"/>
                <a:cs typeface="+mn-cs"/>
              </a:rPr>
              <a:t>—a closed-loop cognitive process: </a:t>
            </a:r>
          </a:p>
          <a:p>
            <a:pPr marL="228600" indent="-228600">
              <a:buFont typeface="+mj-lt"/>
              <a:buAutoNum type="arabicPeriod"/>
            </a:pPr>
            <a:r>
              <a:rPr lang="en-US" sz="1200" b="1" kern="1200" dirty="0">
                <a:solidFill>
                  <a:schemeClr val="tx1"/>
                </a:solidFill>
                <a:effectLst/>
                <a:latin typeface="+mn-lt"/>
                <a:ea typeface="+mn-ea"/>
                <a:cs typeface="+mn-cs"/>
              </a:rPr>
              <a:t>Priming [P]:</a:t>
            </a:r>
            <a:r>
              <a:rPr lang="en-US" sz="1200" kern="1200" dirty="0">
                <a:solidFill>
                  <a:schemeClr val="tx1"/>
                </a:solidFill>
                <a:effectLst/>
                <a:latin typeface="+mn-lt"/>
                <a:ea typeface="+mn-ea"/>
                <a:cs typeface="+mn-cs"/>
              </a:rPr>
              <a:t> Preparing the brain's filters for relevance. </a:t>
            </a:r>
          </a:p>
          <a:p>
            <a:pPr marL="228600" indent="-228600">
              <a:buFont typeface="+mj-lt"/>
              <a:buAutoNum type="arabicPeriod"/>
            </a:pPr>
            <a:r>
              <a:rPr lang="en-US" sz="1200" b="1" kern="1200" dirty="0">
                <a:solidFill>
                  <a:schemeClr val="tx1"/>
                </a:solidFill>
                <a:effectLst/>
                <a:latin typeface="+mn-lt"/>
                <a:ea typeface="+mn-ea"/>
                <a:cs typeface="+mn-cs"/>
              </a:rPr>
              <a:t>Encoding [E]:</a:t>
            </a:r>
            <a:r>
              <a:rPr lang="en-US" sz="1200" kern="1200" dirty="0">
                <a:solidFill>
                  <a:schemeClr val="tx1"/>
                </a:solidFill>
                <a:effectLst/>
                <a:latin typeface="+mn-lt"/>
                <a:ea typeface="+mn-ea"/>
                <a:cs typeface="+mn-cs"/>
              </a:rPr>
              <a:t> The engine where deep processing, chunking, and conceptual connections happen. </a:t>
            </a:r>
          </a:p>
          <a:p>
            <a:pPr marL="228600" indent="-228600">
              <a:buFont typeface="+mj-lt"/>
              <a:buAutoNum type="arabicPeriod"/>
            </a:pPr>
            <a:r>
              <a:rPr lang="en-US" sz="1200" b="1" kern="1200" dirty="0">
                <a:solidFill>
                  <a:schemeClr val="tx1"/>
                </a:solidFill>
                <a:effectLst/>
                <a:latin typeface="+mn-lt"/>
                <a:ea typeface="+mn-ea"/>
                <a:cs typeface="+mn-cs"/>
              </a:rPr>
              <a:t>Reference [R]:</a:t>
            </a:r>
            <a:r>
              <a:rPr lang="en-US" sz="1200" kern="1200" dirty="0">
                <a:solidFill>
                  <a:schemeClr val="tx1"/>
                </a:solidFill>
                <a:effectLst/>
                <a:latin typeface="+mn-lt"/>
                <a:ea typeface="+mn-ea"/>
                <a:cs typeface="+mn-cs"/>
              </a:rPr>
              <a:t> Offloading trivial details into a 'parking lot' so cognitive energy isn't wasted. </a:t>
            </a:r>
          </a:p>
          <a:p>
            <a:pPr marL="228600" indent="-228600">
              <a:buFont typeface="+mj-lt"/>
              <a:buAutoNum type="arabicPeriod"/>
            </a:pPr>
            <a:r>
              <a:rPr lang="en-US" sz="1200" b="1" kern="1200" dirty="0">
                <a:solidFill>
                  <a:schemeClr val="tx1"/>
                </a:solidFill>
                <a:effectLst/>
                <a:latin typeface="+mn-lt"/>
                <a:ea typeface="+mn-ea"/>
                <a:cs typeface="+mn-cs"/>
              </a:rPr>
              <a:t>Retrieval [R]:</a:t>
            </a:r>
            <a:r>
              <a:rPr lang="en-US" sz="1200" kern="1200" dirty="0">
                <a:solidFill>
                  <a:schemeClr val="tx1"/>
                </a:solidFill>
                <a:effectLst/>
                <a:latin typeface="+mn-lt"/>
                <a:ea typeface="+mn-ea"/>
                <a:cs typeface="+mn-cs"/>
              </a:rPr>
              <a:t> Output testing to reveal gaps and solidify memory. </a:t>
            </a:r>
          </a:p>
          <a:p>
            <a:pPr marL="228600" indent="-228600">
              <a:buFont typeface="+mj-lt"/>
              <a:buAutoNum type="arabicPeriod"/>
            </a:pPr>
            <a:r>
              <a:rPr lang="en-US" sz="1200" b="1" kern="1200" dirty="0">
                <a:solidFill>
                  <a:schemeClr val="tx1"/>
                </a:solidFill>
                <a:effectLst/>
                <a:latin typeface="+mn-lt"/>
                <a:ea typeface="+mn-ea"/>
                <a:cs typeface="+mn-cs"/>
              </a:rPr>
              <a:t>Overlearning [O]:</a:t>
            </a:r>
            <a:r>
              <a:rPr lang="en-US" sz="1200" kern="1200" dirty="0">
                <a:solidFill>
                  <a:schemeClr val="tx1"/>
                </a:solidFill>
                <a:effectLst/>
                <a:latin typeface="+mn-lt"/>
                <a:ea typeface="+mn-ea"/>
                <a:cs typeface="+mn-cs"/>
              </a:rPr>
              <a:t> Optional repetitive fluency for ultra-high-stakes execution. </a:t>
            </a:r>
          </a:p>
          <a:p>
            <a:r>
              <a:rPr lang="en-US" sz="1200" kern="1200" dirty="0">
                <a:solidFill>
                  <a:schemeClr val="tx1"/>
                </a:solidFill>
                <a:effectLst/>
                <a:latin typeface="+mn-lt"/>
                <a:ea typeface="+mn-ea"/>
                <a:cs typeface="+mn-cs"/>
              </a:rPr>
              <a:t>Learning is not a one-off event; it is a sequential chain. A breakdown at any single stage cascades into learning debt.</a:t>
            </a:r>
          </a:p>
          <a:p>
            <a:endParaRPr lang="en-US" dirty="0"/>
          </a:p>
        </p:txBody>
      </p:sp>
      <p:sp>
        <p:nvSpPr>
          <p:cNvPr id="4" name="Slide Number Placeholder 3"/>
          <p:cNvSpPr>
            <a:spLocks noGrp="1"/>
          </p:cNvSpPr>
          <p:nvPr>
            <p:ph type="sldNum" sz="quarter" idx="5"/>
          </p:nvPr>
        </p:nvSpPr>
        <p:spPr/>
        <p:txBody>
          <a:bodyPr/>
          <a:lstStyle/>
          <a:p>
            <a:fld id="{FA674757-FD86-492E-B228-431984F27F7E}" type="slidenum">
              <a:rPr lang="en-US" smtClean="0"/>
              <a:t>9</a:t>
            </a:fld>
            <a:endParaRPr lang="en-US"/>
          </a:p>
        </p:txBody>
      </p:sp>
    </p:spTree>
    <p:extLst>
      <p:ext uri="{BB962C8B-B14F-4D97-AF65-F5344CB8AC3E}">
        <p14:creationId xmlns:p14="http://schemas.microsoft.com/office/powerpoint/2010/main" val="23425216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Let's focus on managing working memory capacity using Priming and Reference. </a:t>
            </a:r>
          </a:p>
          <a:p>
            <a:r>
              <a:rPr lang="en-US" sz="1200" b="1" kern="1200" dirty="0">
                <a:solidFill>
                  <a:schemeClr val="tx1"/>
                </a:solidFill>
                <a:effectLst/>
                <a:latin typeface="+mn-lt"/>
                <a:ea typeface="+mn-ea"/>
                <a:cs typeface="+mn-cs"/>
              </a:rPr>
              <a:t>Priming</a:t>
            </a:r>
            <a:r>
              <a:rPr lang="en-US" sz="1200" kern="1200" dirty="0">
                <a:solidFill>
                  <a:schemeClr val="tx1"/>
                </a:solidFill>
                <a:effectLst/>
                <a:latin typeface="+mn-lt"/>
                <a:ea typeface="+mn-ea"/>
                <a:cs typeface="+mn-cs"/>
              </a:rPr>
              <a:t> means skimming headings, structures, and big ideas </a:t>
            </a:r>
            <a:r>
              <a:rPr lang="en-US" sz="1200" i="1" kern="1200" dirty="0">
                <a:solidFill>
                  <a:schemeClr val="tx1"/>
                </a:solidFill>
                <a:effectLst/>
                <a:latin typeface="+mn-lt"/>
                <a:ea typeface="+mn-ea"/>
                <a:cs typeface="+mn-cs"/>
              </a:rPr>
              <a:t>before</a:t>
            </a:r>
            <a:r>
              <a:rPr lang="en-US" sz="1200" kern="1200" dirty="0">
                <a:solidFill>
                  <a:schemeClr val="tx1"/>
                </a:solidFill>
                <a:effectLst/>
                <a:latin typeface="+mn-lt"/>
                <a:ea typeface="+mn-ea"/>
                <a:cs typeface="+mn-cs"/>
              </a:rPr>
              <a:t> diving into detail. It builds a mental framework that tells your brain, </a:t>
            </a:r>
            <a:r>
              <a:rPr lang="en-US" sz="1200" i="1" kern="1200" dirty="0">
                <a:solidFill>
                  <a:schemeClr val="tx1"/>
                </a:solidFill>
                <a:effectLst/>
                <a:latin typeface="+mn-lt"/>
                <a:ea typeface="+mn-ea"/>
                <a:cs typeface="+mn-cs"/>
              </a:rPr>
              <a:t>'This incoming data matters, keep it.'</a:t>
            </a:r>
            <a:r>
              <a:rPr lang="en-US" sz="1200" kern="1200" dirty="0">
                <a:solidFill>
                  <a:schemeClr val="tx1"/>
                </a:solidFill>
                <a:effectLst/>
                <a:latin typeface="+mn-lt"/>
                <a:ea typeface="+mn-ea"/>
                <a:cs typeface="+mn-cs"/>
              </a:rPr>
              <a:t> </a:t>
            </a:r>
          </a:p>
          <a:p>
            <a:r>
              <a:rPr lang="en-US" sz="1200" b="1" kern="1200" dirty="0">
                <a:solidFill>
                  <a:schemeClr val="tx1"/>
                </a:solidFill>
                <a:effectLst/>
                <a:latin typeface="+mn-lt"/>
                <a:ea typeface="+mn-ea"/>
                <a:cs typeface="+mn-cs"/>
              </a:rPr>
              <a:t>Reference (The Parking Lot)</a:t>
            </a:r>
            <a:r>
              <a:rPr lang="en-US" sz="1200" kern="1200" dirty="0">
                <a:solidFill>
                  <a:schemeClr val="tx1"/>
                </a:solidFill>
                <a:effectLst/>
                <a:latin typeface="+mn-lt"/>
                <a:ea typeface="+mn-ea"/>
                <a:cs typeface="+mn-cs"/>
              </a:rPr>
              <a:t> is offloading hyper-specific facts like minor formulas or exact dates into notes or flashcards. Don't clog your primary working memory with trivialities. Save your active cognitive capacity for big-picture integration. Remember: </a:t>
            </a:r>
            <a:r>
              <a:rPr lang="en-US" sz="1200" i="1" kern="1200" dirty="0">
                <a:solidFill>
                  <a:schemeClr val="tx1"/>
                </a:solidFill>
                <a:effectLst/>
                <a:latin typeface="+mn-lt"/>
                <a:ea typeface="+mn-ea"/>
                <a:cs typeface="+mn-cs"/>
              </a:rPr>
              <a:t>You cannot assemble a jigsaw puzzle if you haven't looked at the picture on the box first.</a:t>
            </a: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FA674757-FD86-492E-B228-431984F27F7E}" type="slidenum">
              <a:rPr lang="en-US" smtClean="0"/>
              <a:t>10</a:t>
            </a:fld>
            <a:endParaRPr lang="en-US"/>
          </a:p>
        </p:txBody>
      </p:sp>
    </p:spTree>
    <p:extLst>
      <p:ext uri="{BB962C8B-B14F-4D97-AF65-F5344CB8AC3E}">
        <p14:creationId xmlns:p14="http://schemas.microsoft.com/office/powerpoint/2010/main" val="25631380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How do we execute deep encoding? We follow a three-step layer model: </a:t>
            </a:r>
          </a:p>
          <a:p>
            <a:pPr marL="228600" indent="-228600">
              <a:buFont typeface="+mj-lt"/>
              <a:buAutoNum type="arabicPeriod"/>
            </a:pPr>
            <a:r>
              <a:rPr lang="en-US" sz="1200" b="1" kern="1200" dirty="0">
                <a:solidFill>
                  <a:schemeClr val="tx1"/>
                </a:solidFill>
                <a:effectLst/>
                <a:latin typeface="+mn-lt"/>
                <a:ea typeface="+mn-ea"/>
                <a:cs typeface="+mn-cs"/>
              </a:rPr>
              <a:t>Simplify:</a:t>
            </a:r>
            <a:r>
              <a:rPr lang="en-US" sz="1200" kern="1200" dirty="0">
                <a:solidFill>
                  <a:schemeClr val="tx1"/>
                </a:solidFill>
                <a:effectLst/>
                <a:latin typeface="+mn-lt"/>
                <a:ea typeface="+mn-ea"/>
                <a:cs typeface="+mn-cs"/>
              </a:rPr>
              <a:t> Strip away complex jargon. Reduce concepts down to their core underlying principles to build the basic frame. </a:t>
            </a:r>
          </a:p>
          <a:p>
            <a:pPr marL="228600" indent="-228600">
              <a:buFont typeface="+mj-lt"/>
              <a:buAutoNum type="arabicPeriod"/>
            </a:pPr>
            <a:r>
              <a:rPr lang="en-US" sz="1200" b="1" kern="1200" dirty="0">
                <a:solidFill>
                  <a:schemeClr val="tx1"/>
                </a:solidFill>
                <a:effectLst/>
                <a:latin typeface="+mn-lt"/>
                <a:ea typeface="+mn-ea"/>
                <a:cs typeface="+mn-cs"/>
              </a:rPr>
              <a:t>Relate to the Big Picture:</a:t>
            </a:r>
            <a:r>
              <a:rPr lang="en-US" sz="1200" kern="1200" dirty="0">
                <a:solidFill>
                  <a:schemeClr val="tx1"/>
                </a:solidFill>
                <a:effectLst/>
                <a:latin typeface="+mn-lt"/>
                <a:ea typeface="+mn-ea"/>
                <a:cs typeface="+mn-cs"/>
              </a:rPr>
              <a:t> Force connections. Constantly ask yourself: </a:t>
            </a:r>
            <a:r>
              <a:rPr lang="en-US" sz="1200" i="1" kern="1200" dirty="0">
                <a:solidFill>
                  <a:schemeClr val="tx1"/>
                </a:solidFill>
                <a:effectLst/>
                <a:latin typeface="+mn-lt"/>
                <a:ea typeface="+mn-ea"/>
                <a:cs typeface="+mn-cs"/>
              </a:rPr>
              <a:t>'How does this relate to what I already know? Why does this matter?'</a:t>
            </a:r>
            <a:r>
              <a:rPr lang="en-US" sz="1200" kern="1200" dirty="0">
                <a:solidFill>
                  <a:schemeClr val="tx1"/>
                </a:solidFill>
                <a:effectLst/>
                <a:latin typeface="+mn-lt"/>
                <a:ea typeface="+mn-ea"/>
                <a:cs typeface="+mn-cs"/>
              </a:rPr>
              <a:t> </a:t>
            </a:r>
          </a:p>
          <a:p>
            <a:pPr marL="228600" indent="-228600">
              <a:buFont typeface="+mj-lt"/>
              <a:buAutoNum type="arabicPeriod"/>
            </a:pPr>
            <a:r>
              <a:rPr lang="en-US" sz="1200" b="1" kern="1200" dirty="0">
                <a:solidFill>
                  <a:schemeClr val="tx1"/>
                </a:solidFill>
                <a:effectLst/>
                <a:latin typeface="+mn-lt"/>
                <a:ea typeface="+mn-ea"/>
                <a:cs typeface="+mn-cs"/>
              </a:rPr>
              <a:t>Learn in Layers:</a:t>
            </a:r>
            <a:r>
              <a:rPr lang="en-US" sz="1200" kern="1200" dirty="0">
                <a:solidFill>
                  <a:schemeClr val="tx1"/>
                </a:solidFill>
                <a:effectLst/>
                <a:latin typeface="+mn-lt"/>
                <a:ea typeface="+mn-ea"/>
                <a:cs typeface="+mn-cs"/>
              </a:rPr>
              <a:t> Once the structural scaffolding is solid, systematically layer on the granular details. </a:t>
            </a:r>
          </a:p>
          <a:p>
            <a:r>
              <a:rPr lang="en-US" sz="1200" kern="1200" dirty="0">
                <a:solidFill>
                  <a:schemeClr val="tx1"/>
                </a:solidFill>
                <a:effectLst/>
                <a:latin typeface="+mn-lt"/>
                <a:ea typeface="+mn-ea"/>
                <a:cs typeface="+mn-cs"/>
              </a:rPr>
              <a:t>Deep encoding is deliberate, uncomfortable work, but it is the true engineering of mental schemas.</a:t>
            </a:r>
          </a:p>
          <a:p>
            <a:endParaRPr lang="en-US" dirty="0"/>
          </a:p>
        </p:txBody>
      </p:sp>
      <p:sp>
        <p:nvSpPr>
          <p:cNvPr id="4" name="Slide Number Placeholder 3"/>
          <p:cNvSpPr>
            <a:spLocks noGrp="1"/>
          </p:cNvSpPr>
          <p:nvPr>
            <p:ph type="sldNum" sz="quarter" idx="5"/>
          </p:nvPr>
        </p:nvSpPr>
        <p:spPr/>
        <p:txBody>
          <a:bodyPr/>
          <a:lstStyle/>
          <a:p>
            <a:fld id="{FA674757-FD86-492E-B228-431984F27F7E}" type="slidenum">
              <a:rPr lang="en-US" smtClean="0"/>
              <a:t>11</a:t>
            </a:fld>
            <a:endParaRPr lang="en-US"/>
          </a:p>
        </p:txBody>
      </p:sp>
    </p:spTree>
    <p:extLst>
      <p:ext uri="{BB962C8B-B14F-4D97-AF65-F5344CB8AC3E}">
        <p14:creationId xmlns:p14="http://schemas.microsoft.com/office/powerpoint/2010/main" val="3436709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When it comes to stress-testing your knowledge, aim for the highest value testing modality: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Recognition (Low Value):</a:t>
            </a:r>
            <a:r>
              <a:rPr lang="en-US" sz="1200" kern="1200" dirty="0">
                <a:solidFill>
                  <a:schemeClr val="tx1"/>
                </a:solidFill>
                <a:effectLst/>
                <a:latin typeface="+mn-lt"/>
                <a:ea typeface="+mn-ea"/>
                <a:cs typeface="+mn-cs"/>
              </a:rPr>
              <a:t> Nodding along while reading notes. Creates a false sense of security.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Cued Recall (Medium Value):</a:t>
            </a:r>
            <a:r>
              <a:rPr lang="en-US" sz="1200" kern="1200" dirty="0">
                <a:solidFill>
                  <a:schemeClr val="tx1"/>
                </a:solidFill>
                <a:effectLst/>
                <a:latin typeface="+mn-lt"/>
                <a:ea typeface="+mn-ea"/>
                <a:cs typeface="+mn-cs"/>
              </a:rPr>
              <a:t> Flashcards with prompt hints. Good for basic definitions, but limited.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Free Recall (Maximum Value):</a:t>
            </a:r>
            <a:r>
              <a:rPr lang="en-US" sz="1200" kern="1200" dirty="0">
                <a:solidFill>
                  <a:schemeClr val="tx1"/>
                </a:solidFill>
                <a:effectLst/>
                <a:latin typeface="+mn-lt"/>
                <a:ea typeface="+mn-ea"/>
                <a:cs typeface="+mn-cs"/>
              </a:rPr>
              <a:t> Blank-page brain dumps or explaining a concept from scratch without aids. Free recall forces your brain to reconstruct the neural pathway entirely, permanently thickening cognitive connections.</a:t>
            </a:r>
          </a:p>
          <a:p>
            <a:endParaRPr lang="en-US" dirty="0"/>
          </a:p>
        </p:txBody>
      </p:sp>
      <p:sp>
        <p:nvSpPr>
          <p:cNvPr id="4" name="Slide Number Placeholder 3"/>
          <p:cNvSpPr>
            <a:spLocks noGrp="1"/>
          </p:cNvSpPr>
          <p:nvPr>
            <p:ph type="sldNum" sz="quarter" idx="5"/>
          </p:nvPr>
        </p:nvSpPr>
        <p:spPr/>
        <p:txBody>
          <a:bodyPr/>
          <a:lstStyle/>
          <a:p>
            <a:fld id="{FA674757-FD86-492E-B228-431984F27F7E}" type="slidenum">
              <a:rPr lang="en-US" smtClean="0"/>
              <a:t>12</a:t>
            </a:fld>
            <a:endParaRPr lang="en-US"/>
          </a:p>
        </p:txBody>
      </p:sp>
    </p:spTree>
    <p:extLst>
      <p:ext uri="{BB962C8B-B14F-4D97-AF65-F5344CB8AC3E}">
        <p14:creationId xmlns:p14="http://schemas.microsoft.com/office/powerpoint/2010/main" val="29801420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Knowledge exists in three hierarchical tiers: </a:t>
            </a:r>
          </a:p>
          <a:p>
            <a:pPr marL="228600" indent="-228600">
              <a:buFont typeface="+mj-lt"/>
              <a:buAutoNum type="arabicPeriod"/>
            </a:pPr>
            <a:r>
              <a:rPr lang="en-US" sz="1200" b="1" kern="1200" dirty="0">
                <a:solidFill>
                  <a:schemeClr val="tx1"/>
                </a:solidFill>
                <a:effectLst/>
                <a:latin typeface="+mn-lt"/>
                <a:ea typeface="+mn-ea"/>
                <a:cs typeface="+mn-cs"/>
              </a:rPr>
              <a:t>Declarative (The WHAT):</a:t>
            </a:r>
            <a:r>
              <a:rPr lang="en-US" sz="1200" kern="1200" dirty="0">
                <a:solidFill>
                  <a:schemeClr val="tx1"/>
                </a:solidFill>
                <a:effectLst/>
                <a:latin typeface="+mn-lt"/>
                <a:ea typeface="+mn-ea"/>
                <a:cs typeface="+mn-cs"/>
              </a:rPr>
              <a:t> Definitions, facts, syntax. Base-level recall. </a:t>
            </a:r>
          </a:p>
          <a:p>
            <a:pPr marL="228600" indent="-228600">
              <a:buFont typeface="+mj-lt"/>
              <a:buAutoNum type="arabicPeriod"/>
            </a:pPr>
            <a:r>
              <a:rPr lang="en-US" sz="1200" b="1" kern="1200" dirty="0">
                <a:solidFill>
                  <a:schemeClr val="tx1"/>
                </a:solidFill>
                <a:effectLst/>
                <a:latin typeface="+mn-lt"/>
                <a:ea typeface="+mn-ea"/>
                <a:cs typeface="+mn-cs"/>
              </a:rPr>
              <a:t>Procedural (The HOW):</a:t>
            </a:r>
            <a:r>
              <a:rPr lang="en-US" sz="1200" kern="1200" dirty="0">
                <a:solidFill>
                  <a:schemeClr val="tx1"/>
                </a:solidFill>
                <a:effectLst/>
                <a:latin typeface="+mn-lt"/>
                <a:ea typeface="+mn-ea"/>
                <a:cs typeface="+mn-cs"/>
              </a:rPr>
              <a:t> Step-by-step execution, writing code, solving equations. </a:t>
            </a:r>
          </a:p>
          <a:p>
            <a:pPr marL="228600" indent="-228600">
              <a:buFont typeface="+mj-lt"/>
              <a:buAutoNum type="arabicPeriod"/>
            </a:pPr>
            <a:r>
              <a:rPr lang="en-US" sz="1200" b="1" kern="1200" dirty="0">
                <a:solidFill>
                  <a:schemeClr val="tx1"/>
                </a:solidFill>
                <a:effectLst/>
                <a:latin typeface="+mn-lt"/>
                <a:ea typeface="+mn-ea"/>
                <a:cs typeface="+mn-cs"/>
              </a:rPr>
              <a:t>Conditional (The WHEN &amp; WHY):</a:t>
            </a:r>
            <a:r>
              <a:rPr lang="en-US" sz="1200" kern="1200" dirty="0">
                <a:solidFill>
                  <a:schemeClr val="tx1"/>
                </a:solidFill>
                <a:effectLst/>
                <a:latin typeface="+mn-lt"/>
                <a:ea typeface="+mn-ea"/>
                <a:cs typeface="+mn-cs"/>
              </a:rPr>
              <a:t> Strategic judgment—knowing </a:t>
            </a:r>
            <a:r>
              <a:rPr lang="en-US" sz="1200" i="1" kern="1200" dirty="0">
                <a:solidFill>
                  <a:schemeClr val="tx1"/>
                </a:solidFill>
                <a:effectLst/>
                <a:latin typeface="+mn-lt"/>
                <a:ea typeface="+mn-ea"/>
                <a:cs typeface="+mn-cs"/>
              </a:rPr>
              <a:t>which</a:t>
            </a:r>
            <a:r>
              <a:rPr lang="en-US" sz="1200" kern="1200" dirty="0">
                <a:solidFill>
                  <a:schemeClr val="tx1"/>
                </a:solidFill>
                <a:effectLst/>
                <a:latin typeface="+mn-lt"/>
                <a:ea typeface="+mn-ea"/>
                <a:cs typeface="+mn-cs"/>
              </a:rPr>
              <a:t> tool or model to apply in an unfamiliar crisis. </a:t>
            </a:r>
          </a:p>
          <a:p>
            <a:r>
              <a:rPr lang="en-US" sz="1200" kern="1200" dirty="0">
                <a:solidFill>
                  <a:schemeClr val="tx1"/>
                </a:solidFill>
                <a:effectLst/>
                <a:latin typeface="+mn-lt"/>
                <a:ea typeface="+mn-ea"/>
                <a:cs typeface="+mn-cs"/>
              </a:rPr>
              <a:t>Here is a crucial warning: </a:t>
            </a:r>
            <a:r>
              <a:rPr lang="en-US" sz="1200" b="1" kern="1200" dirty="0">
                <a:solidFill>
                  <a:schemeClr val="tx1"/>
                </a:solidFill>
                <a:effectLst/>
                <a:latin typeface="+mn-lt"/>
                <a:ea typeface="+mn-ea"/>
                <a:cs typeface="+mn-cs"/>
              </a:rPr>
              <a:t>If your performance environment demands Conditional knowledge, but your study habits only test Declarative facts, your mental schema will collapse under pressure.</a:t>
            </a:r>
            <a:r>
              <a:rPr lang="en-US" sz="1200" kern="1200" dirty="0">
                <a:solidFill>
                  <a:schemeClr val="tx1"/>
                </a:solidFill>
                <a:effectLst/>
                <a:latin typeface="+mn-lt"/>
                <a:ea typeface="+mn-ea"/>
                <a:cs typeface="+mn-cs"/>
              </a:rPr>
              <a:t> Match your retrieval to the depth required.</a:t>
            </a:r>
          </a:p>
          <a:p>
            <a:endParaRPr lang="en-US" dirty="0"/>
          </a:p>
        </p:txBody>
      </p:sp>
      <p:sp>
        <p:nvSpPr>
          <p:cNvPr id="4" name="Slide Number Placeholder 3"/>
          <p:cNvSpPr>
            <a:spLocks noGrp="1"/>
          </p:cNvSpPr>
          <p:nvPr>
            <p:ph type="sldNum" sz="quarter" idx="5"/>
          </p:nvPr>
        </p:nvSpPr>
        <p:spPr/>
        <p:txBody>
          <a:bodyPr/>
          <a:lstStyle/>
          <a:p>
            <a:fld id="{FA674757-FD86-492E-B228-431984F27F7E}" type="slidenum">
              <a:rPr lang="en-US" smtClean="0"/>
              <a:t>13</a:t>
            </a:fld>
            <a:endParaRPr lang="en-US"/>
          </a:p>
        </p:txBody>
      </p:sp>
    </p:spTree>
    <p:extLst>
      <p:ext uri="{BB962C8B-B14F-4D97-AF65-F5344CB8AC3E}">
        <p14:creationId xmlns:p14="http://schemas.microsoft.com/office/powerpoint/2010/main" val="23706423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put this into immediate practice, use the </a:t>
            </a:r>
            <a:r>
              <a:rPr lang="en-US" sz="1200" b="1" kern="1200" dirty="0">
                <a:solidFill>
                  <a:schemeClr val="tx1"/>
                </a:solidFill>
                <a:effectLst/>
                <a:latin typeface="+mn-lt"/>
                <a:ea typeface="+mn-ea"/>
                <a:cs typeface="+mn-cs"/>
              </a:rPr>
              <a:t>Blind Mapping Sequence</a:t>
            </a:r>
            <a:r>
              <a:rPr lang="en-US" sz="1200" kern="1200" dirty="0">
                <a:solidFill>
                  <a:schemeClr val="tx1"/>
                </a:solidFill>
                <a:effectLst/>
                <a:latin typeface="+mn-lt"/>
                <a:ea typeface="+mn-ea"/>
                <a:cs typeface="+mn-cs"/>
              </a:rPr>
              <a:t>: </a:t>
            </a:r>
          </a:p>
          <a:p>
            <a:pPr marL="228600" indent="-228600">
              <a:buFont typeface="+mj-lt"/>
              <a:buAutoNum type="arabicPeriod"/>
            </a:pPr>
            <a:r>
              <a:rPr lang="en-US" sz="1200" b="1" kern="1200" dirty="0">
                <a:solidFill>
                  <a:schemeClr val="tx1"/>
                </a:solidFill>
                <a:effectLst/>
                <a:latin typeface="+mn-lt"/>
                <a:ea typeface="+mn-ea"/>
                <a:cs typeface="+mn-cs"/>
              </a:rPr>
              <a:t>The Dump:</a:t>
            </a:r>
            <a:r>
              <a:rPr lang="en-US" sz="1200" kern="1200" dirty="0">
                <a:solidFill>
                  <a:schemeClr val="tx1"/>
                </a:solidFill>
                <a:effectLst/>
                <a:latin typeface="+mn-lt"/>
                <a:ea typeface="+mn-ea"/>
                <a:cs typeface="+mn-cs"/>
              </a:rPr>
              <a:t> Take a completely blank sheet of paper and dump every keyword, concept, and term you can remember from memory. No peeking at notes. </a:t>
            </a:r>
          </a:p>
          <a:p>
            <a:pPr marL="228600" indent="-228600">
              <a:buFont typeface="+mj-lt"/>
              <a:buAutoNum type="arabicPeriod"/>
            </a:pPr>
            <a:r>
              <a:rPr lang="en-US" sz="1200" b="1" kern="1200" dirty="0">
                <a:solidFill>
                  <a:schemeClr val="tx1"/>
                </a:solidFill>
                <a:effectLst/>
                <a:latin typeface="+mn-lt"/>
                <a:ea typeface="+mn-ea"/>
                <a:cs typeface="+mn-cs"/>
              </a:rPr>
              <a:t>The Web:</a:t>
            </a:r>
            <a:r>
              <a:rPr lang="en-US" sz="1200" kern="1200" dirty="0">
                <a:solidFill>
                  <a:schemeClr val="tx1"/>
                </a:solidFill>
                <a:effectLst/>
                <a:latin typeface="+mn-lt"/>
                <a:ea typeface="+mn-ea"/>
                <a:cs typeface="+mn-cs"/>
              </a:rPr>
              <a:t> Draw relationships, arrows, and contrasts between these terms purely from memory. Embrace the friction. </a:t>
            </a:r>
          </a:p>
          <a:p>
            <a:pPr marL="228600" indent="-228600">
              <a:buFont typeface="+mj-lt"/>
              <a:buAutoNum type="arabicPeriod"/>
            </a:pPr>
            <a:r>
              <a:rPr lang="en-US" sz="1200" b="1" kern="1200" dirty="0">
                <a:solidFill>
                  <a:schemeClr val="tx1"/>
                </a:solidFill>
                <a:effectLst/>
                <a:latin typeface="+mn-lt"/>
                <a:ea typeface="+mn-ea"/>
                <a:cs typeface="+mn-cs"/>
              </a:rPr>
              <a:t>The Chunking:</a:t>
            </a:r>
            <a:r>
              <a:rPr lang="en-US" sz="1200" kern="1200" dirty="0">
                <a:solidFill>
                  <a:schemeClr val="tx1"/>
                </a:solidFill>
                <a:effectLst/>
                <a:latin typeface="+mn-lt"/>
                <a:ea typeface="+mn-ea"/>
                <a:cs typeface="+mn-cs"/>
              </a:rPr>
              <a:t> Group concepts into named clusters. Apply </a:t>
            </a:r>
            <a:r>
              <a:rPr lang="en-US" sz="1200" b="1" kern="1200" dirty="0">
                <a:solidFill>
                  <a:schemeClr val="tx1"/>
                </a:solidFill>
                <a:effectLst/>
                <a:latin typeface="+mn-lt"/>
                <a:ea typeface="+mn-ea"/>
                <a:cs typeface="+mn-cs"/>
              </a:rPr>
              <a:t>The 2–4 Rule</a:t>
            </a:r>
            <a:r>
              <a:rPr lang="en-US" sz="1200" kern="1200" dirty="0">
                <a:solidFill>
                  <a:schemeClr val="tx1"/>
                </a:solidFill>
                <a:effectLst/>
                <a:latin typeface="+mn-lt"/>
                <a:ea typeface="+mn-ea"/>
                <a:cs typeface="+mn-cs"/>
              </a:rPr>
              <a:t>: Never group more than four items into a single cluster without creating a sub-hierarchy. This compresses cognitive load and builds clean, accessible neural pathways.</a:t>
            </a:r>
          </a:p>
          <a:p>
            <a:endParaRPr lang="en-US" dirty="0"/>
          </a:p>
        </p:txBody>
      </p:sp>
      <p:sp>
        <p:nvSpPr>
          <p:cNvPr id="4" name="Slide Number Placeholder 3"/>
          <p:cNvSpPr>
            <a:spLocks noGrp="1"/>
          </p:cNvSpPr>
          <p:nvPr>
            <p:ph type="sldNum" sz="quarter" idx="5"/>
          </p:nvPr>
        </p:nvSpPr>
        <p:spPr/>
        <p:txBody>
          <a:bodyPr/>
          <a:lstStyle/>
          <a:p>
            <a:fld id="{FA674757-FD86-492E-B228-431984F27F7E}" type="slidenum">
              <a:rPr lang="en-US" smtClean="0"/>
              <a:t>14</a:t>
            </a:fld>
            <a:endParaRPr lang="en-US"/>
          </a:p>
        </p:txBody>
      </p:sp>
    </p:spTree>
    <p:extLst>
      <p:ext uri="{BB962C8B-B14F-4D97-AF65-F5344CB8AC3E}">
        <p14:creationId xmlns:p14="http://schemas.microsoft.com/office/powerpoint/2010/main" val="37715418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When you transition away from learning debt and invest in schema-building, you trigger the </a:t>
            </a:r>
            <a:r>
              <a:rPr lang="en-US" sz="1200" b="1" kern="1200" dirty="0">
                <a:solidFill>
                  <a:schemeClr val="tx1"/>
                </a:solidFill>
                <a:effectLst/>
                <a:latin typeface="+mn-lt"/>
                <a:ea typeface="+mn-ea"/>
                <a:cs typeface="+mn-cs"/>
              </a:rPr>
              <a:t>Snowball Effect of Mastery</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Early on, encoding feels slow because you have few existing anchor points. But as your neural web grows denser, every new piece of information has dozens of existing schemas to link onto. Over time, learning new complex topics becomes exponentially faster, deeply intuitive, and permanently retained. Stop memorizing in the dark; start illuminating the architecture of your mind.</a:t>
            </a:r>
          </a:p>
          <a:p>
            <a:endParaRPr lang="en-US" dirty="0"/>
          </a:p>
        </p:txBody>
      </p:sp>
      <p:sp>
        <p:nvSpPr>
          <p:cNvPr id="4" name="Slide Number Placeholder 3"/>
          <p:cNvSpPr>
            <a:spLocks noGrp="1"/>
          </p:cNvSpPr>
          <p:nvPr>
            <p:ph type="sldNum" sz="quarter" idx="5"/>
          </p:nvPr>
        </p:nvSpPr>
        <p:spPr/>
        <p:txBody>
          <a:bodyPr/>
          <a:lstStyle/>
          <a:p>
            <a:fld id="{FA674757-FD86-492E-B228-431984F27F7E}" type="slidenum">
              <a:rPr lang="en-US" smtClean="0"/>
              <a:t>15</a:t>
            </a:fld>
            <a:endParaRPr lang="en-US"/>
          </a:p>
        </p:txBody>
      </p:sp>
    </p:spTree>
    <p:extLst>
      <p:ext uri="{BB962C8B-B14F-4D97-AF65-F5344CB8AC3E}">
        <p14:creationId xmlns:p14="http://schemas.microsoft.com/office/powerpoint/2010/main" val="25743770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wrap up, let’s synthesize our complete </a:t>
            </a:r>
            <a:r>
              <a:rPr lang="en-US" sz="1200" b="1" kern="1200" dirty="0">
                <a:solidFill>
                  <a:schemeClr val="tx1"/>
                </a:solidFill>
                <a:effectLst/>
                <a:latin typeface="+mn-lt"/>
                <a:ea typeface="+mn-ea"/>
                <a:cs typeface="+mn-cs"/>
              </a:rPr>
              <a:t>Mastery Blueprint</a:t>
            </a:r>
            <a:r>
              <a:rPr lang="en-US" sz="1200" kern="1200" dirty="0">
                <a:solidFill>
                  <a:schemeClr val="tx1"/>
                </a:solidFill>
                <a:effectLst/>
                <a:latin typeface="+mn-lt"/>
                <a:ea typeface="+mn-ea"/>
                <a:cs typeface="+mn-cs"/>
              </a:rPr>
              <a:t>: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Embrace Cognitive Effort:</a:t>
            </a:r>
            <a:r>
              <a:rPr lang="en-US" sz="1200" kern="1200" dirty="0">
                <a:solidFill>
                  <a:schemeClr val="tx1"/>
                </a:solidFill>
                <a:effectLst/>
                <a:latin typeface="+mn-lt"/>
                <a:ea typeface="+mn-ea"/>
                <a:cs typeface="+mn-cs"/>
              </a:rPr>
              <a:t> High mental load and confusion are signs of neuroplastic growth, not failure.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Prioritize Active Retrieval:</a:t>
            </a:r>
            <a:r>
              <a:rPr lang="en-US" sz="1200" kern="1200" dirty="0">
                <a:solidFill>
                  <a:schemeClr val="tx1"/>
                </a:solidFill>
                <a:effectLst/>
                <a:latin typeface="+mn-lt"/>
                <a:ea typeface="+mn-ea"/>
                <a:cs typeface="+mn-cs"/>
              </a:rPr>
              <a:t> Shift from passive re-reading (which leads to &lt;5% 1-month retention) to spaced free recall (which yields 90%+ retention).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Execute the PERO Cycle:</a:t>
            </a:r>
            <a:r>
              <a:rPr lang="en-US" sz="1200" kern="1200" dirty="0">
                <a:solidFill>
                  <a:schemeClr val="tx1"/>
                </a:solidFill>
                <a:effectLst/>
                <a:latin typeface="+mn-lt"/>
                <a:ea typeface="+mn-ea"/>
                <a:cs typeface="+mn-cs"/>
              </a:rPr>
              <a:t> Prime for relevance, deeply encode through non-linear structuring, offload minor details to reference tools, and test using active recall. </a:t>
            </a:r>
          </a:p>
          <a:p>
            <a:r>
              <a:rPr lang="en-US" sz="1200" kern="1200" dirty="0">
                <a:solidFill>
                  <a:schemeClr val="tx1"/>
                </a:solidFill>
                <a:effectLst/>
                <a:latin typeface="+mn-lt"/>
                <a:ea typeface="+mn-ea"/>
                <a:cs typeface="+mn-cs"/>
              </a:rPr>
              <a:t>Master these principles, hold yourself to this cognitive standard consistently, and you will transform how you process, retain, and apply knowledge for the rest of your life. Thank you!</a:t>
            </a:r>
          </a:p>
          <a:p>
            <a:endParaRPr lang="en-US" dirty="0"/>
          </a:p>
        </p:txBody>
      </p:sp>
      <p:sp>
        <p:nvSpPr>
          <p:cNvPr id="4" name="Slide Number Placeholder 3"/>
          <p:cNvSpPr>
            <a:spLocks noGrp="1"/>
          </p:cNvSpPr>
          <p:nvPr>
            <p:ph type="sldNum" sz="quarter" idx="5"/>
          </p:nvPr>
        </p:nvSpPr>
        <p:spPr/>
        <p:txBody>
          <a:bodyPr/>
          <a:lstStyle/>
          <a:p>
            <a:fld id="{FA674757-FD86-492E-B228-431984F27F7E}" type="slidenum">
              <a:rPr lang="en-US" smtClean="0"/>
              <a:t>16</a:t>
            </a:fld>
            <a:endParaRPr lang="en-US"/>
          </a:p>
        </p:txBody>
      </p:sp>
    </p:spTree>
    <p:extLst>
      <p:ext uri="{BB962C8B-B14F-4D97-AF65-F5344CB8AC3E}">
        <p14:creationId xmlns:p14="http://schemas.microsoft.com/office/powerpoint/2010/main" val="12684617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9A4A7E0-B3CD-E99C-37E0-DFB9C7EEF168}"/>
              </a:ext>
            </a:extLst>
          </p:cNvPr>
          <p:cNvSpPr>
            <a:spLocks noGrp="1"/>
          </p:cNvSpPr>
          <p:nvPr>
            <p:ph type="dt" sz="half" idx="10"/>
          </p:nvPr>
        </p:nvSpPr>
        <p:spPr/>
        <p:txBody>
          <a:bodyPr/>
          <a:lstStyle/>
          <a:p>
            <a:fld id="{7B9B5402-986E-455E-9E43-6C279632AD4E}" type="datetimeFigureOut">
              <a:rPr lang="en-US" smtClean="0"/>
              <a:t>10/19/2026</a:t>
            </a:fld>
            <a:endParaRPr lang="en-US"/>
          </a:p>
        </p:txBody>
      </p:sp>
      <p:sp>
        <p:nvSpPr>
          <p:cNvPr id="3" name="Footer Placeholder 2">
            <a:extLst>
              <a:ext uri="{FF2B5EF4-FFF2-40B4-BE49-F238E27FC236}">
                <a16:creationId xmlns:a16="http://schemas.microsoft.com/office/drawing/2014/main" id="{F5881F0A-F6B4-C9E3-23B9-636C6B1C7A6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E9B37C1-6CDB-E73C-1586-0A96139B1617}"/>
              </a:ext>
            </a:extLst>
          </p:cNvPr>
          <p:cNvSpPr>
            <a:spLocks noGrp="1"/>
          </p:cNvSpPr>
          <p:nvPr>
            <p:ph type="sldNum" sz="quarter" idx="12"/>
          </p:nvPr>
        </p:nvSpPr>
        <p:spPr/>
        <p:txBody>
          <a:bodyPr/>
          <a:lstStyle/>
          <a:p>
            <a:fld id="{FE401E82-8D36-4247-BF03-F3A0F7EBA8F1}" type="slidenum">
              <a:rPr lang="en-US" smtClean="0"/>
              <a:t>‹#›</a:t>
            </a:fld>
            <a:endParaRPr lang="en-US"/>
          </a:p>
        </p:txBody>
      </p:sp>
    </p:spTree>
    <p:extLst>
      <p:ext uri="{BB962C8B-B14F-4D97-AF65-F5344CB8AC3E}">
        <p14:creationId xmlns:p14="http://schemas.microsoft.com/office/powerpoint/2010/main" val="2181674960"/>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413DEB4-618B-4634-EDCF-D898E37C11F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056DEFD-A9F9-4D39-BF5E-763E63C673B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B450F62-E22D-959B-C855-4AC10A5DE20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B9B5402-986E-455E-9E43-6C279632AD4E}" type="datetimeFigureOut">
              <a:rPr lang="en-US" smtClean="0"/>
              <a:t>10/19/2026</a:t>
            </a:fld>
            <a:endParaRPr lang="en-US"/>
          </a:p>
        </p:txBody>
      </p:sp>
      <p:sp>
        <p:nvSpPr>
          <p:cNvPr id="5" name="Footer Placeholder 4">
            <a:extLst>
              <a:ext uri="{FF2B5EF4-FFF2-40B4-BE49-F238E27FC236}">
                <a16:creationId xmlns:a16="http://schemas.microsoft.com/office/drawing/2014/main" id="{85BA7BE2-4910-8963-F3CB-5CD85B943F1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C44D744-6B7D-A48E-5829-3E3FC212C77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E401E82-8D36-4247-BF03-F3A0F7EBA8F1}" type="slidenum">
              <a:rPr lang="en-US" smtClean="0"/>
              <a:t>‹#›</a:t>
            </a:fld>
            <a:endParaRPr lang="en-US"/>
          </a:p>
        </p:txBody>
      </p:sp>
    </p:spTree>
    <p:extLst>
      <p:ext uri="{BB962C8B-B14F-4D97-AF65-F5344CB8AC3E}">
        <p14:creationId xmlns:p14="http://schemas.microsoft.com/office/powerpoint/2010/main" val="3065214997"/>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5C63790-80F7-8474-4509-E859228D006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5D1085D-C591-B4CF-D543-849C7F4D1E0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C402CCB-B686-B1ED-76B7-FDD64E2ED58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72D6DE5-8485-F7C2-C6B0-935E037FD27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8CE5563-6E0D-53B8-1F33-2EDE5CD9CCE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19DACC7-639F-64C0-2C9E-27B6BD19261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BC39399-62E4-82E4-180C-50450F0034D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9F7FE67-CEA8-BAEC-0944-11A7965BA29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88978EC-D49A-29A3-0425-1C43657C6E4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71EFE9E-817D-41D1-6633-58D02E32FA7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BC948CA-8DD4-A410-CF1D-C864E7399E6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9881B9F-53CD-47EC-31B8-56480CD2FB2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2B5462A-CE9D-8416-3825-5844936771D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F4C47F8-2876-204E-4FAC-15AF7201567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C0D4B75-F8F7-7A4F-6152-D4A1168280E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F375C79-7AAB-9F07-DB63-92D7644BC62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6581"/>
            <a:ext cx="12192000" cy="6804837"/>
          </a:xfrm>
          <a:prstGeom prst="rect">
            <a:avLst/>
          </a:prstGeom>
        </p:spPr>
      </p:pic>
    </p:spTree>
    <p:extLst>
      <p:ext uri="{BB962C8B-B14F-4D97-AF65-F5344CB8AC3E}">
        <p14:creationId xmlns:p14="http://schemas.microsoft.com/office/powerpoint/2010/main" val="40777146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TotalTime>
  <Words>1689</Words>
  <Application>Microsoft Office PowerPoint</Application>
  <PresentationFormat>寬螢幕</PresentationFormat>
  <Paragraphs>74</Paragraphs>
  <Slides>16</Slides>
  <Notes>16</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16</vt:i4>
      </vt:variant>
    </vt:vector>
  </HeadingPairs>
  <TitlesOfParts>
    <vt:vector size="20"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2026-08-10T13:23:57Z</dcterms:created>
  <dcterms:modified xsi:type="dcterms:W3CDTF">2026-10-19T15:37:44Z</dcterms:modified>
</cp:coreProperties>
</file>