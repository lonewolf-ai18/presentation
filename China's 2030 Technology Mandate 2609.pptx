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20DAAB-D881-4222-8FA3-E13A2CCDB23A}" v="20" dt="2026-09-26T05:18:21.7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78" autoAdjust="0"/>
    <p:restoredTop sz="87464" autoAdjust="0"/>
  </p:normalViewPr>
  <p:slideViewPr>
    <p:cSldViewPr snapToGrid="0">
      <p:cViewPr varScale="1">
        <p:scale>
          <a:sx n="73" d="100"/>
          <a:sy n="73" d="100"/>
        </p:scale>
        <p:origin x="84" y="5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modMainMaster">
      <pc:chgData name="Lai, Wilson" userId="2840974a-0d84-4886-90a9-9a3ed79f3a48" providerId="ADAL" clId="{9F23B798-9E84-4552-BA63-E776E805C424}" dt="2026-09-26T05:39:54.370" v="81" actId="166"/>
      <pc:docMkLst>
        <pc:docMk/>
      </pc:docMkLst>
      <pc:sldChg chg="addSp delSp modSp mod modAnim modNotes modNotesTx">
        <pc:chgData name="Lai, Wilson" userId="2840974a-0d84-4886-90a9-9a3ed79f3a48" providerId="ADAL" clId="{9F23B798-9E84-4552-BA63-E776E805C424}" dt="2026-09-26T05:39:54.370" v="81" actId="166"/>
        <pc:sldMkLst>
          <pc:docMk/>
          <pc:sldMk cId="0" sldId="257"/>
        </pc:sldMkLst>
        <pc:spChg chg="add mod">
          <ac:chgData name="Lai, Wilson" userId="2840974a-0d84-4886-90a9-9a3ed79f3a48" providerId="ADAL" clId="{9F23B798-9E84-4552-BA63-E776E805C424}" dt="2026-09-26T05:10:09.577" v="39" actId="164"/>
          <ac:spMkLst>
            <pc:docMk/>
            <pc:sldMk cId="0" sldId="257"/>
            <ac:spMk id="5" creationId="{A294BF07-1034-725E-3A37-8D08ED4B9CFF}"/>
          </ac:spMkLst>
        </pc:spChg>
        <pc:grpChg chg="add mod">
          <ac:chgData name="Lai, Wilson" userId="2840974a-0d84-4886-90a9-9a3ed79f3a48" providerId="ADAL" clId="{9F23B798-9E84-4552-BA63-E776E805C424}" dt="2026-09-26T05:10:09.577" v="39" actId="164"/>
          <ac:grpSpMkLst>
            <pc:docMk/>
            <pc:sldMk cId="0" sldId="257"/>
            <ac:grpSpMk id="6" creationId="{5F1C7A48-0179-6D38-F99B-624DAE4BC666}"/>
          </ac:grpSpMkLst>
        </pc:grpChg>
        <pc:picChg chg="del">
          <ac:chgData name="Lai, Wilson" userId="2840974a-0d84-4886-90a9-9a3ed79f3a48" providerId="ADAL" clId="{9F23B798-9E84-4552-BA63-E776E805C424}" dt="2026-09-26T00:13:47.546" v="1" actId="21"/>
          <ac:picMkLst>
            <pc:docMk/>
            <pc:sldMk cId="0" sldId="257"/>
            <ac:picMk id="2" creationId="{00000000-0000-0000-0000-000000000000}"/>
          </ac:picMkLst>
        </pc:picChg>
        <pc:picChg chg="add mod">
          <ac:chgData name="Lai, Wilson" userId="2840974a-0d84-4886-90a9-9a3ed79f3a48" providerId="ADAL" clId="{9F23B798-9E84-4552-BA63-E776E805C424}" dt="2026-09-26T05:10:09.577" v="39" actId="164"/>
          <ac:picMkLst>
            <pc:docMk/>
            <pc:sldMk cId="0" sldId="257"/>
            <ac:picMk id="2" creationId="{46CDD753-BA36-5458-19A0-6F69691BC6A6}"/>
          </ac:picMkLst>
        </pc:picChg>
        <pc:picChg chg="add ord">
          <ac:chgData name="Lai, Wilson" userId="2840974a-0d84-4886-90a9-9a3ed79f3a48" providerId="ADAL" clId="{9F23B798-9E84-4552-BA63-E776E805C424}" dt="2026-09-26T05:39:54.370" v="81" actId="166"/>
          <ac:picMkLst>
            <pc:docMk/>
            <pc:sldMk cId="0" sldId="257"/>
            <ac:picMk id="4" creationId="{D67775BE-4F64-6757-C596-265439E955AC}"/>
          </ac:picMkLst>
        </pc:picChg>
      </pc:sldChg>
      <pc:sldChg chg="addSp delSp mod modNotes modNotesTx">
        <pc:chgData name="Lai, Wilson" userId="2840974a-0d84-4886-90a9-9a3ed79f3a48" providerId="ADAL" clId="{9F23B798-9E84-4552-BA63-E776E805C424}" dt="2026-09-26T05:18:12.280" v="74"/>
        <pc:sldMkLst>
          <pc:docMk/>
          <pc:sldMk cId="0" sldId="258"/>
        </pc:sldMkLst>
        <pc:picChg chg="del">
          <ac:chgData name="Lai, Wilson" userId="2840974a-0d84-4886-90a9-9a3ed79f3a48" providerId="ADAL" clId="{9F23B798-9E84-4552-BA63-E776E805C424}" dt="2026-09-26T00:13:58.700" v="3" actId="21"/>
          <ac:picMkLst>
            <pc:docMk/>
            <pc:sldMk cId="0" sldId="258"/>
            <ac:picMk id="2" creationId="{00000000-0000-0000-0000-000000000000}"/>
          </ac:picMkLst>
        </pc:picChg>
        <pc:picChg chg="add">
          <ac:chgData name="Lai, Wilson" userId="2840974a-0d84-4886-90a9-9a3ed79f3a48" providerId="ADAL" clId="{9F23B798-9E84-4552-BA63-E776E805C424}" dt="2026-09-26T00:14:07.848" v="4" actId="22"/>
          <ac:picMkLst>
            <pc:docMk/>
            <pc:sldMk cId="0" sldId="258"/>
            <ac:picMk id="4" creationId="{9412E3A1-03C1-3720-1A90-D10B75EE8899}"/>
          </ac:picMkLst>
        </pc:picChg>
      </pc:sldChg>
      <pc:sldChg chg="addSp delSp mod modNotes modNotesTx">
        <pc:chgData name="Lai, Wilson" userId="2840974a-0d84-4886-90a9-9a3ed79f3a48" providerId="ADAL" clId="{9F23B798-9E84-4552-BA63-E776E805C424}" dt="2026-09-26T05:18:12.280" v="74"/>
        <pc:sldMkLst>
          <pc:docMk/>
          <pc:sldMk cId="0" sldId="259"/>
        </pc:sldMkLst>
        <pc:picChg chg="del">
          <ac:chgData name="Lai, Wilson" userId="2840974a-0d84-4886-90a9-9a3ed79f3a48" providerId="ADAL" clId="{9F23B798-9E84-4552-BA63-E776E805C424}" dt="2026-09-26T00:14:09.434" v="5" actId="21"/>
          <ac:picMkLst>
            <pc:docMk/>
            <pc:sldMk cId="0" sldId="259"/>
            <ac:picMk id="2" creationId="{00000000-0000-0000-0000-000000000000}"/>
          </ac:picMkLst>
        </pc:picChg>
        <pc:picChg chg="add">
          <ac:chgData name="Lai, Wilson" userId="2840974a-0d84-4886-90a9-9a3ed79f3a48" providerId="ADAL" clId="{9F23B798-9E84-4552-BA63-E776E805C424}" dt="2026-09-26T00:15:01.878" v="6" actId="22"/>
          <ac:picMkLst>
            <pc:docMk/>
            <pc:sldMk cId="0" sldId="259"/>
            <ac:picMk id="4" creationId="{DE8794CC-5BB9-3DDE-C1E5-917D37A9760C}"/>
          </ac:picMkLst>
        </pc:picChg>
      </pc:sldChg>
      <pc:sldChg chg="addSp delSp mod modNotes modNotesTx">
        <pc:chgData name="Lai, Wilson" userId="2840974a-0d84-4886-90a9-9a3ed79f3a48" providerId="ADAL" clId="{9F23B798-9E84-4552-BA63-E776E805C424}" dt="2026-09-26T05:18:12.280" v="74"/>
        <pc:sldMkLst>
          <pc:docMk/>
          <pc:sldMk cId="0" sldId="260"/>
        </pc:sldMkLst>
        <pc:picChg chg="del">
          <ac:chgData name="Lai, Wilson" userId="2840974a-0d84-4886-90a9-9a3ed79f3a48" providerId="ADAL" clId="{9F23B798-9E84-4552-BA63-E776E805C424}" dt="2026-09-26T00:15:04.828" v="7" actId="21"/>
          <ac:picMkLst>
            <pc:docMk/>
            <pc:sldMk cId="0" sldId="260"/>
            <ac:picMk id="2" creationId="{00000000-0000-0000-0000-000000000000}"/>
          </ac:picMkLst>
        </pc:picChg>
        <pc:picChg chg="add">
          <ac:chgData name="Lai, Wilson" userId="2840974a-0d84-4886-90a9-9a3ed79f3a48" providerId="ADAL" clId="{9F23B798-9E84-4552-BA63-E776E805C424}" dt="2026-09-26T00:15:54.043" v="8" actId="22"/>
          <ac:picMkLst>
            <pc:docMk/>
            <pc:sldMk cId="0" sldId="260"/>
            <ac:picMk id="4" creationId="{58FAC225-08DF-6836-6781-C47A6BABEF9F}"/>
          </ac:picMkLst>
        </pc:picChg>
      </pc:sldChg>
      <pc:sldChg chg="addSp delSp mod modNotes modNotesTx">
        <pc:chgData name="Lai, Wilson" userId="2840974a-0d84-4886-90a9-9a3ed79f3a48" providerId="ADAL" clId="{9F23B798-9E84-4552-BA63-E776E805C424}" dt="2026-09-26T05:18:21.719" v="75"/>
        <pc:sldMkLst>
          <pc:docMk/>
          <pc:sldMk cId="0" sldId="261"/>
        </pc:sldMkLst>
        <pc:picChg chg="del">
          <ac:chgData name="Lai, Wilson" userId="2840974a-0d84-4886-90a9-9a3ed79f3a48" providerId="ADAL" clId="{9F23B798-9E84-4552-BA63-E776E805C424}" dt="2026-09-26T00:15:56.495" v="9" actId="21"/>
          <ac:picMkLst>
            <pc:docMk/>
            <pc:sldMk cId="0" sldId="261"/>
            <ac:picMk id="2" creationId="{00000000-0000-0000-0000-000000000000}"/>
          </ac:picMkLst>
        </pc:picChg>
        <pc:picChg chg="add">
          <ac:chgData name="Lai, Wilson" userId="2840974a-0d84-4886-90a9-9a3ed79f3a48" providerId="ADAL" clId="{9F23B798-9E84-4552-BA63-E776E805C424}" dt="2026-09-26T00:16:27.707" v="10" actId="22"/>
          <ac:picMkLst>
            <pc:docMk/>
            <pc:sldMk cId="0" sldId="261"/>
            <ac:picMk id="4" creationId="{4DBD559E-9679-0241-381E-D8C2733B8F2C}"/>
          </ac:picMkLst>
        </pc:picChg>
      </pc:sldChg>
      <pc:sldChg chg="addSp delSp mod modNotes modNotesTx">
        <pc:chgData name="Lai, Wilson" userId="2840974a-0d84-4886-90a9-9a3ed79f3a48" providerId="ADAL" clId="{9F23B798-9E84-4552-BA63-E776E805C424}" dt="2026-09-26T05:18:12.280" v="74"/>
        <pc:sldMkLst>
          <pc:docMk/>
          <pc:sldMk cId="0" sldId="262"/>
        </pc:sldMkLst>
        <pc:picChg chg="del">
          <ac:chgData name="Lai, Wilson" userId="2840974a-0d84-4886-90a9-9a3ed79f3a48" providerId="ADAL" clId="{9F23B798-9E84-4552-BA63-E776E805C424}" dt="2026-09-26T00:16:30.955" v="11" actId="21"/>
          <ac:picMkLst>
            <pc:docMk/>
            <pc:sldMk cId="0" sldId="262"/>
            <ac:picMk id="2" creationId="{00000000-0000-0000-0000-000000000000}"/>
          </ac:picMkLst>
        </pc:picChg>
        <pc:picChg chg="add">
          <ac:chgData name="Lai, Wilson" userId="2840974a-0d84-4886-90a9-9a3ed79f3a48" providerId="ADAL" clId="{9F23B798-9E84-4552-BA63-E776E805C424}" dt="2026-09-26T00:16:39.727" v="12" actId="22"/>
          <ac:picMkLst>
            <pc:docMk/>
            <pc:sldMk cId="0" sldId="262"/>
            <ac:picMk id="4" creationId="{AAE34FBE-19DB-9E2C-830A-8AA016B55C27}"/>
          </ac:picMkLst>
        </pc:picChg>
      </pc:sldChg>
      <pc:sldChg chg="addSp delSp mod modNotes modNotesTx">
        <pc:chgData name="Lai, Wilson" userId="2840974a-0d84-4886-90a9-9a3ed79f3a48" providerId="ADAL" clId="{9F23B798-9E84-4552-BA63-E776E805C424}" dt="2026-09-26T05:18:12.280" v="74"/>
        <pc:sldMkLst>
          <pc:docMk/>
          <pc:sldMk cId="0" sldId="263"/>
        </pc:sldMkLst>
        <pc:picChg chg="del">
          <ac:chgData name="Lai, Wilson" userId="2840974a-0d84-4886-90a9-9a3ed79f3a48" providerId="ADAL" clId="{9F23B798-9E84-4552-BA63-E776E805C424}" dt="2026-09-26T00:16:41.026" v="13" actId="21"/>
          <ac:picMkLst>
            <pc:docMk/>
            <pc:sldMk cId="0" sldId="263"/>
            <ac:picMk id="2" creationId="{00000000-0000-0000-0000-000000000000}"/>
          </ac:picMkLst>
        </pc:picChg>
        <pc:picChg chg="add">
          <ac:chgData name="Lai, Wilson" userId="2840974a-0d84-4886-90a9-9a3ed79f3a48" providerId="ADAL" clId="{9F23B798-9E84-4552-BA63-E776E805C424}" dt="2026-09-26T00:16:54.930" v="14" actId="22"/>
          <ac:picMkLst>
            <pc:docMk/>
            <pc:sldMk cId="0" sldId="263"/>
            <ac:picMk id="4" creationId="{AA33BA3D-0250-FEEF-C152-D0029BE0213C}"/>
          </ac:picMkLst>
        </pc:picChg>
      </pc:sldChg>
      <pc:sldChg chg="addSp delSp mod modNotes modNotesTx">
        <pc:chgData name="Lai, Wilson" userId="2840974a-0d84-4886-90a9-9a3ed79f3a48" providerId="ADAL" clId="{9F23B798-9E84-4552-BA63-E776E805C424}" dt="2026-09-26T05:18:12.280" v="74"/>
        <pc:sldMkLst>
          <pc:docMk/>
          <pc:sldMk cId="0" sldId="264"/>
        </pc:sldMkLst>
        <pc:picChg chg="del">
          <ac:chgData name="Lai, Wilson" userId="2840974a-0d84-4886-90a9-9a3ed79f3a48" providerId="ADAL" clId="{9F23B798-9E84-4552-BA63-E776E805C424}" dt="2026-09-26T00:16:56.393" v="15" actId="21"/>
          <ac:picMkLst>
            <pc:docMk/>
            <pc:sldMk cId="0" sldId="264"/>
            <ac:picMk id="2" creationId="{00000000-0000-0000-0000-000000000000}"/>
          </ac:picMkLst>
        </pc:picChg>
        <pc:picChg chg="add">
          <ac:chgData name="Lai, Wilson" userId="2840974a-0d84-4886-90a9-9a3ed79f3a48" providerId="ADAL" clId="{9F23B798-9E84-4552-BA63-E776E805C424}" dt="2026-09-26T00:17:17.156" v="16" actId="22"/>
          <ac:picMkLst>
            <pc:docMk/>
            <pc:sldMk cId="0" sldId="264"/>
            <ac:picMk id="4" creationId="{41B8D9FA-920A-D61A-CF34-ABE14D4758B5}"/>
          </ac:picMkLst>
        </pc:picChg>
      </pc:sldChg>
      <pc:sldChg chg="addSp delSp mod modNotes modNotesTx">
        <pc:chgData name="Lai, Wilson" userId="2840974a-0d84-4886-90a9-9a3ed79f3a48" providerId="ADAL" clId="{9F23B798-9E84-4552-BA63-E776E805C424}" dt="2026-09-26T05:18:12.280" v="74"/>
        <pc:sldMkLst>
          <pc:docMk/>
          <pc:sldMk cId="0" sldId="265"/>
        </pc:sldMkLst>
        <pc:picChg chg="del">
          <ac:chgData name="Lai, Wilson" userId="2840974a-0d84-4886-90a9-9a3ed79f3a48" providerId="ADAL" clId="{9F23B798-9E84-4552-BA63-E776E805C424}" dt="2026-09-26T00:17:18.538" v="17" actId="21"/>
          <ac:picMkLst>
            <pc:docMk/>
            <pc:sldMk cId="0" sldId="265"/>
            <ac:picMk id="2" creationId="{00000000-0000-0000-0000-000000000000}"/>
          </ac:picMkLst>
        </pc:picChg>
        <pc:picChg chg="add">
          <ac:chgData name="Lai, Wilson" userId="2840974a-0d84-4886-90a9-9a3ed79f3a48" providerId="ADAL" clId="{9F23B798-9E84-4552-BA63-E776E805C424}" dt="2026-09-26T00:17:47.632" v="18" actId="22"/>
          <ac:picMkLst>
            <pc:docMk/>
            <pc:sldMk cId="0" sldId="265"/>
            <ac:picMk id="4" creationId="{07F1CC71-A2EC-0EC8-6E5E-F0AEF12A30B1}"/>
          </ac:picMkLst>
        </pc:picChg>
      </pc:sldChg>
      <pc:sldChg chg="addSp delSp mod modNotes modNotesTx">
        <pc:chgData name="Lai, Wilson" userId="2840974a-0d84-4886-90a9-9a3ed79f3a48" providerId="ADAL" clId="{9F23B798-9E84-4552-BA63-E776E805C424}" dt="2026-09-26T05:18:12.280" v="74"/>
        <pc:sldMkLst>
          <pc:docMk/>
          <pc:sldMk cId="0" sldId="266"/>
        </pc:sldMkLst>
        <pc:picChg chg="del">
          <ac:chgData name="Lai, Wilson" userId="2840974a-0d84-4886-90a9-9a3ed79f3a48" providerId="ADAL" clId="{9F23B798-9E84-4552-BA63-E776E805C424}" dt="2026-09-26T00:17:49.023" v="19" actId="21"/>
          <ac:picMkLst>
            <pc:docMk/>
            <pc:sldMk cId="0" sldId="266"/>
            <ac:picMk id="2" creationId="{00000000-0000-0000-0000-000000000000}"/>
          </ac:picMkLst>
        </pc:picChg>
        <pc:picChg chg="add">
          <ac:chgData name="Lai, Wilson" userId="2840974a-0d84-4886-90a9-9a3ed79f3a48" providerId="ADAL" clId="{9F23B798-9E84-4552-BA63-E776E805C424}" dt="2026-09-26T00:18:06.484" v="20" actId="22"/>
          <ac:picMkLst>
            <pc:docMk/>
            <pc:sldMk cId="0" sldId="266"/>
            <ac:picMk id="4" creationId="{232A8943-BDA6-C456-DF14-588D9900EC5A}"/>
          </ac:picMkLst>
        </pc:picChg>
      </pc:sldChg>
      <pc:sldChg chg="addSp delSp mod modNotes modNotesTx">
        <pc:chgData name="Lai, Wilson" userId="2840974a-0d84-4886-90a9-9a3ed79f3a48" providerId="ADAL" clId="{9F23B798-9E84-4552-BA63-E776E805C424}" dt="2026-09-26T05:18:12.280" v="74"/>
        <pc:sldMkLst>
          <pc:docMk/>
          <pc:sldMk cId="0" sldId="267"/>
        </pc:sldMkLst>
        <pc:picChg chg="del">
          <ac:chgData name="Lai, Wilson" userId="2840974a-0d84-4886-90a9-9a3ed79f3a48" providerId="ADAL" clId="{9F23B798-9E84-4552-BA63-E776E805C424}" dt="2026-09-26T00:18:07.621" v="21" actId="21"/>
          <ac:picMkLst>
            <pc:docMk/>
            <pc:sldMk cId="0" sldId="267"/>
            <ac:picMk id="2" creationId="{00000000-0000-0000-0000-000000000000}"/>
          </ac:picMkLst>
        </pc:picChg>
        <pc:picChg chg="add">
          <ac:chgData name="Lai, Wilson" userId="2840974a-0d84-4886-90a9-9a3ed79f3a48" providerId="ADAL" clId="{9F23B798-9E84-4552-BA63-E776E805C424}" dt="2026-09-26T00:19:56.739" v="22" actId="22"/>
          <ac:picMkLst>
            <pc:docMk/>
            <pc:sldMk cId="0" sldId="267"/>
            <ac:picMk id="4" creationId="{D50E1810-99F7-F7D9-8F48-DDA63FF709E7}"/>
          </ac:picMkLst>
        </pc:picChg>
      </pc:sldChg>
      <pc:sldChg chg="addSp delSp mod modNotes modNotesTx">
        <pc:chgData name="Lai, Wilson" userId="2840974a-0d84-4886-90a9-9a3ed79f3a48" providerId="ADAL" clId="{9F23B798-9E84-4552-BA63-E776E805C424}" dt="2026-09-26T05:18:21.719" v="75"/>
        <pc:sldMkLst>
          <pc:docMk/>
          <pc:sldMk cId="0" sldId="268"/>
        </pc:sldMkLst>
        <pc:picChg chg="del">
          <ac:chgData name="Lai, Wilson" userId="2840974a-0d84-4886-90a9-9a3ed79f3a48" providerId="ADAL" clId="{9F23B798-9E84-4552-BA63-E776E805C424}" dt="2026-09-26T00:20:00.590" v="23" actId="21"/>
          <ac:picMkLst>
            <pc:docMk/>
            <pc:sldMk cId="0" sldId="268"/>
            <ac:picMk id="2" creationId="{00000000-0000-0000-0000-000000000000}"/>
          </ac:picMkLst>
        </pc:picChg>
        <pc:picChg chg="add">
          <ac:chgData name="Lai, Wilson" userId="2840974a-0d84-4886-90a9-9a3ed79f3a48" providerId="ADAL" clId="{9F23B798-9E84-4552-BA63-E776E805C424}" dt="2026-09-26T00:20:18.982" v="24" actId="22"/>
          <ac:picMkLst>
            <pc:docMk/>
            <pc:sldMk cId="0" sldId="268"/>
            <ac:picMk id="4" creationId="{E126F987-577E-518B-41C5-8CFB322E0F0C}"/>
          </ac:picMkLst>
        </pc:picChg>
      </pc:sldChg>
      <pc:sldChg chg="addSp delSp mod modNotes modNotesTx">
        <pc:chgData name="Lai, Wilson" userId="2840974a-0d84-4886-90a9-9a3ed79f3a48" providerId="ADAL" clId="{9F23B798-9E84-4552-BA63-E776E805C424}" dt="2026-09-26T05:18:12.280" v="74"/>
        <pc:sldMkLst>
          <pc:docMk/>
          <pc:sldMk cId="0" sldId="269"/>
        </pc:sldMkLst>
        <pc:picChg chg="del">
          <ac:chgData name="Lai, Wilson" userId="2840974a-0d84-4886-90a9-9a3ed79f3a48" providerId="ADAL" clId="{9F23B798-9E84-4552-BA63-E776E805C424}" dt="2026-09-26T00:20:20.843" v="25" actId="21"/>
          <ac:picMkLst>
            <pc:docMk/>
            <pc:sldMk cId="0" sldId="269"/>
            <ac:picMk id="2" creationId="{00000000-0000-0000-0000-000000000000}"/>
          </ac:picMkLst>
        </pc:picChg>
        <pc:picChg chg="add">
          <ac:chgData name="Lai, Wilson" userId="2840974a-0d84-4886-90a9-9a3ed79f3a48" providerId="ADAL" clId="{9F23B798-9E84-4552-BA63-E776E805C424}" dt="2026-09-26T00:20:57.377" v="26" actId="22"/>
          <ac:picMkLst>
            <pc:docMk/>
            <pc:sldMk cId="0" sldId="269"/>
            <ac:picMk id="4" creationId="{3DFF58D5-B1D7-E540-4E43-BE7882645541}"/>
          </ac:picMkLst>
        </pc:picChg>
      </pc:sldChg>
      <pc:sldChg chg="addSp delSp mod modNotes modNotesTx">
        <pc:chgData name="Lai, Wilson" userId="2840974a-0d84-4886-90a9-9a3ed79f3a48" providerId="ADAL" clId="{9F23B798-9E84-4552-BA63-E776E805C424}" dt="2026-09-26T05:18:12.280" v="74"/>
        <pc:sldMkLst>
          <pc:docMk/>
          <pc:sldMk cId="0" sldId="270"/>
        </pc:sldMkLst>
        <pc:picChg chg="del">
          <ac:chgData name="Lai, Wilson" userId="2840974a-0d84-4886-90a9-9a3ed79f3a48" providerId="ADAL" clId="{9F23B798-9E84-4552-BA63-E776E805C424}" dt="2026-09-26T00:20:59.612" v="27" actId="21"/>
          <ac:picMkLst>
            <pc:docMk/>
            <pc:sldMk cId="0" sldId="270"/>
            <ac:picMk id="2" creationId="{00000000-0000-0000-0000-000000000000}"/>
          </ac:picMkLst>
        </pc:picChg>
        <pc:picChg chg="add">
          <ac:chgData name="Lai, Wilson" userId="2840974a-0d84-4886-90a9-9a3ed79f3a48" providerId="ADAL" clId="{9F23B798-9E84-4552-BA63-E776E805C424}" dt="2026-09-26T00:21:08.247" v="28" actId="22"/>
          <ac:picMkLst>
            <pc:docMk/>
            <pc:sldMk cId="0" sldId="270"/>
            <ac:picMk id="4" creationId="{20AA0118-E20A-22BC-60BC-FB523EC92A3A}"/>
          </ac:picMkLst>
        </pc:picChg>
      </pc:sldChg>
      <pc:sldChg chg="modNotes">
        <pc:chgData name="Lai, Wilson" userId="2840974a-0d84-4886-90a9-9a3ed79f3a48" providerId="ADAL" clId="{9F23B798-9E84-4552-BA63-E776E805C424}" dt="2026-09-26T05:18:12.280" v="74"/>
        <pc:sldMkLst>
          <pc:docMk/>
          <pc:sldMk cId="77566975" sldId="271"/>
        </pc:sldMkLst>
      </pc:sldChg>
      <pc:sldMasterChg chg="setBg">
        <pc:chgData name="Lai, Wilson" userId="2840974a-0d84-4886-90a9-9a3ed79f3a48" providerId="ADAL" clId="{9F23B798-9E84-4552-BA63-E776E805C424}" dt="2026-09-26T00:12:22.785" v="0"/>
        <pc:sldMasterMkLst>
          <pc:docMk/>
          <pc:sldMasterMk cId="572864422" sldId="2147483648"/>
        </pc:sldMasterMkLst>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2C507BF-7903-4928-B982-2D0E83242546}"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C6D7A0E-8058-41DA-9107-72D7295FD706}" type="slidenum">
              <a:rPr lang="en-US" smtClean="0"/>
              <a:t>‹#›</a:t>
            </a:fld>
            <a:endParaRPr lang="en-US"/>
          </a:p>
        </p:txBody>
      </p:sp>
    </p:spTree>
    <p:extLst>
      <p:ext uri="{BB962C8B-B14F-4D97-AF65-F5344CB8AC3E}">
        <p14:creationId xmlns:p14="http://schemas.microsoft.com/office/powerpoint/2010/main" val="240484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Introduction &amp; Context:</a:t>
            </a:r>
            <a:r>
              <a:rPr lang="en-US" sz="1200" kern="1200" dirty="0">
                <a:solidFill>
                  <a:schemeClr val="tx1"/>
                </a:solidFill>
                <a:effectLst/>
                <a:latin typeface="+mn-lt"/>
                <a:ea typeface="+mn-ea"/>
                <a:cs typeface="+mn-cs"/>
              </a:rPr>
              <a:t> Good morning/afternoon everyone. Today, we are analyzing China's masterplan for frontier science and technology, titled </a:t>
            </a:r>
            <a:r>
              <a:rPr lang="en-US" sz="1200" i="1" kern="1200" dirty="0">
                <a:solidFill>
                  <a:schemeClr val="tx1"/>
                </a:solidFill>
                <a:effectLst/>
                <a:latin typeface="+mn-lt"/>
                <a:ea typeface="+mn-ea"/>
                <a:cs typeface="+mn-cs"/>
              </a:rPr>
              <a:t>"The 2030 Mandate: China's Masterplan for the Industries of the Future"</a:t>
            </a:r>
            <a:r>
              <a:rPr lang="en-US" sz="1200" kern="1200" dirty="0">
                <a:solidFill>
                  <a:schemeClr val="tx1"/>
                </a:solidFill>
                <a:effectLst/>
                <a:latin typeface="+mn-lt"/>
                <a:ea typeface="+mn-ea"/>
                <a:cs typeface="+mn-cs"/>
              </a:rPr>
              <a:t>. </a:t>
            </a:r>
          </a:p>
          <a:p>
            <a:pPr lvl="0"/>
            <a:r>
              <a:rPr lang="en-US" sz="1200" b="1" kern="1200" dirty="0">
                <a:solidFill>
                  <a:schemeClr val="tx1"/>
                </a:solidFill>
                <a:effectLst/>
                <a:latin typeface="+mn-lt"/>
                <a:ea typeface="+mn-ea"/>
                <a:cs typeface="+mn-cs"/>
              </a:rPr>
              <a:t>Core Thesis:</a:t>
            </a:r>
            <a:r>
              <a:rPr lang="en-US" sz="1200" kern="1200" dirty="0">
                <a:solidFill>
                  <a:schemeClr val="tx1"/>
                </a:solidFill>
                <a:effectLst/>
                <a:latin typeface="+mn-lt"/>
                <a:ea typeface="+mn-ea"/>
                <a:cs typeface="+mn-cs"/>
              </a:rPr>
              <a:t> Beijing is mobilizing a "whole-of-society" strategy to dominate six critical future industries—specifically Brain-Computer Interfaces (BCI), Quantum Computing, Artificial General Intelligence (AGI), Biomanufacturing, Nuclear Fusion, and Embodied AI. </a:t>
            </a:r>
          </a:p>
          <a:p>
            <a:pPr lvl="0"/>
            <a:r>
              <a:rPr lang="en-US" sz="1200" b="1" kern="1200" dirty="0">
                <a:solidFill>
                  <a:schemeClr val="tx1"/>
                </a:solidFill>
                <a:effectLst/>
                <a:latin typeface="+mn-lt"/>
                <a:ea typeface="+mn-ea"/>
                <a:cs typeface="+mn-cs"/>
              </a:rPr>
              <a:t>Geopolitical Imperative:</a:t>
            </a:r>
            <a:r>
              <a:rPr lang="en-US" sz="1200" kern="1200" dirty="0">
                <a:solidFill>
                  <a:schemeClr val="tx1"/>
                </a:solidFill>
                <a:effectLst/>
                <a:latin typeface="+mn-lt"/>
                <a:ea typeface="+mn-ea"/>
                <a:cs typeface="+mn-cs"/>
              </a:rPr>
              <a:t> This is not merely an R&amp;D initiative; it is a coordinated campaign to re-engineer global supply chains, create strategic dominance, and achieve a geopolitical reality where Chinese technological infrastructure forms the bedrock of the global economy. </a:t>
            </a:r>
          </a:p>
          <a:p>
            <a:pPr lvl="0"/>
            <a:r>
              <a:rPr lang="en-US" sz="1200" b="1" kern="1200" dirty="0">
                <a:solidFill>
                  <a:schemeClr val="tx1"/>
                </a:solidFill>
                <a:effectLst/>
                <a:latin typeface="+mn-lt"/>
                <a:ea typeface="+mn-ea"/>
                <a:cs typeface="+mn-cs"/>
              </a:rPr>
              <a:t>Key Takeaway:</a:t>
            </a:r>
            <a:r>
              <a:rPr lang="en-US" sz="1200" kern="1200" dirty="0">
                <a:solidFill>
                  <a:schemeClr val="tx1"/>
                </a:solidFill>
                <a:effectLst/>
                <a:latin typeface="+mn-lt"/>
                <a:ea typeface="+mn-ea"/>
                <a:cs typeface="+mn-cs"/>
              </a:rPr>
              <a:t> Over the next 45 minutes, we will unpack how China plans to commercialize these technologies by 2030 as a stepping stone toward its 2049 centenary vision. </a:t>
            </a:r>
          </a:p>
          <a:p>
            <a:endParaRPr lang="en-US" dirty="0"/>
          </a:p>
          <a:p>
            <a:endParaRPr lang="en-US" dirty="0"/>
          </a:p>
          <a:p>
            <a:endParaRPr lang="en-US" dirty="0"/>
          </a:p>
          <a:p>
            <a:endParaRPr lang="en-US" dirty="0"/>
          </a:p>
          <a:p>
            <a:r>
              <a:rPr lang="en-US" b="1" dirty="0"/>
              <a:t>Inside China’s Plan To Build The Industries Of The Future | When Titans Clash</a:t>
            </a:r>
          </a:p>
          <a:p>
            <a:r>
              <a:rPr lang="en-US" dirty="0"/>
              <a:t>https://www.youtube.com/watch?v=4SXMXXXlnZ4</a:t>
            </a:r>
          </a:p>
        </p:txBody>
      </p:sp>
      <p:sp>
        <p:nvSpPr>
          <p:cNvPr id="4" name="Slide Number Placeholder 3"/>
          <p:cNvSpPr>
            <a:spLocks noGrp="1"/>
          </p:cNvSpPr>
          <p:nvPr>
            <p:ph type="sldNum" sz="quarter" idx="5"/>
          </p:nvPr>
        </p:nvSpPr>
        <p:spPr/>
        <p:txBody>
          <a:bodyPr/>
          <a:lstStyle/>
          <a:p>
            <a:fld id="{4B01FD32-A162-4A98-98AC-76DEFD477D58}" type="slidenum">
              <a:rPr lang="en-US" smtClean="0"/>
              <a:t>1</a:t>
            </a:fld>
            <a:endParaRPr lang="en-US"/>
          </a:p>
        </p:txBody>
      </p:sp>
    </p:spTree>
    <p:extLst>
      <p:ext uri="{BB962C8B-B14F-4D97-AF65-F5344CB8AC3E}">
        <p14:creationId xmlns:p14="http://schemas.microsoft.com/office/powerpoint/2010/main" val="2657390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2030 Mandate:</a:t>
            </a:r>
            <a:r>
              <a:rPr lang="en-US" sz="1200" kern="1200" dirty="0">
                <a:solidFill>
                  <a:schemeClr val="tx1"/>
                </a:solidFill>
                <a:effectLst/>
                <a:latin typeface="+mn-lt"/>
                <a:ea typeface="+mn-ea"/>
                <a:cs typeface="+mn-cs"/>
              </a:rPr>
              <a:t> This slide highlights the core priorities and execution mechanism behind Beijing's strategy. </a:t>
            </a:r>
          </a:p>
          <a:p>
            <a:pPr lvl="0"/>
            <a:r>
              <a:rPr lang="en-US" sz="1200" b="1" kern="1200" dirty="0">
                <a:solidFill>
                  <a:schemeClr val="tx1"/>
                </a:solidFill>
                <a:effectLst/>
                <a:latin typeface="+mn-lt"/>
                <a:ea typeface="+mn-ea"/>
                <a:cs typeface="+mn-cs"/>
              </a:rPr>
              <a:t>Four Pillars of Dominance:</a:t>
            </a:r>
            <a:endParaRPr lang="en-US" sz="1200" kern="1200" dirty="0">
              <a:solidFill>
                <a:schemeClr val="tx1"/>
              </a:solidFill>
              <a:effectLst/>
              <a:latin typeface="+mn-lt"/>
              <a:ea typeface="+mn-ea"/>
              <a:cs typeface="+mn-cs"/>
            </a:endParaRPr>
          </a:p>
          <a:p>
            <a:pPr marL="228600" lvl="0" indent="-228600">
              <a:buFont typeface="+mj-lt"/>
              <a:buAutoNum type="arabicPeriod"/>
            </a:pPr>
            <a:r>
              <a:rPr lang="en-US" sz="1200" b="1" kern="1200" dirty="0">
                <a:solidFill>
                  <a:schemeClr val="tx1"/>
                </a:solidFill>
                <a:effectLst/>
                <a:latin typeface="+mn-lt"/>
                <a:ea typeface="+mn-ea"/>
                <a:cs typeface="+mn-cs"/>
              </a:rPr>
              <a:t>Embodied AI &amp; Human-Robot Coexistence:</a:t>
            </a:r>
            <a:r>
              <a:rPr lang="en-US" sz="1200" kern="1200" dirty="0">
                <a:solidFill>
                  <a:schemeClr val="tx1"/>
                </a:solidFill>
                <a:effectLst/>
                <a:latin typeface="+mn-lt"/>
                <a:ea typeface="+mn-ea"/>
                <a:cs typeface="+mn-cs"/>
              </a:rPr>
              <a:t> China already accounted for 90% of global humanoid robot shipments in 2025. They are aggressively deploying embodied AI, 6G communication networks, and hyperscale data centers. </a:t>
            </a:r>
          </a:p>
          <a:p>
            <a:pPr marL="228600" lvl="0" indent="-228600">
              <a:buFont typeface="+mj-lt"/>
              <a:buAutoNum type="arabicPeriod"/>
            </a:pPr>
            <a:r>
              <a:rPr lang="en-US" sz="1200" b="1" kern="1200" dirty="0">
                <a:solidFill>
                  <a:schemeClr val="tx1"/>
                </a:solidFill>
                <a:effectLst/>
                <a:latin typeface="+mn-lt"/>
                <a:ea typeface="+mn-ea"/>
                <a:cs typeface="+mn-cs"/>
              </a:rPr>
              <a:t>Brain-Computer Interfaces (BCI):</a:t>
            </a:r>
            <a:r>
              <a:rPr lang="en-US" sz="1200" kern="1200" dirty="0">
                <a:solidFill>
                  <a:schemeClr val="tx1"/>
                </a:solidFill>
                <a:effectLst/>
                <a:latin typeface="+mn-lt"/>
                <a:ea typeface="+mn-ea"/>
                <a:cs typeface="+mn-cs"/>
              </a:rPr>
              <a:t> Rapidly shifting from assisting disabled individuals to human capability enhancement, with commercial BCI devices reaching sub-100-millisecond latency. </a:t>
            </a:r>
          </a:p>
          <a:p>
            <a:pPr marL="228600" lvl="0" indent="-228600">
              <a:buFont typeface="+mj-lt"/>
              <a:buAutoNum type="arabicPeriod"/>
            </a:pPr>
            <a:r>
              <a:rPr lang="en-US" sz="1200" b="1" kern="1200" dirty="0">
                <a:solidFill>
                  <a:schemeClr val="tx1"/>
                </a:solidFill>
                <a:effectLst/>
                <a:latin typeface="+mn-lt"/>
                <a:ea typeface="+mn-ea"/>
                <a:cs typeface="+mn-cs"/>
              </a:rPr>
              <a:t>Mega-Science Infrastructure:</a:t>
            </a:r>
            <a:r>
              <a:rPr lang="en-US" sz="1200" kern="1200" dirty="0">
                <a:solidFill>
                  <a:schemeClr val="tx1"/>
                </a:solidFill>
                <a:effectLst/>
                <a:latin typeface="+mn-lt"/>
                <a:ea typeface="+mn-ea"/>
                <a:cs typeface="+mn-cs"/>
              </a:rPr>
              <a:t> State-of-the-art facilities like the High Energy Photon Source (HEPS) are accelerating breakthroughs in biomanufacturing and pharmaceutical discovery. </a:t>
            </a:r>
          </a:p>
          <a:p>
            <a:pPr marL="228600" lvl="0" indent="-228600">
              <a:buFont typeface="+mj-lt"/>
              <a:buAutoNum type="arabicPeriod"/>
            </a:pPr>
            <a:r>
              <a:rPr lang="en-US" sz="1200" b="1" kern="1200" dirty="0">
                <a:solidFill>
                  <a:schemeClr val="tx1"/>
                </a:solidFill>
                <a:effectLst/>
                <a:latin typeface="+mn-lt"/>
                <a:ea typeface="+mn-ea"/>
                <a:cs typeface="+mn-cs"/>
              </a:rPr>
              <a:t>Quantum &amp; Fusion Breakthroughs:</a:t>
            </a:r>
            <a:r>
              <a:rPr lang="en-US" sz="1200" kern="1200" dirty="0">
                <a:solidFill>
                  <a:schemeClr val="tx1"/>
                </a:solidFill>
                <a:effectLst/>
                <a:latin typeface="+mn-lt"/>
                <a:ea typeface="+mn-ea"/>
                <a:cs typeface="+mn-cs"/>
              </a:rPr>
              <a:t> Advancing room-temperature quantum computing and Tokamak plasma stabilization for clean energy and compute dominance. </a:t>
            </a:r>
          </a:p>
          <a:p>
            <a:pPr lvl="0"/>
            <a:r>
              <a:rPr lang="en-US" sz="1200" b="1" kern="1200" dirty="0">
                <a:solidFill>
                  <a:schemeClr val="tx1"/>
                </a:solidFill>
                <a:effectLst/>
                <a:latin typeface="+mn-lt"/>
                <a:ea typeface="+mn-ea"/>
                <a:cs typeface="+mn-cs"/>
              </a:rPr>
              <a:t>Governance Engine:</a:t>
            </a:r>
            <a:r>
              <a:rPr lang="en-US" sz="1200" kern="1200" dirty="0">
                <a:solidFill>
                  <a:schemeClr val="tx1"/>
                </a:solidFill>
                <a:effectLst/>
                <a:latin typeface="+mn-lt"/>
                <a:ea typeface="+mn-ea"/>
                <a:cs typeface="+mn-cs"/>
              </a:rPr>
              <a:t> What unites these efforts is the "whole-of-society" model, aligning universities, state banks, local governments, and capital markets to de-risk high-stakes, early-stage technologies.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2</a:t>
            </a:fld>
            <a:endParaRPr lang="en-US"/>
          </a:p>
        </p:txBody>
      </p:sp>
    </p:spTree>
    <p:extLst>
      <p:ext uri="{BB962C8B-B14F-4D97-AF65-F5344CB8AC3E}">
        <p14:creationId xmlns:p14="http://schemas.microsoft.com/office/powerpoint/2010/main" val="1630809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Economic Transition:</a:t>
            </a:r>
            <a:r>
              <a:rPr lang="en-US" sz="1200" kern="1200" dirty="0">
                <a:solidFill>
                  <a:schemeClr val="tx1"/>
                </a:solidFill>
                <a:effectLst/>
                <a:latin typeface="+mn-lt"/>
                <a:ea typeface="+mn-ea"/>
                <a:cs typeface="+mn-cs"/>
              </a:rPr>
              <a:t> Why is Beijing pursuing basic frontier science so aggressively? Facing a slowing domestic economy and demographic aging, Beijing views basic science as the singular engine to escape the "Middle-Income Trap". </a:t>
            </a:r>
          </a:p>
          <a:p>
            <a:pPr lvl="0"/>
            <a:r>
              <a:rPr lang="en-US" sz="1200" b="1" kern="1200" dirty="0">
                <a:solidFill>
                  <a:schemeClr val="tx1"/>
                </a:solidFill>
                <a:effectLst/>
                <a:latin typeface="+mn-lt"/>
                <a:ea typeface="+mn-ea"/>
                <a:cs typeface="+mn-cs"/>
              </a:rPr>
              <a:t>The Secret Formula:</a:t>
            </a:r>
            <a:r>
              <a:rPr lang="en-US" sz="1200" kern="1200" dirty="0">
                <a:solidFill>
                  <a:schemeClr val="tx1"/>
                </a:solidFill>
                <a:effectLst/>
                <a:latin typeface="+mn-lt"/>
                <a:ea typeface="+mn-ea"/>
                <a:cs typeface="+mn-cs"/>
              </a:rPr>
              <a:t> The structural shift is substituting cheap manufacturing labor with high-value basic science innovation. </a:t>
            </a:r>
          </a:p>
          <a:p>
            <a:pPr lvl="0"/>
            <a:r>
              <a:rPr lang="en-US" sz="1200" b="1" kern="1200" dirty="0">
                <a:solidFill>
                  <a:schemeClr val="tx1"/>
                </a:solidFill>
                <a:effectLst/>
                <a:latin typeface="+mn-lt"/>
                <a:ea typeface="+mn-ea"/>
                <a:cs typeface="+mn-cs"/>
              </a:rPr>
              <a:t>Proven Track Record:</a:t>
            </a:r>
            <a:r>
              <a:rPr lang="en-US" sz="1200" kern="1200" dirty="0">
                <a:solidFill>
                  <a:schemeClr val="tx1"/>
                </a:solidFill>
                <a:effectLst/>
                <a:latin typeface="+mn-lt"/>
                <a:ea typeface="+mn-ea"/>
                <a:cs typeface="+mn-cs"/>
              </a:rPr>
              <a:t> This playbook is not theoretical. Over the last decade, China applied state-backed coordination to dominate: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Electric Vehicles (EVs):</a:t>
            </a:r>
            <a:r>
              <a:rPr lang="en-US" sz="1200" kern="1200" dirty="0">
                <a:solidFill>
                  <a:schemeClr val="tx1"/>
                </a:solidFill>
                <a:effectLst/>
                <a:latin typeface="+mn-lt"/>
                <a:ea typeface="+mn-ea"/>
                <a:cs typeface="+mn-cs"/>
              </a:rPr>
              <a:t> Surpassing traditional global automakers across major international markets.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Photovoltaics (Solar):</a:t>
            </a:r>
            <a:r>
              <a:rPr lang="en-US" sz="1200" kern="1200" dirty="0">
                <a:solidFill>
                  <a:schemeClr val="tx1"/>
                </a:solidFill>
                <a:effectLst/>
                <a:latin typeface="+mn-lt"/>
                <a:ea typeface="+mn-ea"/>
                <a:cs typeface="+mn-cs"/>
              </a:rPr>
              <a:t> Controlling over 80% of global solar panel production.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Low-Altitude Drones:</a:t>
            </a:r>
            <a:r>
              <a:rPr lang="en-US" sz="1200" kern="1200" dirty="0">
                <a:solidFill>
                  <a:schemeClr val="tx1"/>
                </a:solidFill>
                <a:effectLst/>
                <a:latin typeface="+mn-lt"/>
                <a:ea typeface="+mn-ea"/>
                <a:cs typeface="+mn-cs"/>
              </a:rPr>
              <a:t> Establishing undisputed global market leadership in cost and performance. </a:t>
            </a:r>
          </a:p>
          <a:p>
            <a:pPr lvl="0"/>
            <a:r>
              <a:rPr lang="en-US" sz="1200" b="1" kern="1200" dirty="0">
                <a:solidFill>
                  <a:schemeClr val="tx1"/>
                </a:solidFill>
                <a:effectLst/>
                <a:latin typeface="+mn-lt"/>
                <a:ea typeface="+mn-ea"/>
                <a:cs typeface="+mn-cs"/>
              </a:rPr>
              <a:t>Strategic Goal:</a:t>
            </a:r>
            <a:r>
              <a:rPr lang="en-US" sz="1200" kern="1200" dirty="0">
                <a:solidFill>
                  <a:schemeClr val="tx1"/>
                </a:solidFill>
                <a:effectLst/>
                <a:latin typeface="+mn-lt"/>
                <a:ea typeface="+mn-ea"/>
                <a:cs typeface="+mn-cs"/>
              </a:rPr>
              <a:t> China is attempting to replicate its EV and solar success across the six priority future industries by 2030 to challenge global leadership by the PRC's 2049 centenary.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3</a:t>
            </a:fld>
            <a:endParaRPr lang="en-US"/>
          </a:p>
        </p:txBody>
      </p:sp>
    </p:spTree>
    <p:extLst>
      <p:ext uri="{BB962C8B-B14F-4D97-AF65-F5344CB8AC3E}">
        <p14:creationId xmlns:p14="http://schemas.microsoft.com/office/powerpoint/2010/main" val="21712299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De-risking Innovation:</a:t>
            </a:r>
            <a:r>
              <a:rPr lang="en-US" sz="1200" kern="1200" dirty="0">
                <a:solidFill>
                  <a:schemeClr val="tx1"/>
                </a:solidFill>
                <a:effectLst/>
                <a:latin typeface="+mn-lt"/>
                <a:ea typeface="+mn-ea"/>
                <a:cs typeface="+mn-cs"/>
              </a:rPr>
              <a:t> Many ask how China manages to commercialize high-risk technologies faster than Western market economies. The answer lies in their "I5" governance methodology: </a:t>
            </a:r>
          </a:p>
          <a:p>
            <a:pPr marL="228600" lvl="0" indent="-228600">
              <a:buFont typeface="+mj-lt"/>
              <a:buAutoNum type="arabicPeriod"/>
            </a:pPr>
            <a:r>
              <a:rPr lang="en-US" sz="1200" b="1" kern="1200" dirty="0">
                <a:solidFill>
                  <a:schemeClr val="tx1"/>
                </a:solidFill>
                <a:effectLst/>
                <a:latin typeface="+mn-lt"/>
                <a:ea typeface="+mn-ea"/>
                <a:cs typeface="+mn-cs"/>
              </a:rPr>
              <a:t>Ideas:</a:t>
            </a:r>
            <a:r>
              <a:rPr lang="en-US" sz="1200" kern="1200" dirty="0">
                <a:solidFill>
                  <a:schemeClr val="tx1"/>
                </a:solidFill>
                <a:effectLst/>
                <a:latin typeface="+mn-lt"/>
                <a:ea typeface="+mn-ea"/>
                <a:cs typeface="+mn-cs"/>
              </a:rPr>
              <a:t> Strategic top-down selection of 2030 future industries by central planners. </a:t>
            </a:r>
          </a:p>
          <a:p>
            <a:pPr marL="228600" lvl="0" indent="-228600">
              <a:buFont typeface="+mj-lt"/>
              <a:buAutoNum type="arabicPeriod"/>
            </a:pPr>
            <a:r>
              <a:rPr lang="en-US" sz="1200" b="1" kern="1200" dirty="0">
                <a:solidFill>
                  <a:schemeClr val="tx1"/>
                </a:solidFill>
                <a:effectLst/>
                <a:latin typeface="+mn-lt"/>
                <a:ea typeface="+mn-ea"/>
                <a:cs typeface="+mn-cs"/>
              </a:rPr>
              <a:t>Institutions:</a:t>
            </a:r>
            <a:r>
              <a:rPr lang="en-US" sz="1200" kern="1200" dirty="0">
                <a:solidFill>
                  <a:schemeClr val="tx1"/>
                </a:solidFill>
                <a:effectLst/>
                <a:latin typeface="+mn-lt"/>
                <a:ea typeface="+mn-ea"/>
                <a:cs typeface="+mn-cs"/>
              </a:rPr>
              <a:t> Alignment across universities, regional governments, and market mechanisms. </a:t>
            </a:r>
          </a:p>
          <a:p>
            <a:pPr marL="228600" lvl="0" indent="-228600">
              <a:buFont typeface="+mj-lt"/>
              <a:buAutoNum type="arabicPeriod"/>
            </a:pPr>
            <a:r>
              <a:rPr lang="en-US" sz="1200" b="1" kern="1200" dirty="0">
                <a:solidFill>
                  <a:schemeClr val="tx1"/>
                </a:solidFill>
                <a:effectLst/>
                <a:latin typeface="+mn-lt"/>
                <a:ea typeface="+mn-ea"/>
                <a:cs typeface="+mn-cs"/>
              </a:rPr>
              <a:t>Instruments:</a:t>
            </a:r>
            <a:r>
              <a:rPr lang="en-US" sz="1200" kern="1200" dirty="0">
                <a:solidFill>
                  <a:schemeClr val="tx1"/>
                </a:solidFill>
                <a:effectLst/>
                <a:latin typeface="+mn-lt"/>
                <a:ea typeface="+mn-ea"/>
                <a:cs typeface="+mn-cs"/>
              </a:rPr>
              <a:t> Mobilizing policy banks, targeted venture capital, and dedicated stock market boards. </a:t>
            </a:r>
          </a:p>
          <a:p>
            <a:pPr marL="228600" lvl="0" indent="-228600">
              <a:buFont typeface="+mj-lt"/>
              <a:buAutoNum type="arabicPeriod"/>
            </a:pPr>
            <a:r>
              <a:rPr lang="en-US" sz="1200" b="1" kern="1200" dirty="0">
                <a:solidFill>
                  <a:schemeClr val="tx1"/>
                </a:solidFill>
                <a:effectLst/>
                <a:latin typeface="+mn-lt"/>
                <a:ea typeface="+mn-ea"/>
                <a:cs typeface="+mn-cs"/>
              </a:rPr>
              <a:t>Infrastructure:</a:t>
            </a:r>
            <a:r>
              <a:rPr lang="en-US" sz="1200" kern="1200" dirty="0">
                <a:solidFill>
                  <a:schemeClr val="tx1"/>
                </a:solidFill>
                <a:effectLst/>
                <a:latin typeface="+mn-lt"/>
                <a:ea typeface="+mn-ea"/>
                <a:cs typeface="+mn-cs"/>
              </a:rPr>
              <a:t> Investing heavily in world-class mega-science facilities. </a:t>
            </a:r>
          </a:p>
          <a:p>
            <a:pPr marL="228600" lvl="0" indent="-228600">
              <a:buFont typeface="+mj-lt"/>
              <a:buAutoNum type="arabicPeriod"/>
            </a:pPr>
            <a:r>
              <a:rPr lang="en-US" sz="1200" b="1" kern="1200" dirty="0">
                <a:solidFill>
                  <a:schemeClr val="tx1"/>
                </a:solidFill>
                <a:effectLst/>
                <a:latin typeface="+mn-lt"/>
                <a:ea typeface="+mn-ea"/>
                <a:cs typeface="+mn-cs"/>
              </a:rPr>
              <a:t>Impact:</a:t>
            </a:r>
            <a:r>
              <a:rPr lang="en-US" sz="1200" kern="1200" dirty="0">
                <a:solidFill>
                  <a:schemeClr val="tx1"/>
                </a:solidFill>
                <a:effectLst/>
                <a:latin typeface="+mn-lt"/>
                <a:ea typeface="+mn-ea"/>
                <a:cs typeface="+mn-cs"/>
              </a:rPr>
              <a:t> Rapidly scaling proven prototypes into the domestic economy. </a:t>
            </a:r>
          </a:p>
          <a:p>
            <a:pPr lvl="0"/>
            <a:r>
              <a:rPr lang="en-US" sz="1200" b="1" kern="1200" dirty="0">
                <a:solidFill>
                  <a:schemeClr val="tx1"/>
                </a:solidFill>
                <a:effectLst/>
                <a:latin typeface="+mn-lt"/>
                <a:ea typeface="+mn-ea"/>
                <a:cs typeface="+mn-cs"/>
              </a:rPr>
              <a:t>Core Advantage:</a:t>
            </a:r>
            <a:r>
              <a:rPr lang="en-US" sz="1200" kern="1200" dirty="0">
                <a:solidFill>
                  <a:schemeClr val="tx1"/>
                </a:solidFill>
                <a:effectLst/>
                <a:latin typeface="+mn-lt"/>
                <a:ea typeface="+mn-ea"/>
                <a:cs typeface="+mn-cs"/>
              </a:rPr>
              <a:t> China’s edge is not just its sheer volume of STEM graduates; it is a systematic organizational methodology designed specifically to absorb financial risk and maximize learning under conditions of extreme technological uncertainty.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4</a:t>
            </a:fld>
            <a:endParaRPr lang="en-US"/>
          </a:p>
        </p:txBody>
      </p:sp>
    </p:spTree>
    <p:extLst>
      <p:ext uri="{BB962C8B-B14F-4D97-AF65-F5344CB8AC3E}">
        <p14:creationId xmlns:p14="http://schemas.microsoft.com/office/powerpoint/2010/main" val="26617857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Recreating Basic Science:</a:t>
            </a:r>
            <a:r>
              <a:rPr lang="en-US" sz="1200" kern="1200" dirty="0">
                <a:solidFill>
                  <a:schemeClr val="tx1"/>
                </a:solidFill>
                <a:effectLst/>
                <a:latin typeface="+mn-lt"/>
                <a:ea typeface="+mn-ea"/>
                <a:cs typeface="+mn-cs"/>
              </a:rPr>
              <a:t> Historically, breakthrough tech hubs like Silicon Valley were built on decades of foundational Western scientific R&amp;D. China is attempting to build an equivalent domestic deep-science ecosystem overnight through its Mega-Science Matrix. </a:t>
            </a:r>
          </a:p>
          <a:p>
            <a:pPr lvl="0"/>
            <a:r>
              <a:rPr lang="en-US" sz="1200" b="1" kern="1200" dirty="0">
                <a:solidFill>
                  <a:schemeClr val="tx1"/>
                </a:solidFill>
                <a:effectLst/>
                <a:latin typeface="+mn-lt"/>
                <a:ea typeface="+mn-ea"/>
                <a:cs typeface="+mn-cs"/>
              </a:rPr>
              <a:t>Key Facilities Spotlighted:</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FAST Radio Telescope:</a:t>
            </a:r>
            <a:r>
              <a:rPr lang="en-US" sz="1200" kern="1200" dirty="0">
                <a:solidFill>
                  <a:schemeClr val="tx1"/>
                </a:solidFill>
                <a:effectLst/>
                <a:latin typeface="+mn-lt"/>
                <a:ea typeface="+mn-ea"/>
                <a:cs typeface="+mn-cs"/>
              </a:rPr>
              <a:t> Deep space exploration and cosmic observational research.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HEPS (High Energy Photon Source):</a:t>
            </a:r>
            <a:r>
              <a:rPr lang="en-US" sz="1200" kern="1200" dirty="0">
                <a:solidFill>
                  <a:schemeClr val="tx1"/>
                </a:solidFill>
                <a:effectLst/>
                <a:latin typeface="+mn-lt"/>
                <a:ea typeface="+mn-ea"/>
                <a:cs typeface="+mn-cs"/>
              </a:rPr>
              <a:t> An X-ray synchrotron light source a trillion times brighter than the sun, acting as the ultimate microscope to analyze viruses and advanced subatomic materials.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Centrifugal </a:t>
            </a:r>
            <a:r>
              <a:rPr lang="en-US" sz="1200" b="1" kern="1200" dirty="0" err="1">
                <a:solidFill>
                  <a:schemeClr val="tx1"/>
                </a:solidFill>
                <a:effectLst/>
                <a:latin typeface="+mn-lt"/>
                <a:ea typeface="+mn-ea"/>
                <a:cs typeface="+mn-cs"/>
              </a:rPr>
              <a:t>Hypergravity</a:t>
            </a:r>
            <a:r>
              <a:rPr lang="en-US" sz="1200" b="1" kern="1200" dirty="0">
                <a:solidFill>
                  <a:schemeClr val="tx1"/>
                </a:solidFill>
                <a:effectLst/>
                <a:latin typeface="+mn-lt"/>
                <a:ea typeface="+mn-ea"/>
                <a:cs typeface="+mn-cs"/>
              </a:rPr>
              <a:t> Facility:</a:t>
            </a:r>
            <a:r>
              <a:rPr lang="en-US" sz="1200" kern="1200" dirty="0">
                <a:solidFill>
                  <a:schemeClr val="tx1"/>
                </a:solidFill>
                <a:effectLst/>
                <a:latin typeface="+mn-lt"/>
                <a:ea typeface="+mn-ea"/>
                <a:cs typeface="+mn-cs"/>
              </a:rPr>
              <a:t> Generating forces over 300x Earth's gravity to simulate extreme events like tsunamis and earthquakes for infrastructure stress-testing.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JUNO (Jiangmen Underground Neutrino Observatory):</a:t>
            </a:r>
            <a:r>
              <a:rPr lang="en-US" sz="1200" kern="1200" dirty="0">
                <a:solidFill>
                  <a:schemeClr val="tx1"/>
                </a:solidFill>
                <a:effectLst/>
                <a:latin typeface="+mn-lt"/>
                <a:ea typeface="+mn-ea"/>
                <a:cs typeface="+mn-cs"/>
              </a:rPr>
              <a:t> Deep underground facility capturing elusive "ghost particles". </a:t>
            </a:r>
          </a:p>
          <a:p>
            <a:pPr lvl="0"/>
            <a:r>
              <a:rPr lang="en-US" sz="1200" b="1" kern="1200" dirty="0">
                <a:solidFill>
                  <a:schemeClr val="tx1"/>
                </a:solidFill>
                <a:effectLst/>
                <a:latin typeface="+mn-lt"/>
                <a:ea typeface="+mn-ea"/>
                <a:cs typeface="+mn-cs"/>
              </a:rPr>
              <a:t>Strategic Intent:</a:t>
            </a:r>
            <a:r>
              <a:rPr lang="en-US" sz="1200" kern="1200" dirty="0">
                <a:solidFill>
                  <a:schemeClr val="tx1"/>
                </a:solidFill>
                <a:effectLst/>
                <a:latin typeface="+mn-lt"/>
                <a:ea typeface="+mn-ea"/>
                <a:cs typeface="+mn-cs"/>
              </a:rPr>
              <a:t> With over 20 additional mega-facilities planned, China is deploying capital intensity to reduce dependence on foreign scientific breakthroughs.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5</a:t>
            </a:fld>
            <a:endParaRPr lang="en-US"/>
          </a:p>
        </p:txBody>
      </p:sp>
    </p:spTree>
    <p:extLst>
      <p:ext uri="{BB962C8B-B14F-4D97-AF65-F5344CB8AC3E}">
        <p14:creationId xmlns:p14="http://schemas.microsoft.com/office/powerpoint/2010/main" val="19554972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State Priority:</a:t>
            </a:r>
            <a:r>
              <a:rPr lang="en-US" sz="1200" kern="1200" dirty="0">
                <a:solidFill>
                  <a:schemeClr val="tx1"/>
                </a:solidFill>
                <a:effectLst/>
                <a:latin typeface="+mn-lt"/>
                <a:ea typeface="+mn-ea"/>
                <a:cs typeface="+mn-cs"/>
              </a:rPr>
              <a:t> BCI is highlighted in China's 5-year plan as a key technological frontier. </a:t>
            </a:r>
          </a:p>
          <a:p>
            <a:pPr lvl="0"/>
            <a:r>
              <a:rPr lang="en-US" sz="1200" b="1" kern="1200" dirty="0">
                <a:solidFill>
                  <a:schemeClr val="tx1"/>
                </a:solidFill>
                <a:effectLst/>
                <a:latin typeface="+mn-lt"/>
                <a:ea typeface="+mn-ea"/>
                <a:cs typeface="+mn-cs"/>
              </a:rPr>
              <a:t>Commercial Milestones:</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Over 10,000 </a:t>
            </a:r>
            <a:r>
              <a:rPr lang="en-US" sz="1200" kern="1200" dirty="0" err="1">
                <a:solidFill>
                  <a:schemeClr val="tx1"/>
                </a:solidFill>
                <a:effectLst/>
                <a:latin typeface="+mn-lt"/>
                <a:ea typeface="+mn-ea"/>
                <a:cs typeface="+mn-cs"/>
              </a:rPr>
              <a:t>BrainCo</a:t>
            </a:r>
            <a:r>
              <a:rPr lang="en-US" sz="1200" kern="1200" dirty="0">
                <a:solidFill>
                  <a:schemeClr val="tx1"/>
                </a:solidFill>
                <a:effectLst/>
                <a:latin typeface="+mn-lt"/>
                <a:ea typeface="+mn-ea"/>
                <a:cs typeface="+mn-cs"/>
              </a:rPr>
              <a:t> bionic limbs have already been fitted, decoding brain signals into precise mechanical finger movements.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In March 2026, China's NMPA approved the world's first invasive BCI medical device for commercial release.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Clinical trials achieved sub-100-millisecond latency from biological thought to robotic execution (e.g., controlling robot dogs via thought implants). </a:t>
            </a:r>
          </a:p>
          <a:p>
            <a:pPr lvl="0"/>
            <a:r>
              <a:rPr lang="en-US" sz="1200" b="1" kern="1200" dirty="0">
                <a:solidFill>
                  <a:schemeClr val="tx1"/>
                </a:solidFill>
                <a:effectLst/>
                <a:latin typeface="+mn-lt"/>
                <a:ea typeface="+mn-ea"/>
                <a:cs typeface="+mn-cs"/>
              </a:rPr>
              <a:t>Two-Phase Strategic Roadmap:</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1 (Assistance):</a:t>
            </a:r>
            <a:r>
              <a:rPr lang="en-US" sz="1200" kern="1200" dirty="0">
                <a:solidFill>
                  <a:schemeClr val="tx1"/>
                </a:solidFill>
                <a:effectLst/>
                <a:latin typeface="+mn-lt"/>
                <a:ea typeface="+mn-ea"/>
                <a:cs typeface="+mn-cs"/>
              </a:rPr>
              <a:t> Medical rehabilitation for paralysis and neurological disorders.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Phase 2 (Enhancement):</a:t>
            </a:r>
            <a:r>
              <a:rPr lang="en-US" sz="1200" kern="1200" dirty="0">
                <a:solidFill>
                  <a:schemeClr val="tx1"/>
                </a:solidFill>
                <a:effectLst/>
                <a:latin typeface="+mn-lt"/>
                <a:ea typeface="+mn-ea"/>
                <a:cs typeface="+mn-cs"/>
              </a:rPr>
              <a:t> Augmenting healthy human sensory capabilities, allowing humans to perceive infrared or X-ray spectrums.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6</a:t>
            </a:fld>
            <a:endParaRPr lang="en-US"/>
          </a:p>
        </p:txBody>
      </p:sp>
    </p:spTree>
    <p:extLst>
      <p:ext uri="{BB962C8B-B14F-4D97-AF65-F5344CB8AC3E}">
        <p14:creationId xmlns:p14="http://schemas.microsoft.com/office/powerpoint/2010/main" val="21089917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Bandwidth Bottleneck:</a:t>
            </a:r>
            <a:r>
              <a:rPr lang="en-US" sz="1200" kern="1200" dirty="0">
                <a:solidFill>
                  <a:schemeClr val="tx1"/>
                </a:solidFill>
                <a:effectLst/>
                <a:latin typeface="+mn-lt"/>
                <a:ea typeface="+mn-ea"/>
                <a:cs typeface="+mn-cs"/>
              </a:rPr>
              <a:t> Human speech operates at a slow rate of roughly bits per second—often described as "talking like a tree" compared to computer processing speeds. Direct BCI connections increase data transmission to gigabits per second. </a:t>
            </a:r>
          </a:p>
          <a:p>
            <a:pPr lvl="0"/>
            <a:r>
              <a:rPr lang="en-US" sz="1200" b="1" kern="1200" dirty="0">
                <a:solidFill>
                  <a:schemeClr val="tx1"/>
                </a:solidFill>
                <a:effectLst/>
                <a:latin typeface="+mn-lt"/>
                <a:ea typeface="+mn-ea"/>
                <a:cs typeface="+mn-cs"/>
              </a:rPr>
              <a:t>Military Integration:</a:t>
            </a:r>
            <a:r>
              <a:rPr lang="en-US" sz="1200" kern="1200" dirty="0">
                <a:solidFill>
                  <a:schemeClr val="tx1"/>
                </a:solidFill>
                <a:effectLst/>
                <a:latin typeface="+mn-lt"/>
                <a:ea typeface="+mn-ea"/>
                <a:cs typeface="+mn-cs"/>
              </a:rPr>
              <a:t> Wired or direct BCI interfaces allow fighter pilots or drone swarm operators to control complex avionics passively via brain commands, completely eliminating physical reaction time lag. </a:t>
            </a:r>
          </a:p>
          <a:p>
            <a:pPr lvl="0"/>
            <a:r>
              <a:rPr lang="en-US" sz="1200" b="1" kern="1200" dirty="0">
                <a:solidFill>
                  <a:schemeClr val="tx1"/>
                </a:solidFill>
                <a:effectLst/>
                <a:latin typeface="+mn-lt"/>
                <a:ea typeface="+mn-ea"/>
                <a:cs typeface="+mn-cs"/>
              </a:rPr>
              <a:t>AGI Defense Thesis:</a:t>
            </a:r>
            <a:r>
              <a:rPr lang="en-US" sz="1200" kern="1200" dirty="0">
                <a:solidFill>
                  <a:schemeClr val="tx1"/>
                </a:solidFill>
                <a:effectLst/>
                <a:latin typeface="+mn-lt"/>
                <a:ea typeface="+mn-ea"/>
                <a:cs typeface="+mn-cs"/>
              </a:rPr>
              <a:t> Shared by both Elon Musk's Neuralink and Chinese BCI directors: as AI scales toward super-intelligence, merging human cognition with machines at gigabit speeds is considered the primary defense to prevent human obsolescence.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7</a:t>
            </a:fld>
            <a:endParaRPr lang="en-US"/>
          </a:p>
        </p:txBody>
      </p:sp>
    </p:spTree>
    <p:extLst>
      <p:ext uri="{BB962C8B-B14F-4D97-AF65-F5344CB8AC3E}">
        <p14:creationId xmlns:p14="http://schemas.microsoft.com/office/powerpoint/2010/main" val="122756592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Cellular Code as the New Oil:</a:t>
            </a:r>
            <a:r>
              <a:rPr lang="en-US" sz="1200" kern="1200" dirty="0">
                <a:solidFill>
                  <a:schemeClr val="tx1"/>
                </a:solidFill>
                <a:effectLst/>
                <a:latin typeface="+mn-lt"/>
                <a:ea typeface="+mn-ea"/>
                <a:cs typeface="+mn-cs"/>
              </a:rPr>
              <a:t> Biomanufacturing edits cellular biology to transform raw inputs into industrial goods. </a:t>
            </a:r>
          </a:p>
          <a:p>
            <a:pPr lvl="0"/>
            <a:r>
              <a:rPr lang="en-US" sz="1200" b="1" kern="1200" dirty="0">
                <a:solidFill>
                  <a:schemeClr val="tx1"/>
                </a:solidFill>
                <a:effectLst/>
                <a:latin typeface="+mn-lt"/>
                <a:ea typeface="+mn-ea"/>
                <a:cs typeface="+mn-cs"/>
              </a:rPr>
              <a:t>Input-to-Output Engine:</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Inputs:</a:t>
            </a:r>
            <a:r>
              <a:rPr lang="en-US" sz="1200" kern="1200" dirty="0">
                <a:solidFill>
                  <a:schemeClr val="tx1"/>
                </a:solidFill>
                <a:effectLst/>
                <a:latin typeface="+mn-lt"/>
                <a:ea typeface="+mn-ea"/>
                <a:cs typeface="+mn-cs"/>
              </a:rPr>
              <a:t> Living cells, castor oil, sugarcane waste, and captured industrial waste gas.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Outputs:</a:t>
            </a:r>
            <a:r>
              <a:rPr lang="en-US" sz="1200" kern="1200" dirty="0">
                <a:solidFill>
                  <a:schemeClr val="tx1"/>
                </a:solidFill>
                <a:effectLst/>
                <a:latin typeface="+mn-lt"/>
                <a:ea typeface="+mn-ea"/>
                <a:cs typeface="+mn-cs"/>
              </a:rPr>
              <a:t> 3D-bioprinted heart organoids (developed at Tsinghua University for drug testing), plant-based lightweight EV battery covers, petroleum-free nylon bristles, and dark-glowing plants. </a:t>
            </a:r>
          </a:p>
          <a:p>
            <a:pPr lvl="0"/>
            <a:r>
              <a:rPr lang="en-US" sz="1200" b="1" kern="1200" dirty="0">
                <a:solidFill>
                  <a:schemeClr val="tx1"/>
                </a:solidFill>
                <a:effectLst/>
                <a:latin typeface="+mn-lt"/>
                <a:ea typeface="+mn-ea"/>
                <a:cs typeface="+mn-cs"/>
              </a:rPr>
              <a:t>Supply Chain Security:</a:t>
            </a:r>
            <a:r>
              <a:rPr lang="en-US" sz="1200" kern="1200" dirty="0">
                <a:solidFill>
                  <a:schemeClr val="tx1"/>
                </a:solidFill>
                <a:effectLst/>
                <a:latin typeface="+mn-lt"/>
                <a:ea typeface="+mn-ea"/>
                <a:cs typeface="+mn-cs"/>
              </a:rPr>
              <a:t> By producing critical chemical precursors and materials via bio-synthesis, China aims to decouple its supply chain from foreign petroleum imports and international trade disruption. China currently accounts for ~30% of the global innovative drug pipeline.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8</a:t>
            </a:fld>
            <a:endParaRPr lang="en-US"/>
          </a:p>
        </p:txBody>
      </p:sp>
    </p:spTree>
    <p:extLst>
      <p:ext uri="{BB962C8B-B14F-4D97-AF65-F5344CB8AC3E}">
        <p14:creationId xmlns:p14="http://schemas.microsoft.com/office/powerpoint/2010/main" val="35606071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Cryptographic Risk:</a:t>
            </a:r>
            <a:r>
              <a:rPr lang="en-US" sz="1200" kern="1200" dirty="0">
                <a:solidFill>
                  <a:schemeClr val="tx1"/>
                </a:solidFill>
                <a:effectLst/>
                <a:latin typeface="+mn-lt"/>
                <a:ea typeface="+mn-ea"/>
                <a:cs typeface="+mn-cs"/>
              </a:rPr>
              <a:t> Modern global financial transactions and national security systems rely on public key cryptography. While classical supercomputers would take millennia to factor these algorithms, quantum systems can potentially breach them in hours. </a:t>
            </a:r>
          </a:p>
          <a:p>
            <a:pPr lvl="0"/>
            <a:r>
              <a:rPr lang="en-US" sz="1200" b="1" kern="1200" dirty="0">
                <a:solidFill>
                  <a:schemeClr val="tx1"/>
                </a:solidFill>
                <a:effectLst/>
                <a:latin typeface="+mn-lt"/>
                <a:ea typeface="+mn-ea"/>
                <a:cs typeface="+mn-cs"/>
              </a:rPr>
              <a:t>Technological Breakdown: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 Paradigm (IBM/Google):</a:t>
            </a:r>
            <a:r>
              <a:rPr lang="en-US" sz="1200" kern="1200" dirty="0">
                <a:solidFill>
                  <a:schemeClr val="tx1"/>
                </a:solidFill>
                <a:effectLst/>
                <a:latin typeface="+mn-lt"/>
                <a:ea typeface="+mn-ea"/>
                <a:cs typeface="+mn-cs"/>
              </a:rPr>
              <a:t> Relies heavily on superconducting qubits requiring massive, power-hungry cryogenic cooling near Absolute Zero (0 Kelvin).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Chinese Breakthroughs:</a:t>
            </a:r>
            <a:r>
              <a:rPr lang="en-US" sz="1200" kern="1200" dirty="0">
                <a:solidFill>
                  <a:schemeClr val="tx1"/>
                </a:solidFill>
                <a:effectLst/>
                <a:latin typeface="+mn-lt"/>
                <a:ea typeface="+mn-ea"/>
                <a:cs typeface="+mn-cs"/>
              </a:rPr>
              <a:t> </a:t>
            </a:r>
          </a:p>
          <a:p>
            <a:pPr marL="628650" lvl="1" indent="-171450">
              <a:buFont typeface="Arial" panose="020B0604020202020204" pitchFamily="34" charset="0"/>
              <a:buChar char="•"/>
            </a:pPr>
            <a:r>
              <a:rPr lang="en-US" sz="1200" i="1" kern="1200" dirty="0" err="1">
                <a:solidFill>
                  <a:schemeClr val="tx1"/>
                </a:solidFill>
                <a:effectLst/>
                <a:latin typeface="+mn-lt"/>
                <a:ea typeface="+mn-ea"/>
                <a:cs typeface="+mn-cs"/>
              </a:rPr>
              <a:t>Jiuzhang</a:t>
            </a:r>
            <a:r>
              <a:rPr lang="en-US" sz="1200" i="1" kern="1200" dirty="0">
                <a:solidFill>
                  <a:schemeClr val="tx1"/>
                </a:solidFill>
                <a:effectLst/>
                <a:latin typeface="+mn-lt"/>
                <a:ea typeface="+mn-ea"/>
                <a:cs typeface="+mn-cs"/>
              </a:rPr>
              <a:t> 4.0:</a:t>
            </a:r>
            <a:r>
              <a:rPr lang="en-US" sz="1200" kern="1200" dirty="0">
                <a:solidFill>
                  <a:schemeClr val="tx1"/>
                </a:solidFill>
                <a:effectLst/>
                <a:latin typeface="+mn-lt"/>
                <a:ea typeface="+mn-ea"/>
                <a:cs typeface="+mn-cs"/>
              </a:rPr>
              <a:t> Photonic quantum computing completing Gaussian Boson sampling in 25 microseconds. </a:t>
            </a:r>
          </a:p>
          <a:p>
            <a:pPr marL="628650" lvl="1" indent="-171450">
              <a:buFont typeface="Arial" panose="020B0604020202020204" pitchFamily="34" charset="0"/>
              <a:buChar char="•"/>
            </a:pPr>
            <a:r>
              <a:rPr lang="en-US" sz="1200" i="1" kern="1200" dirty="0" err="1">
                <a:solidFill>
                  <a:schemeClr val="tx1"/>
                </a:solidFill>
                <a:effectLst/>
                <a:latin typeface="+mn-lt"/>
                <a:ea typeface="+mn-ea"/>
                <a:cs typeface="+mn-cs"/>
              </a:rPr>
              <a:t>Hanyuan</a:t>
            </a:r>
            <a:r>
              <a:rPr lang="en-US" sz="1200" i="1" kern="1200" dirty="0">
                <a:solidFill>
                  <a:schemeClr val="tx1"/>
                </a:solidFill>
                <a:effectLst/>
                <a:latin typeface="+mn-lt"/>
                <a:ea typeface="+mn-ea"/>
                <a:cs typeface="+mn-cs"/>
              </a:rPr>
              <a:t> 2:</a:t>
            </a:r>
            <a:r>
              <a:rPr lang="en-US" sz="1200" kern="1200" dirty="0">
                <a:solidFill>
                  <a:schemeClr val="tx1"/>
                </a:solidFill>
                <a:effectLst/>
                <a:latin typeface="+mn-lt"/>
                <a:ea typeface="+mn-ea"/>
                <a:cs typeface="+mn-cs"/>
              </a:rPr>
              <a:t> Dual-core neutral atomic quantum system operating at </a:t>
            </a:r>
            <a:r>
              <a:rPr lang="en-US" sz="1200" b="1" kern="1200" dirty="0">
                <a:solidFill>
                  <a:schemeClr val="tx1"/>
                </a:solidFill>
                <a:effectLst/>
                <a:latin typeface="+mn-lt"/>
                <a:ea typeface="+mn-ea"/>
                <a:cs typeface="+mn-cs"/>
              </a:rPr>
              <a:t>room temperature</a:t>
            </a:r>
            <a:r>
              <a:rPr lang="en-US" sz="1200" kern="1200" dirty="0">
                <a:solidFill>
                  <a:schemeClr val="tx1"/>
                </a:solidFill>
                <a:effectLst/>
                <a:latin typeface="+mn-lt"/>
                <a:ea typeface="+mn-ea"/>
                <a:cs typeface="+mn-cs"/>
              </a:rPr>
              <a:t> inside a single, compact cabinet. </a:t>
            </a:r>
          </a:p>
          <a:p>
            <a:pPr lvl="0"/>
            <a:r>
              <a:rPr lang="en-US" sz="1200" b="1" kern="1200" dirty="0">
                <a:solidFill>
                  <a:schemeClr val="tx1"/>
                </a:solidFill>
                <a:effectLst/>
                <a:latin typeface="+mn-lt"/>
                <a:ea typeface="+mn-ea"/>
                <a:cs typeface="+mn-cs"/>
              </a:rPr>
              <a:t>Geopolitical Implication:</a:t>
            </a:r>
            <a:r>
              <a:rPr lang="en-US" sz="1200" kern="1200" dirty="0">
                <a:solidFill>
                  <a:schemeClr val="tx1"/>
                </a:solidFill>
                <a:effectLst/>
                <a:latin typeface="+mn-lt"/>
                <a:ea typeface="+mn-ea"/>
                <a:cs typeface="+mn-cs"/>
              </a:rPr>
              <a:t> Room-temperature quantum computing unlocks portable, scalable deployment without needing specialized cryogenic infrastructure.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9</a:t>
            </a:fld>
            <a:endParaRPr lang="en-US"/>
          </a:p>
        </p:txBody>
      </p:sp>
    </p:spTree>
    <p:extLst>
      <p:ext uri="{BB962C8B-B14F-4D97-AF65-F5344CB8AC3E}">
        <p14:creationId xmlns:p14="http://schemas.microsoft.com/office/powerpoint/2010/main" val="3277530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Ultimate Energy Source:</a:t>
            </a:r>
            <a:r>
              <a:rPr lang="en-US" sz="1200" kern="1200" dirty="0">
                <a:solidFill>
                  <a:schemeClr val="tx1"/>
                </a:solidFill>
                <a:effectLst/>
                <a:latin typeface="+mn-lt"/>
                <a:ea typeface="+mn-ea"/>
                <a:cs typeface="+mn-cs"/>
              </a:rPr>
              <a:t> Fusion offers zero-carbon, meltdown-free power without long-lived radioactive waste. Crucially, fusion serves as the base-load power supply required for energy-intensive AI compute clusters. </a:t>
            </a:r>
          </a:p>
          <a:p>
            <a:pPr lvl="0"/>
            <a:r>
              <a:rPr lang="en-US" sz="1200" b="1" kern="1200" dirty="0">
                <a:solidFill>
                  <a:schemeClr val="tx1"/>
                </a:solidFill>
                <a:effectLst/>
                <a:latin typeface="+mn-lt"/>
                <a:ea typeface="+mn-ea"/>
                <a:cs typeface="+mn-cs"/>
              </a:rPr>
              <a:t>US vs. China Competition:</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 Advantage:</a:t>
            </a:r>
            <a:r>
              <a:rPr lang="en-US" sz="1200" kern="1200" dirty="0">
                <a:solidFill>
                  <a:schemeClr val="tx1"/>
                </a:solidFill>
                <a:effectLst/>
                <a:latin typeface="+mn-lt"/>
                <a:ea typeface="+mn-ea"/>
                <a:cs typeface="+mn-cs"/>
              </a:rPr>
              <a:t> Historical theoretical leadership and proving net-energy gain (at the National Ignition Facility).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China Advantage (EAST Tokamak):</a:t>
            </a:r>
            <a:r>
              <a:rPr lang="en-US" sz="1200" kern="1200" dirty="0">
                <a:solidFill>
                  <a:schemeClr val="tx1"/>
                </a:solidFill>
                <a:effectLst/>
                <a:latin typeface="+mn-lt"/>
                <a:ea typeface="+mn-ea"/>
                <a:cs typeface="+mn-cs"/>
              </a:rPr>
              <a:t> World leader in maintaining ultra-high-density stable plasma containment over extended durations. </a:t>
            </a:r>
          </a:p>
          <a:p>
            <a:pPr lvl="0"/>
            <a:r>
              <a:rPr lang="en-US" sz="1200" b="1" kern="1200" dirty="0">
                <a:solidFill>
                  <a:schemeClr val="tx1"/>
                </a:solidFill>
                <a:effectLst/>
                <a:latin typeface="+mn-lt"/>
                <a:ea typeface="+mn-ea"/>
                <a:cs typeface="+mn-cs"/>
              </a:rPr>
              <a:t>Deployment Race:</a:t>
            </a:r>
            <a:r>
              <a:rPr lang="en-US" sz="1200" kern="1200" dirty="0">
                <a:solidFill>
                  <a:schemeClr val="tx1"/>
                </a:solidFill>
                <a:effectLst/>
                <a:latin typeface="+mn-lt"/>
                <a:ea typeface="+mn-ea"/>
                <a:cs typeface="+mn-cs"/>
              </a:rPr>
              <a:t> Once a commercial prototype is finalized, China’s industrial supply chain scale and rapid construction capability will allow it to deploy fusion reactors across its national power grid significantly faster than Western counterparts.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10</a:t>
            </a:fld>
            <a:endParaRPr lang="en-US"/>
          </a:p>
        </p:txBody>
      </p:sp>
    </p:spTree>
    <p:extLst>
      <p:ext uri="{BB962C8B-B14F-4D97-AF65-F5344CB8AC3E}">
        <p14:creationId xmlns:p14="http://schemas.microsoft.com/office/powerpoint/2010/main" val="41347598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Paradigm Shift:</a:t>
            </a:r>
            <a:r>
              <a:rPr lang="en-US" sz="1200" kern="1200" dirty="0">
                <a:solidFill>
                  <a:schemeClr val="tx1"/>
                </a:solidFill>
                <a:effectLst/>
                <a:latin typeface="+mn-lt"/>
                <a:ea typeface="+mn-ea"/>
                <a:cs typeface="+mn-cs"/>
              </a:rPr>
              <a:t> Moving beyond text-based LLMs (like chatbots) to physical machines equipped with real-world sensory brains that independently sense, decide, and act. </a:t>
            </a:r>
          </a:p>
          <a:p>
            <a:pPr lvl="0"/>
            <a:r>
              <a:rPr lang="en-US" sz="1200" b="1" kern="1200" dirty="0">
                <a:solidFill>
                  <a:schemeClr val="tx1"/>
                </a:solidFill>
                <a:effectLst/>
                <a:latin typeface="+mn-lt"/>
                <a:ea typeface="+mn-ea"/>
                <a:cs typeface="+mn-cs"/>
              </a:rPr>
              <a:t>Exponential Growth:</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2025:</a:t>
            </a:r>
            <a:r>
              <a:rPr lang="en-US" sz="1200" kern="1200" dirty="0">
                <a:solidFill>
                  <a:schemeClr val="tx1"/>
                </a:solidFill>
                <a:effectLst/>
                <a:latin typeface="+mn-lt"/>
                <a:ea typeface="+mn-ea"/>
                <a:cs typeface="+mn-cs"/>
              </a:rPr>
              <a:t> China captured 90% of global humanoid robot shipments (13,000–16,000 units).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H1 2026:</a:t>
            </a:r>
            <a:r>
              <a:rPr lang="en-US" sz="1200" kern="1200" dirty="0">
                <a:solidFill>
                  <a:schemeClr val="tx1"/>
                </a:solidFill>
                <a:effectLst/>
                <a:latin typeface="+mn-lt"/>
                <a:ea typeface="+mn-ea"/>
                <a:cs typeface="+mn-cs"/>
              </a:rPr>
              <a:t> Shipments surged to 40,000 units in just six months. </a:t>
            </a:r>
          </a:p>
          <a:p>
            <a:pPr lvl="0"/>
            <a:r>
              <a:rPr lang="en-US" sz="1200" b="1" kern="1200" dirty="0">
                <a:solidFill>
                  <a:schemeClr val="tx1"/>
                </a:solidFill>
                <a:effectLst/>
                <a:latin typeface="+mn-lt"/>
                <a:ea typeface="+mn-ea"/>
                <a:cs typeface="+mn-cs"/>
              </a:rPr>
              <a:t>Mass Physical Training Centers:</a:t>
            </a:r>
            <a:r>
              <a:rPr lang="en-US" sz="1200" kern="1200" dirty="0">
                <a:solidFill>
                  <a:schemeClr val="tx1"/>
                </a:solidFill>
                <a:effectLst/>
                <a:latin typeface="+mn-lt"/>
                <a:ea typeface="+mn-ea"/>
                <a:cs typeface="+mn-cs"/>
              </a:rPr>
              <a:t> Humanoid platforms are undergoing millions of physical iteration cycles—learning fine-motor tasks ranging from operating industrial machinery to preparing food and utilizing everyday household appliances.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11</a:t>
            </a:fld>
            <a:endParaRPr lang="en-US"/>
          </a:p>
        </p:txBody>
      </p:sp>
    </p:spTree>
    <p:extLst>
      <p:ext uri="{BB962C8B-B14F-4D97-AF65-F5344CB8AC3E}">
        <p14:creationId xmlns:p14="http://schemas.microsoft.com/office/powerpoint/2010/main" val="27748948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Closed-Loop Ecosystem:</a:t>
            </a:r>
            <a:r>
              <a:rPr lang="en-US" sz="1200" kern="1200" dirty="0">
                <a:solidFill>
                  <a:schemeClr val="tx1"/>
                </a:solidFill>
                <a:effectLst/>
                <a:latin typeface="+mn-lt"/>
                <a:ea typeface="+mn-ea"/>
                <a:cs typeface="+mn-cs"/>
              </a:rPr>
              <a:t> China’s 2030 technology bets are not isolated industries; they form a self-reinforcing, closed-loop engine: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Nuclear Fusion</a:t>
            </a:r>
            <a:r>
              <a:rPr lang="en-US" sz="1200" kern="1200" dirty="0">
                <a:solidFill>
                  <a:schemeClr val="tx1"/>
                </a:solidFill>
                <a:effectLst/>
                <a:latin typeface="+mn-lt"/>
                <a:ea typeface="+mn-ea"/>
                <a:cs typeface="+mn-cs"/>
              </a:rPr>
              <a:t> provides limitless clean power to </a:t>
            </a:r>
            <a:r>
              <a:rPr lang="en-US" sz="1200" b="1" kern="1200" dirty="0">
                <a:solidFill>
                  <a:schemeClr val="tx1"/>
                </a:solidFill>
                <a:effectLst/>
                <a:latin typeface="+mn-lt"/>
                <a:ea typeface="+mn-ea"/>
                <a:cs typeface="+mn-cs"/>
              </a:rPr>
              <a:t>Hyperscale Data Centers &amp; 6G</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BCI Systems</a:t>
            </a:r>
            <a:r>
              <a:rPr lang="en-US" sz="1200" kern="1200" dirty="0">
                <a:solidFill>
                  <a:schemeClr val="tx1"/>
                </a:solidFill>
                <a:effectLst/>
                <a:latin typeface="+mn-lt"/>
                <a:ea typeface="+mn-ea"/>
                <a:cs typeface="+mn-cs"/>
              </a:rPr>
              <a:t> allow humans to direct computing networks at gigabit speeds.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Quantum Computing</a:t>
            </a:r>
            <a:r>
              <a:rPr lang="en-US" sz="1200" kern="1200" dirty="0">
                <a:solidFill>
                  <a:schemeClr val="tx1"/>
                </a:solidFill>
                <a:effectLst/>
                <a:latin typeface="+mn-lt"/>
                <a:ea typeface="+mn-ea"/>
                <a:cs typeface="+mn-cs"/>
              </a:rPr>
              <a:t> accelerates machine learning models for </a:t>
            </a:r>
            <a:r>
              <a:rPr lang="en-US" sz="1200" b="1" kern="1200" dirty="0">
                <a:solidFill>
                  <a:schemeClr val="tx1"/>
                </a:solidFill>
                <a:effectLst/>
                <a:latin typeface="+mn-lt"/>
                <a:ea typeface="+mn-ea"/>
                <a:cs typeface="+mn-cs"/>
              </a:rPr>
              <a:t>Embodied AI</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Humanoid Robots</a:t>
            </a:r>
            <a:r>
              <a:rPr lang="en-US" sz="1200" kern="1200" dirty="0">
                <a:solidFill>
                  <a:schemeClr val="tx1"/>
                </a:solidFill>
                <a:effectLst/>
                <a:latin typeface="+mn-lt"/>
                <a:ea typeface="+mn-ea"/>
                <a:cs typeface="+mn-cs"/>
              </a:rPr>
              <a:t> maintain data centers, mine materials, and build next-generation hardware. </a:t>
            </a:r>
          </a:p>
          <a:p>
            <a:pPr lvl="0"/>
            <a:r>
              <a:rPr lang="en-US" sz="1200" b="1" kern="1200" dirty="0">
                <a:solidFill>
                  <a:schemeClr val="tx1"/>
                </a:solidFill>
                <a:effectLst/>
                <a:latin typeface="+mn-lt"/>
                <a:ea typeface="+mn-ea"/>
                <a:cs typeface="+mn-cs"/>
              </a:rPr>
              <a:t>Recursive Innovation &amp; Abundance:</a:t>
            </a:r>
            <a:r>
              <a:rPr lang="en-US" sz="1200" kern="1200" dirty="0">
                <a:solidFill>
                  <a:schemeClr val="tx1"/>
                </a:solidFill>
                <a:effectLst/>
                <a:latin typeface="+mn-lt"/>
                <a:ea typeface="+mn-ea"/>
                <a:cs typeface="+mn-cs"/>
              </a:rPr>
              <a:t> Smarter robots build even smarter robots. The ultimate economic goal is achieving "infinite abundance"—permanently decoupling economic output from human physical labor constraint.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12</a:t>
            </a:fld>
            <a:endParaRPr lang="en-US"/>
          </a:p>
        </p:txBody>
      </p:sp>
    </p:spTree>
    <p:extLst>
      <p:ext uri="{BB962C8B-B14F-4D97-AF65-F5344CB8AC3E}">
        <p14:creationId xmlns:p14="http://schemas.microsoft.com/office/powerpoint/2010/main" val="38171637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Comparing Models:</a:t>
            </a:r>
            <a:r>
              <a:rPr lang="en-US" sz="1200" kern="1200" dirty="0">
                <a:solidFill>
                  <a:schemeClr val="tx1"/>
                </a:solidFill>
                <a:effectLst/>
                <a:latin typeface="+mn-lt"/>
                <a:ea typeface="+mn-ea"/>
                <a:cs typeface="+mn-cs"/>
              </a:rPr>
              <a:t> This slide contrasts the structural differences between the US and Chinese technology development models: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Primary Engine:</a:t>
            </a:r>
            <a:r>
              <a:rPr lang="en-US" sz="1200" kern="1200" dirty="0">
                <a:solidFill>
                  <a:schemeClr val="tx1"/>
                </a:solidFill>
                <a:effectLst/>
                <a:latin typeface="+mn-lt"/>
                <a:ea typeface="+mn-ea"/>
                <a:cs typeface="+mn-cs"/>
              </a:rPr>
              <a:t> US relies on private corporate venture labs; China leverages a state-mobilized "whole-of-society" apparatus.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Core Incentive:</a:t>
            </a:r>
            <a:r>
              <a:rPr lang="en-US" sz="1200" kern="1200" dirty="0">
                <a:solidFill>
                  <a:schemeClr val="tx1"/>
                </a:solidFill>
                <a:effectLst/>
                <a:latin typeface="+mn-lt"/>
                <a:ea typeface="+mn-ea"/>
                <a:cs typeface="+mn-cs"/>
              </a:rPr>
              <a:t> US focuses on shareholder equity and enterprise valuation; China views frontier AI and science as strategic public infrastructure.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Public Trust Strategy:</a:t>
            </a:r>
            <a:r>
              <a:rPr lang="en-US" sz="1200" kern="1200" dirty="0">
                <a:solidFill>
                  <a:schemeClr val="tx1"/>
                </a:solidFill>
                <a:effectLst/>
                <a:latin typeface="+mn-lt"/>
                <a:ea typeface="+mn-ea"/>
                <a:cs typeface="+mn-cs"/>
              </a:rPr>
              <a:t> US sees fragmented, market-driven adoption; China actively conducts public robot games and exhibitions to familiarize citizens and prevent tech backlash.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Infrastructure Commitment:</a:t>
            </a:r>
            <a:r>
              <a:rPr lang="en-US" sz="1200" kern="1200" dirty="0">
                <a:solidFill>
                  <a:schemeClr val="tx1"/>
                </a:solidFill>
                <a:effectLst/>
                <a:latin typeface="+mn-lt"/>
                <a:ea typeface="+mn-ea"/>
                <a:cs typeface="+mn-cs"/>
              </a:rPr>
              <a:t> China mandated $295B (2021–2026) for hyperscale computing, undersea server arrays, and national 6G testbeds.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13</a:t>
            </a:fld>
            <a:endParaRPr lang="en-US"/>
          </a:p>
        </p:txBody>
      </p:sp>
    </p:spTree>
    <p:extLst>
      <p:ext uri="{BB962C8B-B14F-4D97-AF65-F5344CB8AC3E}">
        <p14:creationId xmlns:p14="http://schemas.microsoft.com/office/powerpoint/2010/main" val="17291986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Balanced Evaluation:</a:t>
            </a:r>
            <a:r>
              <a:rPr lang="en-US" sz="1200" kern="1200" dirty="0">
                <a:solidFill>
                  <a:schemeClr val="tx1"/>
                </a:solidFill>
                <a:effectLst/>
                <a:latin typeface="+mn-lt"/>
                <a:ea typeface="+mn-ea"/>
                <a:cs typeface="+mn-cs"/>
              </a:rPr>
              <a:t> Despite impressive momentum, China faces significant systemic headwinds that threaten its 2030 objectives: </a:t>
            </a:r>
          </a:p>
          <a:p>
            <a:pPr marL="228600" lvl="0" indent="-228600">
              <a:buFont typeface="+mj-lt"/>
              <a:buAutoNum type="arabicPeriod"/>
            </a:pPr>
            <a:r>
              <a:rPr lang="en-US" sz="1200" b="1" kern="1200" dirty="0">
                <a:solidFill>
                  <a:schemeClr val="tx1"/>
                </a:solidFill>
                <a:effectLst/>
                <a:latin typeface="+mn-lt"/>
                <a:ea typeface="+mn-ea"/>
                <a:cs typeface="+mn-cs"/>
              </a:rPr>
              <a:t>Economic Capital Intensity:</a:t>
            </a:r>
            <a:r>
              <a:rPr lang="en-US" sz="1200" kern="1200" dirty="0">
                <a:solidFill>
                  <a:schemeClr val="tx1"/>
                </a:solidFill>
                <a:effectLst/>
                <a:latin typeface="+mn-lt"/>
                <a:ea typeface="+mn-ea"/>
                <a:cs typeface="+mn-cs"/>
              </a:rPr>
              <a:t> Mega-science research facilities require prolonged, high-intensity capital investment with uncertain payoff timelines—a major risk during a slowing domestic economy. </a:t>
            </a:r>
          </a:p>
          <a:p>
            <a:pPr marL="228600" lvl="0" indent="-228600">
              <a:buFont typeface="+mj-lt"/>
              <a:buAutoNum type="arabicPeriod"/>
            </a:pPr>
            <a:r>
              <a:rPr lang="en-US" sz="1200" b="1" kern="1200" dirty="0">
                <a:solidFill>
                  <a:schemeClr val="tx1"/>
                </a:solidFill>
                <a:effectLst/>
                <a:latin typeface="+mn-lt"/>
                <a:ea typeface="+mn-ea"/>
                <a:cs typeface="+mn-cs"/>
              </a:rPr>
              <a:t>Geopolitical &amp; Ideological Isolation:</a:t>
            </a:r>
            <a:r>
              <a:rPr lang="en-US" sz="1200" kern="1200" dirty="0">
                <a:solidFill>
                  <a:schemeClr val="tx1"/>
                </a:solidFill>
                <a:effectLst/>
                <a:latin typeface="+mn-lt"/>
                <a:ea typeface="+mn-ea"/>
                <a:cs typeface="+mn-cs"/>
              </a:rPr>
              <a:t> Stricter party alignment, geopolitical tensions, and restrictive international travel/collaboration controls risk isolating domestic researchers from global peer networks. </a:t>
            </a:r>
          </a:p>
          <a:p>
            <a:pPr marL="228600" lvl="0" indent="-228600">
              <a:buFont typeface="+mj-lt"/>
              <a:buAutoNum type="arabicPeriod"/>
            </a:pPr>
            <a:r>
              <a:rPr lang="en-US" sz="1200" b="1" kern="1200" dirty="0">
                <a:solidFill>
                  <a:schemeClr val="tx1"/>
                </a:solidFill>
                <a:effectLst/>
                <a:latin typeface="+mn-lt"/>
                <a:ea typeface="+mn-ea"/>
                <a:cs typeface="+mn-cs"/>
              </a:rPr>
              <a:t>Ethical &amp; Safety Boundaries:</a:t>
            </a:r>
            <a:r>
              <a:rPr lang="en-US" sz="1200" kern="1200" dirty="0">
                <a:solidFill>
                  <a:schemeClr val="tx1"/>
                </a:solidFill>
                <a:effectLst/>
                <a:latin typeface="+mn-lt"/>
                <a:ea typeface="+mn-ea"/>
                <a:cs typeface="+mn-cs"/>
              </a:rPr>
              <a:t> Rapid deployment without international ethical consensus raises severe risks regarding unregulated genetic engineering, cloning, and lack of alignment on AGI safeguards. </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14</a:t>
            </a:fld>
            <a:endParaRPr lang="en-US"/>
          </a:p>
        </p:txBody>
      </p:sp>
    </p:spTree>
    <p:extLst>
      <p:ext uri="{BB962C8B-B14F-4D97-AF65-F5344CB8AC3E}">
        <p14:creationId xmlns:p14="http://schemas.microsoft.com/office/powerpoint/2010/main" val="93059399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b="1" kern="1200" dirty="0">
                <a:solidFill>
                  <a:schemeClr val="tx1"/>
                </a:solidFill>
                <a:effectLst/>
                <a:latin typeface="+mn-lt"/>
                <a:ea typeface="+mn-ea"/>
                <a:cs typeface="+mn-cs"/>
              </a:rPr>
              <a:t>The Long-Term Vision:</a:t>
            </a:r>
            <a:r>
              <a:rPr lang="en-US" sz="1200" kern="1200" dirty="0">
                <a:solidFill>
                  <a:schemeClr val="tx1"/>
                </a:solidFill>
                <a:effectLst/>
                <a:latin typeface="+mn-lt"/>
                <a:ea typeface="+mn-ea"/>
                <a:cs typeface="+mn-cs"/>
              </a:rPr>
              <a:t> The 2030 targets are intermediate checkpoints, not the ultimate destination. They lay the groundwork for </a:t>
            </a:r>
            <a:r>
              <a:rPr lang="en-US" sz="1200" b="1" kern="1200" dirty="0">
                <a:solidFill>
                  <a:schemeClr val="tx1"/>
                </a:solidFill>
                <a:effectLst/>
                <a:latin typeface="+mn-lt"/>
                <a:ea typeface="+mn-ea"/>
                <a:cs typeface="+mn-cs"/>
              </a:rPr>
              <a:t>2049</a:t>
            </a:r>
            <a:r>
              <a:rPr lang="en-US" sz="1200" kern="1200" dirty="0">
                <a:solidFill>
                  <a:schemeClr val="tx1"/>
                </a:solidFill>
                <a:effectLst/>
                <a:latin typeface="+mn-lt"/>
                <a:ea typeface="+mn-ea"/>
                <a:cs typeface="+mn-cs"/>
              </a:rPr>
              <a:t>—the 100th anniversary of the founding of the People's Republic of China. </a:t>
            </a:r>
          </a:p>
          <a:p>
            <a:pPr lvl="0"/>
            <a:r>
              <a:rPr lang="en-US" sz="1200" b="1" kern="1200" dirty="0">
                <a:solidFill>
                  <a:schemeClr val="tx1"/>
                </a:solidFill>
                <a:effectLst/>
                <a:latin typeface="+mn-lt"/>
                <a:ea typeface="+mn-ea"/>
                <a:cs typeface="+mn-cs"/>
              </a:rPr>
              <a:t>Civilizational Weight:</a:t>
            </a:r>
            <a:r>
              <a:rPr lang="en-US" sz="1200" kern="1200" dirty="0">
                <a:solidFill>
                  <a:schemeClr val="tx1"/>
                </a:solidFill>
                <a:effectLst/>
                <a:latin typeface="+mn-lt"/>
                <a:ea typeface="+mn-ea"/>
                <a:cs typeface="+mn-cs"/>
              </a:rPr>
              <a:t> Beijing's long-term objective is to establish global standing and authority commensurate with its historical civilizational weight. </a:t>
            </a:r>
          </a:p>
          <a:p>
            <a:pPr lvl="0"/>
            <a:r>
              <a:rPr lang="en-US" sz="1200" b="1" kern="1200" dirty="0">
                <a:solidFill>
                  <a:schemeClr val="tx1"/>
                </a:solidFill>
                <a:effectLst/>
                <a:latin typeface="+mn-lt"/>
                <a:ea typeface="+mn-ea"/>
                <a:cs typeface="+mn-cs"/>
              </a:rPr>
              <a:t>Conclusion:</a:t>
            </a:r>
            <a:r>
              <a:rPr lang="en-US" sz="1200" kern="1200" dirty="0">
                <a:solidFill>
                  <a:schemeClr val="tx1"/>
                </a:solidFill>
                <a:effectLst/>
                <a:latin typeface="+mn-lt"/>
                <a:ea typeface="+mn-ea"/>
                <a:cs typeface="+mn-cs"/>
              </a:rPr>
              <a:t> By controlling the critical infrastructure, energy sources, and computing platforms of the future, China aims to fully transition from being "the world's factory" into becoming the world's primary scientific, economic, and technological architect of the 21st century. </a:t>
            </a:r>
          </a:p>
          <a:p>
            <a:pPr lvl="0"/>
            <a:r>
              <a:rPr lang="en-US" sz="1200" b="1" kern="1200" dirty="0">
                <a:solidFill>
                  <a:schemeClr val="tx1"/>
                </a:solidFill>
                <a:effectLst/>
                <a:latin typeface="+mn-lt"/>
                <a:ea typeface="+mn-ea"/>
                <a:cs typeface="+mn-cs"/>
              </a:rPr>
              <a:t>Opening for Q&amp;A:</a:t>
            </a:r>
            <a:r>
              <a:rPr lang="en-US" sz="1200" kern="1200" dirty="0">
                <a:solidFill>
                  <a:schemeClr val="tx1"/>
                </a:solidFill>
                <a:effectLst/>
                <a:latin typeface="+mn-lt"/>
                <a:ea typeface="+mn-ea"/>
                <a:cs typeface="+mn-cs"/>
              </a:rPr>
              <a:t> Thank you. I am now happy to take any questions.</a:t>
            </a:r>
          </a:p>
          <a:p>
            <a:endParaRPr lang="en-US" dirty="0"/>
          </a:p>
        </p:txBody>
      </p:sp>
      <p:sp>
        <p:nvSpPr>
          <p:cNvPr id="4" name="Slide Number Placeholder 3"/>
          <p:cNvSpPr>
            <a:spLocks noGrp="1"/>
          </p:cNvSpPr>
          <p:nvPr>
            <p:ph type="sldNum" sz="quarter" idx="5"/>
          </p:nvPr>
        </p:nvSpPr>
        <p:spPr/>
        <p:txBody>
          <a:bodyPr/>
          <a:lstStyle/>
          <a:p>
            <a:fld id="{5C6D7A0E-8058-41DA-9107-72D7295FD706}" type="slidenum">
              <a:rPr lang="en-US" smtClean="0"/>
              <a:t>15</a:t>
            </a:fld>
            <a:endParaRPr lang="en-US"/>
          </a:p>
        </p:txBody>
      </p:sp>
    </p:spTree>
    <p:extLst>
      <p:ext uri="{BB962C8B-B14F-4D97-AF65-F5344CB8AC3E}">
        <p14:creationId xmlns:p14="http://schemas.microsoft.com/office/powerpoint/2010/main" val="13809981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DDE298-DC62-3941-83B0-750B1211F868}"/>
              </a:ext>
            </a:extLst>
          </p:cNvPr>
          <p:cNvSpPr>
            <a:spLocks noGrp="1"/>
          </p:cNvSpPr>
          <p:nvPr>
            <p:ph type="dt" sz="half" idx="10"/>
          </p:nvPr>
        </p:nvSpPr>
        <p:spPr/>
        <p:txBody>
          <a:bodyPr/>
          <a:lstStyle/>
          <a:p>
            <a:fld id="{0EA840E6-EAC2-40C1-B11B-2F60E0451939}" type="datetimeFigureOut">
              <a:rPr lang="en-US" smtClean="0"/>
              <a:t>10/20/2026</a:t>
            </a:fld>
            <a:endParaRPr lang="en-US"/>
          </a:p>
        </p:txBody>
      </p:sp>
      <p:sp>
        <p:nvSpPr>
          <p:cNvPr id="3" name="Footer Placeholder 2">
            <a:extLst>
              <a:ext uri="{FF2B5EF4-FFF2-40B4-BE49-F238E27FC236}">
                <a16:creationId xmlns:a16="http://schemas.microsoft.com/office/drawing/2014/main" id="{1AA46BD1-8390-9352-8D44-9D5CE8D2E91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8C6FA2-E6A7-32BE-BD05-973DEE529308}"/>
              </a:ext>
            </a:extLst>
          </p:cNvPr>
          <p:cNvSpPr>
            <a:spLocks noGrp="1"/>
          </p:cNvSpPr>
          <p:nvPr>
            <p:ph type="sldNum" sz="quarter" idx="12"/>
          </p:nvPr>
        </p:nvSpPr>
        <p:spPr/>
        <p:txBody>
          <a:bodyPr/>
          <a:lstStyle/>
          <a:p>
            <a:fld id="{9A6CBC21-F77B-4A1C-A5EA-212580EF426C}" type="slidenum">
              <a:rPr lang="en-US" smtClean="0"/>
              <a:t>‹#›</a:t>
            </a:fld>
            <a:endParaRPr lang="en-US"/>
          </a:p>
        </p:txBody>
      </p:sp>
    </p:spTree>
    <p:extLst>
      <p:ext uri="{BB962C8B-B14F-4D97-AF65-F5344CB8AC3E}">
        <p14:creationId xmlns:p14="http://schemas.microsoft.com/office/powerpoint/2010/main" val="420764272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F98E17-4809-FAB3-F530-8C83118E152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0D3B43B-B10A-0673-6CEB-EFC475A4E84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56907C-59E6-6CA9-89D3-A81989D8AEF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EA840E6-EAC2-40C1-B11B-2F60E0451939}" type="datetimeFigureOut">
              <a:rPr lang="en-US" smtClean="0"/>
              <a:t>10/20/2026</a:t>
            </a:fld>
            <a:endParaRPr lang="en-US"/>
          </a:p>
        </p:txBody>
      </p:sp>
      <p:sp>
        <p:nvSpPr>
          <p:cNvPr id="5" name="Footer Placeholder 4">
            <a:extLst>
              <a:ext uri="{FF2B5EF4-FFF2-40B4-BE49-F238E27FC236}">
                <a16:creationId xmlns:a16="http://schemas.microsoft.com/office/drawing/2014/main" id="{2847672C-4516-CDA6-A8A8-1A5CE740F9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44D44B-C9ED-472B-16A1-2CD7BC205E8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6CBC21-F77B-4A1C-A5EA-212580EF426C}" type="slidenum">
              <a:rPr lang="en-US" smtClean="0"/>
              <a:t>‹#›</a:t>
            </a:fld>
            <a:endParaRPr lang="en-US"/>
          </a:p>
        </p:txBody>
      </p:sp>
    </p:spTree>
    <p:extLst>
      <p:ext uri="{BB962C8B-B14F-4D97-AF65-F5344CB8AC3E}">
        <p14:creationId xmlns:p14="http://schemas.microsoft.com/office/powerpoint/2010/main" val="572864422"/>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67775BE-4F64-6757-C596-265439E955A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412E3A1-03C1-3720-1A90-D10B75EE889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E8794CC-5BB9-3DDE-C1E5-917D37A976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FAC225-08DF-6836-6781-C47A6BABEF9F}"/>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DBD559E-9679-0241-381E-D8C2733B8F2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E34FBE-19DB-9E2C-830A-8AA016B55C2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A33BA3D-0250-FEEF-C152-D0029BE0213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1B8D9FA-920A-D61A-CF34-ABE14D4758B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07F1CC71-A2EC-0EC8-6E5E-F0AEF12A30B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32A8943-BDA6-C456-DF14-588D9900EC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50E1810-99F7-F7D9-8F48-DDA63FF709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126F987-577E-518B-41C5-8CFB322E0F0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DFF58D5-B1D7-E540-4E43-BE788264554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0AA0118-E20A-22BC-60BC-FB523EC92A3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3CC1CFF-6C66-0652-D206-7B0A4ACCD3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2"/>
            <a:ext cx="12192000" cy="6804837"/>
          </a:xfrm>
          <a:prstGeom prst="rect">
            <a:avLst/>
          </a:prstGeom>
        </p:spPr>
      </p:pic>
    </p:spTree>
    <p:extLst>
      <p:ext uri="{BB962C8B-B14F-4D97-AF65-F5344CB8AC3E}">
        <p14:creationId xmlns:p14="http://schemas.microsoft.com/office/powerpoint/2010/main" val="775669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1879</Words>
  <Application>Microsoft Office PowerPoint</Application>
  <PresentationFormat>寬螢幕</PresentationFormat>
  <Paragraphs>105</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2026-09-26T00:11:20Z</dcterms:created>
  <dcterms:modified xsi:type="dcterms:W3CDTF">2026-10-20T13:28:37Z</dcterms:modified>
</cp:coreProperties>
</file>