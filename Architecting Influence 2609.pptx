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A21718-7049-44C7-BE77-5525DA9E6577}" v="19" dt="2026-09-11T04:51:18.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475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addSld delSld modSld sldOrd modMainMaster">
      <pc:chgData name="Lai, Wilson" userId="2840974a-0d84-4886-90a9-9a3ed79f3a48" providerId="ADAL" clId="{9F23B798-9E84-4552-BA63-E776E805C424}" dt="2026-09-11T04:54:53.769" v="65" actId="166"/>
      <pc:docMkLst>
        <pc:docMk/>
      </pc:docMkLst>
      <pc:sldChg chg="addSp delSp modSp mod modAnim modNotesTx">
        <pc:chgData name="Lai, Wilson" userId="2840974a-0d84-4886-90a9-9a3ed79f3a48" providerId="ADAL" clId="{9F23B798-9E84-4552-BA63-E776E805C424}" dt="2026-09-11T04:54:53.769" v="65" actId="166"/>
        <pc:sldMkLst>
          <pc:docMk/>
          <pc:sldMk cId="0" sldId="257"/>
        </pc:sldMkLst>
        <pc:spChg chg="add mod">
          <ac:chgData name="Lai, Wilson" userId="2840974a-0d84-4886-90a9-9a3ed79f3a48" providerId="ADAL" clId="{9F23B798-9E84-4552-BA63-E776E805C424}" dt="2026-09-09T02:34:14.456" v="10" actId="164"/>
          <ac:spMkLst>
            <pc:docMk/>
            <pc:sldMk cId="0" sldId="257"/>
            <ac:spMk id="5" creationId="{F7EB01C7-55CC-F95B-5843-C9BD80E05A45}"/>
          </ac:spMkLst>
        </pc:spChg>
        <pc:grpChg chg="add mod">
          <ac:chgData name="Lai, Wilson" userId="2840974a-0d84-4886-90a9-9a3ed79f3a48" providerId="ADAL" clId="{9F23B798-9E84-4552-BA63-E776E805C424}" dt="2026-09-09T02:34:14.456" v="10" actId="164"/>
          <ac:grpSpMkLst>
            <pc:docMk/>
            <pc:sldMk cId="0" sldId="257"/>
            <ac:grpSpMk id="6" creationId="{52BEE464-722A-6C32-43FE-B3C2F1CFB641}"/>
          </ac:grpSpMkLst>
        </pc:grpChg>
        <pc:picChg chg="del ord">
          <ac:chgData name="Lai, Wilson" userId="2840974a-0d84-4886-90a9-9a3ed79f3a48" providerId="ADAL" clId="{9F23B798-9E84-4552-BA63-E776E805C424}" dt="2026-09-11T04:47:49.514" v="16" actId="21"/>
          <ac:picMkLst>
            <pc:docMk/>
            <pc:sldMk cId="0" sldId="257"/>
            <ac:picMk id="2" creationId="{00000000-0000-0000-0000-000000000000}"/>
          </ac:picMkLst>
        </pc:picChg>
        <pc:picChg chg="add mod">
          <ac:chgData name="Lai, Wilson" userId="2840974a-0d84-4886-90a9-9a3ed79f3a48" providerId="ADAL" clId="{9F23B798-9E84-4552-BA63-E776E805C424}" dt="2026-09-09T02:34:14.456" v="10" actId="164"/>
          <ac:picMkLst>
            <pc:docMk/>
            <pc:sldMk cId="0" sldId="257"/>
            <ac:picMk id="3" creationId="{A7379522-2480-8036-9349-D17217FC8EB7}"/>
          </ac:picMkLst>
        </pc:picChg>
        <pc:picChg chg="add ord">
          <ac:chgData name="Lai, Wilson" userId="2840974a-0d84-4886-90a9-9a3ed79f3a48" providerId="ADAL" clId="{9F23B798-9E84-4552-BA63-E776E805C424}" dt="2026-09-11T04:54:53.769" v="65" actId="166"/>
          <ac:picMkLst>
            <pc:docMk/>
            <pc:sldMk cId="0" sldId="257"/>
            <ac:picMk id="7" creationId="{95A35257-464A-A95D-316E-1FC4A3256E0E}"/>
          </ac:picMkLst>
        </pc:picChg>
      </pc:sldChg>
      <pc:sldChg chg="addSp delSp mod">
        <pc:chgData name="Lai, Wilson" userId="2840974a-0d84-4886-90a9-9a3ed79f3a48" providerId="ADAL" clId="{9F23B798-9E84-4552-BA63-E776E805C424}" dt="2026-09-11T04:48:11.445" v="19" actId="22"/>
        <pc:sldMkLst>
          <pc:docMk/>
          <pc:sldMk cId="0" sldId="258"/>
        </pc:sldMkLst>
        <pc:picChg chg="del">
          <ac:chgData name="Lai, Wilson" userId="2840974a-0d84-4886-90a9-9a3ed79f3a48" providerId="ADAL" clId="{9F23B798-9E84-4552-BA63-E776E805C424}" dt="2026-09-11T04:48:04.284" v="18" actId="21"/>
          <ac:picMkLst>
            <pc:docMk/>
            <pc:sldMk cId="0" sldId="258"/>
            <ac:picMk id="2" creationId="{00000000-0000-0000-0000-000000000000}"/>
          </ac:picMkLst>
        </pc:picChg>
        <pc:picChg chg="add">
          <ac:chgData name="Lai, Wilson" userId="2840974a-0d84-4886-90a9-9a3ed79f3a48" providerId="ADAL" clId="{9F23B798-9E84-4552-BA63-E776E805C424}" dt="2026-09-11T04:48:11.445" v="19" actId="22"/>
          <ac:picMkLst>
            <pc:docMk/>
            <pc:sldMk cId="0" sldId="258"/>
            <ac:picMk id="4" creationId="{77387963-4128-F6E3-AFA9-AB509E3FBE3C}"/>
          </ac:picMkLst>
        </pc:picChg>
      </pc:sldChg>
      <pc:sldChg chg="addSp delSp mod modNotesTx">
        <pc:chgData name="Lai, Wilson" userId="2840974a-0d84-4886-90a9-9a3ed79f3a48" providerId="ADAL" clId="{9F23B798-9E84-4552-BA63-E776E805C424}" dt="2026-09-11T04:52:16.148" v="36" actId="22"/>
        <pc:sldMkLst>
          <pc:docMk/>
          <pc:sldMk cId="0" sldId="259"/>
        </pc:sldMkLst>
        <pc:picChg chg="del">
          <ac:chgData name="Lai, Wilson" userId="2840974a-0d84-4886-90a9-9a3ed79f3a48" providerId="ADAL" clId="{9F23B798-9E84-4552-BA63-E776E805C424}" dt="2026-09-11T04:52:01.493" v="35" actId="21"/>
          <ac:picMkLst>
            <pc:docMk/>
            <pc:sldMk cId="0" sldId="259"/>
            <ac:picMk id="2" creationId="{00000000-0000-0000-0000-000000000000}"/>
          </ac:picMkLst>
        </pc:picChg>
        <pc:picChg chg="add">
          <ac:chgData name="Lai, Wilson" userId="2840974a-0d84-4886-90a9-9a3ed79f3a48" providerId="ADAL" clId="{9F23B798-9E84-4552-BA63-E776E805C424}" dt="2026-09-11T04:52:16.148" v="36" actId="22"/>
          <ac:picMkLst>
            <pc:docMk/>
            <pc:sldMk cId="0" sldId="259"/>
            <ac:picMk id="4" creationId="{727166F8-5D74-62AE-88D9-A4676FC01861}"/>
          </ac:picMkLst>
        </pc:picChg>
      </pc:sldChg>
      <pc:sldChg chg="addSp delSp mod modNotesTx">
        <pc:chgData name="Lai, Wilson" userId="2840974a-0d84-4886-90a9-9a3ed79f3a48" providerId="ADAL" clId="{9F23B798-9E84-4552-BA63-E776E805C424}" dt="2026-09-11T04:52:27.220" v="38" actId="22"/>
        <pc:sldMkLst>
          <pc:docMk/>
          <pc:sldMk cId="0" sldId="260"/>
        </pc:sldMkLst>
        <pc:picChg chg="del">
          <ac:chgData name="Lai, Wilson" userId="2840974a-0d84-4886-90a9-9a3ed79f3a48" providerId="ADAL" clId="{9F23B798-9E84-4552-BA63-E776E805C424}" dt="2026-09-11T04:52:17.845" v="37" actId="21"/>
          <ac:picMkLst>
            <pc:docMk/>
            <pc:sldMk cId="0" sldId="260"/>
            <ac:picMk id="2" creationId="{00000000-0000-0000-0000-000000000000}"/>
          </ac:picMkLst>
        </pc:picChg>
        <pc:picChg chg="add">
          <ac:chgData name="Lai, Wilson" userId="2840974a-0d84-4886-90a9-9a3ed79f3a48" providerId="ADAL" clId="{9F23B798-9E84-4552-BA63-E776E805C424}" dt="2026-09-11T04:52:27.220" v="38" actId="22"/>
          <ac:picMkLst>
            <pc:docMk/>
            <pc:sldMk cId="0" sldId="260"/>
            <ac:picMk id="4" creationId="{5F51FE98-C51A-34E5-853D-9426707D20C4}"/>
          </ac:picMkLst>
        </pc:picChg>
      </pc:sldChg>
      <pc:sldChg chg="addSp delSp mod modNotesTx">
        <pc:chgData name="Lai, Wilson" userId="2840974a-0d84-4886-90a9-9a3ed79f3a48" providerId="ADAL" clId="{9F23B798-9E84-4552-BA63-E776E805C424}" dt="2026-09-11T04:52:36.816" v="40" actId="22"/>
        <pc:sldMkLst>
          <pc:docMk/>
          <pc:sldMk cId="0" sldId="261"/>
        </pc:sldMkLst>
        <pc:picChg chg="del">
          <ac:chgData name="Lai, Wilson" userId="2840974a-0d84-4886-90a9-9a3ed79f3a48" providerId="ADAL" clId="{9F23B798-9E84-4552-BA63-E776E805C424}" dt="2026-09-11T04:52:29.602" v="39" actId="21"/>
          <ac:picMkLst>
            <pc:docMk/>
            <pc:sldMk cId="0" sldId="261"/>
            <ac:picMk id="2" creationId="{00000000-0000-0000-0000-000000000000}"/>
          </ac:picMkLst>
        </pc:picChg>
        <pc:picChg chg="add">
          <ac:chgData name="Lai, Wilson" userId="2840974a-0d84-4886-90a9-9a3ed79f3a48" providerId="ADAL" clId="{9F23B798-9E84-4552-BA63-E776E805C424}" dt="2026-09-11T04:52:36.816" v="40" actId="22"/>
          <ac:picMkLst>
            <pc:docMk/>
            <pc:sldMk cId="0" sldId="261"/>
            <ac:picMk id="4" creationId="{28B38DF0-A33A-5040-A7C5-DC6B40FAB95C}"/>
          </ac:picMkLst>
        </pc:picChg>
      </pc:sldChg>
      <pc:sldChg chg="addSp delSp mod modNotesTx">
        <pc:chgData name="Lai, Wilson" userId="2840974a-0d84-4886-90a9-9a3ed79f3a48" providerId="ADAL" clId="{9F23B798-9E84-4552-BA63-E776E805C424}" dt="2026-09-11T04:52:49.822" v="42" actId="22"/>
        <pc:sldMkLst>
          <pc:docMk/>
          <pc:sldMk cId="0" sldId="262"/>
        </pc:sldMkLst>
        <pc:picChg chg="del">
          <ac:chgData name="Lai, Wilson" userId="2840974a-0d84-4886-90a9-9a3ed79f3a48" providerId="ADAL" clId="{9F23B798-9E84-4552-BA63-E776E805C424}" dt="2026-09-11T04:52:39.451" v="41" actId="21"/>
          <ac:picMkLst>
            <pc:docMk/>
            <pc:sldMk cId="0" sldId="262"/>
            <ac:picMk id="2" creationId="{00000000-0000-0000-0000-000000000000}"/>
          </ac:picMkLst>
        </pc:picChg>
        <pc:picChg chg="add">
          <ac:chgData name="Lai, Wilson" userId="2840974a-0d84-4886-90a9-9a3ed79f3a48" providerId="ADAL" clId="{9F23B798-9E84-4552-BA63-E776E805C424}" dt="2026-09-11T04:52:49.822" v="42" actId="22"/>
          <ac:picMkLst>
            <pc:docMk/>
            <pc:sldMk cId="0" sldId="262"/>
            <ac:picMk id="4" creationId="{EE1D1869-4437-C3CE-E1FF-AE7810A58108}"/>
          </ac:picMkLst>
        </pc:picChg>
      </pc:sldChg>
      <pc:sldChg chg="addSp delSp mod">
        <pc:chgData name="Lai, Wilson" userId="2840974a-0d84-4886-90a9-9a3ed79f3a48" providerId="ADAL" clId="{9F23B798-9E84-4552-BA63-E776E805C424}" dt="2026-09-11T04:53:03.327" v="44" actId="22"/>
        <pc:sldMkLst>
          <pc:docMk/>
          <pc:sldMk cId="0" sldId="263"/>
        </pc:sldMkLst>
        <pc:picChg chg="del">
          <ac:chgData name="Lai, Wilson" userId="2840974a-0d84-4886-90a9-9a3ed79f3a48" providerId="ADAL" clId="{9F23B798-9E84-4552-BA63-E776E805C424}" dt="2026-09-11T04:52:51.518" v="43" actId="21"/>
          <ac:picMkLst>
            <pc:docMk/>
            <pc:sldMk cId="0" sldId="263"/>
            <ac:picMk id="2" creationId="{00000000-0000-0000-0000-000000000000}"/>
          </ac:picMkLst>
        </pc:picChg>
        <pc:picChg chg="add">
          <ac:chgData name="Lai, Wilson" userId="2840974a-0d84-4886-90a9-9a3ed79f3a48" providerId="ADAL" clId="{9F23B798-9E84-4552-BA63-E776E805C424}" dt="2026-09-11T04:53:03.327" v="44" actId="22"/>
          <ac:picMkLst>
            <pc:docMk/>
            <pc:sldMk cId="0" sldId="263"/>
            <ac:picMk id="4" creationId="{BB8A9F89-90F5-2563-CEA8-4883654E6ADA}"/>
          </ac:picMkLst>
        </pc:picChg>
      </pc:sldChg>
      <pc:sldChg chg="addSp delSp mod modNotesTx">
        <pc:chgData name="Lai, Wilson" userId="2840974a-0d84-4886-90a9-9a3ed79f3a48" providerId="ADAL" clId="{9F23B798-9E84-4552-BA63-E776E805C424}" dt="2026-09-11T04:53:12.068" v="46" actId="22"/>
        <pc:sldMkLst>
          <pc:docMk/>
          <pc:sldMk cId="0" sldId="264"/>
        </pc:sldMkLst>
        <pc:picChg chg="del">
          <ac:chgData name="Lai, Wilson" userId="2840974a-0d84-4886-90a9-9a3ed79f3a48" providerId="ADAL" clId="{9F23B798-9E84-4552-BA63-E776E805C424}" dt="2026-09-11T04:53:05.844" v="45" actId="21"/>
          <ac:picMkLst>
            <pc:docMk/>
            <pc:sldMk cId="0" sldId="264"/>
            <ac:picMk id="2" creationId="{00000000-0000-0000-0000-000000000000}"/>
          </ac:picMkLst>
        </pc:picChg>
        <pc:picChg chg="add">
          <ac:chgData name="Lai, Wilson" userId="2840974a-0d84-4886-90a9-9a3ed79f3a48" providerId="ADAL" clId="{9F23B798-9E84-4552-BA63-E776E805C424}" dt="2026-09-11T04:53:12.068" v="46" actId="22"/>
          <ac:picMkLst>
            <pc:docMk/>
            <pc:sldMk cId="0" sldId="264"/>
            <ac:picMk id="4" creationId="{A8E54BC3-473D-A683-822A-07DCDE1894B9}"/>
          </ac:picMkLst>
        </pc:picChg>
      </pc:sldChg>
      <pc:sldChg chg="addSp delSp mod modNotesTx">
        <pc:chgData name="Lai, Wilson" userId="2840974a-0d84-4886-90a9-9a3ed79f3a48" providerId="ADAL" clId="{9F23B798-9E84-4552-BA63-E776E805C424}" dt="2026-09-11T04:53:21.451" v="48" actId="22"/>
        <pc:sldMkLst>
          <pc:docMk/>
          <pc:sldMk cId="0" sldId="265"/>
        </pc:sldMkLst>
        <pc:picChg chg="del">
          <ac:chgData name="Lai, Wilson" userId="2840974a-0d84-4886-90a9-9a3ed79f3a48" providerId="ADAL" clId="{9F23B798-9E84-4552-BA63-E776E805C424}" dt="2026-09-11T04:53:13.549" v="47" actId="21"/>
          <ac:picMkLst>
            <pc:docMk/>
            <pc:sldMk cId="0" sldId="265"/>
            <ac:picMk id="2" creationId="{00000000-0000-0000-0000-000000000000}"/>
          </ac:picMkLst>
        </pc:picChg>
        <pc:picChg chg="add">
          <ac:chgData name="Lai, Wilson" userId="2840974a-0d84-4886-90a9-9a3ed79f3a48" providerId="ADAL" clId="{9F23B798-9E84-4552-BA63-E776E805C424}" dt="2026-09-11T04:53:21.451" v="48" actId="22"/>
          <ac:picMkLst>
            <pc:docMk/>
            <pc:sldMk cId="0" sldId="265"/>
            <ac:picMk id="4" creationId="{390B87D6-8D48-DA51-0E35-82DFBECA48E3}"/>
          </ac:picMkLst>
        </pc:picChg>
      </pc:sldChg>
      <pc:sldChg chg="addSp delSp mod modNotesTx">
        <pc:chgData name="Lai, Wilson" userId="2840974a-0d84-4886-90a9-9a3ed79f3a48" providerId="ADAL" clId="{9F23B798-9E84-4552-BA63-E776E805C424}" dt="2026-09-11T04:53:29.243" v="50" actId="22"/>
        <pc:sldMkLst>
          <pc:docMk/>
          <pc:sldMk cId="0" sldId="266"/>
        </pc:sldMkLst>
        <pc:picChg chg="del">
          <ac:chgData name="Lai, Wilson" userId="2840974a-0d84-4886-90a9-9a3ed79f3a48" providerId="ADAL" clId="{9F23B798-9E84-4552-BA63-E776E805C424}" dt="2026-09-11T04:53:22.688" v="49" actId="21"/>
          <ac:picMkLst>
            <pc:docMk/>
            <pc:sldMk cId="0" sldId="266"/>
            <ac:picMk id="2" creationId="{00000000-0000-0000-0000-000000000000}"/>
          </ac:picMkLst>
        </pc:picChg>
        <pc:picChg chg="add">
          <ac:chgData name="Lai, Wilson" userId="2840974a-0d84-4886-90a9-9a3ed79f3a48" providerId="ADAL" clId="{9F23B798-9E84-4552-BA63-E776E805C424}" dt="2026-09-11T04:53:29.243" v="50" actId="22"/>
          <ac:picMkLst>
            <pc:docMk/>
            <pc:sldMk cId="0" sldId="266"/>
            <ac:picMk id="4" creationId="{CEC1257B-F585-1F04-AFE4-1F7234A00B30}"/>
          </ac:picMkLst>
        </pc:picChg>
      </pc:sldChg>
      <pc:sldChg chg="addSp delSp mod modNotesTx">
        <pc:chgData name="Lai, Wilson" userId="2840974a-0d84-4886-90a9-9a3ed79f3a48" providerId="ADAL" clId="{9F23B798-9E84-4552-BA63-E776E805C424}" dt="2026-09-11T04:53:38.404" v="52" actId="22"/>
        <pc:sldMkLst>
          <pc:docMk/>
          <pc:sldMk cId="0" sldId="267"/>
        </pc:sldMkLst>
        <pc:picChg chg="del">
          <ac:chgData name="Lai, Wilson" userId="2840974a-0d84-4886-90a9-9a3ed79f3a48" providerId="ADAL" clId="{9F23B798-9E84-4552-BA63-E776E805C424}" dt="2026-09-11T04:53:30.401" v="51" actId="21"/>
          <ac:picMkLst>
            <pc:docMk/>
            <pc:sldMk cId="0" sldId="267"/>
            <ac:picMk id="2" creationId="{00000000-0000-0000-0000-000000000000}"/>
          </ac:picMkLst>
        </pc:picChg>
        <pc:picChg chg="add">
          <ac:chgData name="Lai, Wilson" userId="2840974a-0d84-4886-90a9-9a3ed79f3a48" providerId="ADAL" clId="{9F23B798-9E84-4552-BA63-E776E805C424}" dt="2026-09-11T04:53:38.404" v="52" actId="22"/>
          <ac:picMkLst>
            <pc:docMk/>
            <pc:sldMk cId="0" sldId="267"/>
            <ac:picMk id="4" creationId="{5D05ABA1-7299-8F2B-35FB-0E90D126F134}"/>
          </ac:picMkLst>
        </pc:picChg>
      </pc:sldChg>
      <pc:sldChg chg="addSp delSp mod modNotesTx">
        <pc:chgData name="Lai, Wilson" userId="2840974a-0d84-4886-90a9-9a3ed79f3a48" providerId="ADAL" clId="{9F23B798-9E84-4552-BA63-E776E805C424}" dt="2026-09-11T04:53:50.259" v="54" actId="22"/>
        <pc:sldMkLst>
          <pc:docMk/>
          <pc:sldMk cId="0" sldId="268"/>
        </pc:sldMkLst>
        <pc:picChg chg="del">
          <ac:chgData name="Lai, Wilson" userId="2840974a-0d84-4886-90a9-9a3ed79f3a48" providerId="ADAL" clId="{9F23B798-9E84-4552-BA63-E776E805C424}" dt="2026-09-11T04:53:43.353" v="53" actId="21"/>
          <ac:picMkLst>
            <pc:docMk/>
            <pc:sldMk cId="0" sldId="268"/>
            <ac:picMk id="2" creationId="{00000000-0000-0000-0000-000000000000}"/>
          </ac:picMkLst>
        </pc:picChg>
        <pc:picChg chg="add">
          <ac:chgData name="Lai, Wilson" userId="2840974a-0d84-4886-90a9-9a3ed79f3a48" providerId="ADAL" clId="{9F23B798-9E84-4552-BA63-E776E805C424}" dt="2026-09-11T04:53:50.259" v="54" actId="22"/>
          <ac:picMkLst>
            <pc:docMk/>
            <pc:sldMk cId="0" sldId="268"/>
            <ac:picMk id="4" creationId="{BF0FAA37-7729-C5C5-26B4-7D93F7A73AE4}"/>
          </ac:picMkLst>
        </pc:picChg>
      </pc:sldChg>
      <pc:sldChg chg="modNotesTx">
        <pc:chgData name="Lai, Wilson" userId="2840974a-0d84-4886-90a9-9a3ed79f3a48" providerId="ADAL" clId="{9F23B798-9E84-4552-BA63-E776E805C424}" dt="2026-09-11T04:50:55.341" v="32" actId="12"/>
        <pc:sldMkLst>
          <pc:docMk/>
          <pc:sldMk cId="0" sldId="269"/>
        </pc:sldMkLst>
      </pc:sldChg>
      <pc:sldChg chg="addSp delSp mod modNotesTx">
        <pc:chgData name="Lai, Wilson" userId="2840974a-0d84-4886-90a9-9a3ed79f3a48" providerId="ADAL" clId="{9F23B798-9E84-4552-BA63-E776E805C424}" dt="2026-09-11T04:54:31.745" v="62" actId="20577"/>
        <pc:sldMkLst>
          <pc:docMk/>
          <pc:sldMk cId="0" sldId="270"/>
        </pc:sldMkLst>
        <pc:picChg chg="del">
          <ac:chgData name="Lai, Wilson" userId="2840974a-0d84-4886-90a9-9a3ed79f3a48" providerId="ADAL" clId="{9F23B798-9E84-4552-BA63-E776E805C424}" dt="2026-09-11T04:53:52.002" v="55" actId="21"/>
          <ac:picMkLst>
            <pc:docMk/>
            <pc:sldMk cId="0" sldId="270"/>
            <ac:picMk id="2" creationId="{00000000-0000-0000-0000-000000000000}"/>
          </ac:picMkLst>
        </pc:picChg>
        <pc:picChg chg="add">
          <ac:chgData name="Lai, Wilson" userId="2840974a-0d84-4886-90a9-9a3ed79f3a48" providerId="ADAL" clId="{9F23B798-9E84-4552-BA63-E776E805C424}" dt="2026-09-11T04:54:02.238" v="56" actId="22"/>
          <ac:picMkLst>
            <pc:docMk/>
            <pc:sldMk cId="0" sldId="270"/>
            <ac:picMk id="4" creationId="{5FCF54D4-9FB5-9C04-FE39-9036214794EB}"/>
          </ac:picMkLst>
        </pc:picChg>
      </pc:sldChg>
      <pc:sldChg chg="addSp delSp mod ord modNotesTx">
        <pc:chgData name="Lai, Wilson" userId="2840974a-0d84-4886-90a9-9a3ed79f3a48" providerId="ADAL" clId="{9F23B798-9E84-4552-BA63-E776E805C424}" dt="2026-09-11T04:54:36.300" v="63" actId="20577"/>
        <pc:sldMkLst>
          <pc:docMk/>
          <pc:sldMk cId="2776185726" sldId="271"/>
        </pc:sldMkLst>
        <pc:picChg chg="del">
          <ac:chgData name="Lai, Wilson" userId="2840974a-0d84-4886-90a9-9a3ed79f3a48" providerId="ADAL" clId="{9F23B798-9E84-4552-BA63-E776E805C424}" dt="2026-09-11T04:54:06.969" v="57" actId="21"/>
          <ac:picMkLst>
            <pc:docMk/>
            <pc:sldMk cId="2776185726" sldId="271"/>
            <ac:picMk id="3" creationId="{D7CB9B42-3B84-7124-1742-AFCCDD8CC6E3}"/>
          </ac:picMkLst>
        </pc:picChg>
        <pc:picChg chg="add">
          <ac:chgData name="Lai, Wilson" userId="2840974a-0d84-4886-90a9-9a3ed79f3a48" providerId="ADAL" clId="{9F23B798-9E84-4552-BA63-E776E805C424}" dt="2026-09-11T04:54:17.447" v="58" actId="22"/>
          <ac:picMkLst>
            <pc:docMk/>
            <pc:sldMk cId="2776185726" sldId="271"/>
            <ac:picMk id="4" creationId="{47B30BB3-033B-D3C4-5B5B-CB5ADF1B9C95}"/>
          </ac:picMkLst>
        </pc:picChg>
      </pc:sldChg>
      <pc:sldChg chg="new del">
        <pc:chgData name="Lai, Wilson" userId="2840974a-0d84-4886-90a9-9a3ed79f3a48" providerId="ADAL" clId="{9F23B798-9E84-4552-BA63-E776E805C424}" dt="2026-09-11T04:54:22.158" v="61" actId="47"/>
        <pc:sldMkLst>
          <pc:docMk/>
          <pc:sldMk cId="1082163316" sldId="272"/>
        </pc:sldMkLst>
      </pc:sldChg>
      <pc:sldMasterChg chg="setBg">
        <pc:chgData name="Lai, Wilson" userId="2840974a-0d84-4886-90a9-9a3ed79f3a48" providerId="ADAL" clId="{9F23B798-9E84-4552-BA63-E776E805C424}" dt="2026-09-09T02:33:13.456" v="0"/>
        <pc:sldMasterMkLst>
          <pc:docMk/>
          <pc:sldMasterMk cId="128241202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673090-B5BB-4209-9CBE-57D3744F6D14}"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18AA0-338C-41FE-9353-D91121E61C48}" type="slidenum">
              <a:rPr lang="en-US" smtClean="0"/>
              <a:t>‹#›</a:t>
            </a:fld>
            <a:endParaRPr lang="en-US"/>
          </a:p>
        </p:txBody>
      </p:sp>
    </p:spTree>
    <p:extLst>
      <p:ext uri="{BB962C8B-B14F-4D97-AF65-F5344CB8AC3E}">
        <p14:creationId xmlns:p14="http://schemas.microsoft.com/office/powerpoint/2010/main" val="1396865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discussing </a:t>
            </a:r>
            <a:r>
              <a:rPr lang="en-US" sz="1200" i="1" kern="1200" dirty="0">
                <a:solidFill>
                  <a:schemeClr val="tx1"/>
                </a:solidFill>
                <a:effectLst/>
                <a:latin typeface="+mn-lt"/>
                <a:ea typeface="+mn-ea"/>
                <a:cs typeface="+mn-cs"/>
              </a:rPr>
              <a:t>The Architecture of Influence: A Diagnostic Playbook for Clear Thinking, Calm Authority, and Precise Communication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There’s a fundamental truth that many professionals avoid facing: if others do not feel clarity, strength, and certainty in your voice, they will not trust you, follow you, or take action because of you. You can hold brilliant ideas and years of deep experience, but if the way you think and speak fails to reflect that, your true impact remains invisible. </a:t>
            </a:r>
          </a:p>
          <a:p>
            <a:r>
              <a:rPr lang="en-US" sz="1200" kern="1200" dirty="0">
                <a:solidFill>
                  <a:schemeClr val="tx1"/>
                </a:solidFill>
                <a:effectLst/>
                <a:latin typeface="+mn-lt"/>
                <a:ea typeface="+mn-ea"/>
                <a:cs typeface="+mn-cs"/>
              </a:rPr>
              <a:t>Real influence is not about sounding artificially smooth or speaking louder than everyone else in the room. True influence is an engineered outcome built from the inside out. As shown on this slide, it moves through concentric layers: </a:t>
            </a:r>
          </a:p>
          <a:p>
            <a:pPr marL="228600" lvl="0" indent="-228600">
              <a:buFont typeface="+mj-lt"/>
              <a:buAutoNum type="arabicPeriod"/>
            </a:pPr>
            <a:r>
              <a:rPr lang="en-US" sz="1200" b="1" kern="1200" dirty="0">
                <a:solidFill>
                  <a:schemeClr val="tx1"/>
                </a:solidFill>
                <a:effectLst/>
                <a:latin typeface="+mn-lt"/>
                <a:ea typeface="+mn-ea"/>
                <a:cs typeface="+mn-cs"/>
              </a:rPr>
              <a:t>The Inner Game:</a:t>
            </a:r>
            <a:r>
              <a:rPr lang="en-US" sz="1200" kern="1200" dirty="0">
                <a:solidFill>
                  <a:schemeClr val="tx1"/>
                </a:solidFill>
                <a:effectLst/>
                <a:latin typeface="+mn-lt"/>
                <a:ea typeface="+mn-ea"/>
                <a:cs typeface="+mn-cs"/>
              </a:rPr>
              <a:t> Mastering your internal mind, emotion, and nervous system. </a:t>
            </a:r>
          </a:p>
          <a:p>
            <a:pPr marL="228600" lvl="0" indent="-228600">
              <a:buFont typeface="+mj-lt"/>
              <a:buAutoNum type="arabicPeriod"/>
            </a:pPr>
            <a:r>
              <a:rPr lang="en-US" sz="1200" b="1" kern="1200" dirty="0">
                <a:solidFill>
                  <a:schemeClr val="tx1"/>
                </a:solidFill>
                <a:effectLst/>
                <a:latin typeface="+mn-lt"/>
                <a:ea typeface="+mn-ea"/>
                <a:cs typeface="+mn-cs"/>
              </a:rPr>
              <a:t>The Mechanics:</a:t>
            </a:r>
            <a:r>
              <a:rPr lang="en-US" sz="1200" kern="1200" dirty="0">
                <a:solidFill>
                  <a:schemeClr val="tx1"/>
                </a:solidFill>
                <a:effectLst/>
                <a:latin typeface="+mn-lt"/>
                <a:ea typeface="+mn-ea"/>
                <a:cs typeface="+mn-cs"/>
              </a:rPr>
              <a:t> Structuring your words, language, and message with surgical precision. </a:t>
            </a:r>
          </a:p>
          <a:p>
            <a:pPr marL="228600" lvl="0" indent="-228600">
              <a:buFont typeface="+mj-lt"/>
              <a:buAutoNum type="arabicPeriod"/>
            </a:pPr>
            <a:r>
              <a:rPr lang="en-US" sz="1200" b="1" kern="1200" dirty="0">
                <a:solidFill>
                  <a:schemeClr val="tx1"/>
                </a:solidFill>
                <a:effectLst/>
                <a:latin typeface="+mn-lt"/>
                <a:ea typeface="+mn-ea"/>
                <a:cs typeface="+mn-cs"/>
              </a:rPr>
              <a:t>The Dynamics:</a:t>
            </a:r>
            <a:r>
              <a:rPr lang="en-US" sz="1200" kern="1200" dirty="0">
                <a:solidFill>
                  <a:schemeClr val="tx1"/>
                </a:solidFill>
                <a:effectLst/>
                <a:latin typeface="+mn-lt"/>
                <a:ea typeface="+mn-ea"/>
                <a:cs typeface="+mn-cs"/>
              </a:rPr>
              <a:t> Reading the climate of the room and aligning with its energy. </a:t>
            </a:r>
          </a:p>
          <a:p>
            <a:pPr marL="228600" lvl="0" indent="-228600">
              <a:buFont typeface="+mj-lt"/>
              <a:buAutoNum type="arabicPeriod"/>
            </a:pPr>
            <a:r>
              <a:rPr lang="en-US" sz="1200" b="1" kern="1200" dirty="0">
                <a:solidFill>
                  <a:schemeClr val="tx1"/>
                </a:solidFill>
                <a:effectLst/>
                <a:latin typeface="+mn-lt"/>
                <a:ea typeface="+mn-ea"/>
                <a:cs typeface="+mn-cs"/>
              </a:rPr>
              <a:t>The Eternal:</a:t>
            </a:r>
            <a:r>
              <a:rPr lang="en-US" sz="1200" kern="1200" dirty="0">
                <a:solidFill>
                  <a:schemeClr val="tx1"/>
                </a:solidFill>
                <a:effectLst/>
                <a:latin typeface="+mn-lt"/>
                <a:ea typeface="+mn-ea"/>
                <a:cs typeface="+mn-cs"/>
              </a:rPr>
              <a:t> Achieving true mastery through deliberate, continuous repetition. </a:t>
            </a:r>
          </a:p>
          <a:p>
            <a:r>
              <a:rPr lang="en-US" sz="1200" kern="1200" dirty="0">
                <a:solidFill>
                  <a:schemeClr val="tx1"/>
                </a:solidFill>
                <a:effectLst/>
                <a:latin typeface="+mn-lt"/>
                <a:ea typeface="+mn-ea"/>
                <a:cs typeface="+mn-cs"/>
              </a:rPr>
              <a:t>Remember this core principle throughout our session today: </a:t>
            </a:r>
            <a:r>
              <a:rPr lang="en-US" sz="1200" i="1" kern="1200" dirty="0">
                <a:solidFill>
                  <a:schemeClr val="tx1"/>
                </a:solidFill>
                <a:effectLst/>
                <a:latin typeface="+mn-lt"/>
                <a:ea typeface="+mn-ea"/>
                <a:cs typeface="+mn-cs"/>
              </a:rPr>
              <a:t>When you change the way you speak, you change your identity</a:t>
            </a:r>
            <a:r>
              <a:rPr lang="en-US" sz="1200" kern="1200" dirty="0">
                <a:solidFill>
                  <a:schemeClr val="tx1"/>
                </a:solidFill>
                <a:effectLst/>
                <a:latin typeface="+mn-lt"/>
                <a:ea typeface="+mn-ea"/>
                <a:cs typeface="+mn-cs"/>
              </a:rPr>
              <a:t>. Let’s explore how to refine your voice into a true tool of leadership.</a:t>
            </a:r>
          </a:p>
          <a:p>
            <a:endParaRPr lang="en-US" dirty="0"/>
          </a:p>
          <a:p>
            <a:endParaRPr lang="en-US" dirty="0"/>
          </a:p>
          <a:p>
            <a:endParaRPr lang="en-US" dirty="0"/>
          </a:p>
          <a:p>
            <a:r>
              <a:rPr lang="en-US" dirty="0"/>
              <a:t>https://www.youtube.com/watch?v=EScIzEExWWE</a:t>
            </a:r>
          </a:p>
        </p:txBody>
      </p:sp>
      <p:sp>
        <p:nvSpPr>
          <p:cNvPr id="4" name="Slide Number Placeholder 3"/>
          <p:cNvSpPr>
            <a:spLocks noGrp="1"/>
          </p:cNvSpPr>
          <p:nvPr>
            <p:ph type="sldNum" sz="quarter" idx="5"/>
          </p:nvPr>
        </p:nvSpPr>
        <p:spPr/>
        <p:txBody>
          <a:bodyPr/>
          <a:lstStyle/>
          <a:p>
            <a:fld id="{3C718AA0-338C-41FE-9353-D91121E61C48}" type="slidenum">
              <a:rPr lang="en-US" smtClean="0"/>
              <a:t>1</a:t>
            </a:fld>
            <a:endParaRPr lang="en-US"/>
          </a:p>
        </p:txBody>
      </p:sp>
    </p:spTree>
    <p:extLst>
      <p:ext uri="{BB962C8B-B14F-4D97-AF65-F5344CB8AC3E}">
        <p14:creationId xmlns:p14="http://schemas.microsoft.com/office/powerpoint/2010/main" val="3630114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turn to Slide 2: </a:t>
            </a:r>
            <a:r>
              <a:rPr lang="en-US" sz="1200" i="1" kern="1200" dirty="0">
                <a:solidFill>
                  <a:schemeClr val="tx1"/>
                </a:solidFill>
                <a:effectLst/>
                <a:latin typeface="+mn-lt"/>
                <a:ea typeface="+mn-ea"/>
                <a:cs typeface="+mn-cs"/>
              </a:rPr>
              <a:t>Communication Starts in the Silence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Most people assume that communication begins the second their mouth opens. In reality, high-stakes communication begins in the silence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the first word. It starts in that crucial space where you gather your thoughts, filter your noise, and align your intention. </a:t>
            </a:r>
          </a:p>
          <a:p>
            <a:r>
              <a:rPr lang="en-US" sz="1200" kern="1200" dirty="0">
                <a:solidFill>
                  <a:schemeClr val="tx1"/>
                </a:solidFill>
                <a:effectLst/>
                <a:latin typeface="+mn-lt"/>
                <a:ea typeface="+mn-ea"/>
                <a:cs typeface="+mn-cs"/>
              </a:rPr>
              <a:t>Here lies </a:t>
            </a:r>
            <a:r>
              <a:rPr lang="en-US" sz="1200" b="1" kern="1200" dirty="0">
                <a:solidFill>
                  <a:schemeClr val="tx1"/>
                </a:solidFill>
                <a:effectLst/>
                <a:latin typeface="+mn-lt"/>
                <a:ea typeface="+mn-ea"/>
                <a:cs typeface="+mn-cs"/>
              </a:rPr>
              <a:t>The Trap of Simultaneous Processing</a:t>
            </a:r>
            <a:r>
              <a:rPr lang="en-US" sz="1200" kern="1200" dirty="0">
                <a:solidFill>
                  <a:schemeClr val="tx1"/>
                </a:solidFill>
                <a:effectLst/>
                <a:latin typeface="+mn-lt"/>
                <a:ea typeface="+mn-ea"/>
                <a:cs typeface="+mn-cs"/>
              </a:rPr>
              <a:t>: The human mind is simply not built to think, filter, refine, and deliver a complex thought all at the same time. When you try to organize your thoughts while actively speaking, you fall into a destructive cycle—talking faster out of uncertainty, over-explaining because the initial point was weak, and ultimately under-delivering. </a:t>
            </a:r>
          </a:p>
          <a:p>
            <a:r>
              <a:rPr lang="en-US" sz="1200" kern="1200" dirty="0">
                <a:solidFill>
                  <a:schemeClr val="tx1"/>
                </a:solidFill>
                <a:effectLst/>
                <a:latin typeface="+mn-lt"/>
                <a:ea typeface="+mn-ea"/>
                <a:cs typeface="+mn-cs"/>
              </a:rPr>
              <a:t>To break this trap, we must embody </a:t>
            </a:r>
            <a:r>
              <a:rPr lang="en-US" sz="1200" b="1" kern="1200" dirty="0">
                <a:solidFill>
                  <a:schemeClr val="tx1"/>
                </a:solidFill>
                <a:effectLst/>
                <a:latin typeface="+mn-lt"/>
                <a:ea typeface="+mn-ea"/>
                <a:cs typeface="+mn-cs"/>
              </a:rPr>
              <a:t>The Discipline of Clarity</a:t>
            </a:r>
            <a:r>
              <a:rPr lang="en-US" sz="1200" kern="1200" dirty="0">
                <a:solidFill>
                  <a:schemeClr val="tx1"/>
                </a:solidFill>
                <a:effectLst/>
                <a:latin typeface="+mn-lt"/>
                <a:ea typeface="+mn-ea"/>
                <a:cs typeface="+mn-cs"/>
              </a:rPr>
              <a:t>. Clarity requires slowing down. Slowing down doesn't mean thinking less; it means thinking better. It gives your mental desk space to separate the signal from the surrounding noise. You must strip away the emotional debris and locate the absolute core of your idea. </a:t>
            </a:r>
          </a:p>
          <a:p>
            <a:r>
              <a:rPr lang="en-US" sz="1200" kern="1200" dirty="0">
                <a:solidFill>
                  <a:schemeClr val="tx1"/>
                </a:solidFill>
                <a:effectLst/>
                <a:latin typeface="+mn-lt"/>
                <a:ea typeface="+mn-ea"/>
                <a:cs typeface="+mn-cs"/>
              </a:rPr>
              <a:t>As you see at the bottom of the slide, we use </a:t>
            </a:r>
            <a:r>
              <a:rPr lang="en-US" sz="1200" b="1" kern="1200" dirty="0">
                <a:solidFill>
                  <a:schemeClr val="tx1"/>
                </a:solidFill>
                <a:effectLst/>
                <a:latin typeface="+mn-lt"/>
                <a:ea typeface="+mn-ea"/>
                <a:cs typeface="+mn-cs"/>
              </a:rPr>
              <a:t>The Ultimate Test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If you cannot express your point in one clean sentence, your mind hasn't finished thinking yet</a:t>
            </a:r>
            <a:r>
              <a:rPr lang="en-US" sz="1200" kern="1200" dirty="0">
                <a:solidFill>
                  <a:schemeClr val="tx1"/>
                </a:solidFill>
                <a:effectLst/>
                <a:latin typeface="+mn-lt"/>
                <a:ea typeface="+mn-ea"/>
                <a:cs typeface="+mn-cs"/>
              </a:rPr>
              <a:t>. Never inflict your unformed thoughts on your audience—filter in the silence first.</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2</a:t>
            </a:fld>
            <a:endParaRPr lang="en-US"/>
          </a:p>
        </p:txBody>
      </p:sp>
    </p:spTree>
    <p:extLst>
      <p:ext uri="{BB962C8B-B14F-4D97-AF65-F5344CB8AC3E}">
        <p14:creationId xmlns:p14="http://schemas.microsoft.com/office/powerpoint/2010/main" val="26920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Slide 3, we look at a critical leadership capability: </a:t>
            </a:r>
            <a:r>
              <a:rPr lang="en-US" sz="1200" i="1" kern="1200" dirty="0">
                <a:solidFill>
                  <a:schemeClr val="tx1"/>
                </a:solidFill>
                <a:effectLst/>
                <a:latin typeface="+mn-lt"/>
                <a:ea typeface="+mn-ea"/>
                <a:cs typeface="+mn-cs"/>
              </a:rPr>
              <a:t>Decoupling Emotion from Delivery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Emotional noise is one of the greatest barriers to persuasive thought. Fear of judgment or feelings of frustration push people into reactive delivery. But mature communication requires separating what you </a:t>
            </a:r>
            <a:r>
              <a:rPr lang="en-US" sz="1200" i="1" kern="1200" dirty="0">
                <a:solidFill>
                  <a:schemeClr val="tx1"/>
                </a:solidFill>
                <a:effectLst/>
                <a:latin typeface="+mn-lt"/>
                <a:ea typeface="+mn-ea"/>
                <a:cs typeface="+mn-cs"/>
              </a:rPr>
              <a:t>feel</a:t>
            </a:r>
            <a:r>
              <a:rPr lang="en-US" sz="1200" kern="1200" dirty="0">
                <a:solidFill>
                  <a:schemeClr val="tx1"/>
                </a:solidFill>
                <a:effectLst/>
                <a:latin typeface="+mn-lt"/>
                <a:ea typeface="+mn-ea"/>
                <a:cs typeface="+mn-cs"/>
              </a:rPr>
              <a:t> from what you </a:t>
            </a:r>
            <a:r>
              <a:rPr lang="en-US" sz="1200" i="1" kern="1200" dirty="0">
                <a:solidFill>
                  <a:schemeClr val="tx1"/>
                </a:solidFill>
                <a:effectLst/>
                <a:latin typeface="+mn-lt"/>
                <a:ea typeface="+mn-ea"/>
                <a:cs typeface="+mn-cs"/>
              </a:rPr>
              <a:t>mean</a:t>
            </a:r>
            <a:r>
              <a:rPr lang="en-US" sz="1200" kern="1200" dirty="0">
                <a:solidFill>
                  <a:schemeClr val="tx1"/>
                </a:solidFill>
                <a:effectLst/>
                <a:latin typeface="+mn-lt"/>
                <a:ea typeface="+mn-ea"/>
                <a:cs typeface="+mn-cs"/>
              </a:rPr>
              <a:t>. Feelings create noise; meaning creates clarity. </a:t>
            </a:r>
          </a:p>
          <a:p>
            <a:r>
              <a:rPr lang="en-US" sz="1200" kern="1200" dirty="0">
                <a:solidFill>
                  <a:schemeClr val="tx1"/>
                </a:solidFill>
                <a:effectLst/>
                <a:latin typeface="+mn-lt"/>
                <a:ea typeface="+mn-ea"/>
                <a:cs typeface="+mn-cs"/>
              </a:rPr>
              <a:t>Look at the diagnostic table on this slide comparing </a:t>
            </a:r>
            <a:r>
              <a:rPr lang="en-US" sz="1200" b="1" kern="1200" dirty="0">
                <a:solidFill>
                  <a:schemeClr val="tx1"/>
                </a:solidFill>
                <a:effectLst/>
                <a:latin typeface="+mn-lt"/>
                <a:ea typeface="+mn-ea"/>
                <a:cs typeface="+mn-cs"/>
              </a:rPr>
              <a:t>Reactive</a:t>
            </a:r>
            <a:r>
              <a:rPr lang="en-US" sz="1200" kern="1200" dirty="0">
                <a:solidFill>
                  <a:schemeClr val="tx1"/>
                </a:solidFill>
                <a:effectLst/>
                <a:latin typeface="+mn-lt"/>
                <a:ea typeface="+mn-ea"/>
                <a:cs typeface="+mn-cs"/>
              </a:rPr>
              <a:t> vs. </a:t>
            </a:r>
            <a:r>
              <a:rPr lang="en-US" sz="1200" b="1" kern="1200" dirty="0">
                <a:solidFill>
                  <a:schemeClr val="tx1"/>
                </a:solidFill>
                <a:effectLst/>
                <a:latin typeface="+mn-lt"/>
                <a:ea typeface="+mn-ea"/>
                <a:cs typeface="+mn-cs"/>
              </a:rPr>
              <a:t>Controlled Delivery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feeling </a:t>
            </a:r>
            <a:r>
              <a:rPr lang="en-US" sz="1200" b="1" kern="1200" dirty="0">
                <a:solidFill>
                  <a:schemeClr val="tx1"/>
                </a:solidFill>
                <a:effectLst/>
                <a:latin typeface="+mn-lt"/>
                <a:ea typeface="+mn-ea"/>
                <a:cs typeface="+mn-cs"/>
              </a:rPr>
              <a:t>Frustrated or Challenged</a:t>
            </a:r>
            <a:r>
              <a:rPr lang="en-US" sz="1200" kern="1200" dirty="0">
                <a:solidFill>
                  <a:schemeClr val="tx1"/>
                </a:solidFill>
                <a:effectLst/>
                <a:latin typeface="+mn-lt"/>
                <a:ea typeface="+mn-ea"/>
                <a:cs typeface="+mn-cs"/>
              </a:rPr>
              <a:t>: A reactive communicator speaks with fast pacing, a tight high pitch, and defensive language. This immediately spikes tension in the room. A controlled leader adopts a slow pace, selects precise words, drops into a low vocal register, and stabilizes the room.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feeling </a:t>
            </a:r>
            <a:r>
              <a:rPr lang="en-US" sz="1200" b="1" kern="1200" dirty="0">
                <a:solidFill>
                  <a:schemeClr val="tx1"/>
                </a:solidFill>
                <a:effectLst/>
                <a:latin typeface="+mn-lt"/>
                <a:ea typeface="+mn-ea"/>
                <a:cs typeface="+mn-cs"/>
              </a:rPr>
              <a:t>Anxious or Uncertain</a:t>
            </a:r>
            <a:r>
              <a:rPr lang="en-US" sz="1200" kern="1200" dirty="0">
                <a:solidFill>
                  <a:schemeClr val="tx1"/>
                </a:solidFill>
                <a:effectLst/>
                <a:latin typeface="+mn-lt"/>
                <a:ea typeface="+mn-ea"/>
                <a:cs typeface="+mn-cs"/>
              </a:rPr>
              <a:t>: The reactive speaker uses rushed, trailing sentences, heavy filler words, and endless over-explanation—signaling internal fragility. Conversely, the controlled speaker uses intentional pauses, grounded breathing, and isn't afraid to state a clear 'I don't know', signaling safety and composure. </a:t>
            </a:r>
          </a:p>
          <a:p>
            <a:r>
              <a:rPr lang="en-US" sz="1200" kern="1200" dirty="0">
                <a:solidFill>
                  <a:schemeClr val="tx1"/>
                </a:solidFill>
                <a:effectLst/>
                <a:latin typeface="+mn-lt"/>
                <a:ea typeface="+mn-ea"/>
                <a:cs typeface="+mn-cs"/>
              </a:rPr>
              <a:t>You can feel frustrated or challenged internally while still speaking with absolute precision externally. The moment you separate your inner emotion from your external delivery, you reclaim total command over the room.</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3</a:t>
            </a:fld>
            <a:endParaRPr lang="en-US"/>
          </a:p>
        </p:txBody>
      </p:sp>
    </p:spTree>
    <p:extLst>
      <p:ext uri="{BB962C8B-B14F-4D97-AF65-F5344CB8AC3E}">
        <p14:creationId xmlns:p14="http://schemas.microsoft.com/office/powerpoint/2010/main" val="826981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4 challenges a common myth: </a:t>
            </a:r>
            <a:r>
              <a:rPr lang="en-US" sz="1200" i="1" kern="1200" dirty="0">
                <a:solidFill>
                  <a:schemeClr val="tx1"/>
                </a:solidFill>
                <a:effectLst/>
                <a:latin typeface="+mn-lt"/>
                <a:ea typeface="+mn-ea"/>
                <a:cs typeface="+mn-cs"/>
              </a:rPr>
              <a:t>Authority is Presence, Not Volume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Many people assume that authority requires talking louder, faster, or with aggressive intensity. But intensity without clarity creates pressure, not confidence. True authority comes from calm stability. </a:t>
            </a:r>
          </a:p>
          <a:p>
            <a:r>
              <a:rPr lang="en-US" sz="1200" kern="1200" dirty="0">
                <a:solidFill>
                  <a:schemeClr val="tx1"/>
                </a:solidFill>
                <a:effectLst/>
                <a:latin typeface="+mn-lt"/>
                <a:ea typeface="+mn-ea"/>
                <a:cs typeface="+mn-cs"/>
              </a:rPr>
              <a:t>Let's look at the three foundational pillars of calm authority: </a:t>
            </a:r>
          </a:p>
          <a:p>
            <a:pPr marL="228600" lvl="0" indent="-228600">
              <a:buFont typeface="+mj-lt"/>
              <a:buAutoNum type="arabicPeriod"/>
            </a:pPr>
            <a:r>
              <a:rPr lang="en-US" sz="1200" b="1" kern="1200" dirty="0">
                <a:solidFill>
                  <a:schemeClr val="tx1"/>
                </a:solidFill>
                <a:effectLst/>
                <a:latin typeface="+mn-lt"/>
                <a:ea typeface="+mn-ea"/>
                <a:cs typeface="+mn-cs"/>
              </a:rPr>
              <a:t>The Grounded Register:</a:t>
            </a:r>
            <a:r>
              <a:rPr lang="en-US" sz="1200" kern="1200" dirty="0">
                <a:solidFill>
                  <a:schemeClr val="tx1"/>
                </a:solidFill>
                <a:effectLst/>
                <a:latin typeface="+mn-lt"/>
                <a:ea typeface="+mn-ea"/>
                <a:cs typeface="+mn-cs"/>
              </a:rPr>
              <a:t> Speed communicates anxiety; stability communicates authority. When you slow your cadence down, your voice naturally settles into a low, steady register that commands respect. </a:t>
            </a:r>
          </a:p>
          <a:p>
            <a:pPr marL="228600" lvl="0" indent="-228600">
              <a:buFont typeface="+mj-lt"/>
              <a:buAutoNum type="arabicPeriod"/>
            </a:pPr>
            <a:r>
              <a:rPr lang="en-US" sz="1200" b="1" kern="1200" dirty="0">
                <a:solidFill>
                  <a:schemeClr val="tx1"/>
                </a:solidFill>
                <a:effectLst/>
                <a:latin typeface="+mn-lt"/>
                <a:ea typeface="+mn-ea"/>
                <a:cs typeface="+mn-cs"/>
              </a:rPr>
              <a:t>The Breathing Baseline:</a:t>
            </a:r>
            <a:r>
              <a:rPr lang="en-US" sz="1200" kern="1200" dirty="0">
                <a:solidFill>
                  <a:schemeClr val="tx1"/>
                </a:solidFill>
                <a:effectLst/>
                <a:latin typeface="+mn-lt"/>
                <a:ea typeface="+mn-ea"/>
                <a:cs typeface="+mn-cs"/>
              </a:rPr>
              <a:t> Your voice is the billboard for your nervous system. When your breathing is shallow, your voice becomes thin and shaky. Steady, deep breathing grounds your physiology and drops your vocal tone into a place of natural confidence. </a:t>
            </a:r>
          </a:p>
          <a:p>
            <a:pPr marL="228600" lvl="0" indent="-228600">
              <a:buFont typeface="+mj-lt"/>
              <a:buAutoNum type="arabicPeriod"/>
            </a:pPr>
            <a:r>
              <a:rPr lang="en-US" sz="1200" b="1" kern="1200" dirty="0">
                <a:solidFill>
                  <a:schemeClr val="tx1"/>
                </a:solidFill>
                <a:effectLst/>
                <a:latin typeface="+mn-lt"/>
                <a:ea typeface="+mn-ea"/>
                <a:cs typeface="+mn-cs"/>
              </a:rPr>
              <a:t>The Absorption of Tension:</a:t>
            </a:r>
            <a:r>
              <a:rPr lang="en-US" sz="1200" kern="1200" dirty="0">
                <a:solidFill>
                  <a:schemeClr val="tx1"/>
                </a:solidFill>
                <a:effectLst/>
                <a:latin typeface="+mn-lt"/>
                <a:ea typeface="+mn-ea"/>
                <a:cs typeface="+mn-cs"/>
              </a:rPr>
              <a:t> Calmness is an active force, not a passive state. In high-stakes, tense moments, a grounded voice acts like a sponge—absorbing room tension and reassuring everyone that the situation is completely manageable. </a:t>
            </a:r>
          </a:p>
          <a:p>
            <a:r>
              <a:rPr lang="en-US" sz="1200" kern="1200" dirty="0">
                <a:solidFill>
                  <a:schemeClr val="tx1"/>
                </a:solidFill>
                <a:effectLst/>
                <a:latin typeface="+mn-lt"/>
                <a:ea typeface="+mn-ea"/>
                <a:cs typeface="+mn-cs"/>
              </a:rPr>
              <a:t>Remember this principle: </a:t>
            </a:r>
            <a:r>
              <a:rPr lang="en-US" sz="1200" i="1" kern="1200" dirty="0">
                <a:solidFill>
                  <a:schemeClr val="tx1"/>
                </a:solidFill>
                <a:effectLst/>
                <a:latin typeface="+mn-lt"/>
                <a:ea typeface="+mn-ea"/>
                <a:cs typeface="+mn-cs"/>
              </a:rPr>
              <a:t>People don't follow the loudest voice in the room. People follow the most stable one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4</a:t>
            </a:fld>
            <a:endParaRPr lang="en-US"/>
          </a:p>
        </p:txBody>
      </p:sp>
    </p:spTree>
    <p:extLst>
      <p:ext uri="{BB962C8B-B14F-4D97-AF65-F5344CB8AC3E}">
        <p14:creationId xmlns:p14="http://schemas.microsoft.com/office/powerpoint/2010/main" val="4171764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5 is a self-diagnostic framework. Ask yourself honestly right now: </a:t>
            </a:r>
            <a:r>
              <a:rPr lang="en-US" sz="1200" i="1" kern="1200" dirty="0">
                <a:solidFill>
                  <a:schemeClr val="tx1"/>
                </a:solidFill>
                <a:effectLst/>
                <a:latin typeface="+mn-lt"/>
                <a:ea typeface="+mn-ea"/>
                <a:cs typeface="+mn-cs"/>
              </a:rPr>
              <a:t>Where do you fall between 'The Reactive Talker' and 'The Calm Leader'?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analyze the three diagnostic dimensions: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Voice &amp; Pace:</a:t>
            </a:r>
            <a:r>
              <a:rPr lang="en-US" sz="1200" kern="1200" dirty="0">
                <a:solidFill>
                  <a:schemeClr val="tx1"/>
                </a:solidFill>
                <a:effectLst/>
                <a:latin typeface="+mn-lt"/>
                <a:ea typeface="+mn-ea"/>
                <a:cs typeface="+mn-cs"/>
              </a:rPr>
              <a:t> The Reactive Talker speeds up during moments of tension; their pitch becomes high, rushed, and strained. The Calm Leader slows down when tension spikes, maintaining a steady rhythm and grounded vocal register.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Word Choice:</a:t>
            </a:r>
            <a:r>
              <a:rPr lang="en-US" sz="1200" kern="1200" dirty="0">
                <a:solidFill>
                  <a:schemeClr val="tx1"/>
                </a:solidFill>
                <a:effectLst/>
                <a:latin typeface="+mn-lt"/>
                <a:ea typeface="+mn-ea"/>
                <a:cs typeface="+mn-cs"/>
              </a:rPr>
              <a:t> The Reactive Talker relies heavily on softeners like 'maybe', 'I guess', and 'sort of', using filler words to avoid direct accountability. The Calm Leader uses sharp, precise verbal tools, ruthlessly eliminating clutter.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Use of Silence:</a:t>
            </a:r>
            <a:r>
              <a:rPr lang="en-US" sz="1200" kern="1200" dirty="0">
                <a:solidFill>
                  <a:schemeClr val="tx1"/>
                </a:solidFill>
                <a:effectLst/>
                <a:latin typeface="+mn-lt"/>
                <a:ea typeface="+mn-ea"/>
                <a:cs typeface="+mn-cs"/>
              </a:rPr>
              <a:t> The Reactive Talker panics during quiet moments, filling space with noise because they fear silence will make them look unprepared. The Calm Leader uses silence strategically as a framing tool to give their message gravity and depth. </a:t>
            </a:r>
          </a:p>
          <a:p>
            <a:r>
              <a:rPr lang="en-US" sz="1200" kern="1200" dirty="0">
                <a:solidFill>
                  <a:schemeClr val="tx1"/>
                </a:solidFill>
                <a:effectLst/>
                <a:latin typeface="+mn-lt"/>
                <a:ea typeface="+mn-ea"/>
                <a:cs typeface="+mn-cs"/>
              </a:rPr>
              <a:t>Ultimately, it comes down to </a:t>
            </a:r>
            <a:r>
              <a:rPr lang="en-US" sz="1200" b="1" kern="1200" dirty="0">
                <a:solidFill>
                  <a:schemeClr val="tx1"/>
                </a:solidFill>
                <a:effectLst/>
                <a:latin typeface="+mn-lt"/>
                <a:ea typeface="+mn-ea"/>
                <a:cs typeface="+mn-cs"/>
              </a:rPr>
              <a:t>Focus</a:t>
            </a:r>
            <a:r>
              <a:rPr lang="en-US" sz="1200" kern="1200" dirty="0">
                <a:solidFill>
                  <a:schemeClr val="tx1"/>
                </a:solidFill>
                <a:effectLst/>
                <a:latin typeface="+mn-lt"/>
                <a:ea typeface="+mn-ea"/>
                <a:cs typeface="+mn-cs"/>
              </a:rPr>
              <a:t>: The Reactive Talker speaks merely to be heard and understood. The Calm Leader speaks intentionally to lead, inspire confidence, and drive decisive action.</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5</a:t>
            </a:fld>
            <a:endParaRPr lang="en-US"/>
          </a:p>
        </p:txBody>
      </p:sp>
    </p:spTree>
    <p:extLst>
      <p:ext uri="{BB962C8B-B14F-4D97-AF65-F5344CB8AC3E}">
        <p14:creationId xmlns:p14="http://schemas.microsoft.com/office/powerpoint/2010/main" val="4118691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Turning to Slide 6: </a:t>
            </a:r>
            <a:r>
              <a:rPr lang="en-US" sz="1200" i="1" kern="1200" dirty="0">
                <a:solidFill>
                  <a:schemeClr val="tx1"/>
                </a:solidFill>
                <a:effectLst/>
                <a:latin typeface="+mn-lt"/>
                <a:ea typeface="+mn-ea"/>
                <a:cs typeface="+mn-cs"/>
              </a:rPr>
              <a:t>Weak Words Create Weak Influence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Words are not decorative elements in communication; they are leverage. Your language acts as the thermostat of your personal power. Weak words create weak influence; strong, precise words create strong influence. </a:t>
            </a:r>
          </a:p>
          <a:p>
            <a:r>
              <a:rPr lang="en-US" sz="1200" kern="1200" dirty="0">
                <a:solidFill>
                  <a:schemeClr val="tx1"/>
                </a:solidFill>
                <a:effectLst/>
                <a:latin typeface="+mn-lt"/>
                <a:ea typeface="+mn-ea"/>
                <a:cs typeface="+mn-cs"/>
              </a:rPr>
              <a:t>Notice the visual shift on this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Softening Trap:</a:t>
            </a:r>
            <a:r>
              <a:rPr lang="en-US" sz="1200" kern="1200" dirty="0">
                <a:solidFill>
                  <a:schemeClr val="tx1"/>
                </a:solidFill>
                <a:effectLst/>
                <a:latin typeface="+mn-lt"/>
                <a:ea typeface="+mn-ea"/>
                <a:cs typeface="+mn-cs"/>
              </a:rPr>
              <a:t> Statements like </a:t>
            </a:r>
            <a:r>
              <a:rPr lang="en-US" sz="1200" i="1" kern="1200" dirty="0">
                <a:solidFill>
                  <a:schemeClr val="tx1"/>
                </a:solidFill>
                <a:effectLst/>
                <a:latin typeface="+mn-lt"/>
                <a:ea typeface="+mn-ea"/>
                <a:cs typeface="+mn-cs"/>
              </a:rPr>
              <a:t>"I think this might sort of be the right direction..."</a:t>
            </a:r>
            <a:r>
              <a:rPr lang="en-US" sz="1200" kern="1200" dirty="0">
                <a:solidFill>
                  <a:schemeClr val="tx1"/>
                </a:solidFill>
                <a:effectLst/>
                <a:latin typeface="+mn-lt"/>
                <a:ea typeface="+mn-ea"/>
                <a:cs typeface="+mn-cs"/>
              </a:rPr>
              <a:t> instantly erode your credibility. It signals to your audience that you are ungrounded and unsure of your own stance.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Leadership Cut:</a:t>
            </a:r>
            <a:r>
              <a:rPr lang="en-US" sz="1200" kern="1200" dirty="0">
                <a:solidFill>
                  <a:schemeClr val="tx1"/>
                </a:solidFill>
                <a:effectLst/>
                <a:latin typeface="+mn-lt"/>
                <a:ea typeface="+mn-ea"/>
                <a:cs typeface="+mn-cs"/>
              </a:rPr>
              <a:t> Replacing that weak language with </a:t>
            </a:r>
            <a:r>
              <a:rPr lang="en-US" sz="1200" i="1" kern="1200" dirty="0">
                <a:solidFill>
                  <a:schemeClr val="tx1"/>
                </a:solidFill>
                <a:effectLst/>
                <a:latin typeface="+mn-lt"/>
                <a:ea typeface="+mn-ea"/>
                <a:cs typeface="+mn-cs"/>
              </a:rPr>
              <a:t>"Here is the direction we should take"</a:t>
            </a:r>
            <a:r>
              <a:rPr lang="en-US" sz="1200" kern="1200" dirty="0">
                <a:solidFill>
                  <a:schemeClr val="tx1"/>
                </a:solidFill>
                <a:effectLst/>
                <a:latin typeface="+mn-lt"/>
                <a:ea typeface="+mn-ea"/>
                <a:cs typeface="+mn-cs"/>
              </a:rPr>
              <a:t> immediately anchors the room and instills confidence.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Many professionals soften their language because they fear sounding overly direct or rude. But directness is not rudeness—directness is clarity, and clarity is a gift to your listeners. </a:t>
            </a:r>
          </a:p>
          <a:p>
            <a:r>
              <a:rPr lang="en-US" sz="1200" kern="1200" dirty="0">
                <a:solidFill>
                  <a:schemeClr val="tx1"/>
                </a:solidFill>
                <a:effectLst/>
                <a:latin typeface="+mn-lt"/>
                <a:ea typeface="+mn-ea"/>
                <a:cs typeface="+mn-cs"/>
              </a:rPr>
              <a:t>Pay close attention to the identity feedback loop: When you habitually use uncertain words, you eventually become an uncertain person. Raise your language, and you raise your identity.</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6</a:t>
            </a:fld>
            <a:endParaRPr lang="en-US"/>
          </a:p>
        </p:txBody>
      </p:sp>
    </p:spTree>
    <p:extLst>
      <p:ext uri="{BB962C8B-B14F-4D97-AF65-F5344CB8AC3E}">
        <p14:creationId xmlns:p14="http://schemas.microsoft.com/office/powerpoint/2010/main" val="442798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 Slide 7, we examine the structural framework of executive messaging: </a:t>
            </a:r>
            <a:r>
              <a:rPr lang="en-US" sz="1200" i="1" kern="1200" dirty="0">
                <a:solidFill>
                  <a:schemeClr val="tx1"/>
                </a:solidFill>
                <a:effectLst/>
                <a:latin typeface="+mn-lt"/>
                <a:ea typeface="+mn-ea"/>
                <a:cs typeface="+mn-cs"/>
              </a:rPr>
              <a:t>The Spine of a Message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Leadership is not just about what you say, but the structural backbone behind what you say. A message without a spine is just noise. To ensure your points land with weight, route your ideas through </a:t>
            </a:r>
            <a:r>
              <a:rPr lang="en-US" sz="1200" b="1" kern="1200" dirty="0">
                <a:solidFill>
                  <a:schemeClr val="tx1"/>
                </a:solidFill>
                <a:effectLst/>
                <a:latin typeface="+mn-lt"/>
                <a:ea typeface="+mn-ea"/>
                <a:cs typeface="+mn-cs"/>
              </a:rPr>
              <a:t>The Message Pipeline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Anchor (The Point):</a:t>
            </a:r>
            <a:r>
              <a:rPr lang="en-US" sz="1200" kern="1200" dirty="0">
                <a:solidFill>
                  <a:schemeClr val="tx1"/>
                </a:solidFill>
                <a:effectLst/>
                <a:latin typeface="+mn-lt"/>
                <a:ea typeface="+mn-ea"/>
                <a:cs typeface="+mn-cs"/>
              </a:rPr>
              <a:t> Start here immediately. No lengthy backstories, no long warm-ups. Lead directly with your core point to ground the listener right away. </a:t>
            </a:r>
          </a:p>
          <a:p>
            <a:pPr lvl="0"/>
            <a:r>
              <a:rPr lang="en-US" sz="1200" b="1" kern="1200" dirty="0">
                <a:solidFill>
                  <a:schemeClr val="tx1"/>
                </a:solidFill>
                <a:effectLst/>
                <a:latin typeface="+mn-lt"/>
                <a:ea typeface="+mn-ea"/>
                <a:cs typeface="+mn-cs"/>
              </a:rPr>
              <a:t>Context (The Support):</a:t>
            </a:r>
            <a:r>
              <a:rPr lang="en-US" sz="1200" kern="1200" dirty="0">
                <a:solidFill>
                  <a:schemeClr val="tx1"/>
                </a:solidFill>
                <a:effectLst/>
                <a:latin typeface="+mn-lt"/>
                <a:ea typeface="+mn-ea"/>
                <a:cs typeface="+mn-cs"/>
              </a:rPr>
              <a:t> Provide just enough reasoning, data, or examples to illuminate the point. Restraint is crucial here—too many details dilute the impact. </a:t>
            </a:r>
          </a:p>
          <a:p>
            <a:pPr lvl="0"/>
            <a:r>
              <a:rPr lang="en-US" sz="1200" b="1" kern="1200" dirty="0">
                <a:solidFill>
                  <a:schemeClr val="tx1"/>
                </a:solidFill>
                <a:effectLst/>
                <a:latin typeface="+mn-lt"/>
                <a:ea typeface="+mn-ea"/>
                <a:cs typeface="+mn-cs"/>
              </a:rPr>
              <a:t>Gravity (The Pause):</a:t>
            </a:r>
            <a:r>
              <a:rPr lang="en-US" sz="1200" kern="1200" dirty="0">
                <a:solidFill>
                  <a:schemeClr val="tx1"/>
                </a:solidFill>
                <a:effectLst/>
                <a:latin typeface="+mn-lt"/>
                <a:ea typeface="+mn-ea"/>
                <a:cs typeface="+mn-cs"/>
              </a:rPr>
              <a:t> After delivering the point and support, </a:t>
            </a:r>
            <a:r>
              <a:rPr lang="en-US" sz="1200" i="1" kern="1200" dirty="0">
                <a:solidFill>
                  <a:schemeClr val="tx1"/>
                </a:solidFill>
                <a:effectLst/>
                <a:latin typeface="+mn-lt"/>
                <a:ea typeface="+mn-ea"/>
                <a:cs typeface="+mn-cs"/>
              </a:rPr>
              <a:t>stop speaking</a:t>
            </a:r>
            <a:r>
              <a:rPr lang="en-US" sz="1200" kern="1200" dirty="0">
                <a:solidFill>
                  <a:schemeClr val="tx1"/>
                </a:solidFill>
                <a:effectLst/>
                <a:latin typeface="+mn-lt"/>
                <a:ea typeface="+mn-ea"/>
                <a:cs typeface="+mn-cs"/>
              </a:rPr>
              <a:t>. The pause allows the message to lock into the listener's mind and signals that what you just said carries weight. </a:t>
            </a:r>
          </a:p>
          <a:p>
            <a:pPr lvl="0"/>
            <a:r>
              <a:rPr lang="en-US" sz="1200" b="1" kern="1200" dirty="0">
                <a:solidFill>
                  <a:schemeClr val="tx1"/>
                </a:solidFill>
                <a:effectLst/>
                <a:latin typeface="+mn-lt"/>
                <a:ea typeface="+mn-ea"/>
                <a:cs typeface="+mn-cs"/>
              </a:rPr>
              <a:t>Momentum (The Direction):</a:t>
            </a:r>
            <a:r>
              <a:rPr lang="en-US" sz="1200" kern="1200" dirty="0">
                <a:solidFill>
                  <a:schemeClr val="tx1"/>
                </a:solidFill>
                <a:effectLst/>
                <a:latin typeface="+mn-lt"/>
                <a:ea typeface="+mn-ea"/>
                <a:cs typeface="+mn-cs"/>
              </a:rPr>
              <a:t> Conclude by outlining the immediate next step. This transforms abstract understanding into tangible movement. </a:t>
            </a:r>
          </a:p>
          <a:p>
            <a:r>
              <a:rPr lang="en-US" sz="1200" kern="1200" dirty="0">
                <a:solidFill>
                  <a:schemeClr val="tx1"/>
                </a:solidFill>
                <a:effectLst/>
                <a:latin typeface="+mn-lt"/>
                <a:ea typeface="+mn-ea"/>
                <a:cs typeface="+mn-cs"/>
              </a:rPr>
              <a:t>Structure brings liberation from chaos and commands immediate professional trust.</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7</a:t>
            </a:fld>
            <a:endParaRPr lang="en-US"/>
          </a:p>
        </p:txBody>
      </p:sp>
    </p:spTree>
    <p:extLst>
      <p:ext uri="{BB962C8B-B14F-4D97-AF65-F5344CB8AC3E}">
        <p14:creationId xmlns:p14="http://schemas.microsoft.com/office/powerpoint/2010/main" val="3549833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8 addresses a major gap in professional communication: </a:t>
            </a:r>
            <a:r>
              <a:rPr lang="en-US" sz="1200" i="1" kern="1200" dirty="0">
                <a:solidFill>
                  <a:schemeClr val="tx1"/>
                </a:solidFill>
                <a:effectLst/>
                <a:latin typeface="+mn-lt"/>
                <a:ea typeface="+mn-ea"/>
                <a:cs typeface="+mn-cs"/>
              </a:rPr>
              <a:t>Speak to Activate, Not Just Explain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There is a massive difference between a communicator and an influencer. A communicator merely shares information; an influencer creates momentum. Understanding is not action, and head-nodding in a meeting is not true commitment. Ideas rarely fail because they are bad—they fail because they remain general and abstract. </a:t>
            </a:r>
          </a:p>
          <a:p>
            <a:r>
              <a:rPr lang="en-US" sz="1200" kern="1200" dirty="0">
                <a:solidFill>
                  <a:schemeClr val="tx1"/>
                </a:solidFill>
                <a:effectLst/>
                <a:latin typeface="+mn-lt"/>
                <a:ea typeface="+mn-ea"/>
                <a:cs typeface="+mn-cs"/>
              </a:rPr>
              <a:t>Look at the funnel on this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General Understanding &amp; Agreement:</a:t>
            </a:r>
            <a:r>
              <a:rPr lang="en-US" sz="1200" kern="1200" dirty="0">
                <a:solidFill>
                  <a:schemeClr val="tx1"/>
                </a:solidFill>
                <a:effectLst/>
                <a:latin typeface="+mn-lt"/>
                <a:ea typeface="+mn-ea"/>
                <a:cs typeface="+mn-cs"/>
              </a:rPr>
              <a:t> This is where most presentations stall. Everyone agrees in theory, but no one takes ownership.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Clear Direction (Shrinking the Step):</a:t>
            </a:r>
            <a:r>
              <a:rPr lang="en-US" sz="1200" kern="1200" dirty="0">
                <a:solidFill>
                  <a:schemeClr val="tx1"/>
                </a:solidFill>
                <a:effectLst/>
                <a:latin typeface="+mn-lt"/>
                <a:ea typeface="+mn-ea"/>
                <a:cs typeface="+mn-cs"/>
              </a:rPr>
              <a:t> People hesitate when the required action feels overwhelming or vague. True leadership is the art of shrinking the step until it feels completely doable, removing all friction to motion.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Momentum &amp; Action:</a:t>
            </a:r>
            <a:r>
              <a:rPr lang="en-US" sz="1200" kern="1200" dirty="0">
                <a:solidFill>
                  <a:schemeClr val="tx1"/>
                </a:solidFill>
                <a:effectLst/>
                <a:latin typeface="+mn-lt"/>
                <a:ea typeface="+mn-ea"/>
                <a:cs typeface="+mn-cs"/>
              </a:rPr>
              <a:t> Close with decisive commands like </a:t>
            </a:r>
            <a:r>
              <a:rPr lang="en-US" sz="1200" i="1" kern="1200" dirty="0">
                <a:solidFill>
                  <a:schemeClr val="tx1"/>
                </a:solidFill>
                <a:effectLst/>
                <a:latin typeface="+mn-lt"/>
                <a:ea typeface="+mn-ea"/>
                <a:cs typeface="+mn-cs"/>
              </a:rPr>
              <a:t>"Here is our next move"</a:t>
            </a:r>
            <a:r>
              <a:rPr lang="en-US" sz="1200" kern="1200" dirty="0">
                <a:solidFill>
                  <a:schemeClr val="tx1"/>
                </a:solidFill>
                <a:effectLst/>
                <a:latin typeface="+mn-lt"/>
                <a:ea typeface="+mn-ea"/>
                <a:cs typeface="+mn-cs"/>
              </a:rPr>
              <a:t>. When you provide clear, confident direction, you remove their fear of choosing and lend them your courage to act.</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8</a:t>
            </a:fld>
            <a:endParaRPr lang="en-US"/>
          </a:p>
        </p:txBody>
      </p:sp>
    </p:spTree>
    <p:extLst>
      <p:ext uri="{BB962C8B-B14F-4D97-AF65-F5344CB8AC3E}">
        <p14:creationId xmlns:p14="http://schemas.microsoft.com/office/powerpoint/2010/main" val="879310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9 highlights our most underutilized communication asset: </a:t>
            </a:r>
            <a:r>
              <a:rPr lang="en-US" sz="1200" i="1" kern="1200" dirty="0">
                <a:solidFill>
                  <a:schemeClr val="tx1"/>
                </a:solidFill>
                <a:effectLst/>
                <a:latin typeface="+mn-lt"/>
                <a:ea typeface="+mn-ea"/>
                <a:cs typeface="+mn-cs"/>
              </a:rPr>
              <a:t>Silence is Not Empty. It is Emphasis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illustrated by the visual wave comparison on the slide, continuous streams of talking create a flat, exhausting blur where no single point stands out. Strategic silence creates depth, contrast, and gravity. </a:t>
            </a:r>
          </a:p>
          <a:p>
            <a:r>
              <a:rPr lang="en-US" sz="1200" kern="1200" dirty="0">
                <a:solidFill>
                  <a:schemeClr val="tx1"/>
                </a:solidFill>
                <a:effectLst/>
                <a:latin typeface="+mn-lt"/>
                <a:ea typeface="+mn-ea"/>
                <a:cs typeface="+mn-cs"/>
              </a:rPr>
              <a:t>Consider two core functions of silence: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Amplifier:</a:t>
            </a:r>
            <a:r>
              <a:rPr lang="en-US" sz="1200" kern="1200" dirty="0">
                <a:solidFill>
                  <a:schemeClr val="tx1"/>
                </a:solidFill>
                <a:effectLst/>
                <a:latin typeface="+mn-lt"/>
                <a:ea typeface="+mn-ea"/>
                <a:cs typeface="+mn-cs"/>
              </a:rPr>
              <a:t> Silence acts like the frame around a fine painting. A pause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a key point creates anticipation; a pause </a:t>
            </a:r>
            <a:r>
              <a:rPr lang="en-US" sz="1200" i="1" kern="1200" dirty="0">
                <a:solidFill>
                  <a:schemeClr val="tx1"/>
                </a:solidFill>
                <a:effectLst/>
                <a:latin typeface="+mn-lt"/>
                <a:ea typeface="+mn-ea"/>
                <a:cs typeface="+mn-cs"/>
              </a:rPr>
              <a:t>after</a:t>
            </a:r>
            <a:r>
              <a:rPr lang="en-US" sz="1200" kern="1200" dirty="0">
                <a:solidFill>
                  <a:schemeClr val="tx1"/>
                </a:solidFill>
                <a:effectLst/>
                <a:latin typeface="+mn-lt"/>
                <a:ea typeface="+mn-ea"/>
                <a:cs typeface="+mn-cs"/>
              </a:rPr>
              <a:t> a key point creates impact and gives the mind room to absorb meaning.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Emotional Anchor:</a:t>
            </a:r>
            <a:r>
              <a:rPr lang="en-US" sz="1200" kern="1200" dirty="0">
                <a:solidFill>
                  <a:schemeClr val="tx1"/>
                </a:solidFill>
                <a:effectLst/>
                <a:latin typeface="+mn-lt"/>
                <a:ea typeface="+mn-ea"/>
                <a:cs typeface="+mn-cs"/>
              </a:rPr>
              <a:t> In tense or heated moments, staying silent prevents chaotic escalation. It shifts power directly from the reactive person to the grounded person. It non-verbally communicates: </a:t>
            </a:r>
            <a:r>
              <a:rPr lang="en-US" sz="1200" i="1" kern="1200" dirty="0">
                <a:solidFill>
                  <a:schemeClr val="tx1"/>
                </a:solidFill>
                <a:effectLst/>
                <a:latin typeface="+mn-lt"/>
                <a:ea typeface="+mn-ea"/>
                <a:cs typeface="+mn-cs"/>
              </a:rPr>
              <a:t>"I will not enter your chaos; I control the cadence here."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Always remember: </a:t>
            </a:r>
            <a:r>
              <a:rPr lang="en-US" sz="1200" i="1" kern="1200" dirty="0">
                <a:solidFill>
                  <a:schemeClr val="tx1"/>
                </a:solidFill>
                <a:effectLst/>
                <a:latin typeface="+mn-lt"/>
                <a:ea typeface="+mn-ea"/>
                <a:cs typeface="+mn-cs"/>
              </a:rPr>
              <a:t>The person who controls the silence controls the room</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9</a:t>
            </a:fld>
            <a:endParaRPr lang="en-US"/>
          </a:p>
        </p:txBody>
      </p:sp>
    </p:spTree>
    <p:extLst>
      <p:ext uri="{BB962C8B-B14F-4D97-AF65-F5344CB8AC3E}">
        <p14:creationId xmlns:p14="http://schemas.microsoft.com/office/powerpoint/2010/main" val="977905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turn to Slide 10: </a:t>
            </a:r>
            <a:r>
              <a:rPr lang="en-US" sz="1200" i="1" kern="1200" dirty="0">
                <a:solidFill>
                  <a:schemeClr val="tx1"/>
                </a:solidFill>
                <a:effectLst/>
                <a:latin typeface="+mn-lt"/>
                <a:ea typeface="+mn-ea"/>
                <a:cs typeface="+mn-cs"/>
              </a:rPr>
              <a:t>Surf the Energy of the Room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can deliver a flawless sentence, but if the room isn't ready to receive it, your message falls flat. Influence requires alignment with room dynamics. You cannot lead a room that you cannot feel. </a:t>
            </a:r>
          </a:p>
          <a:p>
            <a:r>
              <a:rPr lang="en-US" sz="1200" kern="1200" dirty="0">
                <a:solidFill>
                  <a:schemeClr val="tx1"/>
                </a:solidFill>
                <a:effectLst/>
                <a:latin typeface="+mn-lt"/>
                <a:ea typeface="+mn-ea"/>
                <a:cs typeface="+mn-cs"/>
              </a:rPr>
              <a:t>We utilize </a:t>
            </a:r>
            <a:r>
              <a:rPr lang="en-US" sz="1200" b="1" kern="1200" dirty="0">
                <a:solidFill>
                  <a:schemeClr val="tx1"/>
                </a:solidFill>
                <a:effectLst/>
                <a:latin typeface="+mn-lt"/>
                <a:ea typeface="+mn-ea"/>
                <a:cs typeface="+mn-cs"/>
              </a:rPr>
              <a:t>The Alignment Radar</a:t>
            </a:r>
            <a:r>
              <a:rPr lang="en-US" sz="1200" kern="1200" dirty="0">
                <a:solidFill>
                  <a:schemeClr val="tx1"/>
                </a:solidFill>
                <a:effectLst/>
                <a:latin typeface="+mn-lt"/>
                <a:ea typeface="+mn-ea"/>
                <a:cs typeface="+mn-cs"/>
              </a:rPr>
              <a:t> through two steps: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Observation before Participation:</a:t>
            </a:r>
            <a:r>
              <a:rPr lang="en-US" sz="1200" kern="1200" dirty="0">
                <a:solidFill>
                  <a:schemeClr val="tx1"/>
                </a:solidFill>
                <a:effectLst/>
                <a:latin typeface="+mn-lt"/>
                <a:ea typeface="+mn-ea"/>
                <a:cs typeface="+mn-cs"/>
              </a:rPr>
              <a:t> People communicate with their physical bodies long before they speak. Pay close attention to posture, seating arrangements, breathing patterns, and room climate before you deliver your message.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Dynamic Calibration:</a:t>
            </a:r>
            <a:r>
              <a:rPr lang="en-US" sz="1200" kern="1200" dirty="0">
                <a:solidFill>
                  <a:schemeClr val="tx1"/>
                </a:solidFill>
                <a:effectLst/>
                <a:latin typeface="+mn-lt"/>
                <a:ea typeface="+mn-ea"/>
                <a:cs typeface="+mn-cs"/>
              </a:rPr>
              <a:t> You must adjust your three core speaker dials—</a:t>
            </a:r>
            <a:r>
              <a:rPr lang="en-US" sz="1200" b="1" kern="1200" dirty="0">
                <a:solidFill>
                  <a:schemeClr val="tx1"/>
                </a:solidFill>
                <a:effectLst/>
                <a:latin typeface="+mn-lt"/>
                <a:ea typeface="+mn-ea"/>
                <a:cs typeface="+mn-cs"/>
              </a:rPr>
              <a:t>Pace, Tone, and Directness</a:t>
            </a:r>
            <a:r>
              <a:rPr lang="en-US" sz="1200" kern="1200" dirty="0">
                <a:solidFill>
                  <a:schemeClr val="tx1"/>
                </a:solidFill>
                <a:effectLst/>
                <a:latin typeface="+mn-lt"/>
                <a:ea typeface="+mn-ea"/>
                <a:cs typeface="+mn-cs"/>
              </a:rPr>
              <a:t>—based on the room climate: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If the room is </a:t>
            </a:r>
            <a:r>
              <a:rPr lang="en-US" sz="1200" b="1" kern="1200" dirty="0">
                <a:solidFill>
                  <a:schemeClr val="tx1"/>
                </a:solidFill>
                <a:effectLst/>
                <a:latin typeface="+mn-lt"/>
                <a:ea typeface="+mn-ea"/>
                <a:cs typeface="+mn-cs"/>
              </a:rPr>
              <a:t>Tense</a:t>
            </a:r>
            <a:r>
              <a:rPr lang="en-US" sz="1200" kern="1200" dirty="0">
                <a:solidFill>
                  <a:schemeClr val="tx1"/>
                </a:solidFill>
                <a:effectLst/>
                <a:latin typeface="+mn-lt"/>
                <a:ea typeface="+mn-ea"/>
                <a:cs typeface="+mn-cs"/>
              </a:rPr>
              <a:t>: Dial back your speed, lower your vocal pitch, and provide grounded reassurance.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If the room is </a:t>
            </a:r>
            <a:r>
              <a:rPr lang="en-US" sz="1200" b="1" kern="1200" dirty="0">
                <a:solidFill>
                  <a:schemeClr val="tx1"/>
                </a:solidFill>
                <a:effectLst/>
                <a:latin typeface="+mn-lt"/>
                <a:ea typeface="+mn-ea"/>
                <a:cs typeface="+mn-cs"/>
              </a:rPr>
              <a:t>Restless or Skeptical</a:t>
            </a:r>
            <a:r>
              <a:rPr lang="en-US" sz="1200" kern="1200" dirty="0">
                <a:solidFill>
                  <a:schemeClr val="tx1"/>
                </a:solidFill>
                <a:effectLst/>
                <a:latin typeface="+mn-lt"/>
                <a:ea typeface="+mn-ea"/>
                <a:cs typeface="+mn-cs"/>
              </a:rPr>
              <a:t>: Tighten your structure, increase directness, and strike straight at the core facts. </a:t>
            </a:r>
          </a:p>
          <a:p>
            <a:r>
              <a:rPr lang="en-US" sz="1200" kern="1200" dirty="0">
                <a:solidFill>
                  <a:schemeClr val="tx1"/>
                </a:solidFill>
                <a:effectLst/>
                <a:latin typeface="+mn-lt"/>
                <a:ea typeface="+mn-ea"/>
                <a:cs typeface="+mn-cs"/>
              </a:rPr>
              <a:t>Adaptation is not weakness—it is supreme mastery. Think of communication like surfing: push aggressively against the wave and you crash; ride its natural energy and you glide.</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10</a:t>
            </a:fld>
            <a:endParaRPr lang="en-US"/>
          </a:p>
        </p:txBody>
      </p:sp>
    </p:spTree>
    <p:extLst>
      <p:ext uri="{BB962C8B-B14F-4D97-AF65-F5344CB8AC3E}">
        <p14:creationId xmlns:p14="http://schemas.microsoft.com/office/powerpoint/2010/main" val="4208158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focuses on the core currency of long-term influence: </a:t>
            </a:r>
            <a:r>
              <a:rPr lang="en-US" sz="1200" i="1" kern="1200" dirty="0">
                <a:solidFill>
                  <a:schemeClr val="tx1"/>
                </a:solidFill>
                <a:effectLst/>
                <a:latin typeface="+mn-lt"/>
                <a:ea typeface="+mn-ea"/>
                <a:cs typeface="+mn-cs"/>
              </a:rPr>
              <a:t>Trust is Built on Precision and Honesty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Without trust, no amount of charisma, slick delivery, or clever structure will move people. Trust is established or destroyed through precision and absolute honesty. </a:t>
            </a:r>
          </a:p>
          <a:p>
            <a:r>
              <a:rPr lang="en-US" sz="1200" kern="1200" dirty="0">
                <a:solidFill>
                  <a:schemeClr val="tx1"/>
                </a:solidFill>
                <a:effectLst/>
                <a:latin typeface="+mn-lt"/>
                <a:ea typeface="+mn-ea"/>
                <a:cs typeface="+mn-cs"/>
              </a:rPr>
              <a:t>Let's break down the three rules on this slide: </a:t>
            </a:r>
          </a:p>
          <a:p>
            <a:pPr marL="228600" lvl="0" indent="-228600">
              <a:buFont typeface="+mj-lt"/>
              <a:buAutoNum type="arabicPeriod"/>
            </a:pPr>
            <a:r>
              <a:rPr lang="en-US" sz="1200" b="1" kern="1200" dirty="0">
                <a:solidFill>
                  <a:schemeClr val="tx1"/>
                </a:solidFill>
                <a:effectLst/>
                <a:latin typeface="+mn-lt"/>
                <a:ea typeface="+mn-ea"/>
                <a:cs typeface="+mn-cs"/>
              </a:rPr>
              <a:t>Precision as Respect:</a:t>
            </a:r>
            <a:r>
              <a:rPr lang="en-US" sz="1200" kern="1200" dirty="0">
                <a:solidFill>
                  <a:schemeClr val="tx1"/>
                </a:solidFill>
                <a:effectLst/>
                <a:latin typeface="+mn-lt"/>
                <a:ea typeface="+mn-ea"/>
                <a:cs typeface="+mn-cs"/>
              </a:rPr>
              <a:t> Vague statements feel slippery and create suspicion; precise statements feel solid and safe. Specificity eliminates guesswork and shows your audience that you respect their time. </a:t>
            </a:r>
          </a:p>
          <a:p>
            <a:pPr marL="228600" lvl="0" indent="-228600">
              <a:buFont typeface="+mj-lt"/>
              <a:buAutoNum type="arabicPeriod"/>
            </a:pPr>
            <a:r>
              <a:rPr lang="en-US" sz="1200" b="1" kern="1200" dirty="0">
                <a:solidFill>
                  <a:schemeClr val="tx1"/>
                </a:solidFill>
                <a:effectLst/>
                <a:latin typeface="+mn-lt"/>
                <a:ea typeface="+mn-ea"/>
                <a:cs typeface="+mn-cs"/>
              </a:rPr>
              <a:t>The Power of 'I Don't Know':</a:t>
            </a:r>
            <a:r>
              <a:rPr lang="en-US" sz="1200" kern="1200" dirty="0">
                <a:solidFill>
                  <a:schemeClr val="tx1"/>
                </a:solidFill>
                <a:effectLst/>
                <a:latin typeface="+mn-lt"/>
                <a:ea typeface="+mn-ea"/>
                <a:cs typeface="+mn-cs"/>
              </a:rPr>
              <a:t> Counterintuitively, stating 'I don't know' with calm composure carries massive weight. It signals to everyone that you refuse to pretend or guess, making everything else you state far more credible. </a:t>
            </a:r>
          </a:p>
          <a:p>
            <a:pPr marL="228600" lvl="0" indent="-228600">
              <a:buFont typeface="+mj-lt"/>
              <a:buAutoNum type="arabicPeriod"/>
            </a:pPr>
            <a:r>
              <a:rPr lang="en-US" sz="1200" b="1" kern="1200" dirty="0">
                <a:solidFill>
                  <a:schemeClr val="tx1"/>
                </a:solidFill>
                <a:effectLst/>
                <a:latin typeface="+mn-lt"/>
                <a:ea typeface="+mn-ea"/>
                <a:cs typeface="+mn-cs"/>
              </a:rPr>
              <a:t>The Rule of Reality:</a:t>
            </a:r>
            <a:r>
              <a:rPr lang="en-US" sz="1200" kern="1200" dirty="0">
                <a:solidFill>
                  <a:schemeClr val="tx1"/>
                </a:solidFill>
                <a:effectLst/>
                <a:latin typeface="+mn-lt"/>
                <a:ea typeface="+mn-ea"/>
                <a:cs typeface="+mn-cs"/>
              </a:rPr>
              <a:t> Say only what you can stand behind. Avoid inflating claims or speaking in absolutes when facing genuine uncertainty. </a:t>
            </a:r>
          </a:p>
          <a:p>
            <a:pPr marL="0" indent="0">
              <a:buFont typeface="+mj-lt"/>
              <a:buNone/>
            </a:pPr>
            <a:r>
              <a:rPr lang="en-US" sz="1200" kern="1200" dirty="0">
                <a:solidFill>
                  <a:schemeClr val="tx1"/>
                </a:solidFill>
                <a:effectLst/>
                <a:latin typeface="+mn-lt"/>
                <a:ea typeface="+mn-ea"/>
                <a:cs typeface="+mn-cs"/>
              </a:rPr>
              <a:t>Honesty does not weaken your authority—it deepens your credibility and creates emotional safety for your team.</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11</a:t>
            </a:fld>
            <a:endParaRPr lang="en-US"/>
          </a:p>
        </p:txBody>
      </p:sp>
    </p:spTree>
    <p:extLst>
      <p:ext uri="{BB962C8B-B14F-4D97-AF65-F5344CB8AC3E}">
        <p14:creationId xmlns:p14="http://schemas.microsoft.com/office/powerpoint/2010/main" val="1884956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brings our concepts together in </a:t>
            </a:r>
            <a:r>
              <a:rPr lang="en-US" sz="1200" b="1" kern="1200" dirty="0">
                <a:solidFill>
                  <a:schemeClr val="tx1"/>
                </a:solidFill>
                <a:effectLst/>
                <a:latin typeface="+mn-lt"/>
                <a:ea typeface="+mn-ea"/>
                <a:cs typeface="+mn-cs"/>
              </a:rPr>
              <a:t>The Equation of Influence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the Venn diagram illustrates, true influence is not an accidental byproduct of raw charisma. It is an engineered outcome that occurs at the precise intersection of three distinct domains: </a:t>
            </a:r>
          </a:p>
          <a:p>
            <a:pPr marL="228600" lvl="0" indent="-228600">
              <a:buFont typeface="+mj-lt"/>
              <a:buAutoNum type="arabicPeriod"/>
            </a:pPr>
            <a:r>
              <a:rPr lang="en-US" sz="1200" b="1" kern="1200" dirty="0">
                <a:solidFill>
                  <a:schemeClr val="tx1"/>
                </a:solidFill>
                <a:effectLst/>
                <a:latin typeface="+mn-lt"/>
                <a:ea typeface="+mn-ea"/>
                <a:cs typeface="+mn-cs"/>
              </a:rPr>
              <a:t>Grounded Internal State:</a:t>
            </a:r>
            <a:r>
              <a:rPr lang="en-US" sz="1200" kern="1200" dirty="0">
                <a:solidFill>
                  <a:schemeClr val="tx1"/>
                </a:solidFill>
                <a:effectLst/>
                <a:latin typeface="+mn-lt"/>
                <a:ea typeface="+mn-ea"/>
                <a:cs typeface="+mn-cs"/>
              </a:rPr>
              <a:t> Inner calm, emotional control, and controlled breathing. </a:t>
            </a:r>
          </a:p>
          <a:p>
            <a:pPr marL="228600" lvl="0" indent="-228600">
              <a:buFont typeface="+mj-lt"/>
              <a:buAutoNum type="arabicPeriod"/>
            </a:pPr>
            <a:r>
              <a:rPr lang="en-US" sz="1200" b="1" kern="1200" dirty="0">
                <a:solidFill>
                  <a:schemeClr val="tx1"/>
                </a:solidFill>
                <a:effectLst/>
                <a:latin typeface="+mn-lt"/>
                <a:ea typeface="+mn-ea"/>
                <a:cs typeface="+mn-cs"/>
              </a:rPr>
              <a:t>Razor-Sharp Words:</a:t>
            </a:r>
            <a:r>
              <a:rPr lang="en-US" sz="1200" kern="1200" dirty="0">
                <a:solidFill>
                  <a:schemeClr val="tx1"/>
                </a:solidFill>
                <a:effectLst/>
                <a:latin typeface="+mn-lt"/>
                <a:ea typeface="+mn-ea"/>
                <a:cs typeface="+mn-cs"/>
              </a:rPr>
              <a:t> Clean structure, strong vocabulary, and direct language free of fluff. </a:t>
            </a:r>
          </a:p>
          <a:p>
            <a:pPr marL="228600" lvl="0" indent="-228600">
              <a:buFont typeface="+mj-lt"/>
              <a:buAutoNum type="arabicPeriod"/>
            </a:pPr>
            <a:r>
              <a:rPr lang="en-US" sz="1200" b="1" kern="1200" dirty="0">
                <a:solidFill>
                  <a:schemeClr val="tx1"/>
                </a:solidFill>
                <a:effectLst/>
                <a:latin typeface="+mn-lt"/>
                <a:ea typeface="+mn-ea"/>
                <a:cs typeface="+mn-cs"/>
              </a:rPr>
              <a:t>Sensory Alignment:</a:t>
            </a:r>
            <a:r>
              <a:rPr lang="en-US" sz="1200" kern="1200" dirty="0">
                <a:solidFill>
                  <a:schemeClr val="tx1"/>
                </a:solidFill>
                <a:effectLst/>
                <a:latin typeface="+mn-lt"/>
                <a:ea typeface="+mn-ea"/>
                <a:cs typeface="+mn-cs"/>
              </a:rPr>
              <a:t> Reading room climate, calibrating pace, and using strategic pauses. </a:t>
            </a:r>
          </a:p>
          <a:p>
            <a:r>
              <a:rPr lang="en-US" sz="1200" kern="1200" dirty="0">
                <a:solidFill>
                  <a:schemeClr val="tx1"/>
                </a:solidFill>
                <a:effectLst/>
                <a:latin typeface="+mn-lt"/>
                <a:ea typeface="+mn-ea"/>
                <a:cs typeface="+mn-cs"/>
              </a:rPr>
              <a:t>When these three elements converge, your presence becomes truly undeniable. </a:t>
            </a:r>
          </a:p>
          <a:p>
            <a:r>
              <a:rPr lang="en-US" sz="1200" kern="1200" dirty="0">
                <a:solidFill>
                  <a:schemeClr val="tx1"/>
                </a:solidFill>
                <a:effectLst/>
                <a:latin typeface="+mn-lt"/>
                <a:ea typeface="+mn-ea"/>
                <a:cs typeface="+mn-cs"/>
              </a:rPr>
              <a:t>Look at </a:t>
            </a:r>
            <a:r>
              <a:rPr lang="en-US" sz="1200" b="1" kern="1200" dirty="0">
                <a:solidFill>
                  <a:schemeClr val="tx1"/>
                </a:solidFill>
                <a:effectLst/>
                <a:latin typeface="+mn-lt"/>
                <a:ea typeface="+mn-ea"/>
                <a:cs typeface="+mn-cs"/>
              </a:rPr>
              <a:t>The Ultimate Truth</a:t>
            </a:r>
            <a:r>
              <a:rPr lang="en-US" sz="1200" kern="1200" dirty="0">
                <a:solidFill>
                  <a:schemeClr val="tx1"/>
                </a:solidFill>
                <a:effectLst/>
                <a:latin typeface="+mn-lt"/>
                <a:ea typeface="+mn-ea"/>
                <a:cs typeface="+mn-cs"/>
              </a:rPr>
              <a:t> at the bottom of the slide: You are not just improving a communication skill. You are refining your identity. The voice you bring into the world is the doorway through which people understand your mind.</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12</a:t>
            </a:fld>
            <a:endParaRPr lang="en-US"/>
          </a:p>
        </p:txBody>
      </p:sp>
    </p:spTree>
    <p:extLst>
      <p:ext uri="{BB962C8B-B14F-4D97-AF65-F5344CB8AC3E}">
        <p14:creationId xmlns:p14="http://schemas.microsoft.com/office/powerpoint/2010/main" val="1187088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provides a visual comparative contrast between the two paths of professional communication: </a:t>
            </a:r>
            <a:r>
              <a:rPr lang="en-US" sz="1200" b="1" kern="1200" dirty="0">
                <a:solidFill>
                  <a:schemeClr val="tx1"/>
                </a:solidFill>
                <a:effectLst/>
                <a:latin typeface="+mn-lt"/>
                <a:ea typeface="+mn-ea"/>
                <a:cs typeface="+mn-cs"/>
              </a:rPr>
              <a:t>The Talker (Reactive)</a:t>
            </a:r>
            <a:r>
              <a:rPr lang="en-US" sz="1200" kern="1200" dirty="0">
                <a:solidFill>
                  <a:schemeClr val="tx1"/>
                </a:solidFill>
                <a:effectLst/>
                <a:latin typeface="+mn-lt"/>
                <a:ea typeface="+mn-ea"/>
                <a:cs typeface="+mn-cs"/>
              </a:rPr>
              <a:t> versus </a:t>
            </a:r>
            <a:r>
              <a:rPr lang="en-US" sz="1200" b="1" kern="1200" dirty="0">
                <a:solidFill>
                  <a:schemeClr val="tx1"/>
                </a:solidFill>
                <a:effectLst/>
                <a:latin typeface="+mn-lt"/>
                <a:ea typeface="+mn-ea"/>
                <a:cs typeface="+mn-cs"/>
              </a:rPr>
              <a:t>The Leader (Influential)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look at the foundational split across the three critical dimensions: </a:t>
            </a:r>
          </a:p>
          <a:p>
            <a:pPr marL="228600" lvl="0" indent="-228600">
              <a:buFont typeface="+mj-lt"/>
              <a:buAutoNum type="arabicPeriod"/>
            </a:pPr>
            <a:r>
              <a:rPr lang="en-US" sz="1200" b="1" kern="1200" dirty="0">
                <a:solidFill>
                  <a:schemeClr val="tx1"/>
                </a:solidFill>
                <a:effectLst/>
                <a:latin typeface="+mn-lt"/>
                <a:ea typeface="+mn-ea"/>
                <a:cs typeface="+mn-cs"/>
              </a:rPr>
              <a:t>Preparation:</a:t>
            </a:r>
            <a:r>
              <a:rPr lang="en-US" sz="1200" kern="1200" dirty="0">
                <a:solidFill>
                  <a:schemeClr val="tx1"/>
                </a:solidFill>
                <a:effectLst/>
                <a:latin typeface="+mn-lt"/>
                <a:ea typeface="+mn-ea"/>
                <a:cs typeface="+mn-cs"/>
              </a:rPr>
              <a:t> The Talker thinks </a:t>
            </a:r>
            <a:r>
              <a:rPr lang="en-US" sz="1200" i="1" kern="1200" dirty="0">
                <a:solidFill>
                  <a:schemeClr val="tx1"/>
                </a:solidFill>
                <a:effectLst/>
                <a:latin typeface="+mn-lt"/>
                <a:ea typeface="+mn-ea"/>
                <a:cs typeface="+mn-cs"/>
              </a:rPr>
              <a:t>while</a:t>
            </a:r>
            <a:r>
              <a:rPr lang="en-US" sz="1200" kern="1200" dirty="0">
                <a:solidFill>
                  <a:schemeClr val="tx1"/>
                </a:solidFill>
                <a:effectLst/>
                <a:latin typeface="+mn-lt"/>
                <a:ea typeface="+mn-ea"/>
                <a:cs typeface="+mn-cs"/>
              </a:rPr>
              <a:t> speaking, resulting in scattered ideas and rambling explanations. The Leader thinks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speaking, utilizing silence to filter thoughts into a clear point. </a:t>
            </a:r>
          </a:p>
          <a:p>
            <a:pPr marL="228600" lvl="0" indent="-228600">
              <a:buFont typeface="+mj-lt"/>
              <a:buAutoNum type="arabicPeriod"/>
            </a:pPr>
            <a:r>
              <a:rPr lang="en-US" sz="1200" b="1" kern="1200" dirty="0">
                <a:solidFill>
                  <a:schemeClr val="tx1"/>
                </a:solidFill>
                <a:effectLst/>
                <a:latin typeface="+mn-lt"/>
                <a:ea typeface="+mn-ea"/>
                <a:cs typeface="+mn-cs"/>
              </a:rPr>
              <a:t>Word Choice:</a:t>
            </a:r>
            <a:r>
              <a:rPr lang="en-US" sz="1200" kern="1200" dirty="0">
                <a:solidFill>
                  <a:schemeClr val="tx1"/>
                </a:solidFill>
                <a:effectLst/>
                <a:latin typeface="+mn-lt"/>
                <a:ea typeface="+mn-ea"/>
                <a:cs typeface="+mn-cs"/>
              </a:rPr>
              <a:t> The Talker explains endlessly just to be understood, burying their point under noise. The Leader speaks concisely to lead and spark action. </a:t>
            </a:r>
          </a:p>
          <a:p>
            <a:pPr marL="228600" lvl="0" indent="-228600">
              <a:buFont typeface="+mj-lt"/>
              <a:buAutoNum type="arabicPeriod"/>
            </a:pPr>
            <a:r>
              <a:rPr lang="en-US" sz="1200" b="1" kern="1200" dirty="0">
                <a:solidFill>
                  <a:schemeClr val="tx1"/>
                </a:solidFill>
                <a:effectLst/>
                <a:latin typeface="+mn-lt"/>
                <a:ea typeface="+mn-ea"/>
                <a:cs typeface="+mn-cs"/>
              </a:rPr>
              <a:t>Use of Silence:</a:t>
            </a:r>
            <a:r>
              <a:rPr lang="en-US" sz="1200" kern="1200" dirty="0">
                <a:solidFill>
                  <a:schemeClr val="tx1"/>
                </a:solidFill>
                <a:effectLst/>
                <a:latin typeface="+mn-lt"/>
                <a:ea typeface="+mn-ea"/>
                <a:cs typeface="+mn-cs"/>
              </a:rPr>
              <a:t> The Talker fills every gap out of fear and insecurity. The Leader intentionally employs pauses to create gravity, authority, and emphasis. </a:t>
            </a:r>
          </a:p>
          <a:p>
            <a:r>
              <a:rPr lang="en-US" sz="1200" kern="1200" dirty="0">
                <a:solidFill>
                  <a:schemeClr val="tx1"/>
                </a:solidFill>
                <a:effectLst/>
                <a:latin typeface="+mn-lt"/>
                <a:ea typeface="+mn-ea"/>
                <a:cs typeface="+mn-cs"/>
              </a:rPr>
              <a:t>Notice the core framework for action at the top: </a:t>
            </a:r>
            <a:r>
              <a:rPr lang="en-US" sz="1200" b="1" kern="1200" dirty="0">
                <a:solidFill>
                  <a:schemeClr val="tx1"/>
                </a:solidFill>
                <a:effectLst/>
                <a:latin typeface="+mn-lt"/>
                <a:ea typeface="+mn-ea"/>
                <a:cs typeface="+mn-cs"/>
              </a:rPr>
              <a:t>Structure with a Spine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Master the Emotional Tone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Close with Direction</a:t>
            </a:r>
            <a:r>
              <a:rPr lang="en-US" sz="1200" kern="1200" dirty="0">
                <a:solidFill>
                  <a:schemeClr val="tx1"/>
                </a:solidFill>
                <a:effectLst/>
                <a:latin typeface="+mn-lt"/>
                <a:ea typeface="+mn-ea"/>
                <a:cs typeface="+mn-cs"/>
              </a:rPr>
              <a:t>. This visual contrast serves as a daily benchmark for how we choose to present ourselves.</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13</a:t>
            </a:fld>
            <a:endParaRPr lang="en-US"/>
          </a:p>
        </p:txBody>
      </p:sp>
    </p:spTree>
    <p:extLst>
      <p:ext uri="{BB962C8B-B14F-4D97-AF65-F5344CB8AC3E}">
        <p14:creationId xmlns:p14="http://schemas.microsoft.com/office/powerpoint/2010/main" val="2034771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Turning to Slide 14: </a:t>
            </a:r>
            <a:r>
              <a:rPr lang="en-US" sz="1200" i="1" kern="1200" dirty="0">
                <a:solidFill>
                  <a:schemeClr val="tx1"/>
                </a:solidFill>
                <a:effectLst/>
                <a:latin typeface="+mn-lt"/>
                <a:ea typeface="+mn-ea"/>
                <a:cs typeface="+mn-cs"/>
              </a:rPr>
              <a:t>Mastery is Repetition Made Visible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How do we translate these principles into permanent capabilities? We must dispel </a:t>
            </a:r>
            <a:r>
              <a:rPr lang="en-US" sz="1200" b="1" kern="1200" dirty="0">
                <a:solidFill>
                  <a:schemeClr val="tx1"/>
                </a:solidFill>
                <a:effectLst/>
                <a:latin typeface="+mn-lt"/>
                <a:ea typeface="+mn-ea"/>
                <a:cs typeface="+mn-cs"/>
              </a:rPr>
              <a:t>The Myth of the Advanced</a:t>
            </a:r>
            <a:r>
              <a:rPr lang="en-US" sz="1200" kern="1200" dirty="0">
                <a:solidFill>
                  <a:schemeClr val="tx1"/>
                </a:solidFill>
                <a:effectLst/>
                <a:latin typeface="+mn-lt"/>
                <a:ea typeface="+mn-ea"/>
                <a:cs typeface="+mn-cs"/>
              </a:rPr>
              <a:t>. Exceptional communicators do not constantly chase novel tricks or complex techniques. Instead, they sharpen the fundamental basics—breath, clarity, silence, structure—until those basics become pure instinct. </a:t>
            </a:r>
          </a:p>
          <a:p>
            <a:r>
              <a:rPr lang="en-US" sz="1200" kern="1200" dirty="0">
                <a:solidFill>
                  <a:schemeClr val="tx1"/>
                </a:solidFill>
                <a:effectLst/>
                <a:latin typeface="+mn-lt"/>
                <a:ea typeface="+mn-ea"/>
                <a:cs typeface="+mn-cs"/>
              </a:rPr>
              <a:t>Repetition strips away hesitation, self-doubt, and mental clutter, building </a:t>
            </a:r>
            <a:r>
              <a:rPr lang="en-US" sz="1200" b="1" kern="1200" dirty="0">
                <a:solidFill>
                  <a:schemeClr val="tx1"/>
                </a:solidFill>
                <a:effectLst/>
                <a:latin typeface="+mn-lt"/>
                <a:ea typeface="+mn-ea"/>
                <a:cs typeface="+mn-cs"/>
              </a:rPr>
              <a:t>Reliability</a:t>
            </a:r>
            <a:r>
              <a:rPr lang="en-US" sz="1200" kern="1200" dirty="0">
                <a:solidFill>
                  <a:schemeClr val="tx1"/>
                </a:solidFill>
                <a:effectLst/>
                <a:latin typeface="+mn-lt"/>
                <a:ea typeface="+mn-ea"/>
                <a:cs typeface="+mn-cs"/>
              </a:rPr>
              <a:t>. Leaders are consistently effective because they treat the basics with immense respect every single day. </a:t>
            </a:r>
          </a:p>
          <a:p>
            <a:r>
              <a:rPr lang="en-US" sz="1200" kern="1200" dirty="0">
                <a:solidFill>
                  <a:schemeClr val="tx1"/>
                </a:solidFill>
                <a:effectLst/>
                <a:latin typeface="+mn-lt"/>
                <a:ea typeface="+mn-ea"/>
                <a:cs typeface="+mn-cs"/>
              </a:rPr>
              <a:t>Take this core principle to heart: You do not rise to the level of your potential. You rise to the level of your discipline. Your voice is a responsibility—shape it with daily practice.</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14</a:t>
            </a:fld>
            <a:endParaRPr lang="en-US"/>
          </a:p>
        </p:txBody>
      </p:sp>
    </p:spTree>
    <p:extLst>
      <p:ext uri="{BB962C8B-B14F-4D97-AF65-F5344CB8AC3E}">
        <p14:creationId xmlns:p14="http://schemas.microsoft.com/office/powerpoint/2010/main" val="704210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15 consolidates our diagnostic comparisons into three clear, actionable pillars of professional excellence: </a:t>
            </a:r>
          </a:p>
          <a:p>
            <a:pPr marL="228600" lvl="0" indent="-228600">
              <a:buFont typeface="+mj-lt"/>
              <a:buAutoNum type="arabicPeriod"/>
            </a:pPr>
            <a:r>
              <a:rPr lang="en-US" sz="1200" b="1" kern="1200" dirty="0">
                <a:solidFill>
                  <a:schemeClr val="tx1"/>
                </a:solidFill>
                <a:effectLst/>
                <a:latin typeface="+mn-lt"/>
                <a:ea typeface="+mn-ea"/>
                <a:cs typeface="+mn-cs"/>
              </a:rPr>
              <a:t>Clarity in Thinking:</a:t>
            </a:r>
            <a:r>
              <a:rPr lang="en-US" sz="1200" kern="1200" dirty="0">
                <a:solidFill>
                  <a:schemeClr val="tx1"/>
                </a:solidFill>
                <a:effectLst/>
                <a:latin typeface="+mn-lt"/>
                <a:ea typeface="+mn-ea"/>
                <a:cs typeface="+mn-cs"/>
              </a:rPr>
              <a:t> True communication begins in the silence before you speak, where thoughts are filtered, refined, and reduced to their essential core. </a:t>
            </a:r>
          </a:p>
          <a:p>
            <a:pPr marL="228600" lvl="0" indent="-228600">
              <a:buFont typeface="+mj-lt"/>
              <a:buAutoNum type="arabicPeriod"/>
            </a:pPr>
            <a:r>
              <a:rPr lang="en-US" sz="1200" b="1" kern="1200" dirty="0">
                <a:solidFill>
                  <a:schemeClr val="tx1"/>
                </a:solidFill>
                <a:effectLst/>
                <a:latin typeface="+mn-lt"/>
                <a:ea typeface="+mn-ea"/>
                <a:cs typeface="+mn-cs"/>
              </a:rPr>
              <a:t>Calm Authority:</a:t>
            </a:r>
            <a:r>
              <a:rPr lang="en-US" sz="1200" kern="1200" dirty="0">
                <a:solidFill>
                  <a:schemeClr val="tx1"/>
                </a:solidFill>
                <a:effectLst/>
                <a:latin typeface="+mn-lt"/>
                <a:ea typeface="+mn-ea"/>
                <a:cs typeface="+mn-cs"/>
              </a:rPr>
              <a:t> Calmness signals absolute control. In moments of corporate tension or uncertainty, people instinctively follow the most stable voice, not the loudest or most aggressive one. </a:t>
            </a:r>
          </a:p>
          <a:p>
            <a:pPr marL="228600" lvl="0" indent="-228600">
              <a:buFont typeface="+mj-lt"/>
              <a:buAutoNum type="arabicPeriod"/>
            </a:pPr>
            <a:r>
              <a:rPr lang="en-US" sz="1200" b="1" kern="1200" dirty="0">
                <a:solidFill>
                  <a:schemeClr val="tx1"/>
                </a:solidFill>
                <a:effectLst/>
                <a:latin typeface="+mn-lt"/>
                <a:ea typeface="+mn-ea"/>
                <a:cs typeface="+mn-cs"/>
              </a:rPr>
              <a:t>Precision in Language:</a:t>
            </a:r>
            <a:r>
              <a:rPr lang="en-US" sz="1200" kern="1200" dirty="0">
                <a:solidFill>
                  <a:schemeClr val="tx1"/>
                </a:solidFill>
                <a:effectLst/>
                <a:latin typeface="+mn-lt"/>
                <a:ea typeface="+mn-ea"/>
                <a:cs typeface="+mn-cs"/>
              </a:rPr>
              <a:t> Eliminate crutch words like 'maybe', 'I guess', or 'sort of'. Ensuring every sentence carries weight builds immediate credibility. </a:t>
            </a:r>
          </a:p>
          <a:p>
            <a:r>
              <a:rPr lang="en-US" sz="1200" kern="1200" dirty="0">
                <a:solidFill>
                  <a:schemeClr val="tx1"/>
                </a:solidFill>
                <a:effectLst/>
                <a:latin typeface="+mn-lt"/>
                <a:ea typeface="+mn-ea"/>
                <a:cs typeface="+mn-cs"/>
              </a:rPr>
              <a:t>As shown in the reference matrix, every daily interaction gives you a choice: Will you react like 'The Talker' or respond with the grounded precision of 'The Leader'?</a:t>
            </a:r>
          </a:p>
          <a:p>
            <a:endParaRPr lang="en-US" dirty="0"/>
          </a:p>
        </p:txBody>
      </p:sp>
      <p:sp>
        <p:nvSpPr>
          <p:cNvPr id="4" name="Slide Number Placeholder 3"/>
          <p:cNvSpPr>
            <a:spLocks noGrp="1"/>
          </p:cNvSpPr>
          <p:nvPr>
            <p:ph type="sldNum" sz="quarter" idx="5"/>
          </p:nvPr>
        </p:nvSpPr>
        <p:spPr/>
        <p:txBody>
          <a:bodyPr/>
          <a:lstStyle/>
          <a:p>
            <a:fld id="{3C718AA0-338C-41FE-9353-D91121E61C48}" type="slidenum">
              <a:rPr lang="en-US" smtClean="0"/>
              <a:t>15</a:t>
            </a:fld>
            <a:endParaRPr lang="en-US"/>
          </a:p>
        </p:txBody>
      </p:sp>
    </p:spTree>
    <p:extLst>
      <p:ext uri="{BB962C8B-B14F-4D97-AF65-F5344CB8AC3E}">
        <p14:creationId xmlns:p14="http://schemas.microsoft.com/office/powerpoint/2010/main" val="284342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E21FA3-7D30-4F4A-C1D8-BAA843716CB9}"/>
              </a:ext>
            </a:extLst>
          </p:cNvPr>
          <p:cNvSpPr>
            <a:spLocks noGrp="1"/>
          </p:cNvSpPr>
          <p:nvPr>
            <p:ph type="dt" sz="half" idx="10"/>
          </p:nvPr>
        </p:nvSpPr>
        <p:spPr/>
        <p:txBody>
          <a:bodyPr/>
          <a:lstStyle/>
          <a:p>
            <a:fld id="{361CBD78-99A7-4B58-A9DD-BB2780E6FC69}" type="datetimeFigureOut">
              <a:rPr lang="en-US" smtClean="0"/>
              <a:t>10/20/2026</a:t>
            </a:fld>
            <a:endParaRPr lang="en-US"/>
          </a:p>
        </p:txBody>
      </p:sp>
      <p:sp>
        <p:nvSpPr>
          <p:cNvPr id="3" name="Footer Placeholder 2">
            <a:extLst>
              <a:ext uri="{FF2B5EF4-FFF2-40B4-BE49-F238E27FC236}">
                <a16:creationId xmlns:a16="http://schemas.microsoft.com/office/drawing/2014/main" id="{54B46962-BCF9-B483-6EF2-F49A7C0A08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374C47-F4E6-89EA-416F-1F55C18D113D}"/>
              </a:ext>
            </a:extLst>
          </p:cNvPr>
          <p:cNvSpPr>
            <a:spLocks noGrp="1"/>
          </p:cNvSpPr>
          <p:nvPr>
            <p:ph type="sldNum" sz="quarter" idx="12"/>
          </p:nvPr>
        </p:nvSpPr>
        <p:spPr/>
        <p:txBody>
          <a:bodyPr/>
          <a:lstStyle/>
          <a:p>
            <a:fld id="{57D5F339-F014-4279-AD26-FCDB2EC82ECA}" type="slidenum">
              <a:rPr lang="en-US" smtClean="0"/>
              <a:t>‹#›</a:t>
            </a:fld>
            <a:endParaRPr lang="en-US"/>
          </a:p>
        </p:txBody>
      </p:sp>
    </p:spTree>
    <p:extLst>
      <p:ext uri="{BB962C8B-B14F-4D97-AF65-F5344CB8AC3E}">
        <p14:creationId xmlns:p14="http://schemas.microsoft.com/office/powerpoint/2010/main" val="264746046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C5EC2E-444F-853C-148A-F8AAD9FDF8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0C3587-8409-C4BA-1F67-B608415E9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FB7092-1BF7-7917-8C8B-30E5FB8D59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1CBD78-99A7-4B58-A9DD-BB2780E6FC69}" type="datetimeFigureOut">
              <a:rPr lang="en-US" smtClean="0"/>
              <a:t>10/20/2026</a:t>
            </a:fld>
            <a:endParaRPr lang="en-US"/>
          </a:p>
        </p:txBody>
      </p:sp>
      <p:sp>
        <p:nvSpPr>
          <p:cNvPr id="5" name="Footer Placeholder 4">
            <a:extLst>
              <a:ext uri="{FF2B5EF4-FFF2-40B4-BE49-F238E27FC236}">
                <a16:creationId xmlns:a16="http://schemas.microsoft.com/office/drawing/2014/main" id="{0C306979-44FD-ACD2-88BA-4BDBC59BBB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E0EF33C-7DEC-F868-A6A1-31A63E01F7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D5F339-F014-4279-AD26-FCDB2EC82ECA}" type="slidenum">
              <a:rPr lang="en-US" smtClean="0"/>
              <a:t>‹#›</a:t>
            </a:fld>
            <a:endParaRPr lang="en-US"/>
          </a:p>
        </p:txBody>
      </p:sp>
    </p:spTree>
    <p:extLst>
      <p:ext uri="{BB962C8B-B14F-4D97-AF65-F5344CB8AC3E}">
        <p14:creationId xmlns:p14="http://schemas.microsoft.com/office/powerpoint/2010/main" val="128241202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A35257-464A-A95D-316E-1FC4A3256E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387963-4128-F6E3-AFA9-AB509E3FBE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7166F8-5D74-62AE-88D9-A4676FC018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51FE98-C51A-34E5-853D-9426707D20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B38DF0-A33A-5040-A7C5-DC6B40FAB9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1D1869-4437-C3CE-E1FF-AE7810A5810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8A9F89-90F5-2563-CEA8-4883654E6A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E54BC3-473D-A683-822A-07DCDE1894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0B87D6-8D48-DA51-0E35-82DFBECA48E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C1257B-F585-1F04-AFE4-1F7234A00B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05ABA1-7299-8F2B-35FB-0E90D126F1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0FAA37-7729-C5C5-26B4-7D93F7A73A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CF54D4-9FB5-9C04-FE39-9036214794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B30BB3-033B-D3C4-5B5B-CB5ADF1B9C95}"/>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776185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2800</Words>
  <Application>Microsoft Office PowerPoint</Application>
  <PresentationFormat>寬螢幕</PresentationFormat>
  <Paragraphs>114</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2026-09-09T02:31:46Z</dcterms:created>
  <dcterms:modified xsi:type="dcterms:W3CDTF">2026-10-20T13:27:25Z</dcterms:modified>
</cp:coreProperties>
</file>